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63"/>
  </p:notesMasterIdLst>
  <p:sldIdLst>
    <p:sldId id="325" r:id="rId3"/>
    <p:sldId id="293" r:id="rId4"/>
    <p:sldId id="294" r:id="rId5"/>
    <p:sldId id="356" r:id="rId6"/>
    <p:sldId id="329" r:id="rId7"/>
    <p:sldId id="330" r:id="rId8"/>
    <p:sldId id="331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28" r:id="rId28"/>
    <p:sldId id="327" r:id="rId29"/>
    <p:sldId id="332" r:id="rId30"/>
    <p:sldId id="375" r:id="rId31"/>
    <p:sldId id="376" r:id="rId32"/>
    <p:sldId id="377" r:id="rId33"/>
    <p:sldId id="378" r:id="rId34"/>
    <p:sldId id="379" r:id="rId35"/>
    <p:sldId id="380" r:id="rId36"/>
    <p:sldId id="381" r:id="rId37"/>
    <p:sldId id="382" r:id="rId38"/>
    <p:sldId id="383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50" r:id="rId57"/>
    <p:sldId id="351" r:id="rId58"/>
    <p:sldId id="352" r:id="rId59"/>
    <p:sldId id="353" r:id="rId60"/>
    <p:sldId id="354" r:id="rId61"/>
    <p:sldId id="264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0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3, 2026-2027 уч. г.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078182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 Основы лицензирования и сертификации беспилотных систем: терминология, цели, принципы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Определение и разграничение понятий "лицензирование" и "сертификация".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Цели лицензирования: обеспечение безопасности, соответствие требованиям, контроль за деятельностью.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Цели сертификации: подтверждение соответствия продукции/услуг требованиям безопасности, качества, надежности.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Принципы лицензирования: законность, гласность, объективность, ответственность.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Принципы сертификации: независимость, компетентность, объективность, конфиденциальность.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Обзор нормативно-правовой базы в области лицензирования и сертификации (федеральные законы, технические регламенты, стандарты).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Органы, осуществляющие лицензирование и сертификацию в сфере беспилотных систем.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Основные этапы процессов лицензирования 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сертификации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ОСНОВНЫЕ ПОНЯТИЯ: СЕРТИФИКАЦИЯ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80654"/>
            <a:ext cx="7886700" cy="5514110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Сертификация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 – это форма осуществляемого органом по сертификации подтверждения соответствия объектов </a:t>
            </a:r>
            <a:r>
              <a:rPr lang="ru-RU" sz="2200" u="sng" dirty="0">
                <a:latin typeface="Times New Roman" pitchFamily="18" charset="0"/>
                <a:ea typeface="Times New Roman"/>
                <a:cs typeface="Times New Roman" pitchFamily="18" charset="0"/>
              </a:rPr>
              <a:t>требованиям технических регламентов, </a:t>
            </a:r>
            <a:r>
              <a:rPr lang="ru-RU" sz="2200" u="sng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положениям стандартов </a:t>
            </a:r>
            <a:r>
              <a:rPr lang="ru-RU" sz="2200" u="sng" dirty="0">
                <a:latin typeface="Times New Roman" pitchFamily="18" charset="0"/>
                <a:ea typeface="Times New Roman"/>
                <a:cs typeface="Times New Roman" pitchFamily="18" charset="0"/>
              </a:rPr>
              <a:t>или условиям договоров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Подтверждение соответствия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– документальное удостоверение </a:t>
            </a:r>
            <a:r>
              <a:rPr lang="ru-RU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соответствия продукции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или иных объектов, процессов производства, эксплуатации, хранения</a:t>
            </a:r>
            <a:r>
              <a:rPr lang="ru-RU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, перевозки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, реализации и утилизации, выполнения работ или оказания услуг </a:t>
            </a:r>
            <a:r>
              <a:rPr lang="ru-RU" sz="2200" u="sng" dirty="0">
                <a:latin typeface="Times New Roman" pitchFamily="18" charset="0"/>
                <a:ea typeface="Times New Roman"/>
                <a:cs typeface="Times New Roman" pitchFamily="18" charset="0"/>
              </a:rPr>
              <a:t>требованиям технических регламентов, положениям стандартов или условиям договоров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Сертификат соответствия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– документ, удостоверяющий соответствие </a:t>
            </a:r>
            <a:r>
              <a:rPr lang="ru-RU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объекта </a:t>
            </a:r>
            <a:r>
              <a:rPr lang="ru-RU" sz="2200" u="sng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требованиям </a:t>
            </a:r>
            <a:r>
              <a:rPr lang="ru-RU" sz="2200" u="sng" dirty="0">
                <a:latin typeface="Times New Roman" pitchFamily="18" charset="0"/>
                <a:ea typeface="Times New Roman"/>
                <a:cs typeface="Times New Roman" pitchFamily="18" charset="0"/>
              </a:rPr>
              <a:t>технических регламентов, положениям стандартов или условиям договоров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Система сертификации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– совокупность правил выполнения работ по сертификации, ее участников и правил функционирования системы сертификации в целом.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90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Определение и разграничение понятий "лицензирование" и "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сертификация"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731818"/>
            <a:ext cx="7886700" cy="4624532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Сертификация (оценка соответствия</a:t>
            </a:r>
            <a:r>
              <a:rPr lang="ru-RU" sz="2400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Суть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1800" b="1" dirty="0" smtClean="0">
              <a:solidFill>
                <a:srgbClr val="FF000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процедура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подтверждения соответствия продукта/процесса/организации установленным требованиям 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технических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регламентов, положениям стандартов или условиям 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договоров.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Проводится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аккредитованным органом (или по самооценке с последующей декларацией).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2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Определение и разграничение понятий "лицензирование" и "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сертификация"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731818"/>
            <a:ext cx="7886700" cy="4624532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Сертификация (оценка соответствия</a:t>
            </a:r>
            <a:r>
              <a:rPr lang="ru-RU" sz="2400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Характеристики</a:t>
            </a:r>
            <a:endParaRPr lang="ru-RU" b="1" dirty="0">
              <a:solidFill>
                <a:srgbClr val="FF000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•	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Оценка соответствия по критериям безопасности, качества, надежности и др.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•	Потребность в технических доказательствах: отчётах испытаний, результатах </a:t>
            </a:r>
            <a:r>
              <a:rPr lang="ru-RU" dirty="0" err="1">
                <a:latin typeface="Times New Roman" pitchFamily="18" charset="0"/>
                <a:ea typeface="Times New Roman"/>
                <a:cs typeface="Times New Roman" pitchFamily="18" charset="0"/>
              </a:rPr>
              <a:t>валидации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, системах контроля качества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	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0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Определение и разграничение понятий "лицензирование" и "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сертификация"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731818"/>
            <a:ext cx="7886700" cy="4624532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Сертификация (оценка соответствия</a:t>
            </a:r>
            <a:r>
              <a:rPr lang="ru-RU" sz="2400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Примеры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: </a:t>
            </a:r>
            <a:endParaRPr lang="ru-RU" b="1" dirty="0" smtClean="0">
              <a:solidFill>
                <a:srgbClr val="FF000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сертификат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летной годности для БПЛА,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декларация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соответствия на компонент,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сертификат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ISO/IEC на процессы,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сертификат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безопасности ПО (на уровне требований </a:t>
            </a:r>
            <a:r>
              <a:rPr lang="ru-RU" dirty="0" err="1">
                <a:latin typeface="Times New Roman" pitchFamily="18" charset="0"/>
                <a:ea typeface="Times New Roman"/>
                <a:cs typeface="Times New Roman" pitchFamily="18" charset="0"/>
              </a:rPr>
              <a:t>кибербезопасности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6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СЕРТИФИКАЦИЯ ПРОДУКЦИИ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62000" y="775854"/>
            <a:ext cx="8058150" cy="4624532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продукции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процедура подтверждения качества, посредством которой независимая от изготовителя (продавца, исполнителя) и потребителя (покупателя) организация удостоверяет в письменной форме, что продукция соответствует установленным требованиям.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Регламентирующие документы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Федеральный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закон от 27.12.2002 № 184-ФЗ «О техническом регулировании»;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Постановление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Госстандарта РФ от 10.05.2000 № 26 «Об утверждении Правил по проведению сертификации в Российской Федерации».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 качестве требований при сертификации продукции могут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выступать: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законодательные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акты Российской Федерации;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государственные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стандарты, санитарные нормы и правила, строительные нормы и правила, нормы по безопасности, а также другие документы, которые в соответствии с законодательством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РФ и устанавливают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обязательные требования к продукции.</a:t>
            </a:r>
            <a:endParaRPr lang="ru-RU" sz="18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44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СЕРТИФИКАЦИЯ УСЛУГ (РАБОТ)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54182" y="775854"/>
            <a:ext cx="8265968" cy="4624532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Сертификация услуг (работ)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независимое подтверждение соответствия утвержденным требованиям с целью соблюдения «Закона о защите прав потребителей» поставщиком работ и услуг на территории Российской Федерации.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Регламентирующий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документ: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Постановление Госстандарта РФ от 05.08.1997 № 17 «О принятии и введении в действие Правил сертификации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ea typeface="Times New Roman"/>
                <a:cs typeface="Times New Roman" pitchFamily="18" charset="0"/>
              </a:rPr>
              <a:t>В качестве требований при сертификации услуг (работ) могут выступать</a:t>
            </a:r>
            <a:r>
              <a:rPr lang="ru-RU" sz="2000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технические регламенты таможенного союза, технические регламенты Евразийского экономического сообщества , технические регламенты РФ;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законодательные акты Российской Федерации;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правила выполнения отдельных видов работ и оказания отдельных видов услуг,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утвержденные постановлениями Правительства Российской Федерации;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государственные стандарты, санитарные правила и нормы, строительные нормы 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и правила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и другие документы, которые устанавливают обязательные требования 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к работам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и услугам.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84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СЕРТИФИКАЦИЯ СИСТЕМ МЕНЕДЖМЕНТА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54182" y="1537854"/>
            <a:ext cx="8265968" cy="4624532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Сертификация систем менеджмента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процедура подтверждения степени соответствия и результативности определенной системы менеджмента, требованиям стандарта на данную систему менеджмента.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Основные сертифицируемые системы менеджмента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Система менеджмента качества (сертифицируется на соответствие 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требованиям стандарта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ГОСТ ISO 9001-2011);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Система экологического менеджмента (сертифицируется на соответствие требованиям стандарта ГОСТ Р ИСО 14001-2007);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Система менеджмента охраны здоровья и обеспечения безопасности труда (сертифицируется на соответствие требованиям стандарта ГОСТ Р 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54934-2012/OHSAS 18001:2007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);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Система менеджмента информационной безопасности (сертифицируется на соответствие требованиям стандарта ГОСТ Р ИСО /МЭК 27001-2006);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Система менеджмента безопасности пищевой продукции (сертифицируется 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на соответствие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требованиям стандарта ГОСТ Р ИСО 22000-2007).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62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ОБЯЗАТЕЛЬНАЯ И ДОБРОВОЛЬНАЯ СЕРТИФИКАЦИЯ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54182" y="1219199"/>
            <a:ext cx="8265968" cy="494607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Объектом обязательной сертификации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может быть только продукция, выпускаемая в обращение на территории Российской Федерации (п.1 ст. 23 ФЗ от 27.12.2002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N 184-ФЗ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«О техническом регулировании»).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Перечень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продукции, подлежащей обязательной сертификации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регламентирован Постановлением П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равительства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 01.12.2009 № 982 «Об утверждении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единого перечня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продукции, подлежащей обязательной сертификации, и единого перечня продукции, подтверждение соответствия которой осуществляется в форме принятия декларации о соответствии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(транспортные </a:t>
            </a:r>
            <a:r>
              <a:rPr lang="ru-RU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средства и комплектующие (в </a:t>
            </a:r>
            <a:r>
              <a:rPr lang="ru-RU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т.ч</a:t>
            </a:r>
            <a:r>
              <a:rPr lang="ru-RU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шины и диски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)); </a:t>
            </a:r>
            <a:endParaRPr lang="ru-RU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Добровольная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проводится органами по сертификации, аккредитованными в системах сертификации в установленном порядке.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Добровольная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сертификация осуществляется по инициативе заявителя на условиях договора между заявителем и органом по сертификации.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36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СИСТЕМЫ СЕРТИФИКАЦИИ. ОРГАНЫ СЕРТИФИКАЦИИ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54182" y="1122217"/>
            <a:ext cx="8265968" cy="494607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Системы сертификации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Регламентирующий документ: Федеральный закон от 27.12.2002 № 184-ФЗ «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 техническом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регулировании».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Федеральное агентство по техническому регулированию и метрологии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выполняет функцию по регистрации российских систем добровольной сертификации: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выдает свидетельство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 регистрации в едином реестре зарегистрированных систем добровольной сертификации; вносит систему добровольной сертификации в реестр.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Органы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по сертификации, осуществляющие обязательную сертификацию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Деятельность органов по сертификации, осуществляющих обязательную сертификацию в РФ, регламентируется Федеральным законом от 27.12.2002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N184-ФЗ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«О техническом регулировании» и Приказом Минэкономразвития России от 16.10.2012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№ 682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«Об утверждении Критериев аккредитации органов по сертификации и испытательных лабораторий (центров) и требований к ним».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95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СЕРТИФИКАЦИЯ. ПРАВИЛА И ПОРЯДОК ПРОВЕДЕНИЯ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010621"/>
              </p:ext>
            </p:extLst>
          </p:nvPr>
        </p:nvGraphicFramePr>
        <p:xfrm>
          <a:off x="0" y="1108362"/>
          <a:ext cx="9144000" cy="5829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526474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1. Заявитель подает заявку в соответствующий орган по проведению процедуры сертификации. Информация о данном органе предоставляется территориальным органом Госстандарта или в Госстандарте.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1333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2. Орган по проведению сертификации принимает на рассмотрение заявку, выносит решение, включающее все необходимые основные условия сертификации, предоставляет перечень аккредитованных испытательных лабораторий, получивших аттестат на право проведения испытаний, и список организаций, имеющих разрешение на проведение сертификации систем качества или производства.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1333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3. Заявитель выбирает испытательную лабораторию или орган по проведению сертификации систем качества или производства из перечня, заключает договор о проведении сертификации.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1333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4. Испытательная лаборатория или орган по проведению работ по сертификации выполняет процедуру отбора необходимых образцов для проведения испытаний.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1333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5. Орган по проведению сертификации системы качества или производства проводит анализ реального состояния производства или системы качества и оформляет заключение в орган по проведению сертификации.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1333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6. Заявитель и орган по проведению сертификации получают протокол испытаний, составленный на основании проведенных исследований испытательной лабораторией.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01333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7. Орган по проведению сертификации приходит к решению о выдаче сертификата соответствия или отказе в выдаче сертификата соответствия. На основании полученного сертификата соответствия выдается лицензия, дающая право использования знака соответствия.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1333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8. Орган по проведению сертификации должным образом оформляет и регистрирует сертификат соответствия и вручает его заявителю одновременно с лицензией на использование знака соответствия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01333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9. Продукция, подлежащая обязательной сертификации, маркируется изготовителем знаком соответствия согласно требованиям документа «Правила применения знака соответствия при обязательной сертификации продукции».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01333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10. Контроль за прошедшей сертификацию продукцией осуществляется согласно выбранному при разработке необходимой схемы сертификации порядку органом по проведению сертификации.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25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СЕРТИФИКАТ КАЧЕСТВА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14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12619" y="983672"/>
            <a:ext cx="830753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Сертификат качества (ISO 9000, ISO 14000, OHSAS 18000) 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подлежит сертификации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качество оборудования;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качество оказываемых услуг поставщиками оборудования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получаем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после прохождения сертификации: 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документ, подтверждающий высокий уровень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деятельности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занесение в официальный реестр держателей сертификатов, что дает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приоритет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среди компаний, занимающихся подобной деятельностью;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отчет по результатам исследования, фиксирующего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конкурентные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преимущества и недостатки – инструмент для развития.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06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СЕРТИФИКАТ КАЧЕСТВА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20435" y="983672"/>
            <a:ext cx="809971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Название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«ISO»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употребляется во всем мире для обозначения Международной организации по стандартизации - «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International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Organization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Standardization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».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ISO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учреждена в 1947 г. и является неправительственной организацией и пользуется консультативным статусом ООН.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Главной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целью ISO является развитие стандартизации и родственных направлений деятельности во всем мире.</a:t>
            </a:r>
          </a:p>
        </p:txBody>
      </p:sp>
    </p:spTree>
    <p:extLst>
      <p:ext uri="{BB962C8B-B14F-4D97-AF65-F5344CB8AC3E}">
        <p14:creationId xmlns:p14="http://schemas.microsoft.com/office/powerpoint/2010/main" val="304232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СЕРТИФИКАЦИЯ ПРОИЗВОДСТВА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16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20435" y="845126"/>
            <a:ext cx="8099715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Сертификацию производства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можно считать либо самостоятельной процедурой, либо составной частью сертификации системы обеспечения качества, так же как и схемы сертификации продукции.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Обобщенным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критерием оценки соответствия производства служит способность стабильно обеспечивать соответствие готовой продукции нормативному документу, устанавливающему требования к ней.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Процедура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сертификации производства осуществляется по правилам, установленным Госстандартом, которые, в частности, предусматривают составление методики сертификации производства для каждого предприятия.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Методика содержит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однозначные требования;</a:t>
            </a: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обоснованные методы оценки;</a:t>
            </a:r>
          </a:p>
          <a:p>
            <a:pPr indent="457200" algn="just"/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результатов;</a:t>
            </a: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доступность методов проверок.</a:t>
            </a:r>
          </a:p>
        </p:txBody>
      </p:sp>
    </p:spTree>
    <p:extLst>
      <p:ext uri="{BB962C8B-B14F-4D97-AF65-F5344CB8AC3E}">
        <p14:creationId xmlns:p14="http://schemas.microsoft.com/office/powerpoint/2010/main" val="230881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СЕРТИФИКАТ СООТВЕТСТВИЯ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17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20435" y="845126"/>
            <a:ext cx="809971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Декларирование соответствия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является приоритетной формой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обязательного подтверждения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соответствия.</a:t>
            </a:r>
          </a:p>
          <a:p>
            <a:pPr indent="457200" algn="just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Декларирование соответствия осуществляется по одной из двух схем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принятие декларации о соответствии на основании собственных доказательств;</a:t>
            </a: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принятие декларации о соответствии на основании собственных доказательств,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а также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доказательств, полученных с участием органа по сертификации и (или) аккредитованной испытательной лаборатории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57200"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Декларация о соответствии является документом, в котором изготовитель удостоверяет, что поставляемая им продукция соответствует требованиям технических регламентов или соответствующих нормативных документов в случае отсутствия на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момент подтверждения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соответствия разработанных технических регламентов на данную продукцию.</a:t>
            </a:r>
          </a:p>
          <a:p>
            <a:pPr indent="457200"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Декларацию о соответствии вправе принимать юридические и физические лица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являющиеся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продавцами или изготовителями, либо выполняющие функции иностранного изготовителя.</a:t>
            </a:r>
          </a:p>
        </p:txBody>
      </p:sp>
    </p:spTree>
    <p:extLst>
      <p:ext uri="{BB962C8B-B14F-4D97-AF65-F5344CB8AC3E}">
        <p14:creationId xmlns:p14="http://schemas.microsoft.com/office/powerpoint/2010/main" val="184665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СЕРТИФИКАТ СООТВЕТСТВИЯ ГОСТ Р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18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20435" y="845126"/>
            <a:ext cx="809971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Сертификат соответствия ГОСТ Р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свидетельство, удостоверяющее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качество фактически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поставленного товара и его соответствие условиям договора. В сертификате качества дается характеристика товара либо подтверждается соответствие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товара определенным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стандартам или техническим условиям заказа.</a:t>
            </a:r>
          </a:p>
          <a:p>
            <a:pPr indent="457200" algn="just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Сертификат соответствия ГОСТ Р представляет собой официальный документ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который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является подтверждением качества и безопасности продукции или производства. Он оформляется в добровольном или обязательном порядке.</a:t>
            </a:r>
          </a:p>
          <a:p>
            <a:pPr indent="457200" algn="just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Список продукции, которая подлежит обязательной сертификации по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системе ГОСТ 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или декларированию,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можно найти в Постановлении Правительства № 982 от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01 декабря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2009 года. Данный стандарт стал действовать с 14 февраля 2010 года. В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связи с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вводом новых Технических регламентов (сертификат ТР) и требований комиссии Таможенного союза (сертификат ТС) перечень товаров постоянно обновляется.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69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РАЗРЕШЕНИЕ РОСТЕХНАДЗОРА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19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20435" y="845126"/>
            <a:ext cx="809971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Разрешение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Ростехнадзора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официальный документ, подтверждающий безопасность технических устройств и возможность их применения на опасных производственных объектах. Чтобы получить такое разрешение, продукция должна была пройти проверку в органах по технологическому, экологическому и атомному надзору.</a:t>
            </a:r>
          </a:p>
          <a:p>
            <a:pPr indent="4572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соответствии с действующим законодательством, экспертизу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промышленной безопасности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проводит экспертная организация,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имеющая лицензию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Ростехнадзора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572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Общим требованием к объектам экспертизы является соблюдение правил, утвержденных приказом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Ростехнадзора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№ 538 от 14 ноября 2013 года, где установлен порядок проведения процедуры и выдачи заключений, а также требования к экспертам, осуществляющим проверку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757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СЕРТИФИКАТ СООТВЕТСТВИЯ ТЕХНИЧЕСКИМ РЕГЛАМЕНТАМ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20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20434" y="1357744"/>
            <a:ext cx="809971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Технические регламенты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нормативные документы, которые в соответствии с Федеральным законом № 184 от 27 декабря 2002 г. «О техническом регулировании», должны заменить множественные ГОСТы и другие нормативные акты. Со временем Технические регламенты должны стать основными документами технического регулирования. В системе государственной сертификации ГОСТ Р Сертификат соответствия техническим регламентам придет на смену сертификату соответствия ГОСТ Р.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реализации п. 2 Федерального закона № 184 Министерство промышленности и энергетики опубликованием приказа № 53 от 22 марта 2006 года утвердило форму на Сертификат соответствия техническим регламентам и опубликовала рекомендации по его заполнению. Данный документ оформляется на бланке, который выдается органом сертификации в системе ГОСТ Р и подлежит строгому учету, имеет защиту от подделок. </a:t>
            </a:r>
          </a:p>
        </p:txBody>
      </p:sp>
    </p:spTree>
    <p:extLst>
      <p:ext uri="{BB962C8B-B14F-4D97-AF65-F5344CB8AC3E}">
        <p14:creationId xmlns:p14="http://schemas.microsoft.com/office/powerpoint/2010/main" val="176022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СЕРТИФИКАТ СООТВЕТСТВИЯ ТЕХНИЧЕСКИМ УСЛОВИЯМ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21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20434" y="1357744"/>
            <a:ext cx="809971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В сертификате соответствия в системе ГОСТ Р, в разделе продукция, обязательно указывается документ, на основании которого производится выпуск заявленной продукции.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Чаще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такими документами являются ГОСТы, ОСТы, СНиПы.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Но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если продукция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нестандартизирована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российскими законами, то применяются нормативы, действующие на аналогичную продукцию, и разрабатываются предприятием собственные нормативы, которые носят название Технические условия.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Когда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отечественной продукции требуется санитарно-эпидемиологическая оценка, основным документом, участвующим в доказательстве соответствия гигиенической безопасности, является 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сертификат соответствия Техническим условиям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750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СЕРТИФИКАЦИЯ: ОТКАЗНЫЕ ПИСЬМА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22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95745" y="1094508"/>
            <a:ext cx="80997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Отказные письма ГОСТ Р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письма-разъяснения о том, что продукция не подлежит обязательной сертификации в системе ГОСТ Р.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95744" y="1843529"/>
            <a:ext cx="85482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Отказные письма ГОСТ Р могут быть двух видов, в зависимости от организации, в которую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их требуется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предоставить: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отказные письма для торговли (отказные письма Госстандарта,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Ростеста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отказные письма для таможни.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95744" y="3166968"/>
            <a:ext cx="822440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Письма для торговли направляются в адрес руководителей фирм, в качестве ответа на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их запрос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 принадлежности конкретной продукции к Единым перечням продукции, подлежащим обязательной сертификации (Постановление Правительства РФ от 01.12.2009 № 982 «Об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утверждении единого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перечня продукции, подлежащей обязательной сертификации, и единого перечня продукции, подтверждение соответствия которой осуществляется в форме принятия декларации о соответствии»), а также указывается ее код ОКП.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95744" y="5340687"/>
            <a:ext cx="79196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Письма для таможни, выдаются с целью предоставления их при таможенном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оформлении продукции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В письме обязательна ссылка на товаросопроводительные документы, по которым продукция ввозится на территорию РФ.</a:t>
            </a:r>
          </a:p>
        </p:txBody>
      </p:sp>
    </p:spTree>
    <p:extLst>
      <p:ext uri="{BB962C8B-B14F-4D97-AF65-F5344CB8AC3E}">
        <p14:creationId xmlns:p14="http://schemas.microsoft.com/office/powerpoint/2010/main" val="278541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ОСНОВНЫЕ ПОНЯТИЯ: ЛИЦЕНЗИРОВАНИЕ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23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20434" y="1191489"/>
            <a:ext cx="809971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Лицензия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– выданное лицензирующим органом индивидуальному предпринимателю или юридическому лицу специальное разрешение, позволяющее заниматься конкретно выбранными видами деятельности.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Лицензируемый 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вид деятельности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это деятельность на территории РФ, на осуществление которой необходимо иметь лицензию, получение которой происходит в соответствии с действующим законом.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Лицензирование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совокупность конкретных действий, которые связаны с выдачей и переоформлением лицензий на виды деятельности, подлежащие лицензированию; переоформлением документов, удостоверяющих наличие лицензий; принятием решений, направленных на приостановление действия лицензий (в случае нарушения лицензионных условий лицензиатом); прекращение, а также возобновление действия лицензий; в установленных случаях их аннулирование; контроль за соблюдением лицензионных требований лицами, ведущими лицензионную деятельность; ведение Реестров лицензий и выдачу сведений из них заинтересованным лицам в установленном порядке, иной информации, касающейся лицензирования. </a:t>
            </a:r>
          </a:p>
        </p:txBody>
      </p:sp>
    </p:spTree>
    <p:extLst>
      <p:ext uri="{BB962C8B-B14F-4D97-AF65-F5344CB8AC3E}">
        <p14:creationId xmlns:p14="http://schemas.microsoft.com/office/powerpoint/2010/main" val="375568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06455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ЛИЦЕНЗИОННЫЕ ТРЕБОВАНИЯ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24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20435" y="858980"/>
            <a:ext cx="809971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Лицензирующие органы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уполномоченные федеральные органы исполнительной власти или их территориальные органы и, в случае передачи осуществления полномочий Российской Федерации в области лицензирования органам государственной власти субъектов Российской Федерации, органы исполнительной власти субъектов Российской Федерации, осуществляющие лицензирование.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Перечень лицензирующих органов определен постановлением Правительства РФ от 21 ноября 2011 г. № 957 «Об организации лицензирования отдельных видов деятельности».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данный перечень, например, входят: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58141" y="5213552"/>
            <a:ext cx="24747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ФСБ России;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ФНС России;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Минпромторг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России;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Ространснадзор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Рособоронзаказ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45130" y="5169102"/>
            <a:ext cx="27761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Ростехнадзор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МЧС России;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Рослесхоз;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Росздравнадзор;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Роспотребнадзор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др.</a:t>
            </a:r>
          </a:p>
        </p:txBody>
      </p:sp>
    </p:spTree>
    <p:extLst>
      <p:ext uri="{BB962C8B-B14F-4D97-AF65-F5344CB8AC3E}">
        <p14:creationId xmlns:p14="http://schemas.microsoft.com/office/powerpoint/2010/main" val="66399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1. Определение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 разграничение понятий "лицензирование" и "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сертификация"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731818"/>
            <a:ext cx="7886700" cy="4624532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Лицензирование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Суть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административно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правовой акт 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государственное разрешение на ведение определённой деятельности (эксплуатация, обучение персонала, оказание услуг, производство и т.д.).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Лицензия </a:t>
            </a:r>
            <a:r>
              <a:rPr lang="ru-RU" dirty="0" err="1">
                <a:latin typeface="Times New Roman" pitchFamily="18" charset="0"/>
                <a:ea typeface="Times New Roman"/>
                <a:cs typeface="Times New Roman" pitchFamily="18" charset="0"/>
              </a:rPr>
              <a:t>легитимизирует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 деятельность на территории юрисдикции.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91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Определение и разграничение понятий "лицензирование" и "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сертификация"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731818"/>
            <a:ext cx="7886700" cy="4624532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Лицензирование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Характеристики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dirty="0">
              <a:solidFill>
                <a:srgbClr val="FF000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Разрешительный характер (право, а не подтверждение качества изделия).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Выдаётся государственным или уполномоченным органом.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Связано с контролем деятельности, соблюдением регуляторных требований и нередко 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периодическими проверками.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84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Определение и разграничение понятий "лицензирование" и "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сертификация"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731818"/>
            <a:ext cx="7886700" cy="4624532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Лицензирование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Примеры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для БТС: </a:t>
            </a:r>
            <a:endParaRPr lang="ru-RU" b="1" dirty="0" smtClean="0">
              <a:solidFill>
                <a:srgbClr val="FF000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лицензия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на эксплуатацию </a:t>
            </a:r>
            <a:r>
              <a:rPr lang="ru-RU" dirty="0" err="1">
                <a:latin typeface="Times New Roman" pitchFamily="18" charset="0"/>
                <a:ea typeface="Times New Roman"/>
                <a:cs typeface="Times New Roman" pitchFamily="18" charset="0"/>
              </a:rPr>
              <a:t>беспилотников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 в контролируемом воздушном пространстве,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выдача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разрешений на коммерческие перевозки беспилотными ТС,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лицензирование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операторских организаций.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03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Определение и разграничение понятий "лицензирование" и "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сертификация"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731818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Отличия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Лицензирование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= право/разрешение на деятельность.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 smtClean="0">
              <a:solidFill>
                <a:srgbClr val="FF000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Сертификация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= подтверждение соответствия продукции/процесса техническим требованиям.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Практика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: 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лицензирование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-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часто организация/оператор, 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   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сертификация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-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продукт/компонент/процесс.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44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ЛИЦЕНЗИРУЕМЫЕ ВИДЫ ДЕЯТЕЛЬНОСТИ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60978" y="1701223"/>
            <a:ext cx="7992918" cy="462453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Регламентирующие документы: Федеральный закон от 27.12.2002 № 184-ФЗ «О техническом регулировании»;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Федеральный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закон от 04.05.2011 № 99-ФЗ «О лицензировании отдельных видов деятельности»;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Федеральный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закон от 01.12.2007 № 315-Ф3 «О саморегулируемых организациях»;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Отраслевые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законы о саморегулируемых организациях. 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71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ЛИЦЕНЗИРУЕМЫЕ ВИДЫ ДЕЯТЕЛЬНОСТИ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99308"/>
            <a:ext cx="7992918" cy="462453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Российской Федерации отдельные виды предпринимательской деятельности осуществляются на основе специального разрешения – лицензии, выдаваемой уполномоченными лицензирующими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органами.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лицензируемым относятся виды деятельности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осуществление которых может повлечь за собой нанесение ущерба правам, законным интересам, нравственности и здоровью граждан, обороне страны и безопасности государства, и регулирование которых не может осуществляться иными методами, кроме как лицензированием.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Перечень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видов деятельности, подлежащих лицензированию, утвержден федеральным законом от 04.05.2011 № 99-ФЗ «О лицензировании отдельных видов деятельности». В этом же законе указаны виды деятельности, на которые не распространяется действие данного закона. </a:t>
            </a:r>
            <a:endParaRPr lang="ru-RU" sz="16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07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ЛИЦЕНЗИРУЕМЫЕ ВИДЫ ДЕЯТЕЛЬНОСТИ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99308"/>
            <a:ext cx="7992918" cy="462453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ФСБ России: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разработка, производство, распространение шифровальных (криптографических) средств и защищенных с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их использованием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информационных и телекоммуникационных систем;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выполнение работ, оказание услуг в области шифрования информации, техническое обслуживание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шифровальных (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криптографических) средств и защищенных с их использованием информационных и телекоммуникационных систем (за исключением случая, если данная деятельность осуществляется для обеспечения собственных нужд организации);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разработка, производство, реализация и приобретение в целях продажи специальных технических средств, предназначенных для негласного получения информации;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деятельность по выявлению электронных устройств, предназначенных для негласного получения информации 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 исключением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случая, если указанная деятельность осуществляется для обеспечения собственных нужд организации).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94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ЛИЦЕНЗИРУЕМЫЕ ВИДЫ ДЕЯТЕЛЬНОСТИ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99308"/>
            <a:ext cx="7992918" cy="462453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ФСБ России, ФСТЭК России: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разработка и производство средств защиты конфиденциальной информации.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ФСТЭК России: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деятельность по технической защите конфиденциальной информации.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30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ЛИЦЕНЗИРУЕМЫЕ ВИДЫ ДЕЯТЕЛЬНОСТИ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99308"/>
            <a:ext cx="7992918" cy="462453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Минпромторг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России,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Ространснадзор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разработка, производство, испытание и ремонт авиационной техники.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94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ЛИЦЕНЗИРУЕМЫЕ ВИДЫ ДЕЯТЕЛЬНОСТИ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99308"/>
            <a:ext cx="7992918" cy="462453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Ространснадзор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деятельность по перевозкам внутренним водным, морским, железнодорожным транспортом пассажиров или опасных грузов;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деятельность по перевозкам пассажиров автомобильным транспортом, оборудованным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перевозок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более восьми человек (за исключением случая, если указанная деятельность осуществляется по заказам либо для обеспечения собственных нужд организации);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погрузочно-разгрузочная деятельность применительно к опасным грузам на железнодорожном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внутреннем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водном транспорте, в морских портах;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деятельность по осуществлению буксировок морским транспортом (за исключением случая,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указанная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деятельность осуществляется для обеспечения собственных нужд организации).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27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ЛИЦЕНЗИРУЕМЫЕ ВИДЫ ДЕЯТЕЛЬНОСТИ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99308"/>
            <a:ext cx="7992918" cy="462453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Роскомнадзор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оказание услуг связи;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телевизионное вещание и радиовещание;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деятельность по изготовлению экземпляров аудиовизуальных произведений, программ для электронных вычислительных машин, баз данных и фонограмм на любых видах носителей (за исключением случаев, если указанная деятельность самостоятельно осуществляется лицами,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обладающими правами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 использование данных объектов авторских и смежных прав в силу федерального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закона или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договора).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59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ПРОЦЕДУРА ЛИЦЕНЗИРОВАНИЯ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36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4092031"/>
              </p:ext>
            </p:extLst>
          </p:nvPr>
        </p:nvGraphicFramePr>
        <p:xfrm>
          <a:off x="290945" y="1118235"/>
          <a:ext cx="8645237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523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 Соискатель лицензии подает в лицензирующий орган заявление установленной формы.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2. Заявление и прилагаемые к нему документы представляются соискателем в лицензирующий орган. 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3. Лицензирующий орган обязан в указанный срок уведомить соискателя лицензии о принятом решении. Уведомление направляется (вручается) соискателю лицензии в письменной форме с указанием реквизитов банковского счета и срока уплаты лицензионного сбора за предоставление лицензии. Уведомление об отказе в предоставлении лицензии направляется (вручается) соискателю лицензии в письменной форме с указанием причин отказа.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4. В течение трех дней после представления соискателем документа, подтверждающего уплату лицензионного сбора, лицензирующий орган бесплатно выдает лицензиату документ, подтверждающий наличие лицензии.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5. Лицензиат имеет право на получение дубликатов указанного документа, которые предоставляются ему за плату, равную плате, установленной за предоставление информации, содержащейся в реестре лицензий.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483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ПРОЦЕДУРА ЛИЦЕНЗИРОВАНИЯ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37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7195" y="1082869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Основания для отказа в предоставлении лицензии: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наличие в заявлении о предоставлении лицензии и (или) прилагаемых к нему документах недостоверной или искаженной информации;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установленное в ходе проверки несоответствие соискателя лицензии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лицензионным требованиям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в отношении соискателя лицензии имеется решение об аннулировании ранее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выданной лицензии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 вид деятельности, указанный в заявлении.</a:t>
            </a:r>
          </a:p>
        </p:txBody>
      </p:sp>
    </p:spTree>
    <p:extLst>
      <p:ext uri="{BB962C8B-B14F-4D97-AF65-F5344CB8AC3E}">
        <p14:creationId xmlns:p14="http://schemas.microsoft.com/office/powerpoint/2010/main" val="48846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2. Цели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лицензирования и сертификации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Цели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лицензирования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Защита жизни и здоровья людей, имущества и инфраструктуры.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Регуляция доступа к потенциально рискованной деятельности (перевозки, съемки, испытания в общедоступных зонах).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Контроль за компетенцией операторов, соответствием процедур, страхованием и готовностью к 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ЧС.</a:t>
            </a: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0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3. Цели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лицензирования и сертификации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Цели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сертификации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Подтверждение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, что изделие/система соответствует требованиям безопасности и эксплуатационной пригодности.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Создание технической уверенности у регуляторов, заказчиков и операторов (проверяемая, документированная).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Установление единого набора требований для поставщиков и производителей.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38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4. Принципы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лицензирования и сертификации (технический ракурс)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Принципы лицензирования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Законность: только на основании действующего законодательства.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Гласность: понятные, доступные требования и процедура.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Объективность: единые критерии оценки компетенций/процессов.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Ответственность: ответственность держателя лицензии за соблюдение условий (отчётность, страхование). 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51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5. Принципы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лицензирования и сертификации (технический ракурс)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Принципы сертификации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Независимость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: орган сертификации не должен быть заинтересован в результате.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Компетентность: наличие экспертов, лабораторий и методик испытаний.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Объективность и 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воспроизводимость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: чёткие методики испытаний, метрология.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Конфиденциальность: защита коммерческой и технической информации.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43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Нормативно правовая и нормативно техническая база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Законодательство (Россия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Федеральный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закон от 04.05.2011 N 99 ФЗ "О лицензировании отдельных видов деятельности".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Воздушный кодекс РФ; иные профильные акты для авиации и транспорта.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Федеральный закон "О техническом регулировании".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Локальные акты: приказы Минтранса, регулирующие использование воздушного пространства и испытания БПЛА/ВАТС. 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11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Нормативно правовая и нормативно техническая база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Технические регламенты и авиационные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правила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ФАП 21, ФАП 128 и другие документы ФАП/Минтранса и 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Росавиации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(или эквиваленты).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ТР ТС, ГОСТы, ТУ производителей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21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Нормативно правовая и нормативно техническая база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Технические регламенты и авиационные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правила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ФАП 21, ФАП 128 и другие документы ФАП/Минтранса и 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Росавиации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(или эквиваленты).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ТР ТС, ГОСТы, ТУ производителей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69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Нормативно правовая и нормативно техническая база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Международные стандарты, часто применимые в проектах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БТС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•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	Авиация: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DO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178C (ПО),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DO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254 (аппаратная логика),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ARP4754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(системная инженерия),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SAE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ARP,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RTCA/DO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1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Нормативно правовая и нормативно техническая база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78873" y="1413164"/>
            <a:ext cx="8141277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Международные стандарты, часто применимые в проектах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БТС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•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	Автомобильная отрасль / наземные ТС: </a:t>
            </a:r>
            <a:endParaRPr lang="ru-RU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ISO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26262 (функциональная безопасность для автопрома), </a:t>
            </a:r>
            <a:endParaRPr lang="ru-RU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ISO/SAE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21434 (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кибербезопасность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автотранспортных средств), </a:t>
            </a:r>
            <a:endParaRPr lang="ru-RU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ISO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21448 (SOTIF 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безопасность при отсутствии неисправностей).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73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Нормативно правовая и нормативно техническая база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Международные стандарты, часто применимые в проектах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БТС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•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	Общие: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ISO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9001 (качество),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ISO/IEC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17025 (испытательные лаборатории),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ISO/IEC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27001 (информационная безопасность),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IEC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61508 (функциональная безопасность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92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Нормативно правовая и нормативно техническая база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Международные стандарты, часто применимые в проектах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БТС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•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	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EMC/</a:t>
            </a:r>
            <a:r>
              <a:rPr lang="ru-RU" sz="2400" dirty="0" err="1" smtClean="0">
                <a:latin typeface="Times New Roman" pitchFamily="18" charset="0"/>
                <a:ea typeface="Times New Roman"/>
                <a:cs typeface="Times New Roman" pitchFamily="18" charset="0"/>
              </a:rPr>
              <a:t>Environmental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: IEC 61000 (ЭМС), IEC 60068 (климатические испытания), UN регулирования для батарей (UN38.3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ITS/связь: ETSI EN 302 665 (архитектура ITS), ETSI ITS G5, 3GPP спецификации для C V2X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UNECE/WP.29: нормативы по автоматизации транспортных средств, регуляции по 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кибербезопасности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/OTA. 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02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Нормативно правовая и нормативно техническая база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Специфические документы по сертификации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компонентов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Документы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по летной годности,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производственные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разрешения, </a:t>
            </a: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сертификаты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систем менеджмента (AS9100 в авиации) и пр.</a:t>
            </a: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94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348019"/>
            <a:ext cx="7883236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7.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Органы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и участники процесса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13164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В России </a:t>
            </a:r>
            <a:endParaRPr lang="ru-RU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Лицензирующие органы: федеральные исполнительные органы (вопросы лицензирования авиационно технической деятельности обычно лежат в компетенции 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Росавиации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/ Минтранса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Органы по сертификации: аккредитованные организации (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Росаккредитация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осуществляет аккредитацию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Испытательные лаборатории: аккредитованные лаборатории по профильным испытаниям (механика, климат, EMC, испытания ПО/алгоритмов). 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27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348019"/>
            <a:ext cx="7883236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7.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Органы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и участники процесса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52945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В </a:t>
            </a: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международной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практике</a:t>
            </a: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EASA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, </a:t>
            </a:r>
            <a:endParaRPr lang="ru-RU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FAA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, </a:t>
            </a:r>
            <a:endParaRPr lang="ru-RU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ICAO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, </a:t>
            </a:r>
            <a:endParaRPr lang="ru-RU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N</a:t>
            </a:r>
            <a:r>
              <a:rPr lang="ru-RU" sz="2400" dirty="0" err="1" smtClean="0">
                <a:latin typeface="Times New Roman" pitchFamily="18" charset="0"/>
                <a:ea typeface="Times New Roman"/>
                <a:cs typeface="Times New Roman" pitchFamily="18" charset="0"/>
              </a:rPr>
              <a:t>ational</a:t>
            </a: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CAA, аккредитованные тест 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лаб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, независимые сертификационные фирмы. 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72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348019"/>
            <a:ext cx="7883236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7.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Органы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и участники процесса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52945"/>
            <a:ext cx="7992918" cy="4624532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Внутренние роли организации </a:t>
            </a:r>
            <a:endParaRPr lang="en-US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Менеджер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по сертификации/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комплаенсу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, </a:t>
            </a:r>
            <a:endParaRPr lang="en-US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инженер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по надежности/безопасности (RAMS/SIL/ASIL), </a:t>
            </a:r>
            <a:endParaRPr lang="en-US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системный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инженер, </a:t>
            </a:r>
            <a:endParaRPr lang="en-US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инженер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ПО, </a:t>
            </a:r>
            <a:endParaRPr lang="en-US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инженер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по тестированию и верификации, </a:t>
            </a:r>
            <a:endParaRPr lang="en-US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специалист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по 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кибербезопасности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, </a:t>
            </a:r>
            <a:endParaRPr lang="en-US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менеджер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качества, </a:t>
            </a:r>
            <a:endParaRPr lang="en-US" sz="2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юридическая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служба.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25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348019"/>
            <a:ext cx="7883236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Типы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сертификатов и разрешений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52945"/>
            <a:ext cx="7992918" cy="5569528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Внутренние роли организации </a:t>
            </a:r>
            <a:endParaRPr lang="en-US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•	Сертификат летной годности / типовая сертификация (</a:t>
            </a:r>
            <a:r>
              <a:rPr lang="ru-RU" sz="2200" dirty="0" err="1">
                <a:latin typeface="Times New Roman" pitchFamily="18" charset="0"/>
                <a:ea typeface="Times New Roman"/>
                <a:cs typeface="Times New Roman" pitchFamily="18" charset="0"/>
              </a:rPr>
              <a:t>airworthiness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/</a:t>
            </a:r>
            <a:r>
              <a:rPr lang="ru-RU" sz="2200" dirty="0" err="1">
                <a:latin typeface="Times New Roman" pitchFamily="18" charset="0"/>
                <a:ea typeface="Times New Roman"/>
                <a:cs typeface="Times New Roman" pitchFamily="18" charset="0"/>
              </a:rPr>
              <a:t>type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200" dirty="0" err="1">
                <a:latin typeface="Times New Roman" pitchFamily="18" charset="0"/>
                <a:ea typeface="Times New Roman"/>
                <a:cs typeface="Times New Roman" pitchFamily="18" charset="0"/>
              </a:rPr>
              <a:t>certification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) для авиационных </a:t>
            </a:r>
            <a:r>
              <a:rPr lang="ru-RU" sz="22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беспилотников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•	Сертификаты соответствия компонентов (EMC, электрическая безопасность, климатические устойчивости).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•	Сертификаты ПО/алгоритмов (по уровню критичности </a:t>
            </a:r>
            <a:r>
              <a:rPr lang="en-US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-</a:t>
            </a:r>
            <a:r>
              <a:rPr lang="ru-RU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требуемые уровни DO 178C).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•	Сертификаты производителя/организации: производство, обслуживание (например, </a:t>
            </a:r>
            <a:r>
              <a:rPr lang="ru-RU" sz="2200" dirty="0" err="1">
                <a:latin typeface="Times New Roman" pitchFamily="18" charset="0"/>
                <a:ea typeface="Times New Roman"/>
                <a:cs typeface="Times New Roman" pitchFamily="18" charset="0"/>
              </a:rPr>
              <a:t>Part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 145 в авиации </a:t>
            </a:r>
            <a:r>
              <a:rPr lang="en-US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-</a:t>
            </a:r>
            <a:r>
              <a:rPr lang="ru-RU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MRO).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•	Разрешения на эксплуатацию / операторы (операторская лицензия).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•	Радиочастотные лицензии для беспроводной связи.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•	Сертификаты </a:t>
            </a:r>
            <a:r>
              <a:rPr lang="ru-RU" sz="22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кибербезопасности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 / соответствия к стандартам (ISO 21434, IEC 62443).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90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251037"/>
            <a:ext cx="7883236" cy="857326"/>
          </a:xfrm>
        </p:spPr>
        <p:txBody>
          <a:bodyPr/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Технические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требования к доказательствам соответствия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что нужно подготовить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12618" y="1080653"/>
            <a:ext cx="8307532" cy="5417128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Система доказательств (</a:t>
            </a:r>
            <a:r>
              <a:rPr lang="en-US" b="1" dirty="0">
                <a:latin typeface="Times New Roman" pitchFamily="18" charset="0"/>
                <a:ea typeface="Times New Roman"/>
                <a:cs typeface="Times New Roman" pitchFamily="18" charset="0"/>
              </a:rPr>
              <a:t>evidence)</a:t>
            </a:r>
            <a:endParaRPr lang="ru-RU" b="1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Технические спецификации и требования (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SRS, system requirements).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Документы по системе управления конфигурацией и управления изменениями.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Архитектурные описания 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HW/SW, 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интерфейсы (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IDEs, </a:t>
            </a:r>
            <a:r>
              <a:rPr lang="en-US" sz="1800" dirty="0" err="1">
                <a:latin typeface="Times New Roman" pitchFamily="18" charset="0"/>
                <a:ea typeface="Times New Roman"/>
                <a:cs typeface="Times New Roman" pitchFamily="18" charset="0"/>
              </a:rPr>
              <a:t>IDocs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Документы по управлению безопасностью: 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Hazard Analysis, Safety Case, System Safety Assessment (SSA), HAZOP, FMEA/FMECA, FTA.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План верификации и </a:t>
            </a:r>
            <a:r>
              <a:rPr lang="ru-RU" sz="18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валидации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 (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V&amp;V Plan), 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матрица трассировки требований (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requirements traceability matrix: requirement → 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разработка → тест).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Отчёты испытаний: 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bench tests, integration tests, environmental tests, EMC, vibration/shock, battery tests (UN38.3), flight/field tests.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Результаты анализа надежности: 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MTBF, 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тесты ресурсной устойчивости, демонстрации режимов отказа.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ПО артефакты: кодовые </a:t>
            </a:r>
            <a:r>
              <a:rPr lang="ru-RU" sz="1800" dirty="0" err="1">
                <a:latin typeface="Times New Roman" pitchFamily="18" charset="0"/>
                <a:ea typeface="Times New Roman"/>
                <a:cs typeface="Times New Roman" pitchFamily="18" charset="0"/>
              </a:rPr>
              <a:t>репозитории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, статический анализ, покрытие тестов, результаты 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unit/integration/system tests, SQA 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процессы, 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CI/CD pipeline, 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результаты </a:t>
            </a:r>
            <a:r>
              <a:rPr lang="ru-RU" sz="18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кибертестов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 (</a:t>
            </a:r>
            <a:r>
              <a:rPr lang="en-US" sz="1800" dirty="0" err="1">
                <a:latin typeface="Times New Roman" pitchFamily="18" charset="0"/>
                <a:ea typeface="Times New Roman"/>
                <a:cs typeface="Times New Roman" pitchFamily="18" charset="0"/>
              </a:rPr>
              <a:t>pentest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), SBOM (software bill of materials).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Производственные артефакты: 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BOM, 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чертежи, процессы контроля качества, сертификаты поставщиков компонентов.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•	Процедуры эксплуатации и техобслуживания: </a:t>
            </a:r>
            <a:r>
              <a:rPr lang="en-US" sz="1800" dirty="0" err="1">
                <a:latin typeface="Times New Roman" pitchFamily="18" charset="0"/>
                <a:ea typeface="Times New Roman"/>
                <a:cs typeface="Times New Roman" pitchFamily="18" charset="0"/>
              </a:rPr>
              <a:t>instruktsii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, </a:t>
            </a:r>
            <a:r>
              <a:rPr lang="en-US" sz="1800" dirty="0" err="1">
                <a:latin typeface="Times New Roman" pitchFamily="18" charset="0"/>
                <a:ea typeface="Times New Roman"/>
                <a:cs typeface="Times New Roman" pitchFamily="18" charset="0"/>
              </a:rPr>
              <a:t>manuels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, checklists, training records </a:t>
            </a:r>
            <a:r>
              <a:rPr lang="ru-RU" sz="1800" dirty="0">
                <a:latin typeface="Times New Roman" pitchFamily="18" charset="0"/>
                <a:ea typeface="Times New Roman"/>
                <a:cs typeface="Times New Roman" pitchFamily="18" charset="0"/>
              </a:rPr>
              <a:t>для операторов/техников.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3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251037"/>
            <a:ext cx="7883236" cy="857326"/>
          </a:xfrm>
        </p:spPr>
        <p:txBody>
          <a:bodyPr/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Технические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требования к доказательствам соответствия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что нужно подготовить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12618" y="1080653"/>
            <a:ext cx="8307532" cy="5417128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Для </a:t>
            </a:r>
            <a:r>
              <a:rPr lang="ru-RU" b="1" dirty="0" err="1" smtClean="0">
                <a:latin typeface="Times New Roman" pitchFamily="18" charset="0"/>
                <a:ea typeface="Times New Roman"/>
                <a:cs typeface="Times New Roman" pitchFamily="18" charset="0"/>
              </a:rPr>
              <a:t>кибербезопасности</a:t>
            </a:r>
            <a:endParaRPr lang="en-US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Threat model, security requirements, threat/vulnerability analysis,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план управления уязвимостями, результат </a:t>
            </a:r>
            <a:r>
              <a:rPr lang="en-US" sz="2400" dirty="0">
                <a:latin typeface="Times New Roman" pitchFamily="18" charset="0"/>
                <a:ea typeface="Times New Roman"/>
                <a:cs typeface="Times New Roman" pitchFamily="18" charset="0"/>
              </a:rPr>
              <a:t>SAST/DAST, </a:t>
            </a:r>
            <a:r>
              <a:rPr lang="en-US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pentest</a:t>
            </a:r>
            <a:r>
              <a:rPr lang="en-US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отчёты, </a:t>
            </a:r>
            <a:r>
              <a:rPr lang="en-US" sz="2400" dirty="0">
                <a:latin typeface="Times New Roman" pitchFamily="18" charset="0"/>
                <a:ea typeface="Times New Roman"/>
                <a:cs typeface="Times New Roman" pitchFamily="18" charset="0"/>
              </a:rPr>
              <a:t>evidence PKI/secure update mechanisms (OTA), SBOM, incident response plan. </a:t>
            </a: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63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251037"/>
            <a:ext cx="7883236" cy="857326"/>
          </a:xfrm>
        </p:spPr>
        <p:txBody>
          <a:bodyPr/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Технические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требования к доказательствам соответствия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что нужно подготовить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12618" y="1080653"/>
            <a:ext cx="8307532" cy="5417128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Для сетевых компонентов и 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V2X</a:t>
            </a:r>
            <a:endParaRPr lang="en-US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•	Соглашения по радиочастотам, соответствие ETSI/3GPP, тесты производительности (</a:t>
            </a:r>
            <a:r>
              <a:rPr lang="ru-RU" dirty="0" err="1">
                <a:latin typeface="Times New Roman" pitchFamily="18" charset="0"/>
                <a:ea typeface="Times New Roman"/>
                <a:cs typeface="Times New Roman" pitchFamily="18" charset="0"/>
              </a:rPr>
              <a:t>latency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/</a:t>
            </a:r>
            <a:r>
              <a:rPr lang="ru-RU" dirty="0" err="1">
                <a:latin typeface="Times New Roman" pitchFamily="18" charset="0"/>
                <a:ea typeface="Times New Roman"/>
                <a:cs typeface="Times New Roman" pitchFamily="18" charset="0"/>
              </a:rPr>
              <a:t>jitter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), </a:t>
            </a:r>
            <a:r>
              <a:rPr lang="ru-RU" dirty="0" err="1">
                <a:latin typeface="Times New Roman" pitchFamily="18" charset="0"/>
                <a:ea typeface="Times New Roman"/>
                <a:cs typeface="Times New Roman" pitchFamily="18" charset="0"/>
              </a:rPr>
              <a:t>interoperability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ea typeface="Times New Roman"/>
                <a:cs typeface="Times New Roman" pitchFamily="18" charset="0"/>
              </a:rPr>
              <a:t>tests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50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251037"/>
            <a:ext cx="7883236" cy="857326"/>
          </a:xfrm>
        </p:spPr>
        <p:txBody>
          <a:bodyPr/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Практический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процесс сертификации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последовательность и чек листы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12618" y="1080653"/>
            <a:ext cx="8307532" cy="5417128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Общая последовательность</a:t>
            </a:r>
            <a:endParaRPr lang="en-US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1) </a:t>
            </a:r>
            <a:r>
              <a:rPr lang="ru-RU" sz="2000" dirty="0" err="1" smtClean="0">
                <a:latin typeface="Times New Roman" pitchFamily="18" charset="0"/>
                <a:ea typeface="Times New Roman"/>
                <a:cs typeface="Times New Roman" pitchFamily="18" charset="0"/>
              </a:rPr>
              <a:t>Предоценка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/</a:t>
            </a:r>
            <a:r>
              <a:rPr lang="ru-RU" sz="2000" dirty="0" err="1" smtClean="0">
                <a:latin typeface="Times New Roman" pitchFamily="18" charset="0"/>
                <a:ea typeface="Times New Roman"/>
                <a:cs typeface="Times New Roman" pitchFamily="18" charset="0"/>
              </a:rPr>
              <a:t>gap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analysis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: сравнение продукта/процессов с требованиями регламента/стандарта. </a:t>
            </a:r>
            <a:endParaRPr lang="en-US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2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) Формирование плана сертификации и V&amp;V стратегии; определение критичности (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safety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level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/ASIL/SIL/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Design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Assurance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Level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-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DAL). </a:t>
            </a:r>
            <a:endParaRPr lang="en-US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3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) Подготовка документации </a:t>
            </a:r>
            <a:r>
              <a:rPr lang="en-US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-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System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Safety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Case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, SRS, V&amp;V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plan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, CM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plan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, QA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plan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4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) Разработка и проведение испытаний: лабораторные, полевые, эксплуатационные. </a:t>
            </a:r>
            <a:endParaRPr lang="en-US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5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) Сбор и интеграция доказательств; трассировка требований до тестов. </a:t>
            </a:r>
            <a:endParaRPr lang="en-US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6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) Аудит органом сертификации / инспекции производства. </a:t>
            </a:r>
            <a:endParaRPr lang="en-US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7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) Выдача сертификата/сертификатов, внесение в реестр (при положительном результате). </a:t>
            </a:r>
            <a:endParaRPr lang="en-US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8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) Пост сертификационный мониторинг: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surveillance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audits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, периодические проверки и инспекции; управление изменениями (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major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/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minor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changes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). </a:t>
            </a:r>
            <a:endParaRPr lang="en-US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81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251037"/>
            <a:ext cx="7883236" cy="857326"/>
          </a:xfrm>
        </p:spPr>
        <p:txBody>
          <a:bodyPr/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Практический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процесс сертификации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последовательность и чек листы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12618" y="1080653"/>
            <a:ext cx="8307532" cy="5417128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Чек лист подготовки к сертификации (технический</a:t>
            </a:r>
            <a:r>
              <a:rPr lang="ru-RU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</a:t>
            </a:r>
            <a:endParaRPr lang="en-US" b="1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	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Наличие формализованных требований к продукту (SRS).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Наличие системной архитектуры с указанием критичных по безопасности функций.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Проведённый анализ рисков и 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safety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ea typeface="Times New Roman"/>
                <a:cs typeface="Times New Roman" pitchFamily="18" charset="0"/>
              </a:rPr>
              <a:t>case</a:t>
            </a: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Полный план V&amp;V и расписанные тест кейсы.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Аккредитованные лаборатории/испытательные стенды для требуемых испытаний.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Организация конфигурационного менеджмента и отслеживания версий.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Процедуры контроля качества и записи результатов.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ea typeface="Times New Roman"/>
                <a:cs typeface="Times New Roman" pitchFamily="18" charset="0"/>
              </a:rPr>
              <a:t>•	План управления пост выпускными изменениями и OTA (если применимо).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74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0764" y="251037"/>
            <a:ext cx="7883236" cy="857326"/>
          </a:xfrm>
        </p:spPr>
        <p:txBody>
          <a:bodyPr/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Практический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процесс сертификации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последовательность и чек листы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12618" y="1080653"/>
            <a:ext cx="8307532" cy="5417128"/>
          </a:xfrm>
        </p:spPr>
        <p:txBody>
          <a:bodyPr/>
          <a:lstStyle/>
          <a:p>
            <a:pPr marL="0" indent="4572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ea typeface="Times New Roman"/>
                <a:cs typeface="Times New Roman" pitchFamily="18" charset="0"/>
              </a:rPr>
              <a:t>Пример WBS (ключевые артефакты и этапы)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•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	Инициирование: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gap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analysis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, назначение ответственных.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•	Проектирование: требования, архитектура,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safety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design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•	Реализация: кодирование, электроника, сборка.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•	V&amp;V: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unit→integration→system→acceptance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tests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environmental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/EMC.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•	Документы: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Safety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Case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Traceability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Matrix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Test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Reports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•	Аудит/сертификация: подготовка к инспекции, ответы на замечания.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38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6189</TotalTime>
  <Words>3619</Words>
  <Application>Microsoft Office PowerPoint</Application>
  <PresentationFormat>Экран (4:3)</PresentationFormat>
  <Paragraphs>473</Paragraphs>
  <Slides>60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60</vt:i4>
      </vt:variant>
    </vt:vector>
  </HeadingPairs>
  <TitlesOfParts>
    <vt:vector size="62" baseType="lpstr">
      <vt:lpstr>Специальное оформление</vt:lpstr>
      <vt:lpstr>1_Специальное оформление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 Основы лицензирования и сертификации беспилотных систем: терминология, цели, принципы</vt:lpstr>
      <vt:lpstr>План лекции</vt:lpstr>
      <vt:lpstr>ОСНОВНЫЕ ПОНЯТИЯ: СЕРТИФИКАЦИЯ</vt:lpstr>
      <vt:lpstr>Определение и разграничение понятий "лицензирование" и "сертификация"</vt:lpstr>
      <vt:lpstr>Определение и разграничение понятий "лицензирование" и "сертификация"</vt:lpstr>
      <vt:lpstr>Определение и разграничение понятий "лицензирование" и "сертификация"</vt:lpstr>
      <vt:lpstr>СЕРТИФИКАЦИЯ ПРОДУКЦИИ</vt:lpstr>
      <vt:lpstr>СЕРТИФИКАЦИЯ УСЛУГ (РАБОТ)</vt:lpstr>
      <vt:lpstr>СЕРТИФИКАЦИЯ СИСТЕМ МЕНЕДЖМЕНТА</vt:lpstr>
      <vt:lpstr>ОБЯЗАТЕЛЬНАЯ И ДОБРОВОЛЬНАЯ СЕРТИФИКАЦИЯ</vt:lpstr>
      <vt:lpstr>СИСТЕМЫ СЕРТИФИКАЦИИ. ОРГАНЫ СЕРТИФИКАЦИИ</vt:lpstr>
      <vt:lpstr>СЕРТИФИКАЦИЯ. ПРАВИЛА И ПОРЯДОК ПРОВЕДЕНИЯ</vt:lpstr>
      <vt:lpstr>СЕРТИФИКАТ КАЧЕСТВА</vt:lpstr>
      <vt:lpstr>СЕРТИФИКАТ КАЧЕСТВА</vt:lpstr>
      <vt:lpstr>СЕРТИФИКАЦИЯ ПРОИЗВОДСТВА</vt:lpstr>
      <vt:lpstr>СЕРТИФИКАТ СООТВЕТСТВИЯ</vt:lpstr>
      <vt:lpstr>СЕРТИФИКАТ СООТВЕТСТВИЯ ГОСТ Р </vt:lpstr>
      <vt:lpstr>РАЗРЕШЕНИЕ РОСТЕХНАДЗОРА</vt:lpstr>
      <vt:lpstr>СЕРТИФИКАТ СООТВЕТСТВИЯ ТЕХНИЧЕСКИМ РЕГЛАМЕНТАМ</vt:lpstr>
      <vt:lpstr>СЕРТИФИКАТ СООТВЕТСТВИЯ ТЕХНИЧЕСКИМ УСЛОВИЯМ</vt:lpstr>
      <vt:lpstr>СЕРТИФИКАЦИЯ: ОТКАЗНЫЕ ПИСЬМА</vt:lpstr>
      <vt:lpstr>ОСНОВНЫЕ ПОНЯТИЯ: ЛИЦЕНЗИРОВАНИЕ </vt:lpstr>
      <vt:lpstr>ЛИЦЕНЗИОННЫЕ ТРЕБОВАНИЯ</vt:lpstr>
      <vt:lpstr>1. Определение и разграничение понятий "лицензирование" и "сертификация"</vt:lpstr>
      <vt:lpstr>Определение и разграничение понятий "лицензирование" и "сертификация"</vt:lpstr>
      <vt:lpstr>Определение и разграничение понятий "лицензирование" и "сертификация"</vt:lpstr>
      <vt:lpstr>Определение и разграничение понятий "лицензирование" и "сертификация"</vt:lpstr>
      <vt:lpstr>ЛИЦЕНЗИРУЕМЫЕ ВИДЫ ДЕЯТЕЛЬНОСТИ</vt:lpstr>
      <vt:lpstr>ЛИЦЕНЗИРУЕМЫЕ ВИДЫ ДЕЯТЕЛЬНОСТИ</vt:lpstr>
      <vt:lpstr>ЛИЦЕНЗИРУЕМЫЕ ВИДЫ ДЕЯТЕЛЬНОСТИ</vt:lpstr>
      <vt:lpstr>ЛИЦЕНЗИРУЕМЫЕ ВИДЫ ДЕЯТЕЛЬНОСТИ</vt:lpstr>
      <vt:lpstr>ЛИЦЕНЗИРУЕМЫЕ ВИДЫ ДЕЯТЕЛЬНОСТИ</vt:lpstr>
      <vt:lpstr>ЛИЦЕНЗИРУЕМЫЕ ВИДЫ ДЕЯТЕЛЬНОСТИ</vt:lpstr>
      <vt:lpstr>ЛИЦЕНЗИРУЕМЫЕ ВИДЫ ДЕЯТЕЛЬНОСТИ</vt:lpstr>
      <vt:lpstr>ПРОЦЕДУРА ЛИЦЕНЗИРОВАНИЯ</vt:lpstr>
      <vt:lpstr>ПРОЦЕДУРА ЛИЦЕНЗИРОВАНИЯ</vt:lpstr>
      <vt:lpstr>2. Цели лицензирования и сертификации </vt:lpstr>
      <vt:lpstr>3. Цели лицензирования и сертификации </vt:lpstr>
      <vt:lpstr>4. Принципы лицензирования и сертификации (технический ракурс)</vt:lpstr>
      <vt:lpstr>5. Принципы лицензирования и сертификации (технический ракурс)</vt:lpstr>
      <vt:lpstr>6. Нормативно правовая и нормативно техническая база </vt:lpstr>
      <vt:lpstr>6. Нормативно правовая и нормативно техническая база </vt:lpstr>
      <vt:lpstr>6. Нормативно правовая и нормативно техническая база </vt:lpstr>
      <vt:lpstr>6. Нормативно правовая и нормативно техническая база </vt:lpstr>
      <vt:lpstr>6. Нормативно правовая и нормативно техническая база </vt:lpstr>
      <vt:lpstr>6. Нормативно правовая и нормативно техническая база </vt:lpstr>
      <vt:lpstr>6. Нормативно правовая и нормативно техническая база </vt:lpstr>
      <vt:lpstr>6. Нормативно правовая и нормативно техническая база </vt:lpstr>
      <vt:lpstr>7. Органы и участники процесса </vt:lpstr>
      <vt:lpstr>7. Органы и участники процесса </vt:lpstr>
      <vt:lpstr>7. Органы и участники процесса </vt:lpstr>
      <vt:lpstr>Типы сертификатов и разрешений </vt:lpstr>
      <vt:lpstr>Технические требования к доказательствам соответствия - что нужно подготовить </vt:lpstr>
      <vt:lpstr>Технические требования к доказательствам соответствия - что нужно подготовить </vt:lpstr>
      <vt:lpstr>Технические требования к доказательствам соответствия - что нужно подготовить </vt:lpstr>
      <vt:lpstr>Практический процесс сертификации  - последовательность и чек листы </vt:lpstr>
      <vt:lpstr>Практический процесс сертификации  - последовательность и чек листы </vt:lpstr>
      <vt:lpstr>Практический процесс сертификации  - последовательность и чек листы 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385</cp:revision>
  <dcterms:created xsi:type="dcterms:W3CDTF">2015-07-29T11:14:37Z</dcterms:created>
  <dcterms:modified xsi:type="dcterms:W3CDTF">2026-06-26T19:58:11Z</dcterms:modified>
</cp:coreProperties>
</file>