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25"/>
  </p:notesMasterIdLst>
  <p:sldIdLst>
    <p:sldId id="325" r:id="rId3"/>
    <p:sldId id="293" r:id="rId4"/>
    <p:sldId id="294" r:id="rId5"/>
    <p:sldId id="334" r:id="rId6"/>
    <p:sldId id="336" r:id="rId7"/>
    <p:sldId id="337" r:id="rId8"/>
    <p:sldId id="338" r:id="rId9"/>
    <p:sldId id="335" r:id="rId10"/>
    <p:sldId id="326" r:id="rId11"/>
    <p:sldId id="327" r:id="rId12"/>
    <p:sldId id="332" r:id="rId13"/>
    <p:sldId id="333" r:id="rId14"/>
    <p:sldId id="328" r:id="rId15"/>
    <p:sldId id="329" r:id="rId16"/>
    <p:sldId id="330" r:id="rId17"/>
    <p:sldId id="331" r:id="rId18"/>
    <p:sldId id="339" r:id="rId19"/>
    <p:sldId id="340" r:id="rId20"/>
    <p:sldId id="341" r:id="rId21"/>
    <p:sldId id="342" r:id="rId22"/>
    <p:sldId id="343" r:id="rId23"/>
    <p:sldId id="26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D491A0-BE31-468F-9673-7E5C71FAD40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29D30F-0E42-4EFA-A47A-DF3F156FEE05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•	Производство ВАТС: В будущем, для обеспечения соответствия высоким стандартам безопасности, возможно введение лицензирования производства ВАТС. Это позволит контролировать качество производимых транспортных средств и соответствие их техническим требованиям.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FC6C4888-B04B-4C79-9D1E-4E4C1DE4AC9F}" type="parTrans" cxnId="{2ABFDC26-8719-44BE-9918-2240DF807F6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FCB3D8E-175F-4274-B77A-EC0F5E6FA1D8}" type="sibTrans" cxnId="{2ABFDC26-8719-44BE-9918-2240DF807F6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33BA8C4-CCA4-4DE1-8B43-E77115E6347B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•	Техническое обслуживание и ремонт ВАТС: Лицензирование этой деятельности может стать необходимым для гарантии квалифицированного обслуживания и ремонта ВАТС, что напрямую влияет на безопасность их эксплуатации.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96D5A788-E22E-4BD6-B24F-93EEF6DE69BB}" type="parTrans" cxnId="{279D86E1-BD8B-415B-A232-44D63CA4596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0CD25E0-5FC2-4F97-97C6-98E891EA6B7A}" type="sibTrans" cxnId="{279D86E1-BD8B-415B-A232-44D63CA4596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A3BB071-C8C9-496D-AFEB-1144CEC9248A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•	Обучение водителей-операторов ВАТС (в переходный период, если необходимо): Если на начальном этапе эксплуатации ВАТС потребуется присутствие оператора, может быть введено лицензирование учебных центров, готовящих таких специалистов.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5E5FB8EE-8CC6-4AC7-91B6-4D2C4178EA37}" type="parTrans" cxnId="{A82DDB0D-BF30-4BB6-AE1E-01507B50BE6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4227DA0-1AC6-4EB9-94B8-744BA49BFC02}" type="sibTrans" cxnId="{A82DDB0D-BF30-4BB6-AE1E-01507B50BE6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ABCB0CD-E23C-4D73-95EC-98DD23457A70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•	Эксплуатация ВАТС в коммерческих целях (например, такси, доставка): Это позволит регулировать рынок коммерческих перевозок с использованием ВАТС и обеспечивать соблюдение требований безопасности.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11AC8833-53CF-48BE-946D-6E75A02BB927}" type="parTrans" cxnId="{77C65C8C-C21F-4DFA-BCD8-8EF89D8F90F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DA494A8-F997-416A-ACCA-FE9B43B6EB2B}" type="sibTrans" cxnId="{77C65C8C-C21F-4DFA-BCD8-8EF89D8F90F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D8352E0-8A72-4920-B60D-A558B7CB10B2}" type="pres">
      <dgm:prSet presAssocID="{D1D491A0-BE31-468F-9673-7E5C71FAD40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1AA2A7-CAEF-473C-8056-6E3AF39A68E9}" type="pres">
      <dgm:prSet presAssocID="{8729D30F-0E42-4EFA-A47A-DF3F156FEE0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2DEA8BF-5A06-4395-8A47-CD993684CE24}" type="pres">
      <dgm:prSet presAssocID="{4FCB3D8E-175F-4274-B77A-EC0F5E6FA1D8}" presName="sibTrans" presStyleCnt="0"/>
      <dgm:spPr/>
    </dgm:pt>
    <dgm:pt modelId="{9E376AC1-D77A-4233-93D3-9B5343146A80}" type="pres">
      <dgm:prSet presAssocID="{F33BA8C4-CCA4-4DE1-8B43-E77115E6347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8FC413-4E46-4F37-AE75-0C7153B4E226}" type="pres">
      <dgm:prSet presAssocID="{50CD25E0-5FC2-4F97-97C6-98E891EA6B7A}" presName="sibTrans" presStyleCnt="0"/>
      <dgm:spPr/>
    </dgm:pt>
    <dgm:pt modelId="{96C7514A-6092-4428-A546-2ED673A06FDA}" type="pres">
      <dgm:prSet presAssocID="{AA3BB071-C8C9-496D-AFEB-1144CEC9248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8BC535-DD99-4034-8176-9DC0C5C63C5F}" type="pres">
      <dgm:prSet presAssocID="{D4227DA0-1AC6-4EB9-94B8-744BA49BFC02}" presName="sibTrans" presStyleCnt="0"/>
      <dgm:spPr/>
    </dgm:pt>
    <dgm:pt modelId="{27F870B4-0169-4C5E-8800-1807B74A1B60}" type="pres">
      <dgm:prSet presAssocID="{8ABCB0CD-E23C-4D73-95EC-98DD23457A70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82DDB0D-BF30-4BB6-AE1E-01507B50BE6C}" srcId="{D1D491A0-BE31-468F-9673-7E5C71FAD402}" destId="{AA3BB071-C8C9-496D-AFEB-1144CEC9248A}" srcOrd="2" destOrd="0" parTransId="{5E5FB8EE-8CC6-4AC7-91B6-4D2C4178EA37}" sibTransId="{D4227DA0-1AC6-4EB9-94B8-744BA49BFC02}"/>
    <dgm:cxn modelId="{77C65C8C-C21F-4DFA-BCD8-8EF89D8F90FE}" srcId="{D1D491A0-BE31-468F-9673-7E5C71FAD402}" destId="{8ABCB0CD-E23C-4D73-95EC-98DD23457A70}" srcOrd="3" destOrd="0" parTransId="{11AC8833-53CF-48BE-946D-6E75A02BB927}" sibTransId="{FDA494A8-F997-416A-ACCA-FE9B43B6EB2B}"/>
    <dgm:cxn modelId="{2CC1D7EC-C7AE-427C-B29B-83298D07B08C}" type="presOf" srcId="{8729D30F-0E42-4EFA-A47A-DF3F156FEE05}" destId="{8A1AA2A7-CAEF-473C-8056-6E3AF39A68E9}" srcOrd="0" destOrd="0" presId="urn:microsoft.com/office/officeart/2005/8/layout/default"/>
    <dgm:cxn modelId="{279D86E1-BD8B-415B-A232-44D63CA4596D}" srcId="{D1D491A0-BE31-468F-9673-7E5C71FAD402}" destId="{F33BA8C4-CCA4-4DE1-8B43-E77115E6347B}" srcOrd="1" destOrd="0" parTransId="{96D5A788-E22E-4BD6-B24F-93EEF6DE69BB}" sibTransId="{50CD25E0-5FC2-4F97-97C6-98E891EA6B7A}"/>
    <dgm:cxn modelId="{2ABFDC26-8719-44BE-9918-2240DF807F68}" srcId="{D1D491A0-BE31-468F-9673-7E5C71FAD402}" destId="{8729D30F-0E42-4EFA-A47A-DF3F156FEE05}" srcOrd="0" destOrd="0" parTransId="{FC6C4888-B04B-4C79-9D1E-4E4C1DE4AC9F}" sibTransId="{4FCB3D8E-175F-4274-B77A-EC0F5E6FA1D8}"/>
    <dgm:cxn modelId="{B37F5A37-0A05-41E2-9A93-5502AB50C089}" type="presOf" srcId="{D1D491A0-BE31-468F-9673-7E5C71FAD402}" destId="{0D8352E0-8A72-4920-B60D-A558B7CB10B2}" srcOrd="0" destOrd="0" presId="urn:microsoft.com/office/officeart/2005/8/layout/default"/>
    <dgm:cxn modelId="{B4E9AF46-EEA5-4F42-99E7-8B4D9EFB1B97}" type="presOf" srcId="{F33BA8C4-CCA4-4DE1-8B43-E77115E6347B}" destId="{9E376AC1-D77A-4233-93D3-9B5343146A80}" srcOrd="0" destOrd="0" presId="urn:microsoft.com/office/officeart/2005/8/layout/default"/>
    <dgm:cxn modelId="{DC10C9CC-F903-4827-A31D-EFED1AD9D21B}" type="presOf" srcId="{AA3BB071-C8C9-496D-AFEB-1144CEC9248A}" destId="{96C7514A-6092-4428-A546-2ED673A06FDA}" srcOrd="0" destOrd="0" presId="urn:microsoft.com/office/officeart/2005/8/layout/default"/>
    <dgm:cxn modelId="{283F2104-3FC2-4BE5-A014-524CC306711D}" type="presOf" srcId="{8ABCB0CD-E23C-4D73-95EC-98DD23457A70}" destId="{27F870B4-0169-4C5E-8800-1807B74A1B60}" srcOrd="0" destOrd="0" presId="urn:microsoft.com/office/officeart/2005/8/layout/default"/>
    <dgm:cxn modelId="{F4A11CDD-62FE-43B7-8AB2-987F2E75D52A}" type="presParOf" srcId="{0D8352E0-8A72-4920-B60D-A558B7CB10B2}" destId="{8A1AA2A7-CAEF-473C-8056-6E3AF39A68E9}" srcOrd="0" destOrd="0" presId="urn:microsoft.com/office/officeart/2005/8/layout/default"/>
    <dgm:cxn modelId="{33C02270-F9DF-4BD1-BFFA-B66FA571DF42}" type="presParOf" srcId="{0D8352E0-8A72-4920-B60D-A558B7CB10B2}" destId="{72DEA8BF-5A06-4395-8A47-CD993684CE24}" srcOrd="1" destOrd="0" presId="urn:microsoft.com/office/officeart/2005/8/layout/default"/>
    <dgm:cxn modelId="{89C9D4BB-404E-49C0-81FB-8DF7D3F73A33}" type="presParOf" srcId="{0D8352E0-8A72-4920-B60D-A558B7CB10B2}" destId="{9E376AC1-D77A-4233-93D3-9B5343146A80}" srcOrd="2" destOrd="0" presId="urn:microsoft.com/office/officeart/2005/8/layout/default"/>
    <dgm:cxn modelId="{2CD102C3-7FF2-440C-901F-4ED8735778EF}" type="presParOf" srcId="{0D8352E0-8A72-4920-B60D-A558B7CB10B2}" destId="{A38FC413-4E46-4F37-AE75-0C7153B4E226}" srcOrd="3" destOrd="0" presId="urn:microsoft.com/office/officeart/2005/8/layout/default"/>
    <dgm:cxn modelId="{FF7F6372-3FAB-4FFF-BB6E-460E12CDB838}" type="presParOf" srcId="{0D8352E0-8A72-4920-B60D-A558B7CB10B2}" destId="{96C7514A-6092-4428-A546-2ED673A06FDA}" srcOrd="4" destOrd="0" presId="urn:microsoft.com/office/officeart/2005/8/layout/default"/>
    <dgm:cxn modelId="{23230187-9E3B-41B1-8269-D2152BC5DA1D}" type="presParOf" srcId="{0D8352E0-8A72-4920-B60D-A558B7CB10B2}" destId="{908BC535-DD99-4034-8176-9DC0C5C63C5F}" srcOrd="5" destOrd="0" presId="urn:microsoft.com/office/officeart/2005/8/layout/default"/>
    <dgm:cxn modelId="{67BAA905-C50B-4F98-ACEF-05DD2ACEB46B}" type="presParOf" srcId="{0D8352E0-8A72-4920-B60D-A558B7CB10B2}" destId="{27F870B4-0169-4C5E-8800-1807B74A1B6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AA2A7-CAEF-473C-8056-6E3AF39A68E9}">
      <dsp:nvSpPr>
        <dsp:cNvPr id="0" name=""/>
        <dsp:cNvSpPr/>
      </dsp:nvSpPr>
      <dsp:spPr>
        <a:xfrm>
          <a:off x="223030" y="180"/>
          <a:ext cx="3910966" cy="23465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•	Производство ВАТС: В будущем, для обеспечения соответствия высоким стандартам безопасности, возможно введение лицензирования производства ВАТС. Это позволит контролировать качество производимых транспортных средств и соответствие их техническим требованиям.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23030" y="180"/>
        <a:ext cx="3910966" cy="2346579"/>
      </dsp:txXfrm>
    </dsp:sp>
    <dsp:sp modelId="{9E376AC1-D77A-4233-93D3-9B5343146A80}">
      <dsp:nvSpPr>
        <dsp:cNvPr id="0" name=""/>
        <dsp:cNvSpPr/>
      </dsp:nvSpPr>
      <dsp:spPr>
        <a:xfrm>
          <a:off x="4525093" y="180"/>
          <a:ext cx="3910966" cy="23465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•	Техническое обслуживание и ремонт ВАТС: Лицензирование этой деятельности может стать необходимым для гарантии квалифицированного обслуживания и ремонта ВАТС, что напрямую влияет на безопасность их эксплуатации.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525093" y="180"/>
        <a:ext cx="3910966" cy="2346579"/>
      </dsp:txXfrm>
    </dsp:sp>
    <dsp:sp modelId="{96C7514A-6092-4428-A546-2ED673A06FDA}">
      <dsp:nvSpPr>
        <dsp:cNvPr id="0" name=""/>
        <dsp:cNvSpPr/>
      </dsp:nvSpPr>
      <dsp:spPr>
        <a:xfrm>
          <a:off x="223030" y="2737857"/>
          <a:ext cx="3910966" cy="23465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•	Обучение водителей-операторов ВАТС (в переходный период, если необходимо): Если на начальном этапе эксплуатации ВАТС потребуется присутствие оператора, может быть введено лицензирование учебных центров, готовящих таких специалистов.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23030" y="2737857"/>
        <a:ext cx="3910966" cy="2346579"/>
      </dsp:txXfrm>
    </dsp:sp>
    <dsp:sp modelId="{27F870B4-0169-4C5E-8800-1807B74A1B60}">
      <dsp:nvSpPr>
        <dsp:cNvPr id="0" name=""/>
        <dsp:cNvSpPr/>
      </dsp:nvSpPr>
      <dsp:spPr>
        <a:xfrm>
          <a:off x="4525093" y="2737857"/>
          <a:ext cx="3910966" cy="23465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•	Эксплуатация ВАТС в коммерческих целях (например, такси, доставка): Это позволит регулировать рынок коммерческих перевозок с использованием ВАТС и обеспечивать соблюдение требований безопасности.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4525093" y="2737857"/>
        <a:ext cx="3910966" cy="23465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133600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 Лицензирование деятельности в сфере беспилотных систем: </a:t>
            </a:r>
            <a:r>
              <a:rPr lang="ru-RU" sz="44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4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4400" b="0" dirty="0" smtClean="0">
                <a:latin typeface="Times New Roman" pitchFamily="18" charset="0"/>
                <a:cs typeface="Times New Roman" pitchFamily="18" charset="0"/>
              </a:rPr>
              <a:t>ВАТС </a:t>
            </a:r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и БПЛА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ВАТС.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БПЛА (авиационные работы, перевозка опасных грузов и т.д.).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Федеральный закон от 04.05.2011 N 99-ФЗ "О лицензировании отдельных видов деятельности": основные положения.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Лицензионные требования: квалификация персонала, материально-техническая база, соблюдение нормативных требований.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Порядок получения лицензии: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Перечень необходимых документов.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Процедура подачи заявления.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Сроки рассмотрения заявлений.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Основания для отказа в выдаче лицензии.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6.    Переоформление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приостановление и аннулирование лицензий.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7.  Контроль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 соблюдением лицензионных требований: проверки, санкции за нарушения.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1105"/>
            <a:ext cx="7886700" cy="72339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Ч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то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уже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лицензируется/разрешается в сфере ВАТС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1401525"/>
            <a:ext cx="8288481" cy="3653219"/>
          </a:xfrm>
        </p:spPr>
        <p:txBody>
          <a:bodyPr/>
          <a:lstStyle/>
          <a:p>
            <a:pPr marL="0" indent="0">
              <a:buNone/>
            </a:pP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Испытания </a:t>
            </a:r>
            <a:r>
              <a:rPr lang="ru-RU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эксплуатация автономных автомобилей на дорогах общего </a:t>
            </a: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пользования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Статус: испытания и пилотные проекты проводятся, но требуют согласований. Повсеместной «лицензии на эксплуатацию авто без водителя» нет — операции на публичных дорогах производятся по разрешениям/соглашениям.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Что нужно/кому обращаться: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согласование с ГИБДД (подразделения МВД, обеспечивающие безопасность дорожного движения) — обязательное для допуска к движению по дорогам;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согласование с местными органами власти (администрацией региона/города), владельцем дороги (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Росавтодор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для федеральных дорог, органы дорожного хозяйства для региональных/муниципальных);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обеспечение мероприятий по безопасности (маркировка, сопровождение, эвакуация и т.п.) и страхование;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 проведении в рамках «пилотного правового режима» — оформление участника проекта в порядке, установленном постановлением/распоряжением властей региона или федеральных органов.</a:t>
            </a:r>
          </a:p>
          <a:p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Примечание: для коммерческой эксплуатации (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robotaxi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) пока чаще применяют формат пилотных проектов/пилотов, с индивидуальными разрешениями.</a:t>
            </a:r>
          </a:p>
          <a:p>
            <a:pPr marL="0" indent="0">
              <a:buNone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841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1105"/>
            <a:ext cx="7886700" cy="72339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Ч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то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уже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лицензируется/разрешается в сфере ВАТС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1401525"/>
            <a:ext cx="8288481" cy="4805311"/>
          </a:xfrm>
        </p:spPr>
        <p:txBody>
          <a:bodyPr/>
          <a:lstStyle/>
          <a:p>
            <a:pPr marL="0" indent="0" algn="ctr">
              <a:buNone/>
            </a:pP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Типовая </a:t>
            </a:r>
            <a:r>
              <a:rPr lang="ru-RU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сертификация и безопасность транспортного </a:t>
            </a: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средства</a:t>
            </a: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Статус: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требования на уровне сертификации автомобильной техники действуют (технические регламенты ЕАЭС, национальные стандарты). Для вывода на массовый рынок автомобиль должен соответствовать требованиям безопасности и иметь необходимые документы (свидетельство о регистрации, типовое одобрение).</a:t>
            </a: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Что нужно/кому обращаться:</a:t>
            </a:r>
          </a:p>
          <a:p>
            <a:pPr marL="0" indent="0" algn="just">
              <a:buNone/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Минпромторг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РФ и уполномоченные органы по одобрению типа транспортного средства (процедуры одобрения типа и подтверждения соответствия по ЕАЭС/ГОСТ);</a:t>
            </a:r>
          </a:p>
          <a:p>
            <a:pPr marL="0" indent="0" algn="just">
              <a:buNone/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Росстандарт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(стандарты, сертификация по отдельным параметрам);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испытательные центры для оценки безопасности и EMC/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радиосертификация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для транспортных средств с «новыми» системами (без водителя) может потребоваться дополнительная техническая экспертиза/сертификация элементов (например, системы управления, резервные системы).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530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1105"/>
            <a:ext cx="7886700" cy="72339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Ч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то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уже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лицензируется/разрешается в сфере ВАТС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1401525"/>
            <a:ext cx="8288481" cy="4805311"/>
          </a:xfrm>
        </p:spPr>
        <p:txBody>
          <a:bodyPr/>
          <a:lstStyle/>
          <a:p>
            <a:pPr marL="0" indent="0" algn="ctr">
              <a:buNone/>
            </a:pP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Коммерческая </a:t>
            </a:r>
            <a:r>
              <a:rPr lang="ru-RU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эксплуатация перевозок (пассажиры/груз)</a:t>
            </a:r>
            <a:endParaRPr lang="ru-RU" sz="1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Статус: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деятельность перевозчиков регулируется (лицензии/допуски для перевозки пассажиров/грузов), но конкретные правила для беспилотных перевозок ещё формируются — чаще применяются общие требования к перевозчику с дополнением условий по безопасности.</a:t>
            </a: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Что нужно/кому обращаться: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региональные департаменты транспорта и органы, выдающие допуски перевозчикам (для пассажирских/таксомоторных услуг);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ГИБДД/МВД — требования по эксплуатации на дорогах;</a:t>
            </a:r>
          </a:p>
          <a:p>
            <a:pPr marL="0" indent="0" algn="just">
              <a:buNone/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Ространснадзор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(в части отдельных видов транспортных перевозок) — по специфике грузоперевозок.</a:t>
            </a: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для перевозки людей без присутствия водителя вероятнее потребуется отдельный нормативный акт/одобрение.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110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1105"/>
            <a:ext cx="7886700" cy="723399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Ч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то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уже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лицензируется/разрешается в сфере ВАТС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1401525"/>
            <a:ext cx="8288481" cy="4805311"/>
          </a:xfrm>
        </p:spPr>
        <p:txBody>
          <a:bodyPr/>
          <a:lstStyle/>
          <a:p>
            <a:pPr marL="0" indent="0" algn="ctr">
              <a:buNone/>
            </a:pP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Программное </a:t>
            </a:r>
            <a:r>
              <a:rPr lang="ru-RU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обеспечение, картография, V2X, телеметрия и </a:t>
            </a: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связь</a:t>
            </a: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Статус: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отдельной «лицензии» на разработку ПО обычно нет, но есть требования и нормы, влияющие на допуск к эксплуатации (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кибербезопасность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, обработка персональных данных, использование радиочастот).</a:t>
            </a: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Что нужно/кому обращаться:</a:t>
            </a:r>
          </a:p>
          <a:p>
            <a:pPr marL="0" indent="0" algn="just">
              <a:buNone/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Роскомнадзор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— вопросы персональных данных и телеметрии (если обрабатываются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ПДн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Минцифры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РФ — вопросы цифровой инфраструктуры и стандартов;</a:t>
            </a:r>
          </a:p>
          <a:p>
            <a:pPr marL="0" indent="0" algn="just">
              <a:buNone/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Минпромторг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Росстандарт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— стандарты и требования к ПО/интерфейсам;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для использования радиочастот и связи — органы частотного надзора (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Минцифры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/российские органы по распределению частот).</a:t>
            </a:r>
          </a:p>
          <a:p>
            <a:pPr marL="0" indent="0" algn="just">
              <a:buNone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для V2X-инфраструктуры и коммерческой сети связи могут потребоваться выделенные частоты/соглашения с оператором.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4670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523510"/>
            <a:ext cx="7886700" cy="72339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Лицензирование ВАТС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01525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сфере беспилотных автомобилей (БА/автономные автомобили) в России уже действует набор разрешений и требований, но прямой «универсальной лицензии на автономную езду» пока нет.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Регулирование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оформлено по компонентам: сертификация и допуски для транспортного средства, согласования и разрешения на испытания/пилоты на дорогах, требования к операторам/перевозчикам, требования к ПО/связи и т.д.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6644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ВАТС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8650" y="1288472"/>
            <a:ext cx="7886700" cy="531052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Возможные направления лицензирования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879106495"/>
              </p:ext>
            </p:extLst>
          </p:nvPr>
        </p:nvGraphicFramePr>
        <p:xfrm>
          <a:off x="263236" y="1773382"/>
          <a:ext cx="8659091" cy="5084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60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БПЛА (авиационные работы, перевозка опасных грузов и т.д.).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10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2431035"/>
            <a:ext cx="81326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1) Авиационные (коммерческие) работы с БПЛА (аэрофотосъёмка, мониторинг, </a:t>
            </a:r>
            <a:r>
              <a:rPr lang="ru-RU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агро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‑работы и т.д.)</a:t>
            </a:r>
          </a:p>
          <a:p>
            <a:pPr indent="457200"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Статус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уже регулируются. Практически везде коммерческие полёты требуют регистрации аппарата/оператора и/или получения операционных разрешений и подтверждения компетенции пилота. </a:t>
            </a:r>
          </a:p>
          <a:p>
            <a:pPr indent="457200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в ЕС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правила EASA;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США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FAA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Part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РФ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разрешения/регистрация у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Росавиации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 местных правил выполнения работ. </a:t>
            </a:r>
          </a:p>
          <a:p>
            <a:pPr indent="457200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Что нужно: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регистрация БПЛА и оператора, подтверждение компетенции пилота (экзамен/сертификат), страхование, операция по утверждённым условиям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разрешение).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82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БПЛА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11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1359936"/>
            <a:ext cx="813261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1) Авиационные (коммерческие) работы с БПЛА (аэрофотосъёмка, мониторинг, </a:t>
            </a:r>
            <a:r>
              <a:rPr lang="ru-RU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агро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‑работы и т.д.)</a:t>
            </a:r>
          </a:p>
          <a:p>
            <a:pPr indent="457200"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Необходимые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разрешения/документы:</a:t>
            </a:r>
          </a:p>
          <a:p>
            <a:pPr indent="4572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регистрация БПЛА (при требуемой массе/категории) и учет оператора;  </a:t>
            </a:r>
          </a:p>
          <a:p>
            <a:pPr indent="4572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подтверждение квалификации пилота/оператора (сертификат/протокол обучения либо подтверждение компетенции по требованиям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Росавиации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);  </a:t>
            </a:r>
          </a:p>
          <a:p>
            <a:pPr indent="4572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операционное разрешение/допуск (при полётах вне простых условий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BVLOS, вблизи населённых пунктов, в контролируемом воздушном пространстве, ночью и т.п.);  </a:t>
            </a:r>
          </a:p>
          <a:p>
            <a:pPr indent="4572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маршрут/план полёта, координация с органами управления воздушным движением (при полётах в контролируемом воздушном пространстве);  </a:t>
            </a:r>
          </a:p>
          <a:p>
            <a:pPr indent="4572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страховка (гражданская ответственность) — часто требуется по договору или регулятором/заказчиком. </a:t>
            </a:r>
          </a:p>
        </p:txBody>
      </p:sp>
    </p:spTree>
    <p:extLst>
      <p:ext uri="{BB962C8B-B14F-4D97-AF65-F5344CB8AC3E}">
        <p14:creationId xmlns:p14="http://schemas.microsoft.com/office/powerpoint/2010/main" val="229487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БПЛА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12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1359936"/>
            <a:ext cx="81326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1) Авиационные (коммерческие) работы с БПЛА (аэрофотосъёмка, мониторинг, </a:t>
            </a:r>
            <a:r>
              <a:rPr lang="ru-RU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агро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‑работы и т.д.)</a:t>
            </a:r>
          </a:p>
          <a:p>
            <a:pPr indent="457200"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Куда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обращаться: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Федеральное агентство воздушного транспорта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Росавиация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— основное; при полётах в контролируемом пространстве — местный центр организации воздушного движения/пункт УВД; при полётах в населённых пунктах — согласование с местной администрацией и МВД (полиция) по необходимости.  </a:t>
            </a:r>
          </a:p>
          <a:p>
            <a:pPr indent="457200"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BVLOS, полёты над скоплениями людей, доставка и ночные полёты требуют специальных допусков и оценки риска.</a:t>
            </a:r>
          </a:p>
        </p:txBody>
      </p:sp>
    </p:spTree>
    <p:extLst>
      <p:ext uri="{BB962C8B-B14F-4D97-AF65-F5344CB8AC3E}">
        <p14:creationId xmlns:p14="http://schemas.microsoft.com/office/powerpoint/2010/main" val="345598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БПЛА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13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1396940"/>
            <a:ext cx="813261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Перевозка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опасных грузов БПЛА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Статус: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в большинстве стран — либо строго ограничена, либо требует специальных разрешений; часто вообще запрещена для массовой коммерческой эксплуатации без детальной сертификации.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Статус: в России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как правило строго ограничена и требует специальных разрешений; для массовой коммерческой эксплуатации пока нет «простого» регуляторного маршрута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допускаются единичные пилотные/экспериментальные проекты при строгих условиях. 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Причины: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высокий риск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утечки/взрыва/возгорания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отсутствие проверенных процедур и системно‑нормативной базы. 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Текущее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для пилотных проектов/испытаний возможны исключения по специальным разрешениям и при выполнении строгой оценки риска (например, национальные разрешения, требования ICAO/TI для авиационного транспорта опасных грузов). 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Что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нужно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детальная оценка риска (SORA или аналог), сертификация контейнеров/систем доставки, страховка, одобрение регулятора и служб гражданской защиты.</a:t>
            </a:r>
          </a:p>
        </p:txBody>
      </p:sp>
    </p:spTree>
    <p:extLst>
      <p:ext uri="{BB962C8B-B14F-4D97-AF65-F5344CB8AC3E}">
        <p14:creationId xmlns:p14="http://schemas.microsoft.com/office/powerpoint/2010/main" val="322114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БПЛА (авиационные работы, перевозка опасных грузов и т.д.).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14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2431035"/>
            <a:ext cx="813261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3) Разработка и производство БПЛА (проектирование, серийное производство)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Статус: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частично уже регулируется для крупных/сертифицированных систем; для мелких коммерческих/хобби‑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дронов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требования мягче, но тенденция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ужесточение и внедрение требований к качеству и безопасности. 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Примеры: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для «сертифицированных» платформ (категория EASA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certified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или крупные UAS в FAA) требуется сертификация типа,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производительская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система контроля качества; для мелких производителей сейчас часто достаточно соответствовать техническим стандартам (CE,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radio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/EMC, безопасность). 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Тренд: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расширение требований к сертификации производителей по мере роста операций в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certified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‑категории.</a:t>
            </a:r>
          </a:p>
        </p:txBody>
      </p:sp>
    </p:spTree>
    <p:extLst>
      <p:ext uri="{BB962C8B-B14F-4D97-AF65-F5344CB8AC3E}">
        <p14:creationId xmlns:p14="http://schemas.microsoft.com/office/powerpoint/2010/main" val="147485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Виды деятельности, подлежащие лицензированию в сфере БПЛА (авиационные работы, перевозка опасных грузов и т.д.).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15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2431035"/>
            <a:ext cx="81326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4) Обучение операторов БПЛА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Статус: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обучение пилотов/операторов уже частично регламентируется (требования к компетенции пилотов, обязательные испытания/экзамены). Но формальная аккредитация учебных организаций варьируется по странам. 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Примеры: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EASA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требования по компетенции для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certified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операций; в США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тест FAA для получения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Remote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Pilot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Certificate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; в РФ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требования к подготовке и подтверждению квалификации у регулятора. 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Перспектива: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рост роли сертифицированных учебных организаций и стандартизованных программ обучения (особенно для сложных/сертифицированных операций).</a:t>
            </a:r>
          </a:p>
        </p:txBody>
      </p:sp>
    </p:spTree>
    <p:extLst>
      <p:ext uri="{BB962C8B-B14F-4D97-AF65-F5344CB8AC3E}">
        <p14:creationId xmlns:p14="http://schemas.microsoft.com/office/powerpoint/2010/main" val="301952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Федеральный закон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от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04.05.2011 N 99-ФЗ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 лицензировании отдельных видов деятельности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".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16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2431035"/>
            <a:ext cx="813261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Статья 1: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Определяет сферу действия закона и перечень видов деятельности, подлежащих лицензированию.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Статья 3: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Содержит основные понятия, используемые в законе (лицензия, лицензионные требования и условия, лицензирующий орган и т.д.).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Статья 8: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Устанавливает лицензионные требования, которые должны соблюдать лицензиаты.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Статья 9: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Определяет порядок получения лицензии.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Статья 20: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Устанавливает основания для приостановления и аннулирования лицензии.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Статья 21: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Определяет порядок контроля за соблюдением лицензионных требований.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41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Лицензионные требования: квалификация персонала, материально-техническая база, соблюдение нормативных требований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2431035"/>
            <a:ext cx="8132618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b="1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Квалификация персонала: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Наличие у персонала соответствующего образования и опыта работы.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Прохождение обучения и аттестации (при необходимости).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Регулярное повышение квалификации.</a:t>
            </a:r>
            <a:endParaRPr lang="ru-RU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49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Лицензионные требования: квалификация персонала, материально-техническая база, соблюдение нормативных требований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18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2431035"/>
            <a:ext cx="8132618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b="1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Материально-техническая база: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Наличие необходимого оборудования и инструментов.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Наличие помещений, соответствующих установленным требованиям.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Обеспечение технического обслуживания и ремонта оборудования.</a:t>
            </a:r>
            <a:endParaRPr lang="ru-RU" sz="1600" dirty="0"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b="1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Соблюдение нормативных требований: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Соблюдение требований безопасности.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Соблюдение требований охраны окружающей среды.</a:t>
            </a:r>
            <a:endParaRPr lang="ru-RU" sz="16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Соблюдение требований к качеству продукции и услуг.</a:t>
            </a:r>
            <a:endParaRPr lang="ru-RU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806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Порядок получения лицензии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19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962449"/>
            <a:ext cx="8132618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Перечень необходимых документов: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Заявление о предоставлении лицензии, копии учредительных документов, документы, подтверждающие соответствие лицензионным требованиям (дипломы, сертификаты, свидетельства и т.д.), документы, подтверждающие наличие материально-технической базы.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Процедура подачи заявления: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Заявление и документы подаются в лицензирующий орган лично, по почте или в электронной форме.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Сроки рассмотрения заявлений: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Сроки рассмотрения заявлений устанавливаются законодательством и составляют обычно от 30 до 45 дней</a:t>
            </a:r>
            <a:r>
              <a:rPr lang="ru-RU" sz="2400" dirty="0" smtClean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1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Порядок получения лицензии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20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962449"/>
            <a:ext cx="8132618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b="1" dirty="0" smtClean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Основания </a:t>
            </a: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для отказа в выдаче лицензии: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Несоответствие заявителя лицензионным требованиям, предоставление недостоверной информации, наличие нарушений законодательства.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Переоформление, приостановление и аннулирование лицензий: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Переоформление: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Производится в случае изменения наименования или адреса лицензиата, изменения видов деятельности.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Приостановление: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Производится в случае выявления нарушений лицензионных требований.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Аннулирование:</a:t>
            </a:r>
            <a:r>
              <a:rPr lang="ru-RU" sz="2000" dirty="0">
                <a:solidFill>
                  <a:srgbClr val="494949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Производится в случае грубых или систематических нарушений лицензионных требований, не устранения нарушений в установленный срок, ликвидации лицензиата.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1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4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Контроль за соблюдением лицензионных требований: проверки, санкции за нарушения.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21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4182" y="1669242"/>
            <a:ext cx="813261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800" b="1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Проверки:</a:t>
            </a:r>
            <a:endParaRPr lang="ru-RU" sz="24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800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Плановые проверки (проводятся в соответствии с планом проверок).</a:t>
            </a:r>
            <a:endParaRPr lang="ru-RU" sz="24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800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Внеплановые проверки (проводятся в случае поступления информации о нарушениях).</a:t>
            </a:r>
            <a:endParaRPr lang="ru-RU" sz="2400" dirty="0">
              <a:ea typeface="Calibri"/>
              <a:cs typeface="Times New Roman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800" b="1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Санкции за нарушения:</a:t>
            </a:r>
            <a:endParaRPr lang="ru-RU" sz="24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800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Предупреждение.</a:t>
            </a:r>
            <a:endParaRPr lang="ru-RU" sz="24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800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Штраф.</a:t>
            </a:r>
            <a:endParaRPr lang="ru-RU" sz="24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800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Приостановление действия лицензии.</a:t>
            </a:r>
            <a:endParaRPr lang="ru-RU" sz="2400" dirty="0">
              <a:ea typeface="Calibri"/>
              <a:cs typeface="Times New Roman"/>
            </a:endParaRPr>
          </a:p>
          <a:p>
            <a:pPr marL="742950" lvl="1" indent="-285750">
              <a:lnSpc>
                <a:spcPct val="115000"/>
              </a:lnSpc>
              <a:spcAft>
                <a:spcPts val="0"/>
              </a:spcAft>
              <a:buSzPts val="1000"/>
              <a:buFont typeface="Courier New"/>
              <a:buChar char="o"/>
              <a:tabLst>
                <a:tab pos="914400" algn="l"/>
              </a:tabLst>
            </a:pPr>
            <a:r>
              <a:rPr lang="ru-RU" sz="2800" dirty="0">
                <a:solidFill>
                  <a:srgbClr val="494949"/>
                </a:solidFill>
                <a:latin typeface="Times New Roman"/>
                <a:ea typeface="Times New Roman"/>
                <a:cs typeface="Times New Roman"/>
              </a:rPr>
              <a:t>Аннулирование лицензии.</a:t>
            </a:r>
            <a:endParaRPr lang="ru-RU" sz="24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108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6021</TotalTime>
  <Words>1756</Words>
  <Application>Microsoft Office PowerPoint</Application>
  <PresentationFormat>Экран (4:3)</PresentationFormat>
  <Paragraphs>157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</vt:i4>
      </vt:variant>
    </vt:vector>
  </HeadingPairs>
  <TitlesOfParts>
    <vt:vector size="24" baseType="lpstr">
      <vt:lpstr>Специальное оформление</vt:lpstr>
      <vt:lpstr>1_Специальное оформление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 Лицензирование деятельности в сфере беспилотных систем:  ВАТС и БПЛА</vt:lpstr>
      <vt:lpstr>План лекции</vt:lpstr>
      <vt:lpstr>Что уже лицензируется/разрешается в сфере ВАТС</vt:lpstr>
      <vt:lpstr>Что уже лицензируется/разрешается в сфере ВАТС</vt:lpstr>
      <vt:lpstr>Что уже лицензируется/разрешается в сфере ВАТС</vt:lpstr>
      <vt:lpstr>Что уже лицензируется/разрешается в сфере ВАТС</vt:lpstr>
      <vt:lpstr>Лицензирование ВАТС</vt:lpstr>
      <vt:lpstr>Виды деятельности, подлежащие лицензированию в сфере ВАТС</vt:lpstr>
      <vt:lpstr>Виды деятельности, подлежащие лицензированию в сфере БПЛА (авиационные работы, перевозка опасных грузов и т.д.).</vt:lpstr>
      <vt:lpstr>Виды деятельности, подлежащие лицензированию в сфере БПЛА</vt:lpstr>
      <vt:lpstr>Виды деятельности, подлежащие лицензированию в сфере БПЛА</vt:lpstr>
      <vt:lpstr>Виды деятельности, подлежащие лицензированию в сфере БПЛА</vt:lpstr>
      <vt:lpstr>Виды деятельности, подлежащие лицензированию в сфере БПЛА (авиационные работы, перевозка опасных грузов и т.д.).</vt:lpstr>
      <vt:lpstr>Виды деятельности, подлежащие лицензированию в сфере БПЛА (авиационные работы, перевозка опасных грузов и т.д.).</vt:lpstr>
      <vt:lpstr>Федеральный закон  от 04.05.2011 N 99-ФЗ  "О лицензировании отдельных видов деятельности".</vt:lpstr>
      <vt:lpstr>Лицензионные требования: квалификация персонала, материально-техническая база, соблюдение нормативных требований</vt:lpstr>
      <vt:lpstr>Лицензионные требования: квалификация персонала, материально-техническая база, соблюдение нормативных требований</vt:lpstr>
      <vt:lpstr>Порядок получения лицензии</vt:lpstr>
      <vt:lpstr>Порядок получения лицензии</vt:lpstr>
      <vt:lpstr>Контроль за соблюдением лицензионных требований: проверки, санкции за нарушения.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351</cp:revision>
  <dcterms:created xsi:type="dcterms:W3CDTF">2015-07-29T11:14:37Z</dcterms:created>
  <dcterms:modified xsi:type="dcterms:W3CDTF">2026-06-26T19:55:31Z</dcterms:modified>
</cp:coreProperties>
</file>