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1" r:id="rId1"/>
    <p:sldMasterId id="2147483673" r:id="rId2"/>
  </p:sldMasterIdLst>
  <p:notesMasterIdLst>
    <p:notesMasterId r:id="rId64"/>
  </p:notesMasterIdLst>
  <p:sldIdLst>
    <p:sldId id="325" r:id="rId3"/>
    <p:sldId id="293" r:id="rId4"/>
    <p:sldId id="294" r:id="rId5"/>
    <p:sldId id="373" r:id="rId6"/>
    <p:sldId id="389" r:id="rId7"/>
    <p:sldId id="374" r:id="rId8"/>
    <p:sldId id="330" r:id="rId9"/>
    <p:sldId id="331" r:id="rId10"/>
    <p:sldId id="390" r:id="rId11"/>
    <p:sldId id="332" r:id="rId12"/>
    <p:sldId id="333" r:id="rId13"/>
    <p:sldId id="334" r:id="rId14"/>
    <p:sldId id="335" r:id="rId15"/>
    <p:sldId id="391" r:id="rId16"/>
    <p:sldId id="375" r:id="rId17"/>
    <p:sldId id="336" r:id="rId18"/>
    <p:sldId id="337" r:id="rId19"/>
    <p:sldId id="338" r:id="rId20"/>
    <p:sldId id="376" r:id="rId21"/>
    <p:sldId id="339" r:id="rId22"/>
    <p:sldId id="340" r:id="rId23"/>
    <p:sldId id="341" r:id="rId24"/>
    <p:sldId id="342" r:id="rId25"/>
    <p:sldId id="343" r:id="rId26"/>
    <p:sldId id="344" r:id="rId27"/>
    <p:sldId id="345" r:id="rId28"/>
    <p:sldId id="346" r:id="rId29"/>
    <p:sldId id="347" r:id="rId30"/>
    <p:sldId id="377" r:id="rId31"/>
    <p:sldId id="378" r:id="rId32"/>
    <p:sldId id="348" r:id="rId33"/>
    <p:sldId id="392" r:id="rId34"/>
    <p:sldId id="349" r:id="rId35"/>
    <p:sldId id="350" r:id="rId36"/>
    <p:sldId id="351" r:id="rId37"/>
    <p:sldId id="352" r:id="rId38"/>
    <p:sldId id="356" r:id="rId39"/>
    <p:sldId id="357" r:id="rId40"/>
    <p:sldId id="358" r:id="rId41"/>
    <p:sldId id="362" r:id="rId42"/>
    <p:sldId id="363" r:id="rId43"/>
    <p:sldId id="364" r:id="rId44"/>
    <p:sldId id="365" r:id="rId45"/>
    <p:sldId id="366" r:id="rId46"/>
    <p:sldId id="367" r:id="rId47"/>
    <p:sldId id="368" r:id="rId48"/>
    <p:sldId id="370" r:id="rId49"/>
    <p:sldId id="371" r:id="rId50"/>
    <p:sldId id="326" r:id="rId51"/>
    <p:sldId id="327" r:id="rId52"/>
    <p:sldId id="379" r:id="rId53"/>
    <p:sldId id="380" r:id="rId54"/>
    <p:sldId id="381" r:id="rId55"/>
    <p:sldId id="382" r:id="rId56"/>
    <p:sldId id="383" r:id="rId57"/>
    <p:sldId id="384" r:id="rId58"/>
    <p:sldId id="385" r:id="rId59"/>
    <p:sldId id="386" r:id="rId60"/>
    <p:sldId id="387" r:id="rId61"/>
    <p:sldId id="388" r:id="rId62"/>
    <p:sldId id="264" r:id="rId6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82C1"/>
    <a:srgbClr val="295CA8"/>
    <a:srgbClr val="C60A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986" autoAdjust="0"/>
    <p:restoredTop sz="94660"/>
  </p:normalViewPr>
  <p:slideViewPr>
    <p:cSldViewPr snapToGrid="0" snapToObjects="1">
      <p:cViewPr>
        <p:scale>
          <a:sx n="80" d="100"/>
          <a:sy n="80" d="100"/>
        </p:scale>
        <p:origin x="-1272" y="24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slide" Target="slides/slide61.xml"/><Relationship Id="rId68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61" Type="http://schemas.openxmlformats.org/officeDocument/2006/relationships/slide" Target="slides/slide59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theme" Target="theme/theme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376D591-C451-4FEF-B0A3-174542A8EE68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35614D03-D769-4E7A-89F7-BF6BB4A8D241}">
      <dgm:prSet phldrT="[Текст]" custT="1"/>
      <dgm:spPr/>
      <dgm:t>
        <a:bodyPr/>
        <a:lstStyle/>
        <a:p>
          <a:r>
            <a:rPr lang="ru-RU" sz="14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- добровольное применение стандартов; </a:t>
          </a:r>
          <a:endParaRPr lang="ru-RU" sz="1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A976DA5-1D03-4CCD-9090-5D730314AABB}" type="parTrans" cxnId="{E0924315-0525-4A19-891B-9F4BBF544839}">
      <dgm:prSet/>
      <dgm:spPr/>
      <dgm:t>
        <a:bodyPr/>
        <a:lstStyle/>
        <a:p>
          <a:endParaRPr lang="ru-RU" sz="3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4C81CF4-948B-4E36-ADB2-D55F7C3C93F1}" type="sibTrans" cxnId="{E0924315-0525-4A19-891B-9F4BBF544839}">
      <dgm:prSet/>
      <dgm:spPr/>
      <dgm:t>
        <a:bodyPr/>
        <a:lstStyle/>
        <a:p>
          <a:endParaRPr lang="ru-RU" sz="3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E2E8A8D-D689-4485-A44D-1AF912CE1A74}">
      <dgm:prSet custT="1"/>
      <dgm:spPr/>
      <dgm:t>
        <a:bodyPr/>
        <a:lstStyle/>
        <a:p>
          <a:r>
            <a:rPr lang="ru-RU" sz="1400" smtClean="0">
              <a:latin typeface="Times New Roman" panose="02020603050405020304" pitchFamily="18" charset="0"/>
              <a:cs typeface="Times New Roman" panose="02020603050405020304" pitchFamily="18" charset="0"/>
            </a:rPr>
            <a:t>- максимального учета при разработке стандартов законных интересов заинтересованных лиц; </a:t>
          </a:r>
          <a:endParaRPr lang="ru-RU" sz="1400" dirty="0" smtClean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77F0169-E242-479E-87ED-0D42BB840DBF}" type="parTrans" cxnId="{AB608409-0554-41D4-82DB-65D79910235A}">
      <dgm:prSet/>
      <dgm:spPr/>
      <dgm:t>
        <a:bodyPr/>
        <a:lstStyle/>
        <a:p>
          <a:endParaRPr lang="ru-RU" sz="3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74A2616-6439-4F1F-8B51-BE7FE3BE67ED}" type="sibTrans" cxnId="{AB608409-0554-41D4-82DB-65D79910235A}">
      <dgm:prSet/>
      <dgm:spPr/>
      <dgm:t>
        <a:bodyPr/>
        <a:lstStyle/>
        <a:p>
          <a:endParaRPr lang="ru-RU" sz="3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1610AC0-CE6C-40D0-ADDA-9C3B9ED5BA6A}">
      <dgm:prSet custT="1"/>
      <dgm:spPr/>
      <dgm:t>
        <a:bodyPr/>
        <a:lstStyle/>
        <a:p>
          <a:r>
            <a:rPr lang="ru-RU" sz="14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- применения международного стандарта как основы разработки национального стандарта, за исключением случаев, если такое применение признано невозможным вследствие несоответствия требований международных стандартов климатическим и географическим особенностям Российской Федерации, техническим и (или) технологическим особенностям или по иным основаниям либо Российская Федерация в соответствии с установленными процедурами выступала против принятия международного стандарта или отдельного его положения; </a:t>
          </a:r>
        </a:p>
      </dgm:t>
    </dgm:pt>
    <dgm:pt modelId="{0567815F-1040-436C-9577-6C11B402FB53}" type="parTrans" cxnId="{13031D76-272E-4426-B010-BE53D353BA2A}">
      <dgm:prSet/>
      <dgm:spPr/>
      <dgm:t>
        <a:bodyPr/>
        <a:lstStyle/>
        <a:p>
          <a:endParaRPr lang="ru-RU" sz="3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6180495-B893-4B90-AC97-08C42A6257D8}" type="sibTrans" cxnId="{13031D76-272E-4426-B010-BE53D353BA2A}">
      <dgm:prSet/>
      <dgm:spPr/>
      <dgm:t>
        <a:bodyPr/>
        <a:lstStyle/>
        <a:p>
          <a:endParaRPr lang="ru-RU" sz="3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A78D060-5BE4-4244-9DAF-CB4BB7E05165}">
      <dgm:prSet custT="1"/>
      <dgm:spPr/>
      <dgm:t>
        <a:bodyPr/>
        <a:lstStyle/>
        <a:p>
          <a:r>
            <a:rPr lang="ru-RU" sz="1400" smtClean="0">
              <a:latin typeface="Times New Roman" panose="02020603050405020304" pitchFamily="18" charset="0"/>
              <a:cs typeface="Times New Roman" panose="02020603050405020304" pitchFamily="18" charset="0"/>
            </a:rPr>
            <a:t>- недопустимости создания препятствий производству и обращению продукции, выполнению работ и оказанию услуг в большей степени, чем это минимально необходимо для выполнения целей; </a:t>
          </a:r>
          <a:endParaRPr lang="ru-RU" sz="1400" dirty="0" smtClean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2C43509-6172-4612-98C5-185929B1CC53}" type="parTrans" cxnId="{AAF3D0A9-D9BF-4E0D-8692-1E56B2877FDC}">
      <dgm:prSet/>
      <dgm:spPr/>
      <dgm:t>
        <a:bodyPr/>
        <a:lstStyle/>
        <a:p>
          <a:endParaRPr lang="ru-RU" sz="3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8848E03-3FE6-4C40-9485-422A577D3C9C}" type="sibTrans" cxnId="{AAF3D0A9-D9BF-4E0D-8692-1E56B2877FDC}">
      <dgm:prSet/>
      <dgm:spPr/>
      <dgm:t>
        <a:bodyPr/>
        <a:lstStyle/>
        <a:p>
          <a:endParaRPr lang="ru-RU" sz="3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5FFF0BD-BFD4-4CB6-A306-08EC21D1F033}">
      <dgm:prSet custT="1"/>
      <dgm:spPr/>
      <dgm:t>
        <a:bodyPr/>
        <a:lstStyle/>
        <a:p>
          <a:r>
            <a:rPr lang="ru-RU" sz="1400" smtClean="0">
              <a:latin typeface="Times New Roman" panose="02020603050405020304" pitchFamily="18" charset="0"/>
              <a:cs typeface="Times New Roman" panose="02020603050405020304" pitchFamily="18" charset="0"/>
            </a:rPr>
            <a:t>- недопустимости установления таких стандартов, которые противоречат техническим регламентам; </a:t>
          </a:r>
          <a:endParaRPr lang="ru-RU" sz="1400" dirty="0" smtClean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2693075-4EDB-4A09-812D-32FB8F430145}" type="parTrans" cxnId="{88D17E1C-C71D-45F9-A2F5-9B4460AB0598}">
      <dgm:prSet/>
      <dgm:spPr/>
      <dgm:t>
        <a:bodyPr/>
        <a:lstStyle/>
        <a:p>
          <a:endParaRPr lang="ru-RU" sz="3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5640C5D-EB59-41BD-A138-21D6434A069A}" type="sibTrans" cxnId="{88D17E1C-C71D-45F9-A2F5-9B4460AB0598}">
      <dgm:prSet/>
      <dgm:spPr/>
      <dgm:t>
        <a:bodyPr/>
        <a:lstStyle/>
        <a:p>
          <a:endParaRPr lang="ru-RU" sz="3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257C439-98B1-448F-AA2F-B1D6B6756F43}">
      <dgm:prSet custT="1"/>
      <dgm:spPr/>
      <dgm:t>
        <a:bodyPr/>
        <a:lstStyle/>
        <a:p>
          <a:r>
            <a:rPr lang="ru-RU" sz="1400" smtClean="0">
              <a:latin typeface="Times New Roman" panose="02020603050405020304" pitchFamily="18" charset="0"/>
              <a:cs typeface="Times New Roman" panose="02020603050405020304" pitchFamily="18" charset="0"/>
            </a:rPr>
            <a:t>- обеспечения условий для единообразного применения стандартов. </a:t>
          </a:r>
          <a:endParaRPr lang="ru-RU" sz="1400" dirty="0" smtClean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BC0AA60-1AAA-43EE-A71B-DF446FBADC29}" type="parTrans" cxnId="{FB16ACE9-D2C1-40E3-83AF-3E0EB47BDF92}">
      <dgm:prSet/>
      <dgm:spPr/>
      <dgm:t>
        <a:bodyPr/>
        <a:lstStyle/>
        <a:p>
          <a:endParaRPr lang="ru-RU" sz="3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AE4F7A8-1678-450C-B5DF-496712511C8D}" type="sibTrans" cxnId="{FB16ACE9-D2C1-40E3-83AF-3E0EB47BDF92}">
      <dgm:prSet/>
      <dgm:spPr/>
      <dgm:t>
        <a:bodyPr/>
        <a:lstStyle/>
        <a:p>
          <a:endParaRPr lang="ru-RU" sz="3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8909748-A998-4581-8D25-785B4C1D448F}" type="pres">
      <dgm:prSet presAssocID="{9376D591-C451-4FEF-B0A3-174542A8EE68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3DC4EBF8-5BB9-4E26-8D3F-56C27C82F902}" type="pres">
      <dgm:prSet presAssocID="{35614D03-D769-4E7A-89F7-BF6BB4A8D241}" presName="node" presStyleLbl="node1" presStyleIdx="0" presStyleCnt="6" custScaleX="15112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B339968-6E85-4286-9EE6-BBE83F6C4D37}" type="pres">
      <dgm:prSet presAssocID="{74C81CF4-948B-4E36-ADB2-D55F7C3C93F1}" presName="sibTrans" presStyleCnt="0"/>
      <dgm:spPr/>
    </dgm:pt>
    <dgm:pt modelId="{6174A436-87D6-4D2B-B479-84213C75E7CE}" type="pres">
      <dgm:prSet presAssocID="{7E2E8A8D-D689-4485-A44D-1AF912CE1A74}" presName="node" presStyleLbl="node1" presStyleIdx="1" presStyleCnt="6" custScaleX="135129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AEDFBCE-B227-462D-9858-5664FA13E226}" type="pres">
      <dgm:prSet presAssocID="{074A2616-6439-4F1F-8B51-BE7FE3BE67ED}" presName="sibTrans" presStyleCnt="0"/>
      <dgm:spPr/>
    </dgm:pt>
    <dgm:pt modelId="{F4AEB089-E266-4267-821C-16B75DA5462D}" type="pres">
      <dgm:prSet presAssocID="{D1610AC0-CE6C-40D0-ADDA-9C3B9ED5BA6A}" presName="node" presStyleLbl="node1" presStyleIdx="2" presStyleCnt="6" custScaleX="20303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06CE275-58FE-4A63-B2AD-5A1E1F89D6A5}" type="pres">
      <dgm:prSet presAssocID="{46180495-B893-4B90-AC97-08C42A6257D8}" presName="sibTrans" presStyleCnt="0"/>
      <dgm:spPr/>
    </dgm:pt>
    <dgm:pt modelId="{DC22EB43-42F1-42E5-8488-5E9BCB8F4B80}" type="pres">
      <dgm:prSet presAssocID="{DA78D060-5BE4-4244-9DAF-CB4BB7E05165}" presName="node" presStyleLbl="node1" presStyleIdx="3" presStyleCnt="6" custLinFactNeighborX="95242" custLinFactNeighborY="-67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CAE1AAC-62BC-4706-8832-1325F8A584CB}" type="pres">
      <dgm:prSet presAssocID="{18848E03-3FE6-4C40-9485-422A577D3C9C}" presName="sibTrans" presStyleCnt="0"/>
      <dgm:spPr/>
    </dgm:pt>
    <dgm:pt modelId="{93C6EFF2-793C-4750-A4D8-FF9604602317}" type="pres">
      <dgm:prSet presAssocID="{B5FFF0BD-BFD4-4CB6-A306-08EC21D1F033}" presName="node" presStyleLbl="node1" presStyleIdx="4" presStyleCnt="6" custLinFactY="16177" custLinFactNeighborX="-2432" custLinFactNeighborY="100000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2D57418-538F-4195-A435-CD93692AB722}" type="pres">
      <dgm:prSet presAssocID="{A5640C5D-EB59-41BD-A138-21D6434A069A}" presName="sibTrans" presStyleCnt="0"/>
      <dgm:spPr/>
    </dgm:pt>
    <dgm:pt modelId="{A8353A5C-AB8D-4EF5-A1B5-A47FEAC58967}" type="pres">
      <dgm:prSet presAssocID="{1257C439-98B1-448F-AA2F-B1D6B6756F43}" presName="node" presStyleLbl="node1" presStyleIdx="5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2B0116FF-B7F0-4BEC-878B-A2777149B5AB}" type="presOf" srcId="{7E2E8A8D-D689-4485-A44D-1AF912CE1A74}" destId="{6174A436-87D6-4D2B-B479-84213C75E7CE}" srcOrd="0" destOrd="0" presId="urn:microsoft.com/office/officeart/2005/8/layout/default"/>
    <dgm:cxn modelId="{7572828F-7D98-46E7-BE41-E6CC105CBD34}" type="presOf" srcId="{DA78D060-5BE4-4244-9DAF-CB4BB7E05165}" destId="{DC22EB43-42F1-42E5-8488-5E9BCB8F4B80}" srcOrd="0" destOrd="0" presId="urn:microsoft.com/office/officeart/2005/8/layout/default"/>
    <dgm:cxn modelId="{13031D76-272E-4426-B010-BE53D353BA2A}" srcId="{9376D591-C451-4FEF-B0A3-174542A8EE68}" destId="{D1610AC0-CE6C-40D0-ADDA-9C3B9ED5BA6A}" srcOrd="2" destOrd="0" parTransId="{0567815F-1040-436C-9577-6C11B402FB53}" sibTransId="{46180495-B893-4B90-AC97-08C42A6257D8}"/>
    <dgm:cxn modelId="{AB608409-0554-41D4-82DB-65D79910235A}" srcId="{9376D591-C451-4FEF-B0A3-174542A8EE68}" destId="{7E2E8A8D-D689-4485-A44D-1AF912CE1A74}" srcOrd="1" destOrd="0" parTransId="{C77F0169-E242-479E-87ED-0D42BB840DBF}" sibTransId="{074A2616-6439-4F1F-8B51-BE7FE3BE67ED}"/>
    <dgm:cxn modelId="{AAF3D0A9-D9BF-4E0D-8692-1E56B2877FDC}" srcId="{9376D591-C451-4FEF-B0A3-174542A8EE68}" destId="{DA78D060-5BE4-4244-9DAF-CB4BB7E05165}" srcOrd="3" destOrd="0" parTransId="{82C43509-6172-4612-98C5-185929B1CC53}" sibTransId="{18848E03-3FE6-4C40-9485-422A577D3C9C}"/>
    <dgm:cxn modelId="{E0924315-0525-4A19-891B-9F4BBF544839}" srcId="{9376D591-C451-4FEF-B0A3-174542A8EE68}" destId="{35614D03-D769-4E7A-89F7-BF6BB4A8D241}" srcOrd="0" destOrd="0" parTransId="{4A976DA5-1D03-4CCD-9090-5D730314AABB}" sibTransId="{74C81CF4-948B-4E36-ADB2-D55F7C3C93F1}"/>
    <dgm:cxn modelId="{A82A3485-A1E5-4096-BAB9-7C60743DA245}" type="presOf" srcId="{35614D03-D769-4E7A-89F7-BF6BB4A8D241}" destId="{3DC4EBF8-5BB9-4E26-8D3F-56C27C82F902}" srcOrd="0" destOrd="0" presId="urn:microsoft.com/office/officeart/2005/8/layout/default"/>
    <dgm:cxn modelId="{6F4F8222-8DD3-4F7D-AC2F-9CF4442CC0A5}" type="presOf" srcId="{B5FFF0BD-BFD4-4CB6-A306-08EC21D1F033}" destId="{93C6EFF2-793C-4750-A4D8-FF9604602317}" srcOrd="0" destOrd="0" presId="urn:microsoft.com/office/officeart/2005/8/layout/default"/>
    <dgm:cxn modelId="{F72E1B9B-A841-41A3-A399-D36BE88EEF71}" type="presOf" srcId="{D1610AC0-CE6C-40D0-ADDA-9C3B9ED5BA6A}" destId="{F4AEB089-E266-4267-821C-16B75DA5462D}" srcOrd="0" destOrd="0" presId="urn:microsoft.com/office/officeart/2005/8/layout/default"/>
    <dgm:cxn modelId="{89E6AA1E-6DBC-462C-AAB4-EA2A72705F83}" type="presOf" srcId="{9376D591-C451-4FEF-B0A3-174542A8EE68}" destId="{68909748-A998-4581-8D25-785B4C1D448F}" srcOrd="0" destOrd="0" presId="urn:microsoft.com/office/officeart/2005/8/layout/default"/>
    <dgm:cxn modelId="{FB16ACE9-D2C1-40E3-83AF-3E0EB47BDF92}" srcId="{9376D591-C451-4FEF-B0A3-174542A8EE68}" destId="{1257C439-98B1-448F-AA2F-B1D6B6756F43}" srcOrd="5" destOrd="0" parTransId="{6BC0AA60-1AAA-43EE-A71B-DF446FBADC29}" sibTransId="{4AE4F7A8-1678-450C-B5DF-496712511C8D}"/>
    <dgm:cxn modelId="{88D17E1C-C71D-45F9-A2F5-9B4460AB0598}" srcId="{9376D591-C451-4FEF-B0A3-174542A8EE68}" destId="{B5FFF0BD-BFD4-4CB6-A306-08EC21D1F033}" srcOrd="4" destOrd="0" parTransId="{02693075-4EDB-4A09-812D-32FB8F430145}" sibTransId="{A5640C5D-EB59-41BD-A138-21D6434A069A}"/>
    <dgm:cxn modelId="{B0A70B9D-0691-4E8F-A73F-EE55C545CB3E}" type="presOf" srcId="{1257C439-98B1-448F-AA2F-B1D6B6756F43}" destId="{A8353A5C-AB8D-4EF5-A1B5-A47FEAC58967}" srcOrd="0" destOrd="0" presId="urn:microsoft.com/office/officeart/2005/8/layout/default"/>
    <dgm:cxn modelId="{DC380C83-9ABF-4A67-AD81-A6941BD4567C}" type="presParOf" srcId="{68909748-A998-4581-8D25-785B4C1D448F}" destId="{3DC4EBF8-5BB9-4E26-8D3F-56C27C82F902}" srcOrd="0" destOrd="0" presId="urn:microsoft.com/office/officeart/2005/8/layout/default"/>
    <dgm:cxn modelId="{8CAB1D5F-077E-4DC3-87E1-66FB8ACC8D05}" type="presParOf" srcId="{68909748-A998-4581-8D25-785B4C1D448F}" destId="{1B339968-6E85-4286-9EE6-BBE83F6C4D37}" srcOrd="1" destOrd="0" presId="urn:microsoft.com/office/officeart/2005/8/layout/default"/>
    <dgm:cxn modelId="{EA89D61E-591A-44B6-94F5-7630F59B92AF}" type="presParOf" srcId="{68909748-A998-4581-8D25-785B4C1D448F}" destId="{6174A436-87D6-4D2B-B479-84213C75E7CE}" srcOrd="2" destOrd="0" presId="urn:microsoft.com/office/officeart/2005/8/layout/default"/>
    <dgm:cxn modelId="{071A831D-06B4-4E4F-AC8D-782F3D594796}" type="presParOf" srcId="{68909748-A998-4581-8D25-785B4C1D448F}" destId="{7AEDFBCE-B227-462D-9858-5664FA13E226}" srcOrd="3" destOrd="0" presId="urn:microsoft.com/office/officeart/2005/8/layout/default"/>
    <dgm:cxn modelId="{5D1EE7E6-141D-4D3A-95C6-E192453A48A8}" type="presParOf" srcId="{68909748-A998-4581-8D25-785B4C1D448F}" destId="{F4AEB089-E266-4267-821C-16B75DA5462D}" srcOrd="4" destOrd="0" presId="urn:microsoft.com/office/officeart/2005/8/layout/default"/>
    <dgm:cxn modelId="{5C5D6187-E709-43B4-8519-8D712D6E5889}" type="presParOf" srcId="{68909748-A998-4581-8D25-785B4C1D448F}" destId="{C06CE275-58FE-4A63-B2AD-5A1E1F89D6A5}" srcOrd="5" destOrd="0" presId="urn:microsoft.com/office/officeart/2005/8/layout/default"/>
    <dgm:cxn modelId="{7321D008-671C-4D0E-887D-FC82088A5E53}" type="presParOf" srcId="{68909748-A998-4581-8D25-785B4C1D448F}" destId="{DC22EB43-42F1-42E5-8488-5E9BCB8F4B80}" srcOrd="6" destOrd="0" presId="urn:microsoft.com/office/officeart/2005/8/layout/default"/>
    <dgm:cxn modelId="{A5ECCB7D-96CC-45AE-A411-47FAE82F45DD}" type="presParOf" srcId="{68909748-A998-4581-8D25-785B4C1D448F}" destId="{DCAE1AAC-62BC-4706-8832-1325F8A584CB}" srcOrd="7" destOrd="0" presId="urn:microsoft.com/office/officeart/2005/8/layout/default"/>
    <dgm:cxn modelId="{30325434-30FB-4D4C-97B2-15D5909432B6}" type="presParOf" srcId="{68909748-A998-4581-8D25-785B4C1D448F}" destId="{93C6EFF2-793C-4750-A4D8-FF9604602317}" srcOrd="8" destOrd="0" presId="urn:microsoft.com/office/officeart/2005/8/layout/default"/>
    <dgm:cxn modelId="{9BBCA980-0FA7-48A3-9409-AE3A893206C3}" type="presParOf" srcId="{68909748-A998-4581-8D25-785B4C1D448F}" destId="{F2D57418-538F-4195-A435-CD93692AB722}" srcOrd="9" destOrd="0" presId="urn:microsoft.com/office/officeart/2005/8/layout/default"/>
    <dgm:cxn modelId="{4A6C91FA-80E2-4DFA-8311-72825B10C84E}" type="presParOf" srcId="{68909748-A998-4581-8D25-785B4C1D448F}" destId="{A8353A5C-AB8D-4EF5-A1B5-A47FEAC58967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1C9240-0B00-47F5-8315-EA25A5DD21D4}" type="datetimeFigureOut">
              <a:rPr lang="ru-RU" smtClean="0"/>
              <a:t>26.06.2026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FE969A-3B85-41F0-B329-9B9FD47284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5821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0168A1-4B29-47B6-88C8-6A7E03BC4813}" type="slidenum">
              <a:rPr lang="ru-RU" smtClean="0"/>
              <a:t>35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4721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ru-RU" dirty="0"/>
              <a:t>Название дисциплины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ФИО преподавателя</a:t>
            </a:r>
          </a:p>
          <a:p>
            <a:pPr lvl="0"/>
            <a:r>
              <a:rPr lang="ru-RU" dirty="0"/>
              <a:t>Электронная почта (укажите корпоративную почту)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DCB871D2-25B0-448C-80C6-D62A08D94E97}" type="datetime1">
              <a:rPr lang="en-US" smtClean="0"/>
              <a:t>6/26/2026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450127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1143000" y="2057399"/>
            <a:ext cx="6858000" cy="1452563"/>
          </a:xfrm>
          <a:prstGeom prst="rect">
            <a:avLst/>
          </a:prstGeom>
        </p:spPr>
        <p:txBody>
          <a:bodyPr anchor="b"/>
          <a:lstStyle>
            <a:lvl1pPr algn="ctr">
              <a:defRPr sz="6000" b="1"/>
            </a:lvl1pPr>
          </a:lstStyle>
          <a:p>
            <a:r>
              <a:rPr lang="ru-RU" dirty="0"/>
              <a:t>Название темы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1143000" y="1178878"/>
            <a:ext cx="6858000" cy="46704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Номер темы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DA0D15EA-F46C-4827-B7EA-97593F313E8E}" type="datetime1">
              <a:rPr lang="en-US" smtClean="0"/>
              <a:t>6/26/2026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93D961C8-81F0-CCE5-93CC-B19775D08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956620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6128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2523743"/>
            <a:ext cx="7886700" cy="365321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B4E48A99-5F05-4D77-81C7-5AA7E39ED88A}" type="datetime1">
              <a:rPr lang="en-US" smtClean="0"/>
              <a:t>6/26/2026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E1400F3A-7B5E-E986-3C8D-D7E3ED32C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79360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3272"/>
            <a:ext cx="7886700" cy="1218691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28650" y="2414015"/>
            <a:ext cx="3867150" cy="376294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2414015"/>
            <a:ext cx="3867150" cy="376294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40862930-79B4-4CB1-AFB3-68C345192A83}" type="datetime1">
              <a:rPr lang="en-US" smtClean="0"/>
              <a:t>6/26/2026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xmlns="" id="{EF9E7562-4C64-9200-F7CF-81A74263C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08025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8808" y="1033272"/>
            <a:ext cx="7886700" cy="1024525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18808" y="2099469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30238" y="3006725"/>
            <a:ext cx="3868737" cy="3182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29150" y="2099469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29150" y="3006725"/>
            <a:ext cx="3887788" cy="31829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3087BD15-8EC4-4859-8441-4B361B08C53D}" type="datetime1">
              <a:rPr lang="en-US" smtClean="0"/>
              <a:t>6/26/2026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xmlns="" id="{E5425750-DBEE-C9FA-18B0-C2B675CDD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60551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160653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0" y="6479279"/>
            <a:ext cx="2057400" cy="365125"/>
          </a:xfrm>
          <a:prstGeom prst="rect">
            <a:avLst/>
          </a:prstGeom>
        </p:spPr>
        <p:txBody>
          <a:bodyPr/>
          <a:lstStyle/>
          <a:p>
            <a:fld id="{DB9CD66F-39BB-4206-A809-14CED26CA744}" type="datetime1">
              <a:rPr lang="en-US" smtClean="0"/>
              <a:t>6/26/2026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793138ED-5AEE-374B-DA65-577499AD0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21443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86D25D0D-EF31-4530-9D89-AE3F619918A9}" type="datetime1">
              <a:rPr lang="en-US" smtClean="0"/>
              <a:t>6/26/2026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xmlns="" id="{C6E3F1F6-F4B3-5413-F4E6-750406273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90020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28699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EF359388-46AA-4B0F-925D-677914BD9B15}" type="datetime1">
              <a:rPr lang="en-US" smtClean="0"/>
              <a:t>6/26/2026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xmlns="" id="{5FB1CCC7-B864-78A0-9F73-303C670C6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85043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46987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4DD8B233-E4CE-43C8-99C2-AFE9ED71A887}" type="datetime1">
              <a:rPr lang="en-US" smtClean="0"/>
              <a:t>6/26/2026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xmlns="" id="{230D5446-F2F2-0154-0DE9-748F5C6A5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1901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2790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2606039"/>
            <a:ext cx="7886700" cy="357092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8521"/>
            <a:ext cx="2057400" cy="365125"/>
          </a:xfrm>
          <a:prstGeom prst="rect">
            <a:avLst/>
          </a:prstGeom>
        </p:spPr>
        <p:txBody>
          <a:bodyPr/>
          <a:lstStyle/>
          <a:p>
            <a:fld id="{7F9AF166-A5E1-4829-A893-2E20E1862B05}" type="datetime1">
              <a:rPr lang="en-US" smtClean="0"/>
              <a:t>6/26/2026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CBE747CD-7B95-E158-1FF1-A9DC91184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21671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543675" y="1152143"/>
            <a:ext cx="1971675" cy="5024820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1152143"/>
            <a:ext cx="5762625" cy="502481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6946CF6E-A483-4D0A-997D-D6DFBCCE0472}" type="datetime1">
              <a:rPr lang="en-US" smtClean="0"/>
              <a:t>6/26/2026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02BFF0C1-3C6E-5090-459F-707F40315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753326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ru-RU" dirty="0"/>
              <a:t>Название дисциплины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ФИО преподавателя</a:t>
            </a:r>
          </a:p>
          <a:p>
            <a:pPr lvl="0"/>
            <a:r>
              <a:rPr lang="ru-RU" dirty="0"/>
              <a:t>Электронная почта (укажите корпоративную почту)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DCB871D2-25B0-448C-80C6-D62A08D94E97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61450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1143000" y="2057399"/>
            <a:ext cx="6858000" cy="1452563"/>
          </a:xfrm>
          <a:prstGeom prst="rect">
            <a:avLst/>
          </a:prstGeom>
        </p:spPr>
        <p:txBody>
          <a:bodyPr anchor="b"/>
          <a:lstStyle>
            <a:lvl1pPr algn="ctr">
              <a:defRPr sz="6000" b="1"/>
            </a:lvl1pPr>
          </a:lstStyle>
          <a:p>
            <a:r>
              <a:rPr lang="ru-RU" dirty="0"/>
              <a:t>Название темы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1143000" y="1178878"/>
            <a:ext cx="6858000" cy="46704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Номер темы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DA0D15EA-F46C-4827-B7EA-97593F313E8E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93D961C8-81F0-CCE5-93CC-B19775D08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00565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6128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2523743"/>
            <a:ext cx="7886700" cy="365321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B4E48A99-5F05-4D77-81C7-5AA7E39ED88A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E1400F3A-7B5E-E986-3C8D-D7E3ED32C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89861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3272"/>
            <a:ext cx="7886700" cy="1218691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28650" y="2414015"/>
            <a:ext cx="3867150" cy="376294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2414015"/>
            <a:ext cx="3867150" cy="376294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40862930-79B4-4CB1-AFB3-68C345192A83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xmlns="" id="{EF9E7562-4C64-9200-F7CF-81A74263C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27468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8808" y="1033272"/>
            <a:ext cx="7886700" cy="1024525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18808" y="2099469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30238" y="3006725"/>
            <a:ext cx="3868737" cy="3182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29150" y="2099469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29150" y="3006725"/>
            <a:ext cx="3887788" cy="31829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3087BD15-8EC4-4859-8441-4B361B08C53D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xmlns="" id="{E5425750-DBEE-C9FA-18B0-C2B675CDD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24176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160653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0" y="6479279"/>
            <a:ext cx="2057400" cy="365125"/>
          </a:xfrm>
          <a:prstGeom prst="rect">
            <a:avLst/>
          </a:prstGeom>
        </p:spPr>
        <p:txBody>
          <a:bodyPr/>
          <a:lstStyle/>
          <a:p>
            <a:fld id="{DB9CD66F-39BB-4206-A809-14CED26CA744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793138ED-5AEE-374B-DA65-577499AD0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65831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86D25D0D-EF31-4530-9D89-AE3F619918A9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xmlns="" id="{C6E3F1F6-F4B3-5413-F4E6-750406273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40310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28699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EF359388-46AA-4B0F-925D-677914BD9B15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xmlns="" id="{5FB1CCC7-B864-78A0-9F73-303C670C6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756985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46987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4DD8B233-E4CE-43C8-99C2-AFE9ED71A887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xmlns="" id="{230D5446-F2F2-0154-0DE9-748F5C6A5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38815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2790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2606039"/>
            <a:ext cx="7886700" cy="357092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8521"/>
            <a:ext cx="2057400" cy="365125"/>
          </a:xfrm>
          <a:prstGeom prst="rect">
            <a:avLst/>
          </a:prstGeom>
        </p:spPr>
        <p:txBody>
          <a:bodyPr/>
          <a:lstStyle/>
          <a:p>
            <a:fld id="{7F9AF166-A5E1-4829-A893-2E20E1862B05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CBE747CD-7B95-E158-1FF1-A9DC91184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419067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543675" y="1152143"/>
            <a:ext cx="1971675" cy="5024820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1152143"/>
            <a:ext cx="5762625" cy="502481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6946CF6E-A483-4D0A-997D-D6DFBCCE0472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02BFF0C1-3C6E-5090-459F-707F40315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6868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1868556" y="48476"/>
            <a:ext cx="540688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ru-RU" sz="1600" b="1" dirty="0">
                <a:solidFill>
                  <a:srgbClr val="0070C0"/>
                </a:solidFill>
                <a:latin typeface="PT Sans"/>
              </a:rPr>
              <a:t>МИРЭА - Российский технологический университет 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158656" y="79253"/>
            <a:ext cx="889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70C0"/>
                </a:solidFill>
                <a:latin typeface="PT Sans"/>
              </a:rPr>
              <a:t>mirea.ru</a:t>
            </a:r>
            <a:endParaRPr lang="ru-RU" sz="1400" b="1" dirty="0">
              <a:solidFill>
                <a:srgbClr val="0070C0"/>
              </a:solidFill>
              <a:latin typeface="PT Sans"/>
            </a:endParaRPr>
          </a:p>
        </p:txBody>
      </p:sp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15" y="56596"/>
            <a:ext cx="870333" cy="962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840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2" r:id="rId2"/>
    <p:sldLayoutId id="2147483663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1868556" y="48476"/>
            <a:ext cx="540688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srgbClr val="0070C0"/>
                </a:solidFill>
                <a:latin typeface="PT Sans"/>
              </a:rPr>
              <a:t>МИРЭА - Российский технологический университет 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158656" y="79253"/>
            <a:ext cx="889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70C0"/>
                </a:solidFill>
                <a:latin typeface="PT Sans"/>
              </a:rPr>
              <a:t>mirea.ru</a:t>
            </a:r>
            <a:endParaRPr lang="ru-RU" sz="1400" b="1" dirty="0">
              <a:solidFill>
                <a:srgbClr val="0070C0"/>
              </a:solidFill>
              <a:latin typeface="PT Sans"/>
            </a:endParaRPr>
          </a:p>
        </p:txBody>
      </p:sp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15" y="56596"/>
            <a:ext cx="870333" cy="962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884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hyperlink" Target="https://moscowtest.ru/tpost/mmoyfyhbt1-otlichiya-obyazatelnoi-i-dobrovolnoi-ser" TargetMode="External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143000" y="1563117"/>
            <a:ext cx="6858000" cy="3202847"/>
          </a:xfrm>
        </p:spPr>
        <p:txBody>
          <a:bodyPr/>
          <a:lstStyle/>
          <a:p>
            <a:pPr algn="l"/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>ДИСЦИЛИНА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Сертификация и лицензирование беспилотных систем</a:t>
            </a: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>ИНСТИТУТ </a:t>
            </a:r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>ИПТИП</a:t>
            </a: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>КАФЕДРА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индустриального программирования</a:t>
            </a: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>ВИД УЧЕБНОГО МАТЕРИАЛА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Лекция</a:t>
            </a: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>ПРЕПОДАВАТЕЛЬ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Ризаева Юлия Николаевна</a:t>
            </a: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>СЕМЕСТР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3, 2026-2027 уч. </a:t>
            </a:r>
            <a:r>
              <a:rPr lang="ru-RU" sz="1800">
                <a:latin typeface="Times New Roman" pitchFamily="18" charset="0"/>
                <a:cs typeface="Times New Roman" pitchFamily="18" charset="0"/>
              </a:rPr>
              <a:t>г.</a:t>
            </a:r>
            <a:br>
              <a:rPr lang="ru-RU" sz="1800">
                <a:latin typeface="Times New Roman" pitchFamily="18" charset="0"/>
                <a:cs typeface="Times New Roman" pitchFamily="18" charset="0"/>
              </a:rPr>
            </a:br>
            <a:endParaRPr lang="ru-RU" sz="1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</a:t>
            </a:fld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2041237" y="855231"/>
            <a:ext cx="55626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>
                <a:solidFill>
                  <a:prstClr val="black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Титульный лист материалов по дисциплине</a:t>
            </a:r>
            <a:br>
              <a:rPr lang="ru-RU" sz="2000" b="1" dirty="0">
                <a:solidFill>
                  <a:prstClr val="black"/>
                </a:solidFill>
                <a:latin typeface="Times New Roman" pitchFamily="18" charset="0"/>
                <a:ea typeface="+mj-ea"/>
                <a:cs typeface="Times New Roman" pitchFamily="18" charset="0"/>
              </a:rPr>
            </a:br>
            <a:endParaRPr lang="ru-RU" sz="2000" b="1" dirty="0"/>
          </a:p>
        </p:txBody>
      </p:sp>
    </p:spTree>
    <p:extLst>
      <p:ext uri="{BB962C8B-B14F-4D97-AF65-F5344CB8AC3E}">
        <p14:creationId xmlns:p14="http://schemas.microsoft.com/office/powerpoint/2010/main" val="22639969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9">
            <a:extLst>
              <a:ext uri="{FF2B5EF4-FFF2-40B4-BE49-F238E27FC236}">
                <a16:creationId xmlns:a16="http://schemas.microsoft.com/office/drawing/2014/main" xmlns="" id="{4C6D146A-8A1D-466F-95B0-D4B5B952F6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5825" y="2322946"/>
            <a:ext cx="7372350" cy="2525062"/>
          </a:xfrm>
        </p:spPr>
        <p:txBody>
          <a:bodyPr/>
          <a:lstStyle/>
          <a:p>
            <a:r>
              <a:rPr lang="ru-RU" sz="4400" b="0" dirty="0">
                <a:latin typeface="Times New Roman" pitchFamily="18" charset="0"/>
                <a:cs typeface="Times New Roman" pitchFamily="18" charset="0"/>
              </a:rPr>
              <a:t> Обязательная и добровольная сертификация беспилотных систем: цели и сфера применения</a:t>
            </a:r>
          </a:p>
        </p:txBody>
      </p:sp>
      <p:sp>
        <p:nvSpPr>
          <p:cNvPr id="11" name="Подзаголовок 10">
            <a:extLst>
              <a:ext uri="{FF2B5EF4-FFF2-40B4-BE49-F238E27FC236}">
                <a16:creationId xmlns:a16="http://schemas.microsoft.com/office/drawing/2014/main" xmlns="" id="{C1B65F80-40E4-4163-81DA-43F424C0AE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Лекция 3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A172C6BE-6279-1472-C916-7648D9F11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0878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48019"/>
            <a:ext cx="7886700" cy="677217"/>
          </a:xfrm>
        </p:spPr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План лекции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827232" y="1152143"/>
            <a:ext cx="7886700" cy="5204207"/>
          </a:xfrm>
        </p:spPr>
        <p:txBody>
          <a:bodyPr/>
          <a:lstStyle/>
          <a:p>
            <a:pPr marL="457200" indent="-457200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Различие между обязательной и добровольной сертификацией.</a:t>
            </a:r>
          </a:p>
          <a:p>
            <a:pPr marL="457200" indent="-457200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Сферы применения обязательной сертификации беспилотных систем (ВАТС, БПЛА, компоненты).</a:t>
            </a:r>
          </a:p>
          <a:p>
            <a:pPr marL="457200" indent="-457200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Сферы применения добровольной сертификации беспилотных систем (ВАТС, БПЛА, компоненты, услуги).</a:t>
            </a:r>
          </a:p>
          <a:p>
            <a:pPr marL="457200" indent="-457200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Преимущества добровольной сертификации для производителей и потребителей.</a:t>
            </a:r>
          </a:p>
          <a:p>
            <a:pPr marL="457200" indent="-457200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Системы добровольной сертификации в сфере беспилотных систем.</a:t>
            </a:r>
            <a:endParaRPr lang="ru-RU" sz="2000" dirty="0">
              <a:latin typeface="Times New Roman" pitchFamily="18" charset="0"/>
              <a:ea typeface="Times New Roman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0065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48019"/>
            <a:ext cx="8210550" cy="677217"/>
          </a:xfrm>
        </p:spPr>
        <p:txBody>
          <a:bodyPr/>
          <a:lstStyle/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ОСНОВНЫЕ ПОНЯТИЯ: СЕРТИФИКАЦИЯ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827232" y="1562986"/>
            <a:ext cx="7886700" cy="5031778"/>
          </a:xfrm>
        </p:spPr>
        <p:txBody>
          <a:bodyPr/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200" b="1" dirty="0">
                <a:solidFill>
                  <a:srgbClr val="FF0000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Сертификация</a:t>
            </a:r>
            <a:r>
              <a:rPr lang="ru-RU" sz="2200" dirty="0">
                <a:latin typeface="Times New Roman" pitchFamily="18" charset="0"/>
                <a:ea typeface="Times New Roman"/>
                <a:cs typeface="Times New Roman" pitchFamily="18" charset="0"/>
              </a:rPr>
              <a:t> – это форма осуществляемого органом по сертификации подтверждения соответствия объектов </a:t>
            </a:r>
            <a:r>
              <a:rPr lang="ru-RU" sz="2200" u="sng" dirty="0">
                <a:latin typeface="Times New Roman" pitchFamily="18" charset="0"/>
                <a:ea typeface="Times New Roman"/>
                <a:cs typeface="Times New Roman" pitchFamily="18" charset="0"/>
              </a:rPr>
              <a:t>требованиям технических регламентов, </a:t>
            </a:r>
            <a:r>
              <a:rPr lang="ru-RU" sz="2200" u="sng" dirty="0" smtClean="0">
                <a:latin typeface="Times New Roman" pitchFamily="18" charset="0"/>
                <a:ea typeface="Times New Roman"/>
                <a:cs typeface="Times New Roman" pitchFamily="18" charset="0"/>
              </a:rPr>
              <a:t>положениям стандартов </a:t>
            </a:r>
            <a:r>
              <a:rPr lang="ru-RU" sz="2200" u="sng" dirty="0">
                <a:latin typeface="Times New Roman" pitchFamily="18" charset="0"/>
                <a:ea typeface="Times New Roman"/>
                <a:cs typeface="Times New Roman" pitchFamily="18" charset="0"/>
              </a:rPr>
              <a:t>или условиям договоров</a:t>
            </a:r>
            <a:r>
              <a:rPr lang="ru-RU" sz="2200" dirty="0" smtClean="0">
                <a:latin typeface="Times New Roman" pitchFamily="18" charset="0"/>
                <a:ea typeface="Times New Roman"/>
                <a:cs typeface="Times New Roman" pitchFamily="18" charset="0"/>
              </a:rPr>
              <a:t>.</a:t>
            </a:r>
            <a:endParaRPr lang="ru-RU" sz="2200" dirty="0">
              <a:latin typeface="Times New Roman" pitchFamily="18" charset="0"/>
              <a:ea typeface="Times New Roman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3155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48019"/>
            <a:ext cx="8210550" cy="677217"/>
          </a:xfrm>
        </p:spPr>
        <p:txBody>
          <a:bodyPr/>
          <a:lstStyle/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ОСНОВНЫЕ ПОНЯТИЯ: СЕРТИФИКАЦИЯ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827232" y="1080654"/>
            <a:ext cx="7886700" cy="5514110"/>
          </a:xfrm>
        </p:spPr>
        <p:txBody>
          <a:bodyPr/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200" b="1" dirty="0" smtClean="0">
                <a:solidFill>
                  <a:srgbClr val="FF0000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Подтверждение </a:t>
            </a:r>
            <a:r>
              <a:rPr lang="ru-RU" sz="2200" b="1" dirty="0">
                <a:solidFill>
                  <a:srgbClr val="FF0000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соответствия </a:t>
            </a:r>
            <a:r>
              <a:rPr lang="ru-RU" sz="2200" dirty="0">
                <a:latin typeface="Times New Roman" pitchFamily="18" charset="0"/>
                <a:ea typeface="Times New Roman"/>
                <a:cs typeface="Times New Roman" pitchFamily="18" charset="0"/>
              </a:rPr>
              <a:t>– документальное удостоверение </a:t>
            </a:r>
            <a:r>
              <a:rPr lang="ru-RU" sz="2200" dirty="0" smtClean="0">
                <a:latin typeface="Times New Roman" pitchFamily="18" charset="0"/>
                <a:ea typeface="Times New Roman"/>
                <a:cs typeface="Times New Roman" pitchFamily="18" charset="0"/>
              </a:rPr>
              <a:t>соответствия продукции </a:t>
            </a:r>
            <a:r>
              <a:rPr lang="ru-RU" sz="2200" dirty="0">
                <a:latin typeface="Times New Roman" pitchFamily="18" charset="0"/>
                <a:ea typeface="Times New Roman"/>
                <a:cs typeface="Times New Roman" pitchFamily="18" charset="0"/>
              </a:rPr>
              <a:t>или иных объектов, процессов производства, эксплуатации, хранения</a:t>
            </a:r>
            <a:r>
              <a:rPr lang="ru-RU" sz="2200" dirty="0" smtClean="0">
                <a:latin typeface="Times New Roman" pitchFamily="18" charset="0"/>
                <a:ea typeface="Times New Roman"/>
                <a:cs typeface="Times New Roman" pitchFamily="18" charset="0"/>
              </a:rPr>
              <a:t>, перевозки</a:t>
            </a:r>
            <a:r>
              <a:rPr lang="ru-RU" sz="2200" dirty="0">
                <a:latin typeface="Times New Roman" pitchFamily="18" charset="0"/>
                <a:ea typeface="Times New Roman"/>
                <a:cs typeface="Times New Roman" pitchFamily="18" charset="0"/>
              </a:rPr>
              <a:t>, реализации и утилизации, выполнения работ или оказания услуг </a:t>
            </a:r>
            <a:r>
              <a:rPr lang="ru-RU" sz="2200" u="sng" dirty="0">
                <a:latin typeface="Times New Roman" pitchFamily="18" charset="0"/>
                <a:ea typeface="Times New Roman"/>
                <a:cs typeface="Times New Roman" pitchFamily="18" charset="0"/>
              </a:rPr>
              <a:t>требованиям технических регламентов, положениям стандартов или условиям договоров</a:t>
            </a:r>
            <a:r>
              <a:rPr lang="ru-RU" sz="2200" dirty="0">
                <a:latin typeface="Times New Roman" pitchFamily="18" charset="0"/>
                <a:ea typeface="Times New Roman"/>
                <a:cs typeface="Times New Roman" pitchFamily="18" charset="0"/>
              </a:rPr>
              <a:t>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200" b="1" dirty="0">
                <a:solidFill>
                  <a:srgbClr val="FF0000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Сертификат соответствия </a:t>
            </a:r>
            <a:r>
              <a:rPr lang="ru-RU" sz="2200" dirty="0">
                <a:latin typeface="Times New Roman" pitchFamily="18" charset="0"/>
                <a:ea typeface="Times New Roman"/>
                <a:cs typeface="Times New Roman" pitchFamily="18" charset="0"/>
              </a:rPr>
              <a:t>– документ, удостоверяющий соответствие </a:t>
            </a:r>
            <a:r>
              <a:rPr lang="ru-RU" sz="2200" dirty="0" smtClean="0">
                <a:latin typeface="Times New Roman" pitchFamily="18" charset="0"/>
                <a:ea typeface="Times New Roman"/>
                <a:cs typeface="Times New Roman" pitchFamily="18" charset="0"/>
              </a:rPr>
              <a:t>объекта </a:t>
            </a:r>
            <a:r>
              <a:rPr lang="ru-RU" sz="2200" u="sng" dirty="0" smtClean="0">
                <a:latin typeface="Times New Roman" pitchFamily="18" charset="0"/>
                <a:ea typeface="Times New Roman"/>
                <a:cs typeface="Times New Roman" pitchFamily="18" charset="0"/>
              </a:rPr>
              <a:t>требованиям </a:t>
            </a:r>
            <a:r>
              <a:rPr lang="ru-RU" sz="2200" u="sng" dirty="0">
                <a:latin typeface="Times New Roman" pitchFamily="18" charset="0"/>
                <a:ea typeface="Times New Roman"/>
                <a:cs typeface="Times New Roman" pitchFamily="18" charset="0"/>
              </a:rPr>
              <a:t>технических регламентов, положениям стандартов или условиям договоров</a:t>
            </a:r>
            <a:r>
              <a:rPr lang="ru-RU" sz="2200" dirty="0">
                <a:latin typeface="Times New Roman" pitchFamily="18" charset="0"/>
                <a:ea typeface="Times New Roman"/>
                <a:cs typeface="Times New Roman" pitchFamily="18" charset="0"/>
              </a:rPr>
              <a:t>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200" b="1" dirty="0">
                <a:solidFill>
                  <a:srgbClr val="FF0000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Система сертификации </a:t>
            </a:r>
            <a:r>
              <a:rPr lang="ru-RU" sz="2200" dirty="0">
                <a:latin typeface="Times New Roman" pitchFamily="18" charset="0"/>
                <a:ea typeface="Times New Roman"/>
                <a:cs typeface="Times New Roman" pitchFamily="18" charset="0"/>
              </a:rPr>
              <a:t>– совокупность правил выполнения работ по сертификации, ее участников и правил функционирования системы сертификации в целом.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8220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48019"/>
            <a:ext cx="7886700" cy="677217"/>
          </a:xfrm>
        </p:spPr>
        <p:txBody>
          <a:bodyPr/>
          <a:lstStyle/>
          <a:p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Определение и разграничение понятий "лицензирование" и "</a:t>
            </a:r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сертификация"</a:t>
            </a:r>
            <a:endParaRPr lang="ru-RU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827232" y="1731818"/>
            <a:ext cx="7886700" cy="4624532"/>
          </a:xfrm>
        </p:spPr>
        <p:txBody>
          <a:bodyPr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dirty="0">
                <a:latin typeface="Times New Roman" pitchFamily="18" charset="0"/>
                <a:ea typeface="Times New Roman"/>
                <a:cs typeface="Times New Roman" pitchFamily="18" charset="0"/>
              </a:rPr>
              <a:t>Сертификация (оценка соответствия</a:t>
            </a:r>
            <a:r>
              <a:rPr lang="ru-RU" sz="2400" b="1" dirty="0" smtClean="0">
                <a:latin typeface="Times New Roman" pitchFamily="18" charset="0"/>
                <a:ea typeface="Times New Roman"/>
                <a:cs typeface="Times New Roman" pitchFamily="18" charset="0"/>
              </a:rPr>
              <a:t>)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ru-RU" sz="1600" dirty="0">
              <a:latin typeface="Times New Roman" pitchFamily="18" charset="0"/>
              <a:ea typeface="Times New Roman"/>
              <a:cs typeface="Times New Roman" pitchFamily="18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ru-RU" b="1" dirty="0" smtClean="0">
                <a:solidFill>
                  <a:srgbClr val="FF0000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Суть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ru-RU" sz="1800" b="1" dirty="0" smtClean="0">
              <a:solidFill>
                <a:srgbClr val="FF0000"/>
              </a:solidFill>
              <a:latin typeface="Times New Roman" pitchFamily="18" charset="0"/>
              <a:ea typeface="Times New Roman"/>
              <a:cs typeface="Times New Roman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dirty="0" smtClean="0">
                <a:latin typeface="Times New Roman" pitchFamily="18" charset="0"/>
                <a:ea typeface="Times New Roman"/>
                <a:cs typeface="Times New Roman" pitchFamily="18" charset="0"/>
              </a:rPr>
              <a:t>процедура </a:t>
            </a:r>
            <a:r>
              <a:rPr lang="ru-RU" dirty="0">
                <a:latin typeface="Times New Roman" pitchFamily="18" charset="0"/>
                <a:ea typeface="Times New Roman"/>
                <a:cs typeface="Times New Roman" pitchFamily="18" charset="0"/>
              </a:rPr>
              <a:t>подтверждения соответствия продукта/процесса/организации установленным требованиям </a:t>
            </a:r>
            <a:r>
              <a:rPr lang="ru-RU" b="1" dirty="0" smtClean="0">
                <a:solidFill>
                  <a:srgbClr val="FF0000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технических </a:t>
            </a:r>
            <a:r>
              <a:rPr lang="ru-RU" b="1" dirty="0">
                <a:solidFill>
                  <a:srgbClr val="FF0000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регламентов, положениям стандартов или условиям </a:t>
            </a:r>
            <a:r>
              <a:rPr lang="ru-RU" b="1" dirty="0" smtClean="0">
                <a:solidFill>
                  <a:srgbClr val="FF0000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договоров</a:t>
            </a:r>
            <a:r>
              <a:rPr lang="ru-RU" dirty="0" smtClean="0">
                <a:latin typeface="Times New Roman" pitchFamily="18" charset="0"/>
                <a:ea typeface="Times New Roman"/>
                <a:cs typeface="Times New Roman" pitchFamily="18" charset="0"/>
              </a:rPr>
              <a:t>.</a:t>
            </a:r>
            <a:endParaRPr lang="ru-RU" dirty="0">
              <a:latin typeface="Times New Roman" pitchFamily="18" charset="0"/>
              <a:ea typeface="Times New Roman"/>
              <a:cs typeface="Times New Roman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dirty="0" smtClean="0">
              <a:latin typeface="Times New Roman" pitchFamily="18" charset="0"/>
              <a:ea typeface="Times New Roman"/>
              <a:cs typeface="Times New Roman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dirty="0" smtClean="0">
                <a:latin typeface="Times New Roman" pitchFamily="18" charset="0"/>
                <a:ea typeface="Times New Roman"/>
                <a:cs typeface="Times New Roman" pitchFamily="18" charset="0"/>
              </a:rPr>
              <a:t>Проводится </a:t>
            </a:r>
            <a:r>
              <a:rPr lang="ru-RU" dirty="0">
                <a:latin typeface="Times New Roman" pitchFamily="18" charset="0"/>
                <a:ea typeface="Times New Roman"/>
                <a:cs typeface="Times New Roman" pitchFamily="18" charset="0"/>
              </a:rPr>
              <a:t>аккредитованным органом (или по самооценке с последующей декларацией).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000" dirty="0">
              <a:latin typeface="Times New Roman" pitchFamily="18" charset="0"/>
              <a:ea typeface="Times New Roman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450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05345" y="309429"/>
            <a:ext cx="8229600" cy="792088"/>
          </a:xfrm>
        </p:spPr>
        <p:txBody>
          <a:bodyPr/>
          <a:lstStyle/>
          <a:p>
            <a:r>
              <a:rPr lang="ru-RU" dirty="0"/>
              <a:t>Общие сведения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4525963"/>
          </a:xfrm>
        </p:spPr>
        <p:txBody>
          <a:bodyPr>
            <a:normAutofit fontScale="92500" lnSpcReduction="10000"/>
          </a:bodyPr>
          <a:lstStyle/>
          <a:p>
            <a:pPr marL="0" indent="457200" algn="just">
              <a:spcBef>
                <a:spcPts val="0"/>
              </a:spcBef>
              <a:buNone/>
            </a:pPr>
            <a:r>
              <a:rPr lang="ru-RU" sz="2400" dirty="0" smtClean="0"/>
              <a:t>Одна из основных </a:t>
            </a:r>
            <a:r>
              <a:rPr lang="ru-RU" sz="2400" b="1" dirty="0" smtClean="0"/>
              <a:t>функций государства </a:t>
            </a:r>
            <a:r>
              <a:rPr lang="ru-RU" sz="2400" b="1" dirty="0"/>
              <a:t>и общества </a:t>
            </a:r>
            <a:r>
              <a:rPr lang="ru-RU" sz="2400" dirty="0"/>
              <a:t>– обеспечение права граждан на приобретение товаров и услуг надлежащего качества и безопасных для жизни и здоровья потребителей. </a:t>
            </a:r>
            <a:endParaRPr lang="ru-RU" sz="2400" dirty="0" smtClean="0"/>
          </a:p>
          <a:p>
            <a:pPr marL="0" indent="457200" algn="just">
              <a:spcBef>
                <a:spcPts val="0"/>
              </a:spcBef>
              <a:buNone/>
            </a:pPr>
            <a:endParaRPr lang="ru-RU" sz="2400" dirty="0" smtClean="0"/>
          </a:p>
          <a:p>
            <a:pPr marL="0" indent="457200" algn="just">
              <a:spcBef>
                <a:spcPts val="0"/>
              </a:spcBef>
              <a:buNone/>
            </a:pPr>
            <a:r>
              <a:rPr lang="ru-RU" sz="2400" dirty="0" smtClean="0"/>
              <a:t>Метрология, стандартизация, </a:t>
            </a:r>
            <a:r>
              <a:rPr lang="ru-RU" sz="2400" dirty="0" smtClean="0">
                <a:solidFill>
                  <a:srgbClr val="FF0000"/>
                </a:solidFill>
              </a:rPr>
              <a:t>сертификация</a:t>
            </a:r>
            <a:r>
              <a:rPr lang="ru-RU" sz="2400" dirty="0" smtClean="0"/>
              <a:t> - инструменты </a:t>
            </a:r>
            <a:r>
              <a:rPr lang="ru-RU" sz="2400" dirty="0"/>
              <a:t>обеспечения безопасности и качества продукции, работ и </a:t>
            </a:r>
            <a:r>
              <a:rPr lang="ru-RU" sz="2400" dirty="0" smtClean="0"/>
              <a:t>услуг. </a:t>
            </a:r>
          </a:p>
          <a:p>
            <a:pPr marL="0" indent="457200" algn="just">
              <a:spcBef>
                <a:spcPts val="0"/>
              </a:spcBef>
              <a:buNone/>
            </a:pPr>
            <a:endParaRPr lang="ru-RU" sz="2400" dirty="0"/>
          </a:p>
          <a:p>
            <a:pPr marL="0" indent="457200" algn="just">
              <a:spcBef>
                <a:spcPts val="0"/>
              </a:spcBef>
              <a:buNone/>
            </a:pPr>
            <a:r>
              <a:rPr lang="ru-RU" sz="2400" dirty="0" smtClean="0"/>
              <a:t>Деятельность  </a:t>
            </a:r>
            <a:r>
              <a:rPr lang="ru-RU" sz="2400" dirty="0"/>
              <a:t>по стандартизации и сертификации в России осуществляются на основе принятого в 2003 </a:t>
            </a:r>
            <a:r>
              <a:rPr lang="ru-RU" sz="2400" dirty="0" smtClean="0"/>
              <a:t>году </a:t>
            </a:r>
            <a:r>
              <a:rPr lang="ru-RU" sz="2400" dirty="0" smtClean="0">
                <a:solidFill>
                  <a:srgbClr val="FF0000"/>
                </a:solidFill>
              </a:rPr>
              <a:t>ФЗ </a:t>
            </a:r>
            <a:r>
              <a:rPr lang="ru-RU" sz="2400" dirty="0">
                <a:solidFill>
                  <a:srgbClr val="FF0000"/>
                </a:solidFill>
              </a:rPr>
              <a:t>"О техническом регулировании"</a:t>
            </a:r>
            <a:r>
              <a:rPr lang="ru-RU" sz="2400" dirty="0"/>
              <a:t> (от 27 декабря 2002 г. № 184-ФЗ "О техническом регулировании" (с изменениями, внесенными Федеральными законами от 9 мая 2005 года N 45-ФЗ , от 1 мая 2007 года N 65-ФЗ , от 1 декабря 2007 года N 309-ФЗ, от 23 июля 2008 года N 160-ФЗ , от 18 июля 2009 года N 189-ФЗ, от 30 декабря 2009 г.).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51025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86380" y="150946"/>
            <a:ext cx="8229600" cy="634082"/>
          </a:xfrm>
        </p:spPr>
        <p:txBody>
          <a:bodyPr>
            <a:normAutofit fontScale="90000"/>
          </a:bodyPr>
          <a:lstStyle/>
          <a:p>
            <a:r>
              <a:rPr lang="ru-RU" dirty="0"/>
              <a:t>Общие сведения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39552" y="914400"/>
            <a:ext cx="8229600" cy="4376267"/>
          </a:xfrm>
        </p:spPr>
        <p:txBody>
          <a:bodyPr>
            <a:noAutofit/>
          </a:bodyPr>
          <a:lstStyle/>
          <a:p>
            <a:pPr marL="0" indent="457200" algn="just">
              <a:spcBef>
                <a:spcPts val="0"/>
              </a:spcBef>
              <a:buNone/>
            </a:pPr>
            <a:r>
              <a:rPr lang="ru-RU" sz="2000" b="1" dirty="0" smtClean="0">
                <a:solidFill>
                  <a:srgbClr val="FF0000"/>
                </a:solidFill>
              </a:rPr>
              <a:t>Качество</a:t>
            </a:r>
            <a:r>
              <a:rPr lang="ru-RU" sz="2000" dirty="0" smtClean="0"/>
              <a:t> – степень соответствия присущих </a:t>
            </a:r>
            <a:r>
              <a:rPr lang="ru-RU" sz="2000" dirty="0"/>
              <a:t>характеристик требованиям. </a:t>
            </a:r>
            <a:endParaRPr lang="ru-RU" sz="2000" dirty="0" smtClean="0"/>
          </a:p>
          <a:p>
            <a:pPr marL="0" indent="457200" algn="just">
              <a:spcBef>
                <a:spcPts val="0"/>
              </a:spcBef>
              <a:buNone/>
            </a:pPr>
            <a:r>
              <a:rPr lang="ru-RU" sz="2000" b="1" dirty="0" smtClean="0">
                <a:solidFill>
                  <a:srgbClr val="FF0000"/>
                </a:solidFill>
              </a:rPr>
              <a:t>Элементы </a:t>
            </a:r>
            <a:r>
              <a:rPr lang="ru-RU" sz="2000" b="1" dirty="0">
                <a:solidFill>
                  <a:srgbClr val="FF0000"/>
                </a:solidFill>
              </a:rPr>
              <a:t>качества: </a:t>
            </a:r>
            <a:endParaRPr lang="ru-RU" sz="2000" b="1" dirty="0" smtClean="0">
              <a:solidFill>
                <a:srgbClr val="FF0000"/>
              </a:solidFill>
            </a:endParaRPr>
          </a:p>
          <a:p>
            <a:pPr marL="0" indent="457200" algn="just">
              <a:spcBef>
                <a:spcPts val="0"/>
              </a:spcBef>
              <a:buNone/>
            </a:pPr>
            <a:r>
              <a:rPr lang="ru-RU" sz="2000" dirty="0" smtClean="0"/>
              <a:t>- объект </a:t>
            </a:r>
            <a:r>
              <a:rPr lang="ru-RU" sz="2000" dirty="0"/>
              <a:t>(продукция, процесс, организация или отдельное лицо, а также любая комбинация из них); </a:t>
            </a:r>
            <a:endParaRPr lang="ru-RU" sz="2000" dirty="0" smtClean="0"/>
          </a:p>
          <a:p>
            <a:pPr marL="0" indent="457200" algn="just">
              <a:spcBef>
                <a:spcPts val="0"/>
              </a:spcBef>
              <a:buNone/>
            </a:pPr>
            <a:r>
              <a:rPr lang="ru-RU" sz="2000" dirty="0" smtClean="0"/>
              <a:t>- характеристики </a:t>
            </a:r>
            <a:r>
              <a:rPr lang="ru-RU" sz="2000" dirty="0"/>
              <a:t>(качественные и количественные); </a:t>
            </a:r>
            <a:endParaRPr lang="ru-RU" sz="2000" dirty="0" smtClean="0"/>
          </a:p>
          <a:p>
            <a:pPr marL="0" indent="457200" algn="just">
              <a:spcBef>
                <a:spcPts val="0"/>
              </a:spcBef>
              <a:buNone/>
            </a:pPr>
            <a:r>
              <a:rPr lang="ru-RU" sz="2000" dirty="0" smtClean="0"/>
              <a:t>- требования </a:t>
            </a:r>
            <a:r>
              <a:rPr lang="ru-RU" sz="2000" dirty="0"/>
              <a:t>(потребности). </a:t>
            </a:r>
            <a:endParaRPr lang="ru-RU" sz="2000" dirty="0" smtClean="0"/>
          </a:p>
          <a:p>
            <a:pPr marL="0" indent="457200" algn="just">
              <a:spcBef>
                <a:spcPts val="0"/>
              </a:spcBef>
              <a:buNone/>
            </a:pPr>
            <a:endParaRPr lang="ru-RU" sz="2000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98715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86380" y="150946"/>
            <a:ext cx="8229600" cy="634082"/>
          </a:xfrm>
        </p:spPr>
        <p:txBody>
          <a:bodyPr>
            <a:normAutofit fontScale="90000"/>
          </a:bodyPr>
          <a:lstStyle/>
          <a:p>
            <a:r>
              <a:rPr lang="ru-RU" dirty="0"/>
              <a:t>Общие сведения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39552" y="764704"/>
            <a:ext cx="8229600" cy="4525963"/>
          </a:xfrm>
        </p:spPr>
        <p:txBody>
          <a:bodyPr>
            <a:noAutofit/>
          </a:bodyPr>
          <a:lstStyle/>
          <a:p>
            <a:pPr marL="0" indent="457200" algn="just">
              <a:spcBef>
                <a:spcPts val="0"/>
              </a:spcBef>
              <a:buNone/>
            </a:pPr>
            <a:endParaRPr lang="ru-RU" sz="2000" dirty="0" smtClean="0"/>
          </a:p>
          <a:p>
            <a:pPr marL="0" indent="457200" algn="just">
              <a:spcBef>
                <a:spcPts val="0"/>
              </a:spcBef>
              <a:buNone/>
            </a:pPr>
            <a:r>
              <a:rPr lang="ru-RU" sz="2000" dirty="0" smtClean="0"/>
              <a:t>"</a:t>
            </a:r>
            <a:r>
              <a:rPr lang="ru-RU" sz="2000" dirty="0"/>
              <a:t>Потребитель должен получить то, что хочет, когда он это хочет" Э. </a:t>
            </a:r>
            <a:r>
              <a:rPr lang="ru-RU" sz="2000" dirty="0" err="1"/>
              <a:t>Деминг</a:t>
            </a:r>
            <a:r>
              <a:rPr lang="ru-RU" sz="2000" dirty="0"/>
              <a:t>. </a:t>
            </a:r>
            <a:endParaRPr lang="ru-RU" sz="2000" dirty="0" smtClean="0"/>
          </a:p>
          <a:p>
            <a:pPr marL="0" indent="457200" algn="just">
              <a:spcBef>
                <a:spcPts val="0"/>
              </a:spcBef>
              <a:buNone/>
            </a:pPr>
            <a:r>
              <a:rPr lang="ru-RU" sz="2000" dirty="0" smtClean="0"/>
              <a:t>(</a:t>
            </a:r>
            <a:r>
              <a:rPr lang="ru-RU" sz="2000" dirty="0"/>
              <a:t>Э. </a:t>
            </a:r>
            <a:r>
              <a:rPr lang="ru-RU" sz="2000" dirty="0" err="1"/>
              <a:t>Деминг</a:t>
            </a:r>
            <a:r>
              <a:rPr lang="ru-RU" sz="2000" dirty="0"/>
              <a:t> - крупнейший ученый в области теории и методологии комплексного управления качеством) </a:t>
            </a:r>
            <a:endParaRPr lang="ru-RU" sz="2000" dirty="0" smtClean="0"/>
          </a:p>
          <a:p>
            <a:pPr marL="0" indent="457200" algn="just">
              <a:spcBef>
                <a:spcPts val="0"/>
              </a:spcBef>
              <a:buNone/>
            </a:pPr>
            <a:endParaRPr lang="en-US" sz="2000" b="1" dirty="0" smtClean="0"/>
          </a:p>
          <a:p>
            <a:pPr marL="0" indent="457200" algn="just">
              <a:spcBef>
                <a:spcPts val="0"/>
              </a:spcBef>
              <a:buNone/>
            </a:pPr>
            <a:r>
              <a:rPr lang="ru-RU" sz="2000" b="1" dirty="0" smtClean="0">
                <a:solidFill>
                  <a:srgbClr val="FF0000"/>
                </a:solidFill>
              </a:rPr>
              <a:t>Оценка </a:t>
            </a:r>
            <a:r>
              <a:rPr lang="ru-RU" sz="2000" b="1" dirty="0">
                <a:solidFill>
                  <a:srgbClr val="FF0000"/>
                </a:solidFill>
              </a:rPr>
              <a:t>качества </a:t>
            </a:r>
            <a:r>
              <a:rPr lang="ru-RU" sz="2000" dirty="0"/>
              <a:t>- это систематическая проверка того, насколько объект способен выполнить установленные требования. </a:t>
            </a:r>
            <a:endParaRPr lang="ru-RU" sz="2000" dirty="0" smtClean="0"/>
          </a:p>
          <a:p>
            <a:pPr marL="0" indent="457200" algn="just">
              <a:spcBef>
                <a:spcPts val="0"/>
              </a:spcBef>
              <a:buNone/>
            </a:pPr>
            <a:endParaRPr lang="en-US" sz="2000" dirty="0" smtClean="0"/>
          </a:p>
          <a:p>
            <a:pPr marL="0" indent="457200" algn="just">
              <a:spcBef>
                <a:spcPts val="0"/>
              </a:spcBef>
              <a:buNone/>
            </a:pPr>
            <a:r>
              <a:rPr lang="ru-RU" sz="2000" dirty="0" smtClean="0"/>
              <a:t>Основная </a:t>
            </a:r>
            <a:r>
              <a:rPr lang="ru-RU" sz="2000" dirty="0"/>
              <a:t>форма проверки </a:t>
            </a:r>
            <a:r>
              <a:rPr lang="ru-RU" sz="2000" b="1" dirty="0"/>
              <a:t>- </a:t>
            </a:r>
            <a:r>
              <a:rPr lang="ru-RU" sz="2000" b="1" dirty="0">
                <a:solidFill>
                  <a:srgbClr val="FF0000"/>
                </a:solidFill>
              </a:rPr>
              <a:t>контроль. </a:t>
            </a:r>
            <a:endParaRPr lang="ru-RU" sz="2000" b="1" dirty="0" smtClean="0">
              <a:solidFill>
                <a:srgbClr val="FF0000"/>
              </a:solidFill>
            </a:endParaRPr>
          </a:p>
          <a:p>
            <a:pPr marL="0" indent="457200" algn="just">
              <a:spcBef>
                <a:spcPts val="0"/>
              </a:spcBef>
              <a:buNone/>
            </a:pPr>
            <a:endParaRPr lang="ru-RU" sz="2000" dirty="0"/>
          </a:p>
          <a:p>
            <a:pPr marL="0" indent="457200" algn="just">
              <a:spcBef>
                <a:spcPts val="0"/>
              </a:spcBef>
              <a:buNone/>
            </a:pPr>
            <a:r>
              <a:rPr lang="ru-RU" sz="2000" dirty="0" smtClean="0"/>
              <a:t>Контроль </a:t>
            </a:r>
            <a:r>
              <a:rPr lang="ru-RU" sz="2000" dirty="0"/>
              <a:t>включает два элемента: </a:t>
            </a:r>
            <a:endParaRPr lang="ru-RU" sz="2000" dirty="0" smtClean="0"/>
          </a:p>
          <a:p>
            <a:pPr marL="0" indent="457200" algn="just">
              <a:spcBef>
                <a:spcPts val="0"/>
              </a:spcBef>
              <a:buNone/>
            </a:pPr>
            <a:r>
              <a:rPr lang="ru-RU" sz="2000" dirty="0" smtClean="0"/>
              <a:t>• </a:t>
            </a:r>
            <a:r>
              <a:rPr lang="ru-RU" sz="2000" dirty="0"/>
              <a:t>получение информации о фактическом состоянии объекта (для продукции - о ее качественных и количественных характеристиках) </a:t>
            </a:r>
            <a:r>
              <a:rPr lang="ru-RU" sz="2000" dirty="0" smtClean="0"/>
              <a:t> </a:t>
            </a:r>
          </a:p>
          <a:p>
            <a:pPr marL="0" indent="457200" algn="just">
              <a:spcBef>
                <a:spcPts val="0"/>
              </a:spcBef>
              <a:buNone/>
            </a:pPr>
            <a:r>
              <a:rPr lang="ru-RU" sz="2000" dirty="0" smtClean="0"/>
              <a:t>• </a:t>
            </a:r>
            <a:r>
              <a:rPr lang="ru-RU" sz="2000" dirty="0"/>
              <a:t>сопоставление полученной информации с установленными требованиями с целью определения соответствия, т.е. получение вторичной информации.</a:t>
            </a:r>
            <a:endParaRPr lang="ru-RU" sz="2000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41185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39552" y="1052623"/>
            <a:ext cx="8229600" cy="3950012"/>
          </a:xfrm>
        </p:spPr>
        <p:txBody>
          <a:bodyPr>
            <a:noAutofit/>
          </a:bodyPr>
          <a:lstStyle/>
          <a:p>
            <a:pPr marL="0" indent="457200" algn="just">
              <a:spcBef>
                <a:spcPts val="0"/>
              </a:spcBef>
              <a:buNone/>
            </a:pPr>
            <a:r>
              <a:rPr lang="ru-RU" sz="1800" dirty="0"/>
              <a:t> </a:t>
            </a:r>
            <a:r>
              <a:rPr lang="ru-RU" sz="1800" dirty="0" smtClean="0"/>
              <a:t>Система качества (СК) установленная </a:t>
            </a:r>
            <a:r>
              <a:rPr lang="ru-RU" sz="1800" dirty="0"/>
              <a:t>в международных стандартах – ИСО серии 9000. </a:t>
            </a:r>
            <a:endParaRPr lang="ru-RU" sz="1800" dirty="0" smtClean="0"/>
          </a:p>
          <a:p>
            <a:pPr marL="0" indent="457200" algn="just">
              <a:spcBef>
                <a:spcPts val="0"/>
              </a:spcBef>
              <a:buNone/>
            </a:pPr>
            <a:r>
              <a:rPr lang="ru-RU" sz="1800" dirty="0" smtClean="0"/>
              <a:t>Фундаментальное </a:t>
            </a:r>
            <a:r>
              <a:rPr lang="ru-RU" sz="1800" dirty="0"/>
              <a:t>понятие в учении о СК - </a:t>
            </a:r>
            <a:r>
              <a:rPr lang="ru-RU" sz="1800" b="1" dirty="0"/>
              <a:t>жизненный цикл продукции (ЖЦП). </a:t>
            </a:r>
            <a:endParaRPr lang="ru-RU" sz="1800" b="1" dirty="0" smtClean="0"/>
          </a:p>
          <a:p>
            <a:pPr marL="0" indent="457200" algn="just">
              <a:spcBef>
                <a:spcPts val="0"/>
              </a:spcBef>
              <a:buNone/>
            </a:pPr>
            <a:r>
              <a:rPr lang="ru-RU" sz="1800" b="1" dirty="0" smtClean="0"/>
              <a:t>ЖЦП</a:t>
            </a:r>
            <a:r>
              <a:rPr lang="ru-RU" sz="1800" dirty="0" smtClean="0"/>
              <a:t> </a:t>
            </a:r>
            <a:r>
              <a:rPr lang="ru-RU" sz="1800" dirty="0"/>
              <a:t>- совокупность взаимосвязанных процессов изменения состояния продукции при ее создании и использовании. </a:t>
            </a:r>
            <a:endParaRPr lang="ru-RU" sz="1800" dirty="0" smtClean="0"/>
          </a:p>
          <a:p>
            <a:pPr marL="0" indent="457200" algn="just">
              <a:spcBef>
                <a:spcPts val="0"/>
              </a:spcBef>
              <a:buNone/>
            </a:pPr>
            <a:r>
              <a:rPr lang="ru-RU" sz="1800" b="1" dirty="0" smtClean="0"/>
              <a:t>Этапы </a:t>
            </a:r>
            <a:r>
              <a:rPr lang="ru-RU" sz="1800" b="1" dirty="0"/>
              <a:t>ЖЦП: </a:t>
            </a:r>
            <a:endParaRPr lang="ru-RU" sz="1800" b="1" dirty="0" smtClean="0"/>
          </a:p>
          <a:p>
            <a:pPr marL="0" indent="457200" algn="just">
              <a:spcBef>
                <a:spcPts val="0"/>
              </a:spcBef>
              <a:buNone/>
            </a:pPr>
            <a:r>
              <a:rPr lang="ru-RU" sz="1800" dirty="0" smtClean="0"/>
              <a:t>• </a:t>
            </a:r>
            <a:r>
              <a:rPr lang="ru-RU" sz="1800" dirty="0"/>
              <a:t>этап маркетинговых исследований; </a:t>
            </a:r>
            <a:endParaRPr lang="ru-RU" sz="1800" dirty="0" smtClean="0"/>
          </a:p>
          <a:p>
            <a:pPr marL="0" indent="457200" algn="just">
              <a:spcBef>
                <a:spcPts val="0"/>
              </a:spcBef>
              <a:buNone/>
            </a:pPr>
            <a:r>
              <a:rPr lang="ru-RU" sz="1800" dirty="0" smtClean="0"/>
              <a:t>• </a:t>
            </a:r>
            <a:r>
              <a:rPr lang="ru-RU" sz="1800" dirty="0"/>
              <a:t>этап проектирования и разработки продукции; </a:t>
            </a:r>
            <a:endParaRPr lang="ru-RU" sz="1800" dirty="0" smtClean="0"/>
          </a:p>
          <a:p>
            <a:pPr marL="0" indent="457200" algn="just">
              <a:spcBef>
                <a:spcPts val="0"/>
              </a:spcBef>
              <a:buNone/>
            </a:pPr>
            <a:r>
              <a:rPr lang="ru-RU" sz="1800" dirty="0" smtClean="0"/>
              <a:t>• </a:t>
            </a:r>
            <a:r>
              <a:rPr lang="ru-RU" sz="1800" dirty="0"/>
              <a:t>процесс закупок; </a:t>
            </a:r>
            <a:endParaRPr lang="ru-RU" sz="1800" dirty="0" smtClean="0"/>
          </a:p>
          <a:p>
            <a:pPr marL="0" indent="457200" algn="just">
              <a:spcBef>
                <a:spcPts val="0"/>
              </a:spcBef>
              <a:buNone/>
            </a:pPr>
            <a:r>
              <a:rPr lang="ru-RU" sz="1800" dirty="0" smtClean="0"/>
              <a:t>• </a:t>
            </a:r>
            <a:r>
              <a:rPr lang="ru-RU" sz="1800" dirty="0"/>
              <a:t>процесс </a:t>
            </a:r>
            <a:r>
              <a:rPr lang="ru-RU" sz="1800" dirty="0" smtClean="0"/>
              <a:t>производства или </a:t>
            </a:r>
            <a:r>
              <a:rPr lang="ru-RU" sz="1800" dirty="0"/>
              <a:t>предоставления услуги; </a:t>
            </a:r>
            <a:endParaRPr lang="ru-RU" sz="1800" dirty="0" smtClean="0"/>
          </a:p>
          <a:p>
            <a:pPr marL="0" indent="457200" algn="just">
              <a:spcBef>
                <a:spcPts val="0"/>
              </a:spcBef>
              <a:buNone/>
            </a:pPr>
            <a:r>
              <a:rPr lang="ru-RU" sz="1800" dirty="0" smtClean="0"/>
              <a:t>• проверка продукции</a:t>
            </a:r>
            <a:r>
              <a:rPr lang="ru-RU" sz="1800" dirty="0"/>
              <a:t>; </a:t>
            </a:r>
            <a:endParaRPr lang="ru-RU" sz="1800" dirty="0" smtClean="0"/>
          </a:p>
          <a:p>
            <a:pPr marL="0" indent="457200" algn="just">
              <a:spcBef>
                <a:spcPts val="0"/>
              </a:spcBef>
              <a:buNone/>
            </a:pPr>
            <a:r>
              <a:rPr lang="ru-RU" sz="1800" dirty="0" smtClean="0"/>
              <a:t>• </a:t>
            </a:r>
            <a:r>
              <a:rPr lang="ru-RU" sz="1800" dirty="0"/>
              <a:t>упаковывание и хранение; </a:t>
            </a:r>
            <a:endParaRPr lang="ru-RU" sz="1800" dirty="0" smtClean="0"/>
          </a:p>
          <a:p>
            <a:pPr marL="0" indent="457200" algn="just">
              <a:spcBef>
                <a:spcPts val="0"/>
              </a:spcBef>
              <a:buNone/>
            </a:pPr>
            <a:r>
              <a:rPr lang="ru-RU" sz="1800" dirty="0" smtClean="0"/>
              <a:t>• </a:t>
            </a:r>
            <a:r>
              <a:rPr lang="ru-RU" sz="1800" dirty="0"/>
              <a:t>распределение и реализация; </a:t>
            </a:r>
            <a:endParaRPr lang="ru-RU" sz="1800" dirty="0" smtClean="0"/>
          </a:p>
          <a:p>
            <a:pPr marL="0" indent="457200" algn="just">
              <a:spcBef>
                <a:spcPts val="0"/>
              </a:spcBef>
              <a:buNone/>
            </a:pPr>
            <a:r>
              <a:rPr lang="ru-RU" sz="1800" dirty="0" smtClean="0"/>
              <a:t>• </a:t>
            </a:r>
            <a:r>
              <a:rPr lang="ru-RU" sz="1800" dirty="0"/>
              <a:t>этап эксплуатации; </a:t>
            </a:r>
            <a:endParaRPr lang="ru-RU" sz="1800" dirty="0" smtClean="0"/>
          </a:p>
          <a:p>
            <a:pPr marL="0" indent="457200" algn="just">
              <a:spcBef>
                <a:spcPts val="0"/>
              </a:spcBef>
              <a:buNone/>
            </a:pPr>
            <a:r>
              <a:rPr lang="ru-RU" sz="1800" dirty="0" smtClean="0"/>
              <a:t>• </a:t>
            </a:r>
            <a:r>
              <a:rPr lang="ru-RU" sz="1800" dirty="0"/>
              <a:t>стадии утилизации. </a:t>
            </a:r>
            <a:endParaRPr lang="ru-RU" sz="1800" dirty="0" smtClean="0"/>
          </a:p>
        </p:txBody>
      </p:sp>
      <p:sp>
        <p:nvSpPr>
          <p:cNvPr id="4" name="TextBox 3"/>
          <p:cNvSpPr txBox="1"/>
          <p:nvPr/>
        </p:nvSpPr>
        <p:spPr>
          <a:xfrm>
            <a:off x="6583252" y="2710196"/>
            <a:ext cx="2232248" cy="25545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sz="2000" dirty="0" smtClean="0"/>
              <a:t>   Система </a:t>
            </a:r>
          </a:p>
          <a:p>
            <a:endParaRPr lang="ru-RU" sz="2000" dirty="0" smtClean="0"/>
          </a:p>
          <a:p>
            <a:endParaRPr lang="ru-RU" sz="2000" dirty="0"/>
          </a:p>
          <a:p>
            <a:r>
              <a:rPr lang="ru-RU" sz="2000" dirty="0" smtClean="0"/>
              <a:t> государственного</a:t>
            </a:r>
          </a:p>
          <a:p>
            <a:endParaRPr lang="ru-RU" sz="2000" dirty="0" smtClean="0"/>
          </a:p>
          <a:p>
            <a:endParaRPr lang="ru-RU" sz="2000" dirty="0" smtClean="0"/>
          </a:p>
          <a:p>
            <a:r>
              <a:rPr lang="ru-RU" sz="2000" dirty="0" smtClean="0"/>
              <a:t>   контроля</a:t>
            </a:r>
          </a:p>
          <a:p>
            <a:endParaRPr lang="ru-RU" sz="2000" dirty="0"/>
          </a:p>
        </p:txBody>
      </p:sp>
      <p:sp>
        <p:nvSpPr>
          <p:cNvPr id="5" name="Правая фигурная скобка 4"/>
          <p:cNvSpPr/>
          <p:nvPr/>
        </p:nvSpPr>
        <p:spPr>
          <a:xfrm>
            <a:off x="6156176" y="2780928"/>
            <a:ext cx="288032" cy="237626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6588224" y="5526847"/>
            <a:ext cx="2232248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dirty="0"/>
              <a:t>ее основа: </a:t>
            </a:r>
            <a:endParaRPr lang="ru-RU" dirty="0" smtClean="0"/>
          </a:p>
          <a:p>
            <a:r>
              <a:rPr lang="ru-RU" dirty="0" smtClean="0"/>
              <a:t>мероприятия </a:t>
            </a:r>
            <a:r>
              <a:rPr lang="ru-RU" dirty="0"/>
              <a:t>по техническому </a:t>
            </a:r>
            <a:r>
              <a:rPr lang="ru-RU" dirty="0" smtClean="0"/>
              <a:t>регулированию</a:t>
            </a:r>
            <a:endParaRPr lang="ru-RU" dirty="0"/>
          </a:p>
        </p:txBody>
      </p:sp>
      <p:cxnSp>
        <p:nvCxnSpPr>
          <p:cNvPr id="8" name="Прямая со стрелкой 7"/>
          <p:cNvCxnSpPr/>
          <p:nvPr/>
        </p:nvCxnSpPr>
        <p:spPr>
          <a:xfrm>
            <a:off x="7537380" y="5238815"/>
            <a:ext cx="0" cy="28803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10</a:t>
            </a:fld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1203477" y="373149"/>
            <a:ext cx="371383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dirty="0"/>
              <a:t>Система качества </a:t>
            </a:r>
          </a:p>
        </p:txBody>
      </p:sp>
    </p:spTree>
    <p:extLst>
      <p:ext uri="{BB962C8B-B14F-4D97-AF65-F5344CB8AC3E}">
        <p14:creationId xmlns:p14="http://schemas.microsoft.com/office/powerpoint/2010/main" val="10593650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2008" y="1484784"/>
            <a:ext cx="8964488" cy="3949899"/>
          </a:xfrm>
        </p:spPr>
        <p:txBody>
          <a:bodyPr>
            <a:noAutofit/>
          </a:bodyPr>
          <a:lstStyle/>
          <a:p>
            <a:pPr marL="0" indent="457200" algn="ctr">
              <a:spcBef>
                <a:spcPts val="0"/>
              </a:spcBef>
              <a:buNone/>
            </a:pPr>
            <a:endParaRPr lang="ru-RU" dirty="0" smtClean="0"/>
          </a:p>
          <a:p>
            <a:pPr marL="0" indent="457200" algn="ctr">
              <a:spcBef>
                <a:spcPts val="0"/>
              </a:spcBef>
              <a:buNone/>
            </a:pPr>
            <a:r>
              <a:rPr lang="ru-RU" dirty="0" smtClean="0"/>
              <a:t>Система </a:t>
            </a:r>
          </a:p>
          <a:p>
            <a:pPr marL="0" indent="457200" algn="ctr">
              <a:spcBef>
                <a:spcPts val="0"/>
              </a:spcBef>
              <a:buNone/>
            </a:pPr>
            <a:r>
              <a:rPr lang="ru-RU" dirty="0" smtClean="0"/>
              <a:t>технического регулирования</a:t>
            </a:r>
            <a:endParaRPr lang="ru-RU" dirty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80583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6044" y="349839"/>
            <a:ext cx="8747956" cy="706090"/>
          </a:xfrm>
        </p:spPr>
        <p:txBody>
          <a:bodyPr>
            <a:normAutofit fontScale="90000"/>
          </a:bodyPr>
          <a:lstStyle/>
          <a:p>
            <a:pPr marL="0" indent="457200">
              <a:spcBef>
                <a:spcPts val="0"/>
              </a:spcBef>
            </a:pPr>
            <a:r>
              <a:rPr lang="ru-RU" dirty="0"/>
              <a:t>Система </a:t>
            </a:r>
            <a:r>
              <a:rPr lang="ru-RU" dirty="0" smtClean="0"/>
              <a:t>технического </a:t>
            </a:r>
            <a:r>
              <a:rPr lang="ru-RU" dirty="0"/>
              <a:t>регулирования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1124744"/>
            <a:ext cx="4680520" cy="4608511"/>
          </a:xfrm>
          <a:ln>
            <a:solidFill>
              <a:schemeClr val="tx1"/>
            </a:solidFill>
          </a:ln>
        </p:spPr>
        <p:txBody>
          <a:bodyPr>
            <a:normAutofit fontScale="55000" lnSpcReduction="20000"/>
          </a:bodyPr>
          <a:lstStyle/>
          <a:p>
            <a:pPr marL="0" indent="0" algn="just">
              <a:buNone/>
            </a:pPr>
            <a:r>
              <a:rPr lang="ru-RU" b="1" dirty="0" smtClean="0"/>
              <a:t>Техническое регулирование - </a:t>
            </a:r>
            <a:r>
              <a:rPr lang="ru-RU" dirty="0" smtClean="0"/>
              <a:t>правовое </a:t>
            </a:r>
            <a:r>
              <a:rPr lang="ru-RU" dirty="0"/>
              <a:t>регулирование отношений в </a:t>
            </a:r>
            <a:r>
              <a:rPr lang="ru-RU" dirty="0" smtClean="0"/>
              <a:t>области:</a:t>
            </a:r>
          </a:p>
          <a:p>
            <a:pPr marL="0" indent="0" algn="just">
              <a:buNone/>
            </a:pPr>
            <a:endParaRPr lang="ru-RU" dirty="0" smtClean="0"/>
          </a:p>
          <a:p>
            <a:pPr marL="0" indent="0" algn="just">
              <a:buNone/>
            </a:pPr>
            <a:r>
              <a:rPr lang="ru-RU" dirty="0" smtClean="0"/>
              <a:t>установления</a:t>
            </a:r>
            <a:r>
              <a:rPr lang="ru-RU" dirty="0"/>
              <a:t>, применения и исполнения обязательных требований к продукции или к связанным с ними процессам проектирования (включая изыскания), производства, строительства, монтажа, наладки, эксплуатации, хранения, перевозки, реализации и </a:t>
            </a:r>
            <a:r>
              <a:rPr lang="ru-RU" dirty="0" smtClean="0"/>
              <a:t>утилизации;</a:t>
            </a:r>
          </a:p>
          <a:p>
            <a:pPr marL="0" indent="0" algn="just">
              <a:buNone/>
            </a:pPr>
            <a:endParaRPr lang="ru-RU" dirty="0" smtClean="0"/>
          </a:p>
          <a:p>
            <a:pPr marL="0" indent="0" algn="just">
              <a:buNone/>
            </a:pPr>
            <a:endParaRPr lang="ru-RU" dirty="0" smtClean="0"/>
          </a:p>
          <a:p>
            <a:pPr marL="0" indent="0" algn="just">
              <a:buNone/>
            </a:pPr>
            <a:r>
              <a:rPr lang="ru-RU" dirty="0" smtClean="0"/>
              <a:t>установления </a:t>
            </a:r>
            <a:r>
              <a:rPr lang="ru-RU" dirty="0"/>
              <a:t>и применения на добровольной основе требований к продукции, процессам проектирования (включая изыскания), производства, строительства, монтажа, наладки, эксплуатации, хранения, перевозки, реализации и утилизации, выполнению работ или оказанию услуг ; </a:t>
            </a:r>
            <a:endParaRPr lang="ru-RU" dirty="0" smtClean="0"/>
          </a:p>
          <a:p>
            <a:pPr marL="0" indent="0" algn="just">
              <a:buNone/>
            </a:pPr>
            <a:endParaRPr lang="ru-RU" dirty="0" smtClean="0"/>
          </a:p>
          <a:p>
            <a:pPr marL="0" indent="0" algn="just">
              <a:buNone/>
            </a:pPr>
            <a:endParaRPr lang="ru-RU" dirty="0" smtClean="0"/>
          </a:p>
          <a:p>
            <a:pPr marL="0" indent="0" algn="just">
              <a:buNone/>
            </a:pPr>
            <a:r>
              <a:rPr lang="ru-RU" dirty="0" smtClean="0"/>
              <a:t>правовое </a:t>
            </a:r>
            <a:r>
              <a:rPr lang="ru-RU" dirty="0"/>
              <a:t>регулирование в области оценки </a:t>
            </a:r>
            <a:r>
              <a:rPr lang="ru-RU" dirty="0" smtClean="0"/>
              <a:t>соответствия.</a:t>
            </a: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5606929" y="2033264"/>
            <a:ext cx="3069525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sz="1400" dirty="0"/>
              <a:t>принятие и применение технических регламентов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6930" y="3641429"/>
            <a:ext cx="3069524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sz="1400" dirty="0"/>
              <a:t>стандартизация </a:t>
            </a:r>
          </a:p>
          <a:p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>
            <a:off x="5565122" y="4941817"/>
            <a:ext cx="3111333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sz="1400" dirty="0"/>
              <a:t>государственный контроль (надзор), аккредитации, подтверждения соответствия, испытания </a:t>
            </a:r>
          </a:p>
        </p:txBody>
      </p:sp>
      <p:sp>
        <p:nvSpPr>
          <p:cNvPr id="7" name="Стрелка вправо 6"/>
          <p:cNvSpPr/>
          <p:nvPr/>
        </p:nvSpPr>
        <p:spPr>
          <a:xfrm>
            <a:off x="5004048" y="2294874"/>
            <a:ext cx="504056" cy="457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Стрелка вправо 7"/>
          <p:cNvSpPr/>
          <p:nvPr/>
        </p:nvSpPr>
        <p:spPr>
          <a:xfrm>
            <a:off x="5004048" y="3842543"/>
            <a:ext cx="504056" cy="457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Стрелка вправо 8"/>
          <p:cNvSpPr/>
          <p:nvPr/>
        </p:nvSpPr>
        <p:spPr>
          <a:xfrm>
            <a:off x="5004048" y="5243577"/>
            <a:ext cx="504056" cy="457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Номер слайда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51168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47091" y="320958"/>
            <a:ext cx="7001486" cy="1008112"/>
          </a:xfrm>
        </p:spPr>
        <p:txBody>
          <a:bodyPr>
            <a:noAutofit/>
          </a:bodyPr>
          <a:lstStyle/>
          <a:p>
            <a:r>
              <a:rPr lang="ru-RU" sz="3600" dirty="0" smtClean="0"/>
              <a:t>Технические регламенты</a:t>
            </a:r>
            <a:endParaRPr lang="ru-RU" sz="36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67544" y="1329070"/>
            <a:ext cx="8424936" cy="4105613"/>
          </a:xfrm>
        </p:spPr>
        <p:txBody>
          <a:bodyPr>
            <a:noAutofit/>
          </a:bodyPr>
          <a:lstStyle/>
          <a:p>
            <a:pPr marL="0" indent="45720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2400" b="1" dirty="0" smtClean="0">
                <a:solidFill>
                  <a:srgbClr val="FF0000"/>
                </a:solidFill>
              </a:rPr>
              <a:t>Технический </a:t>
            </a:r>
            <a:r>
              <a:rPr lang="ru-RU" sz="2400" b="1" dirty="0">
                <a:solidFill>
                  <a:srgbClr val="FF0000"/>
                </a:solidFill>
              </a:rPr>
              <a:t>регламент </a:t>
            </a:r>
            <a:r>
              <a:rPr lang="ru-RU" sz="2400" dirty="0"/>
              <a:t>- документ, который устанавливает </a:t>
            </a:r>
            <a:r>
              <a:rPr lang="ru-RU" sz="2400" b="1" dirty="0"/>
              <a:t>обязательные для применения и исполнения требования</a:t>
            </a:r>
            <a:r>
              <a:rPr lang="ru-RU" sz="2400" dirty="0"/>
              <a:t> к объектам технического регулирования (продукции, в том числе зданиям, строениям и сооружениям или к связанным с требованиями к продукции процессам проектирования (включая изыскания), производства, строительства, монтажа, наладки, эксплуатации, хранения, перевозки, реализации и утилизации). </a:t>
            </a:r>
            <a:endParaRPr lang="ru-RU" sz="2400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35999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47091" y="320958"/>
            <a:ext cx="7001486" cy="1008112"/>
          </a:xfrm>
        </p:spPr>
        <p:txBody>
          <a:bodyPr>
            <a:noAutofit/>
          </a:bodyPr>
          <a:lstStyle/>
          <a:p>
            <a:r>
              <a:rPr lang="ru-RU" sz="3600" dirty="0" smtClean="0"/>
              <a:t>Технические регламенты</a:t>
            </a:r>
            <a:endParaRPr lang="ru-RU" sz="36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67544" y="1329070"/>
            <a:ext cx="8424936" cy="4105613"/>
          </a:xfrm>
        </p:spPr>
        <p:txBody>
          <a:bodyPr>
            <a:noAutofit/>
          </a:bodyPr>
          <a:lstStyle/>
          <a:p>
            <a:pPr marL="0" indent="45720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2000" b="1" dirty="0" smtClean="0">
                <a:solidFill>
                  <a:srgbClr val="FF0000"/>
                </a:solidFill>
              </a:rPr>
              <a:t>Цели </a:t>
            </a:r>
            <a:r>
              <a:rPr lang="ru-RU" sz="2000" b="1" dirty="0">
                <a:solidFill>
                  <a:srgbClr val="FF0000"/>
                </a:solidFill>
              </a:rPr>
              <a:t>принятия технических регламентов: </a:t>
            </a:r>
            <a:endParaRPr lang="ru-RU" sz="2000" b="1" dirty="0" smtClean="0">
              <a:solidFill>
                <a:srgbClr val="FF0000"/>
              </a:solidFill>
            </a:endParaRPr>
          </a:p>
          <a:p>
            <a:pPr marL="0" indent="45720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2000" dirty="0" smtClean="0"/>
              <a:t>- защита </a:t>
            </a:r>
            <a:r>
              <a:rPr lang="ru-RU" sz="2000" dirty="0"/>
              <a:t>жизни или здоровья граждан, имущества физических или юридических лиц, государственного или муниципального имущества; </a:t>
            </a:r>
            <a:endParaRPr lang="ru-RU" sz="2000" dirty="0" smtClean="0"/>
          </a:p>
          <a:p>
            <a:pPr marL="0" indent="45720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2000" dirty="0" smtClean="0"/>
              <a:t>- охраны </a:t>
            </a:r>
            <a:r>
              <a:rPr lang="ru-RU" sz="2000" dirty="0"/>
              <a:t>окружающей среды, жизни или здоровья животных и растений; </a:t>
            </a:r>
            <a:endParaRPr lang="ru-RU" sz="2000" dirty="0" smtClean="0"/>
          </a:p>
          <a:p>
            <a:pPr marL="0" indent="45720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2000" dirty="0" smtClean="0"/>
              <a:t>- предупреждения </a:t>
            </a:r>
            <a:r>
              <a:rPr lang="ru-RU" sz="2000" dirty="0"/>
              <a:t>действий, вводящих в заблуждение приобретателей; </a:t>
            </a:r>
            <a:endParaRPr lang="ru-RU" sz="2000" dirty="0" smtClean="0"/>
          </a:p>
          <a:p>
            <a:pPr marL="0" indent="45720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2000" dirty="0" smtClean="0"/>
              <a:t>- обеспечения </a:t>
            </a:r>
            <a:r>
              <a:rPr lang="ru-RU" sz="2000" dirty="0"/>
              <a:t>энергетической эффективности. </a:t>
            </a:r>
            <a:endParaRPr lang="ru-RU" sz="2000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84898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47091" y="369779"/>
            <a:ext cx="7476836" cy="1008112"/>
          </a:xfrm>
        </p:spPr>
        <p:txBody>
          <a:bodyPr>
            <a:noAutofit/>
          </a:bodyPr>
          <a:lstStyle/>
          <a:p>
            <a:r>
              <a:rPr lang="ru-RU" sz="3600" dirty="0" smtClean="0"/>
              <a:t>Технические регламенты, </a:t>
            </a:r>
            <a:br>
              <a:rPr lang="ru-RU" sz="3600" dirty="0" smtClean="0"/>
            </a:br>
            <a:r>
              <a:rPr lang="ru-RU" sz="3600" dirty="0" smtClean="0"/>
              <a:t>цели, принятия</a:t>
            </a:r>
            <a:r>
              <a:rPr lang="ru-RU" sz="3600" dirty="0"/>
              <a:t>, содержание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67544" y="1607127"/>
            <a:ext cx="8424936" cy="3827556"/>
          </a:xfrm>
        </p:spPr>
        <p:txBody>
          <a:bodyPr>
            <a:noAutofit/>
          </a:bodyPr>
          <a:lstStyle/>
          <a:p>
            <a:pPr marL="0" indent="45720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2000" b="1" dirty="0" smtClean="0">
                <a:solidFill>
                  <a:srgbClr val="FF0000"/>
                </a:solidFill>
              </a:rPr>
              <a:t>Содержание </a:t>
            </a:r>
            <a:r>
              <a:rPr lang="ru-RU" sz="2000" b="1" dirty="0">
                <a:solidFill>
                  <a:srgbClr val="FF0000"/>
                </a:solidFill>
              </a:rPr>
              <a:t>технических регламентов включает: </a:t>
            </a:r>
            <a:endParaRPr lang="ru-RU" sz="2000" b="1" dirty="0" smtClean="0">
              <a:solidFill>
                <a:srgbClr val="FF0000"/>
              </a:solidFill>
            </a:endParaRPr>
          </a:p>
          <a:p>
            <a:pPr marL="0" indent="45720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2000" dirty="0" smtClean="0"/>
              <a:t>- </a:t>
            </a:r>
            <a:r>
              <a:rPr lang="ru-RU" sz="2000" dirty="0"/>
              <a:t>перечень и (или) описание объектов технического регулирования, </a:t>
            </a:r>
            <a:r>
              <a:rPr lang="ru-RU" sz="2000" dirty="0" smtClean="0"/>
              <a:t>требования </a:t>
            </a:r>
            <a:r>
              <a:rPr lang="ru-RU" sz="2000" dirty="0"/>
              <a:t>к этим объектам и правила их идентификации в целях применения технического регламента; </a:t>
            </a:r>
            <a:endParaRPr lang="ru-RU" sz="2000" dirty="0" smtClean="0"/>
          </a:p>
          <a:p>
            <a:pPr marL="0" indent="45720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2000" dirty="0" smtClean="0"/>
              <a:t>- </a:t>
            </a:r>
            <a:r>
              <a:rPr lang="ru-RU" sz="2000" dirty="0"/>
              <a:t>правила и формы оценки соответствия; </a:t>
            </a:r>
            <a:endParaRPr lang="ru-RU" sz="2000" dirty="0" smtClean="0"/>
          </a:p>
          <a:p>
            <a:pPr marL="0" indent="45720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2000" dirty="0" smtClean="0"/>
              <a:t>- </a:t>
            </a:r>
            <a:r>
              <a:rPr lang="ru-RU" sz="2000" dirty="0"/>
              <a:t>и (или) требования к терминологии, упаковке, маркировке или этикеткам и правилам их нанесения; </a:t>
            </a:r>
            <a:endParaRPr lang="ru-RU" sz="2000" dirty="0" smtClean="0"/>
          </a:p>
          <a:p>
            <a:pPr marL="0" indent="45720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2000" dirty="0" smtClean="0"/>
              <a:t>- </a:t>
            </a:r>
            <a:r>
              <a:rPr lang="ru-RU" sz="2000" dirty="0"/>
              <a:t>требования энергетической эффективности. </a:t>
            </a:r>
            <a:endParaRPr lang="ru-RU" sz="2000" dirty="0" smtClean="0"/>
          </a:p>
          <a:p>
            <a:pPr marL="0" indent="457200" algn="just">
              <a:lnSpc>
                <a:spcPct val="120000"/>
              </a:lnSpc>
              <a:spcBef>
                <a:spcPts val="0"/>
              </a:spcBef>
              <a:buNone/>
            </a:pPr>
            <a:endParaRPr lang="ru-RU" sz="20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08253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73018" y="361665"/>
            <a:ext cx="7609475" cy="490066"/>
          </a:xfrm>
        </p:spPr>
        <p:txBody>
          <a:bodyPr>
            <a:normAutofit/>
          </a:bodyPr>
          <a:lstStyle/>
          <a:p>
            <a:pPr marL="0" indent="457200">
              <a:spcBef>
                <a:spcPts val="0"/>
              </a:spcBef>
            </a:pPr>
            <a:r>
              <a:rPr lang="ru-RU" sz="2800" dirty="0" smtClean="0">
                <a:latin typeface="+mn-lt"/>
                <a:ea typeface="+mn-ea"/>
                <a:cs typeface="+mn-cs"/>
              </a:rPr>
              <a:t>Принятые технические регламенты</a:t>
            </a:r>
            <a:endParaRPr lang="ru-RU" sz="2800" dirty="0">
              <a:latin typeface="+mn-lt"/>
              <a:ea typeface="+mn-ea"/>
              <a:cs typeface="+mn-cs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29309" y="803250"/>
            <a:ext cx="8913091" cy="5860010"/>
          </a:xfrm>
        </p:spPr>
        <p:txBody>
          <a:bodyPr>
            <a:noAutofit/>
          </a:bodyPr>
          <a:lstStyle/>
          <a:p>
            <a:pPr marL="0" indent="457200" algn="just">
              <a:spcBef>
                <a:spcPts val="0"/>
              </a:spcBef>
              <a:buNone/>
            </a:pPr>
            <a:r>
              <a:rPr lang="ru-RU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ru-RU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Технический регламент "О безопасности высокоскоростного железнодорожного транспорта" </a:t>
            </a:r>
            <a:endParaRPr lang="ru-RU" sz="15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457200" algn="just">
              <a:spcBef>
                <a:spcPts val="0"/>
              </a:spcBef>
              <a:buNone/>
            </a:pPr>
            <a:r>
              <a:rPr lang="ru-RU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ru-RU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Технический регламент "О безопасности инфраструктуры железнодорожного транспорта" </a:t>
            </a:r>
            <a:endParaRPr lang="ru-RU" sz="15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457200" algn="just">
              <a:spcBef>
                <a:spcPts val="0"/>
              </a:spcBef>
              <a:buNone/>
            </a:pPr>
            <a:r>
              <a:rPr lang="ru-RU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ru-RU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Технический регламент "О безопасности железнодорожного подвижного состава" </a:t>
            </a:r>
            <a:endParaRPr lang="ru-RU" sz="15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457200" algn="just">
              <a:spcBef>
                <a:spcPts val="0"/>
              </a:spcBef>
              <a:buNone/>
            </a:pPr>
            <a:r>
              <a:rPr lang="ru-RU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ru-RU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Технический регламент "О безопасности оборудования для работы во взрывоопасных средах" </a:t>
            </a:r>
            <a:endParaRPr lang="ru-RU" sz="15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457200" algn="just">
              <a:spcBef>
                <a:spcPts val="0"/>
              </a:spcBef>
              <a:buNone/>
            </a:pPr>
            <a:r>
              <a:rPr lang="ru-RU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ru-RU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Технический регламент "О безопасности аппаратов, работающих на газообразном топливе" </a:t>
            </a:r>
            <a:endParaRPr lang="ru-RU" sz="15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457200" algn="just">
              <a:spcBef>
                <a:spcPts val="0"/>
              </a:spcBef>
              <a:buNone/>
            </a:pPr>
            <a:r>
              <a:rPr lang="ru-RU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ru-RU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Технический регламент "О требованиях безопасности крови, ее продуктов, кровезамещающих растворов и технических средств, используемых в </a:t>
            </a:r>
            <a:r>
              <a:rPr lang="ru-RU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трансфузионно-инфузионной</a:t>
            </a:r>
            <a:r>
              <a:rPr lang="ru-RU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терапии" </a:t>
            </a:r>
            <a:endParaRPr lang="ru-RU" sz="15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457200" algn="just">
              <a:spcBef>
                <a:spcPts val="0"/>
              </a:spcBef>
              <a:buNone/>
            </a:pPr>
            <a:r>
              <a:rPr lang="ru-RU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ru-RU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Технический регламент "О безопасности зданий и сооружений" </a:t>
            </a:r>
            <a:endParaRPr lang="ru-RU" sz="15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457200" algn="just">
              <a:spcBef>
                <a:spcPts val="0"/>
              </a:spcBef>
              <a:buNone/>
            </a:pPr>
            <a:r>
              <a:rPr lang="ru-RU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ru-RU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Технический регламент "О безопасности низковольтного оборудования" </a:t>
            </a:r>
            <a:endParaRPr lang="ru-RU" sz="15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457200" algn="just">
              <a:spcBef>
                <a:spcPts val="0"/>
              </a:spcBef>
              <a:buNone/>
            </a:pPr>
            <a:r>
              <a:rPr lang="ru-RU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ru-RU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Технический регламент "О безопасности средств индивидуальной защиты" </a:t>
            </a:r>
            <a:endParaRPr lang="ru-RU" sz="15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457200" algn="just">
              <a:spcBef>
                <a:spcPts val="0"/>
              </a:spcBef>
              <a:buNone/>
            </a:pPr>
            <a:r>
              <a:rPr lang="ru-RU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ru-RU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Технический регламент "О безопасности пиротехнических составов и содержащих их изделий" </a:t>
            </a:r>
            <a:endParaRPr lang="ru-RU" sz="15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457200" algn="just">
              <a:spcBef>
                <a:spcPts val="0"/>
              </a:spcBef>
              <a:buNone/>
            </a:pPr>
            <a:r>
              <a:rPr lang="ru-RU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ru-RU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Технический регламент "О безопасности лифтов" </a:t>
            </a:r>
            <a:endParaRPr lang="ru-RU" sz="15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457200" algn="just">
              <a:spcBef>
                <a:spcPts val="0"/>
              </a:spcBef>
              <a:buNone/>
            </a:pPr>
            <a:r>
              <a:rPr lang="ru-RU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ru-RU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Технический регламент "О безопасности машин и оборудования" </a:t>
            </a:r>
            <a:endParaRPr lang="ru-RU" sz="15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457200" algn="just">
              <a:spcBef>
                <a:spcPts val="0"/>
              </a:spcBef>
              <a:buNone/>
            </a:pPr>
            <a:r>
              <a:rPr lang="ru-RU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ru-RU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Технический регламент "О безопасности колесных транспортных средств" </a:t>
            </a:r>
            <a:endParaRPr lang="ru-RU" sz="15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457200" algn="just">
              <a:spcBef>
                <a:spcPts val="0"/>
              </a:spcBef>
              <a:buNone/>
            </a:pPr>
            <a:r>
              <a:rPr lang="ru-RU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ru-RU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"Технический регламент о безопасности продукции, предназначенной для детей и подростков" </a:t>
            </a:r>
            <a:endParaRPr lang="ru-RU" sz="15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457200" algn="just">
              <a:spcBef>
                <a:spcPts val="0"/>
              </a:spcBef>
              <a:buNone/>
            </a:pPr>
            <a:r>
              <a:rPr lang="ru-RU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ru-RU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"Технический регламент на табачную продукцию" </a:t>
            </a:r>
            <a:endParaRPr lang="ru-RU" sz="15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457200" algn="just">
              <a:spcBef>
                <a:spcPts val="0"/>
              </a:spcBef>
              <a:buNone/>
            </a:pPr>
            <a:r>
              <a:rPr lang="ru-RU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ru-RU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"Технический регламент на соковую продукцию из фруктов и овощей" </a:t>
            </a:r>
            <a:endParaRPr lang="ru-RU" sz="15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457200" algn="just">
              <a:spcBef>
                <a:spcPts val="0"/>
              </a:spcBef>
              <a:buNone/>
            </a:pPr>
            <a:r>
              <a:rPr lang="ru-RU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ru-RU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"Технический регламент о требованиях пожарной безопасности" </a:t>
            </a:r>
            <a:endParaRPr lang="ru-RU" sz="15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457200" algn="just">
              <a:spcBef>
                <a:spcPts val="0"/>
              </a:spcBef>
              <a:buNone/>
            </a:pPr>
            <a:r>
              <a:rPr lang="ru-RU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ru-RU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"Технический регламент на масложировую продукцию" </a:t>
            </a:r>
            <a:endParaRPr lang="ru-RU" sz="15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457200" algn="just">
              <a:spcBef>
                <a:spcPts val="0"/>
              </a:spcBef>
              <a:buNone/>
            </a:pPr>
            <a:r>
              <a:rPr lang="ru-RU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ru-RU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"Технический регламент на молоко и молочную продукцию" </a:t>
            </a:r>
            <a:endParaRPr lang="ru-RU" sz="15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457200" algn="just">
              <a:spcBef>
                <a:spcPts val="0"/>
              </a:spcBef>
              <a:buNone/>
            </a:pPr>
            <a:r>
              <a:rPr lang="ru-RU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ru-RU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Технический регламент "О требованиях к автомобильному и авиационному бензину, дизельному и судовому топливу, топливу для реактивных двигателей и топочному мазуту" </a:t>
            </a:r>
            <a:endParaRPr lang="ru-RU" sz="15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457200" algn="just">
              <a:spcBef>
                <a:spcPts val="0"/>
              </a:spcBef>
              <a:buNone/>
            </a:pPr>
            <a:r>
              <a:rPr lang="ru-RU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ru-RU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Технический регламент "О требованиях к выбросам автомобильной техникой, выпускаемой в обращение на территории Российской Федерации, вредных (загрязняющих) веществ" (базы данных заключений на шасси зарубежных автомобилей и другие информационные материалы) </a:t>
            </a:r>
            <a:endParaRPr lang="ru-RU" sz="15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457200" algn="just">
              <a:spcBef>
                <a:spcPts val="0"/>
              </a:spcBef>
              <a:buNone/>
            </a:pPr>
            <a:endParaRPr lang="ru-RU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457200" algn="just">
              <a:spcBef>
                <a:spcPts val="0"/>
              </a:spcBef>
              <a:buNone/>
            </a:pPr>
            <a:r>
              <a:rPr lang="ru-RU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Содержание </a:t>
            </a:r>
            <a:r>
              <a:rPr lang="ru-RU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регламентов </a:t>
            </a:r>
            <a:r>
              <a:rPr lang="ru-RU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на </a:t>
            </a:r>
            <a:r>
              <a:rPr lang="ru-RU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официальном сайте </a:t>
            </a:r>
            <a:r>
              <a:rPr lang="ru-RU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Ростехрегулирования</a:t>
            </a:r>
            <a:r>
              <a:rPr lang="ru-RU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www.gost.ru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98128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31637" y="230306"/>
            <a:ext cx="9036496" cy="750422"/>
          </a:xfrm>
        </p:spPr>
        <p:txBody>
          <a:bodyPr>
            <a:normAutofit fontScale="90000"/>
          </a:bodyPr>
          <a:lstStyle/>
          <a:p>
            <a:r>
              <a:rPr lang="ru-RU" dirty="0"/>
              <a:t>Структура и содержание 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технических </a:t>
            </a:r>
            <a:r>
              <a:rPr lang="ru-RU" dirty="0"/>
              <a:t>регламентов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32992" y="1667807"/>
            <a:ext cx="8489080" cy="4525963"/>
          </a:xfrm>
        </p:spPr>
        <p:txBody>
          <a:bodyPr>
            <a:noAutofit/>
          </a:bodyPr>
          <a:lstStyle/>
          <a:p>
            <a:pPr marL="0" indent="457200" algn="just">
              <a:spcBef>
                <a:spcPts val="0"/>
              </a:spcBef>
              <a:buNone/>
            </a:pPr>
            <a:r>
              <a:rPr lang="ru-RU" sz="1800" dirty="0" smtClean="0"/>
              <a:t>Технический </a:t>
            </a:r>
            <a:r>
              <a:rPr lang="ru-RU" sz="1800" dirty="0"/>
              <a:t>регламент содержит следующий типовой состав разделов: </a:t>
            </a:r>
          </a:p>
          <a:p>
            <a:pPr marL="0" indent="457200" algn="just">
              <a:spcBef>
                <a:spcPts val="0"/>
              </a:spcBef>
              <a:buNone/>
            </a:pPr>
            <a:endParaRPr lang="ru-RU" sz="1800" dirty="0" smtClean="0"/>
          </a:p>
          <a:p>
            <a:pPr marL="0" indent="457200" algn="just">
              <a:spcBef>
                <a:spcPts val="0"/>
              </a:spcBef>
              <a:buNone/>
            </a:pPr>
            <a:r>
              <a:rPr lang="ru-RU" sz="1800" dirty="0" smtClean="0"/>
              <a:t>- </a:t>
            </a:r>
            <a:r>
              <a:rPr lang="ru-RU" sz="1800" dirty="0"/>
              <a:t>область применения технического регламента и объекты технического регулирования; </a:t>
            </a:r>
            <a:endParaRPr lang="ru-RU" sz="1800" dirty="0" smtClean="0"/>
          </a:p>
          <a:p>
            <a:pPr marL="0" indent="457200" algn="just">
              <a:spcBef>
                <a:spcPts val="0"/>
              </a:spcBef>
              <a:buNone/>
            </a:pPr>
            <a:r>
              <a:rPr lang="ru-RU" sz="1800" dirty="0" smtClean="0"/>
              <a:t>- </a:t>
            </a:r>
            <a:r>
              <a:rPr lang="ru-RU" sz="1800" dirty="0"/>
              <a:t>основные понятия; </a:t>
            </a:r>
            <a:endParaRPr lang="ru-RU" sz="1800" dirty="0" smtClean="0"/>
          </a:p>
          <a:p>
            <a:pPr marL="0" indent="457200" algn="just">
              <a:spcBef>
                <a:spcPts val="0"/>
              </a:spcBef>
              <a:buNone/>
            </a:pPr>
            <a:r>
              <a:rPr lang="ru-RU" sz="1800" dirty="0" smtClean="0"/>
              <a:t>- </a:t>
            </a:r>
            <a:r>
              <a:rPr lang="ru-RU" sz="1800" dirty="0"/>
              <a:t>общие положения, касающиеся размещения продукции на рынке Российской Федерации; </a:t>
            </a:r>
            <a:endParaRPr lang="ru-RU" sz="1800" dirty="0" smtClean="0"/>
          </a:p>
          <a:p>
            <a:pPr marL="0" indent="457200" algn="just">
              <a:spcBef>
                <a:spcPts val="0"/>
              </a:spcBef>
              <a:buNone/>
            </a:pPr>
            <a:r>
              <a:rPr lang="ru-RU" sz="1800" dirty="0" smtClean="0"/>
              <a:t>- </a:t>
            </a:r>
            <a:r>
              <a:rPr lang="ru-RU" sz="1800" dirty="0"/>
              <a:t>требования к продукции; </a:t>
            </a:r>
            <a:endParaRPr lang="ru-RU" sz="1800" dirty="0" smtClean="0"/>
          </a:p>
          <a:p>
            <a:pPr marL="0" indent="457200" algn="just">
              <a:spcBef>
                <a:spcPts val="0"/>
              </a:spcBef>
              <a:buNone/>
            </a:pPr>
            <a:r>
              <a:rPr lang="ru-RU" sz="1800" dirty="0" smtClean="0"/>
              <a:t>- </a:t>
            </a:r>
            <a:r>
              <a:rPr lang="ru-RU" sz="1800" dirty="0"/>
              <a:t>применение стандартов (презумпция соответствия); </a:t>
            </a:r>
            <a:endParaRPr lang="ru-RU" sz="1800" dirty="0" smtClean="0"/>
          </a:p>
          <a:p>
            <a:pPr marL="0" indent="457200" algn="just">
              <a:spcBef>
                <a:spcPts val="0"/>
              </a:spcBef>
              <a:buNone/>
            </a:pPr>
            <a:r>
              <a:rPr lang="ru-RU" sz="1800" dirty="0" smtClean="0"/>
              <a:t>- </a:t>
            </a:r>
            <a:r>
              <a:rPr lang="ru-RU" sz="1800" dirty="0"/>
              <a:t>подтверждение соответствия; </a:t>
            </a:r>
            <a:endParaRPr lang="ru-RU" sz="1800" dirty="0" smtClean="0"/>
          </a:p>
          <a:p>
            <a:pPr marL="0" indent="457200" algn="just">
              <a:spcBef>
                <a:spcPts val="0"/>
              </a:spcBef>
              <a:buNone/>
            </a:pPr>
            <a:r>
              <a:rPr lang="ru-RU" sz="1800" dirty="0" smtClean="0"/>
              <a:t>- </a:t>
            </a:r>
            <a:r>
              <a:rPr lang="ru-RU" sz="1800" dirty="0"/>
              <a:t>государственный контроль (надзор); </a:t>
            </a:r>
            <a:endParaRPr lang="ru-RU" sz="1800" dirty="0" smtClean="0"/>
          </a:p>
          <a:p>
            <a:pPr marL="0" indent="457200" algn="just">
              <a:spcBef>
                <a:spcPts val="0"/>
              </a:spcBef>
              <a:buNone/>
            </a:pPr>
            <a:r>
              <a:rPr lang="ru-RU" sz="1800" dirty="0" smtClean="0"/>
              <a:t>- </a:t>
            </a:r>
            <a:r>
              <a:rPr lang="ru-RU" sz="1800" dirty="0"/>
              <a:t>заключительные и переходные положения; </a:t>
            </a:r>
            <a:endParaRPr lang="ru-RU" sz="1800" dirty="0" smtClean="0"/>
          </a:p>
          <a:p>
            <a:pPr marL="0" indent="457200" algn="just">
              <a:spcBef>
                <a:spcPts val="0"/>
              </a:spcBef>
              <a:buNone/>
            </a:pPr>
            <a:r>
              <a:rPr lang="ru-RU" sz="1800" dirty="0" smtClean="0"/>
              <a:t>- </a:t>
            </a:r>
            <a:r>
              <a:rPr lang="ru-RU" sz="1800" dirty="0"/>
              <a:t>приложения.</a:t>
            </a:r>
            <a:endParaRPr lang="ru-RU" sz="1800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54728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16000" y="254096"/>
            <a:ext cx="8042940" cy="592832"/>
          </a:xfrm>
        </p:spPr>
        <p:txBody>
          <a:bodyPr>
            <a:noAutofit/>
          </a:bodyPr>
          <a:lstStyle/>
          <a:p>
            <a:r>
              <a:rPr lang="ru-RU" sz="3000" dirty="0" smtClean="0"/>
              <a:t>Государственный контроль и надзор за соблюдением </a:t>
            </a:r>
            <a:r>
              <a:rPr lang="ru-RU" sz="3000" dirty="0"/>
              <a:t>требований технических регламентов (</a:t>
            </a:r>
            <a:r>
              <a:rPr lang="ru-RU" sz="3000" dirty="0" err="1"/>
              <a:t>ГКиН</a:t>
            </a:r>
            <a:r>
              <a:rPr lang="ru-RU" sz="3000" dirty="0"/>
              <a:t>)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67544" y="1765004"/>
            <a:ext cx="8496944" cy="5048371"/>
          </a:xfrm>
        </p:spPr>
        <p:txBody>
          <a:bodyPr>
            <a:noAutofit/>
          </a:bodyPr>
          <a:lstStyle/>
          <a:p>
            <a:pPr marL="0" indent="457200" algn="just">
              <a:spcBef>
                <a:spcPts val="0"/>
              </a:spcBef>
              <a:buNone/>
            </a:pPr>
            <a:r>
              <a:rPr lang="ru-RU" sz="2400" b="1" dirty="0" err="1" smtClean="0"/>
              <a:t>ГКиН</a:t>
            </a:r>
            <a:r>
              <a:rPr lang="ru-RU" sz="2400" b="1" dirty="0" smtClean="0"/>
              <a:t> осуществляется: </a:t>
            </a:r>
          </a:p>
          <a:p>
            <a:pPr marL="0" indent="457200" algn="just">
              <a:spcBef>
                <a:spcPts val="0"/>
              </a:spcBef>
              <a:buNone/>
            </a:pPr>
            <a:r>
              <a:rPr lang="ru-RU" sz="2400" dirty="0" smtClean="0"/>
              <a:t>- в </a:t>
            </a:r>
            <a:r>
              <a:rPr lang="ru-RU" sz="2400" dirty="0"/>
              <a:t>отношении продукции или связанных с требованиями к ней процессов проектирования (включая изыскания), производства, строительства, монтажа, наладки, эксплуатации, хранения, перевозки, реализации и утилизации исключительно в части соблюдения требований соответствующих технических </a:t>
            </a:r>
            <a:r>
              <a:rPr lang="ru-RU" sz="2400" dirty="0" smtClean="0"/>
              <a:t>регламентов</a:t>
            </a:r>
            <a:r>
              <a:rPr lang="ru-RU" sz="2400" dirty="0"/>
              <a:t>;</a:t>
            </a:r>
            <a:endParaRPr lang="ru-RU" sz="2400" dirty="0" smtClean="0"/>
          </a:p>
          <a:p>
            <a:pPr marL="0" indent="457200" algn="just">
              <a:spcBef>
                <a:spcPts val="0"/>
              </a:spcBef>
              <a:buNone/>
            </a:pPr>
            <a:r>
              <a:rPr lang="ru-RU" sz="2400" dirty="0" smtClean="0"/>
              <a:t>- исключительно </a:t>
            </a:r>
            <a:r>
              <a:rPr lang="ru-RU" sz="2400" dirty="0"/>
              <a:t>на стадии обращения </a:t>
            </a:r>
            <a:r>
              <a:rPr lang="ru-RU" sz="2400" dirty="0" smtClean="0"/>
              <a:t>продукции; </a:t>
            </a:r>
          </a:p>
          <a:p>
            <a:pPr marL="0" indent="457200" algn="just">
              <a:spcBef>
                <a:spcPts val="0"/>
              </a:spcBef>
              <a:buNone/>
            </a:pPr>
            <a:r>
              <a:rPr lang="ru-RU" sz="2400" dirty="0" smtClean="0"/>
              <a:t>- при </a:t>
            </a:r>
            <a:r>
              <a:rPr lang="ru-RU" sz="2400" dirty="0"/>
              <a:t>осуществлении мероприятий </a:t>
            </a:r>
            <a:r>
              <a:rPr lang="ru-RU" sz="2400" dirty="0" err="1"/>
              <a:t>ГКиН</a:t>
            </a:r>
            <a:r>
              <a:rPr lang="ru-RU" sz="2400" dirty="0"/>
              <a:t> используются правила и методы исследований (испытаний) и измерений, установленные для соответствующих технических регламентов. </a:t>
            </a:r>
            <a:endParaRPr lang="ru-RU" sz="2400" dirty="0" smtClean="0"/>
          </a:p>
          <a:p>
            <a:pPr marL="0" indent="457200" algn="just">
              <a:spcBef>
                <a:spcPts val="0"/>
              </a:spcBef>
              <a:buNone/>
            </a:pPr>
            <a:r>
              <a:rPr lang="ru-RU" sz="2400" b="1" dirty="0" smtClean="0"/>
              <a:t> </a:t>
            </a:r>
            <a:endParaRPr lang="ru-RU" sz="24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58709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16000" y="254096"/>
            <a:ext cx="8044873" cy="592832"/>
          </a:xfrm>
        </p:spPr>
        <p:txBody>
          <a:bodyPr>
            <a:noAutofit/>
          </a:bodyPr>
          <a:lstStyle/>
          <a:p>
            <a:r>
              <a:rPr lang="ru-RU" sz="3000" dirty="0" smtClean="0"/>
              <a:t>Государственный контроль и надзор за соблюдением </a:t>
            </a:r>
            <a:r>
              <a:rPr lang="ru-RU" sz="3000" dirty="0"/>
              <a:t>требований технических регламентов (</a:t>
            </a:r>
            <a:r>
              <a:rPr lang="ru-RU" sz="3000" dirty="0" err="1"/>
              <a:t>ГКиН</a:t>
            </a:r>
            <a:r>
              <a:rPr lang="ru-RU" sz="3000" dirty="0"/>
              <a:t>)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67544" y="1690255"/>
            <a:ext cx="8496944" cy="5123121"/>
          </a:xfrm>
        </p:spPr>
        <p:txBody>
          <a:bodyPr>
            <a:noAutofit/>
          </a:bodyPr>
          <a:lstStyle/>
          <a:p>
            <a:pPr marL="0" indent="457200" algn="just">
              <a:spcBef>
                <a:spcPts val="0"/>
              </a:spcBef>
              <a:buNone/>
            </a:pPr>
            <a:r>
              <a:rPr lang="ru-RU" sz="1800" b="1" dirty="0" smtClean="0"/>
              <a:t>Органы </a:t>
            </a:r>
            <a:r>
              <a:rPr lang="ru-RU" sz="1800" b="1" dirty="0" err="1"/>
              <a:t>ГКиН</a:t>
            </a:r>
            <a:r>
              <a:rPr lang="ru-RU" sz="1800" b="1" dirty="0"/>
              <a:t> вправе: </a:t>
            </a:r>
            <a:endParaRPr lang="ru-RU" sz="1800" b="1" dirty="0" smtClean="0"/>
          </a:p>
          <a:p>
            <a:pPr marL="0" indent="457200" algn="just">
              <a:spcBef>
                <a:spcPts val="0"/>
              </a:spcBef>
              <a:buNone/>
            </a:pPr>
            <a:r>
              <a:rPr lang="ru-RU" sz="1800" dirty="0" smtClean="0"/>
              <a:t>- требовать </a:t>
            </a:r>
            <a:r>
              <a:rPr lang="ru-RU" sz="1800" dirty="0"/>
              <a:t>от изготовителя (продавца) предъявления документов, подтверждающих соответствие ТР (декларации о соответствии или сертификата о соответствии); </a:t>
            </a:r>
            <a:endParaRPr lang="ru-RU" sz="1800" dirty="0" smtClean="0"/>
          </a:p>
          <a:p>
            <a:pPr marL="0" indent="457200" algn="just">
              <a:spcBef>
                <a:spcPts val="0"/>
              </a:spcBef>
              <a:buNone/>
            </a:pPr>
            <a:r>
              <a:rPr lang="ru-RU" sz="1800" dirty="0" smtClean="0"/>
              <a:t>- выдавать </a:t>
            </a:r>
            <a:r>
              <a:rPr lang="ru-RU" sz="1800" dirty="0"/>
              <a:t>предписания об устранении нарушений ТР в установленный срок; </a:t>
            </a:r>
            <a:endParaRPr lang="ru-RU" sz="1800" dirty="0" smtClean="0"/>
          </a:p>
          <a:p>
            <a:pPr marL="0" indent="457200" algn="just">
              <a:spcBef>
                <a:spcPts val="0"/>
              </a:spcBef>
              <a:buNone/>
            </a:pPr>
            <a:r>
              <a:rPr lang="ru-RU" sz="1800" dirty="0" smtClean="0"/>
              <a:t>- принимать </a:t>
            </a:r>
            <a:r>
              <a:rPr lang="ru-RU" sz="1800" dirty="0"/>
              <a:t>решения о запрете передачи продукции, а также о полном или частичном приостановлении процессов ЖЦП, если иными мерами невозможно устранить нарушения ТР; </a:t>
            </a:r>
            <a:endParaRPr lang="ru-RU" sz="1800" dirty="0" smtClean="0"/>
          </a:p>
          <a:p>
            <a:pPr marL="0" indent="457200" algn="just">
              <a:spcBef>
                <a:spcPts val="0"/>
              </a:spcBef>
              <a:buNone/>
            </a:pPr>
            <a:r>
              <a:rPr lang="ru-RU" sz="1800" dirty="0" smtClean="0"/>
              <a:t>- приостановить </a:t>
            </a:r>
            <a:r>
              <a:rPr lang="ru-RU" sz="1800" dirty="0"/>
              <a:t>или прекратить действие декларации о соответствии или сертификата о соответствии; </a:t>
            </a:r>
          </a:p>
          <a:p>
            <a:pPr marL="0" indent="457200" algn="just">
              <a:spcBef>
                <a:spcPts val="0"/>
              </a:spcBef>
              <a:buNone/>
            </a:pPr>
            <a:r>
              <a:rPr lang="ru-RU" sz="1800" dirty="0" smtClean="0"/>
              <a:t>- привлекать </a:t>
            </a:r>
            <a:r>
              <a:rPr lang="ru-RU" sz="1800" dirty="0"/>
              <a:t>изготовителя (продавца) к ответственности, предусмотренной законодательством РФ. </a:t>
            </a:r>
            <a:endParaRPr lang="ru-RU" sz="1800" dirty="0" smtClean="0"/>
          </a:p>
          <a:p>
            <a:pPr marL="0" indent="457200" algn="just">
              <a:spcBef>
                <a:spcPts val="0"/>
              </a:spcBef>
              <a:buNone/>
            </a:pPr>
            <a:r>
              <a:rPr lang="ru-RU" sz="1800" dirty="0" smtClean="0"/>
              <a:t>За </a:t>
            </a:r>
            <a:r>
              <a:rPr lang="ru-RU" sz="1800" dirty="0"/>
              <a:t>нарушение требований ТР изготовитель (исполнитель, продавец) несет ответственность в соответствии с законодательством РФ. </a:t>
            </a:r>
            <a:endParaRPr lang="ru-RU" sz="1800" dirty="0" smtClean="0"/>
          </a:p>
          <a:p>
            <a:pPr marL="0" indent="457200" algn="just">
              <a:spcBef>
                <a:spcPts val="0"/>
              </a:spcBef>
              <a:buNone/>
            </a:pPr>
            <a:r>
              <a:rPr lang="ru-RU" sz="1800" dirty="0" smtClean="0"/>
              <a:t>* </a:t>
            </a:r>
            <a:r>
              <a:rPr lang="ru-RU" sz="1800" dirty="0"/>
              <a:t>Другой целью </a:t>
            </a:r>
            <a:r>
              <a:rPr lang="ru-RU" sz="1800" dirty="0" err="1"/>
              <a:t>ГКиН</a:t>
            </a:r>
            <a:r>
              <a:rPr lang="ru-RU" sz="1800" dirty="0"/>
              <a:t> является выявление фальсифицированной продукции, товаров с неправильной маркировкой с целью "предупреждения действий, вводящих в заблуждение приобретателей" (п. 1 гл. 10 ФЗ "О техническом регулировании"). На достижение этой цели ФЗ устанавливает специальную систему информирования о появлении на рынке продукции, не соответствующей требованиям ТР (гл. 7 ФЗ).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83894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9512" y="1196752"/>
            <a:ext cx="8784976" cy="4525963"/>
          </a:xfrm>
        </p:spPr>
        <p:txBody>
          <a:bodyPr>
            <a:noAutofit/>
          </a:bodyPr>
          <a:lstStyle/>
          <a:p>
            <a:pPr marL="0" indent="457200" algn="ctr">
              <a:spcBef>
                <a:spcPts val="0"/>
              </a:spcBef>
              <a:buNone/>
            </a:pPr>
            <a:endParaRPr lang="ru-RU" sz="4000" dirty="0" smtClean="0"/>
          </a:p>
          <a:p>
            <a:pPr marL="0" indent="457200" algn="ctr">
              <a:spcBef>
                <a:spcPts val="0"/>
              </a:spcBef>
              <a:buNone/>
            </a:pPr>
            <a:endParaRPr lang="ru-RU" sz="4000" dirty="0"/>
          </a:p>
          <a:p>
            <a:pPr marL="0" indent="457200" algn="ctr">
              <a:spcBef>
                <a:spcPts val="0"/>
              </a:spcBef>
              <a:buNone/>
            </a:pPr>
            <a:r>
              <a:rPr lang="ru-RU" sz="4000" dirty="0" smtClean="0"/>
              <a:t>Стандартизация</a:t>
            </a:r>
            <a:endParaRPr lang="ru-RU" sz="4000" dirty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63495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51035" y="281037"/>
            <a:ext cx="8435280" cy="562074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Стандартизация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95536" y="843111"/>
            <a:ext cx="8424936" cy="5826248"/>
          </a:xfrm>
        </p:spPr>
        <p:txBody>
          <a:bodyPr>
            <a:noAutofit/>
          </a:bodyPr>
          <a:lstStyle/>
          <a:p>
            <a:pPr marL="0" indent="457200" algn="just">
              <a:spcBef>
                <a:spcPts val="0"/>
              </a:spcBef>
              <a:buNone/>
            </a:pPr>
            <a:endParaRPr lang="ru-RU" b="1" dirty="0" smtClean="0"/>
          </a:p>
          <a:p>
            <a:pPr marL="0" indent="457200" algn="just">
              <a:spcBef>
                <a:spcPts val="0"/>
              </a:spcBef>
              <a:buNone/>
            </a:pPr>
            <a:r>
              <a:rPr lang="ru-RU" b="1" dirty="0" smtClean="0">
                <a:solidFill>
                  <a:srgbClr val="FF0000"/>
                </a:solidFill>
              </a:rPr>
              <a:t>Стандартизация</a:t>
            </a:r>
            <a:r>
              <a:rPr lang="ru-RU" dirty="0" smtClean="0"/>
              <a:t> </a:t>
            </a:r>
            <a:r>
              <a:rPr lang="ru-RU" dirty="0"/>
              <a:t>- деятельность по установлению правил и характеристик в целях добровольного многократного использования, направленная на достижение упорядоченности в сферах производства и обращения продукции и повышения конкурентоспособности продукции, работ и услуг.</a:t>
            </a:r>
            <a:endParaRPr lang="ru-RU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382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84780" y="155104"/>
            <a:ext cx="8435280" cy="562074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Принципы стандартизации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22</a:t>
            </a:fld>
            <a:endParaRPr lang="ru-RU"/>
          </a:p>
        </p:txBody>
      </p:sp>
      <p:graphicFrame>
        <p:nvGraphicFramePr>
          <p:cNvPr id="5" name="Схема 4"/>
          <p:cNvGraphicFramePr/>
          <p:nvPr>
            <p:extLst>
              <p:ext uri="{D42A27DB-BD31-4B8C-83A1-F6EECF244321}">
                <p14:modId xmlns:p14="http://schemas.microsoft.com/office/powerpoint/2010/main" val="2126977518"/>
              </p:ext>
            </p:extLst>
          </p:nvPr>
        </p:nvGraphicFramePr>
        <p:xfrm>
          <a:off x="233916" y="1127051"/>
          <a:ext cx="8708065" cy="54757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391678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ая выноска 8"/>
          <p:cNvSpPr/>
          <p:nvPr/>
        </p:nvSpPr>
        <p:spPr>
          <a:xfrm>
            <a:off x="323528" y="5263116"/>
            <a:ext cx="8496944" cy="1041991"/>
          </a:xfrm>
          <a:prstGeom prst="wedgeRectCallou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ая выноска 7"/>
          <p:cNvSpPr/>
          <p:nvPr/>
        </p:nvSpPr>
        <p:spPr>
          <a:xfrm>
            <a:off x="323528" y="4742121"/>
            <a:ext cx="8496944" cy="361507"/>
          </a:xfrm>
          <a:prstGeom prst="wedgeRectCallou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ая выноска 6"/>
          <p:cNvSpPr/>
          <p:nvPr/>
        </p:nvSpPr>
        <p:spPr>
          <a:xfrm>
            <a:off x="323528" y="2488019"/>
            <a:ext cx="8496944" cy="2020186"/>
          </a:xfrm>
          <a:prstGeom prst="wedgeRectCallout">
            <a:avLst>
              <a:gd name="adj1" fmla="val -19965"/>
              <a:gd name="adj2" fmla="val 54079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ая выноска 4"/>
          <p:cNvSpPr/>
          <p:nvPr/>
        </p:nvSpPr>
        <p:spPr>
          <a:xfrm>
            <a:off x="323528" y="1005386"/>
            <a:ext cx="8496944" cy="1248716"/>
          </a:xfrm>
          <a:prstGeom prst="wedgeRectCallout">
            <a:avLst>
              <a:gd name="adj1" fmla="val -20708"/>
              <a:gd name="adj2" fmla="val 55688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15689" y="193964"/>
            <a:ext cx="8435280" cy="562074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Цели стандартизации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005386"/>
            <a:ext cx="8496944" cy="5475312"/>
          </a:xfrm>
        </p:spPr>
        <p:txBody>
          <a:bodyPr>
            <a:noAutofit/>
          </a:bodyPr>
          <a:lstStyle/>
          <a:p>
            <a:pPr marL="0" indent="457200" algn="just">
              <a:spcBef>
                <a:spcPts val="0"/>
              </a:spcBef>
              <a:buNone/>
            </a:pPr>
            <a:r>
              <a:rPr lang="ru-RU" sz="1800" dirty="0" smtClean="0"/>
              <a:t>- повышение </a:t>
            </a:r>
            <a:r>
              <a:rPr lang="ru-RU" sz="1800" dirty="0"/>
              <a:t>уровня безопасности жизни и здоровья граждан, имущества физических и юридических лиц, государственного и муниципального имущества, объектов с учетом риска возникновения чрезвычайных ситуаций природного и техногенного характера, повышение уровня экологической безопасности, безопасности жизни и здоровья животных и растений; </a:t>
            </a:r>
            <a:endParaRPr lang="ru-RU" sz="1800" dirty="0" smtClean="0"/>
          </a:p>
          <a:p>
            <a:pPr marL="0" indent="457200" algn="just">
              <a:spcBef>
                <a:spcPts val="0"/>
              </a:spcBef>
              <a:buNone/>
            </a:pPr>
            <a:endParaRPr lang="ru-RU" sz="1800" dirty="0" smtClean="0"/>
          </a:p>
          <a:p>
            <a:pPr marL="0" indent="457200" algn="just">
              <a:spcBef>
                <a:spcPts val="0"/>
              </a:spcBef>
              <a:buNone/>
            </a:pPr>
            <a:r>
              <a:rPr lang="ru-RU" sz="1800" dirty="0" smtClean="0"/>
              <a:t>- обеспечение </a:t>
            </a:r>
            <a:r>
              <a:rPr lang="ru-RU" sz="1800" dirty="0"/>
              <a:t>конкурентоспособности и качества продукции (работ, услуг), единства измерений, рационального использования ресурсов, взаимозаменяемости технических средств (машин и оборудования, их составных частей, комплектующих изделий и материалов), технической и информационной совместимости, сопоставимости результатов исследований (испытаний) и измерений, технических и экономико-статистических данных, проведения анализа характеристик продукции (работ, услуг), исполнения государственных заказов, добровольного подтверждения соответствия продукции (работ, услуг); </a:t>
            </a:r>
            <a:endParaRPr lang="ru-RU" sz="1800" dirty="0" smtClean="0"/>
          </a:p>
          <a:p>
            <a:pPr marL="0" indent="457200" algn="just">
              <a:spcBef>
                <a:spcPts val="0"/>
              </a:spcBef>
              <a:buNone/>
            </a:pPr>
            <a:endParaRPr lang="ru-RU" sz="1800" dirty="0" smtClean="0"/>
          </a:p>
          <a:p>
            <a:pPr marL="0" indent="457200" algn="just">
              <a:spcBef>
                <a:spcPts val="0"/>
              </a:spcBef>
              <a:buNone/>
            </a:pPr>
            <a:r>
              <a:rPr lang="ru-RU" sz="1800" dirty="0" smtClean="0"/>
              <a:t>- содействие </a:t>
            </a:r>
            <a:r>
              <a:rPr lang="ru-RU" sz="1800" dirty="0"/>
              <a:t>соблюдению требований технических регламентов; </a:t>
            </a:r>
            <a:endParaRPr lang="ru-RU" sz="1800" dirty="0" smtClean="0"/>
          </a:p>
          <a:p>
            <a:pPr marL="0" indent="457200" algn="just">
              <a:spcBef>
                <a:spcPts val="0"/>
              </a:spcBef>
              <a:buNone/>
            </a:pPr>
            <a:endParaRPr lang="ru-RU" sz="1800" dirty="0" smtClean="0"/>
          </a:p>
          <a:p>
            <a:pPr marL="0" indent="457200" algn="just">
              <a:spcBef>
                <a:spcPts val="0"/>
              </a:spcBef>
              <a:buNone/>
            </a:pPr>
            <a:r>
              <a:rPr lang="ru-RU" sz="1800" dirty="0" smtClean="0"/>
              <a:t>- </a:t>
            </a:r>
            <a:r>
              <a:rPr lang="ru-RU" sz="1800" dirty="0"/>
              <a:t>создание систем классификации и кодирования технико-экономической и социальной информации, систем каталогизации продукции (работ, услуг), систем обеспечения качества продукции (работ, услуг), систем поиска и передачи данных, содействие проведению работ по унификации. </a:t>
            </a:r>
            <a:endParaRPr lang="ru-RU" sz="1800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84874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85273" y="262103"/>
            <a:ext cx="7027369" cy="792088"/>
          </a:xfrm>
        </p:spPr>
        <p:txBody>
          <a:bodyPr>
            <a:normAutofit/>
          </a:bodyPr>
          <a:lstStyle/>
          <a:p>
            <a:r>
              <a:rPr lang="ru-RU" dirty="0"/>
              <a:t>Метод стандартизации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354372"/>
            <a:ext cx="8579296" cy="4525963"/>
          </a:xfrm>
        </p:spPr>
        <p:txBody>
          <a:bodyPr>
            <a:noAutofit/>
          </a:bodyPr>
          <a:lstStyle/>
          <a:p>
            <a:pPr marL="0" indent="0" algn="just">
              <a:spcBef>
                <a:spcPts val="0"/>
              </a:spcBef>
              <a:buNone/>
            </a:pPr>
            <a:r>
              <a:rPr lang="ru-RU" sz="2400" b="1" dirty="0"/>
              <a:t>Метод стандартизации </a:t>
            </a:r>
            <a:r>
              <a:rPr lang="ru-RU" sz="2400" dirty="0"/>
              <a:t>- это прием или совокупность приемов, с помощью которых достигаются цели стандартизации. </a:t>
            </a:r>
            <a:endParaRPr lang="ru-RU" sz="2400" dirty="0" smtClean="0"/>
          </a:p>
          <a:p>
            <a:pPr marL="0" indent="0" algn="just">
              <a:spcBef>
                <a:spcPts val="0"/>
              </a:spcBef>
              <a:buNone/>
            </a:pPr>
            <a:endParaRPr lang="ru-RU" sz="2400" dirty="0"/>
          </a:p>
          <a:p>
            <a:pPr marL="0" indent="0" algn="just">
              <a:spcBef>
                <a:spcPts val="0"/>
              </a:spcBef>
              <a:buNone/>
            </a:pPr>
            <a:r>
              <a:rPr lang="ru-RU" sz="2400" dirty="0" smtClean="0"/>
              <a:t>Широко </a:t>
            </a:r>
            <a:r>
              <a:rPr lang="ru-RU" sz="2400" dirty="0"/>
              <a:t>применяемые в работах по стандартизации </a:t>
            </a:r>
            <a:r>
              <a:rPr lang="ru-RU" sz="2400" b="1" dirty="0"/>
              <a:t>методы</a:t>
            </a:r>
            <a:r>
              <a:rPr lang="ru-RU" sz="2400" dirty="0"/>
              <a:t>: </a:t>
            </a:r>
            <a:endParaRPr lang="ru-RU" sz="2400" dirty="0" smtClean="0"/>
          </a:p>
          <a:p>
            <a:pPr marL="0" indent="0" algn="just">
              <a:spcBef>
                <a:spcPts val="0"/>
              </a:spcBef>
              <a:buNone/>
            </a:pPr>
            <a:endParaRPr lang="ru-RU" sz="2400" dirty="0" smtClean="0"/>
          </a:p>
          <a:p>
            <a:pPr marL="0" indent="0" algn="just">
              <a:spcBef>
                <a:spcPts val="0"/>
              </a:spcBef>
              <a:buNone/>
            </a:pPr>
            <a:r>
              <a:rPr lang="ru-RU" sz="2400" dirty="0" smtClean="0"/>
              <a:t>- упорядочение </a:t>
            </a:r>
            <a:r>
              <a:rPr lang="ru-RU" sz="2400" dirty="0"/>
              <a:t>объектов стандартизации; </a:t>
            </a:r>
            <a:endParaRPr lang="ru-RU" sz="2400" dirty="0" smtClean="0"/>
          </a:p>
          <a:p>
            <a:pPr marL="0" indent="0" algn="just">
              <a:spcBef>
                <a:spcPts val="0"/>
              </a:spcBef>
              <a:buNone/>
            </a:pPr>
            <a:endParaRPr lang="ru-RU" sz="2400" dirty="0" smtClean="0"/>
          </a:p>
          <a:p>
            <a:pPr marL="0" indent="0" algn="just">
              <a:spcBef>
                <a:spcPts val="0"/>
              </a:spcBef>
              <a:buNone/>
            </a:pPr>
            <a:r>
              <a:rPr lang="ru-RU" sz="2400" dirty="0" smtClean="0"/>
              <a:t>- параметрическая </a:t>
            </a:r>
            <a:r>
              <a:rPr lang="ru-RU" sz="2400" dirty="0"/>
              <a:t>стандартизация; </a:t>
            </a:r>
            <a:endParaRPr lang="ru-RU" sz="2400" dirty="0" smtClean="0"/>
          </a:p>
          <a:p>
            <a:pPr marL="0" indent="0" algn="just">
              <a:spcBef>
                <a:spcPts val="0"/>
              </a:spcBef>
              <a:buNone/>
            </a:pPr>
            <a:endParaRPr lang="ru-RU" sz="2400" dirty="0" smtClean="0"/>
          </a:p>
          <a:p>
            <a:pPr marL="0" indent="0" algn="just">
              <a:spcBef>
                <a:spcPts val="0"/>
              </a:spcBef>
              <a:buNone/>
            </a:pPr>
            <a:r>
              <a:rPr lang="ru-RU" sz="2400" dirty="0" smtClean="0"/>
              <a:t>- унификация </a:t>
            </a:r>
            <a:r>
              <a:rPr lang="ru-RU" sz="2400" dirty="0"/>
              <a:t>продукции; </a:t>
            </a:r>
            <a:endParaRPr lang="ru-RU" sz="2400" dirty="0" smtClean="0"/>
          </a:p>
          <a:p>
            <a:pPr marL="0" indent="0" algn="just">
              <a:spcBef>
                <a:spcPts val="0"/>
              </a:spcBef>
              <a:buNone/>
            </a:pPr>
            <a:endParaRPr lang="ru-RU" sz="2400" dirty="0" smtClean="0"/>
          </a:p>
          <a:p>
            <a:pPr marL="0" indent="0" algn="just">
              <a:spcBef>
                <a:spcPts val="0"/>
              </a:spcBef>
              <a:buNone/>
            </a:pPr>
            <a:r>
              <a:rPr lang="ru-RU" sz="2400" dirty="0" smtClean="0"/>
              <a:t>- </a:t>
            </a:r>
            <a:r>
              <a:rPr lang="ru-RU" sz="2400" dirty="0" err="1" smtClean="0"/>
              <a:t>агрегатирование</a:t>
            </a:r>
            <a:r>
              <a:rPr lang="ru-RU" sz="2400" dirty="0"/>
              <a:t>; </a:t>
            </a:r>
            <a:endParaRPr lang="ru-RU" sz="2400" dirty="0" smtClean="0"/>
          </a:p>
          <a:p>
            <a:pPr marL="0" indent="0" algn="just">
              <a:spcBef>
                <a:spcPts val="0"/>
              </a:spcBef>
              <a:buNone/>
            </a:pPr>
            <a:endParaRPr lang="ru-RU" sz="2400" dirty="0" smtClean="0"/>
          </a:p>
          <a:p>
            <a:pPr marL="0" indent="0" algn="just">
              <a:spcBef>
                <a:spcPts val="0"/>
              </a:spcBef>
              <a:buNone/>
            </a:pPr>
            <a:r>
              <a:rPr lang="ru-RU" sz="2400" dirty="0" smtClean="0"/>
              <a:t>- комплексная </a:t>
            </a:r>
            <a:r>
              <a:rPr lang="ru-RU" sz="2400" dirty="0"/>
              <a:t>стандартизация; </a:t>
            </a:r>
            <a:endParaRPr lang="ru-RU" sz="2400" dirty="0" smtClean="0"/>
          </a:p>
          <a:p>
            <a:pPr marL="0" indent="0" algn="just">
              <a:spcBef>
                <a:spcPts val="0"/>
              </a:spcBef>
              <a:buNone/>
            </a:pPr>
            <a:endParaRPr lang="ru-RU" sz="2400" dirty="0" smtClean="0"/>
          </a:p>
          <a:p>
            <a:pPr marL="0" indent="0" algn="just">
              <a:spcBef>
                <a:spcPts val="0"/>
              </a:spcBef>
              <a:buNone/>
            </a:pPr>
            <a:r>
              <a:rPr lang="ru-RU" sz="2400" dirty="0" smtClean="0"/>
              <a:t>- </a:t>
            </a:r>
            <a:r>
              <a:rPr lang="ru-RU" sz="2400" dirty="0"/>
              <a:t>опережающая стандартизация.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17092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83673" y="203783"/>
            <a:ext cx="8229600" cy="648072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Упорядочение объектов стандартизации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19" y="1403295"/>
            <a:ext cx="8754257" cy="4525963"/>
          </a:xfrm>
        </p:spPr>
        <p:txBody>
          <a:bodyPr>
            <a:noAutofit/>
          </a:bodyPr>
          <a:lstStyle/>
          <a:p>
            <a:pPr marL="0" indent="457200" algn="just">
              <a:spcBef>
                <a:spcPts val="0"/>
              </a:spcBef>
              <a:buNone/>
            </a:pPr>
            <a:r>
              <a:rPr lang="ru-RU" sz="1800" dirty="0" smtClean="0"/>
              <a:t> Упорядочение </a:t>
            </a:r>
            <a:r>
              <a:rPr lang="ru-RU" sz="1800" dirty="0"/>
              <a:t>как управление многообразием связано прежде всего с сокращением многообразия. </a:t>
            </a:r>
            <a:endParaRPr lang="ru-RU" sz="1800" dirty="0" smtClean="0"/>
          </a:p>
          <a:p>
            <a:pPr marL="0" indent="457200" algn="just">
              <a:spcBef>
                <a:spcPts val="0"/>
              </a:spcBef>
              <a:buNone/>
            </a:pPr>
            <a:r>
              <a:rPr lang="ru-RU" sz="1800" dirty="0" smtClean="0">
                <a:solidFill>
                  <a:srgbClr val="FF0000"/>
                </a:solidFill>
              </a:rPr>
              <a:t>Упорядочение</a:t>
            </a:r>
            <a:r>
              <a:rPr lang="ru-RU" sz="1800" dirty="0" smtClean="0"/>
              <a:t> </a:t>
            </a:r>
            <a:r>
              <a:rPr lang="ru-RU" sz="1800" dirty="0"/>
              <a:t>как универсальный метод </a:t>
            </a:r>
            <a:r>
              <a:rPr lang="ru-RU" sz="1800" dirty="0">
                <a:solidFill>
                  <a:srgbClr val="FF0000"/>
                </a:solidFill>
              </a:rPr>
              <a:t>состоит из отдельных методов</a:t>
            </a:r>
            <a:r>
              <a:rPr lang="ru-RU" sz="1800" dirty="0"/>
              <a:t>: </a:t>
            </a:r>
            <a:endParaRPr lang="ru-RU" sz="1800" dirty="0" smtClean="0"/>
          </a:p>
          <a:p>
            <a:pPr marL="0" indent="457200" algn="just">
              <a:spcBef>
                <a:spcPts val="0"/>
              </a:spcBef>
              <a:buNone/>
            </a:pPr>
            <a:endParaRPr lang="ru-RU" sz="1800" dirty="0" smtClean="0"/>
          </a:p>
          <a:p>
            <a:pPr marL="0" indent="457200" algn="just">
              <a:spcBef>
                <a:spcPts val="0"/>
              </a:spcBef>
              <a:buNone/>
            </a:pPr>
            <a:r>
              <a:rPr lang="ru-RU" sz="1800" b="1" dirty="0" smtClean="0"/>
              <a:t>Систематизация </a:t>
            </a:r>
            <a:r>
              <a:rPr lang="ru-RU" sz="1800" b="1" dirty="0"/>
              <a:t>объектов стандартизации </a:t>
            </a:r>
            <a:r>
              <a:rPr lang="ru-RU" sz="1800" dirty="0"/>
              <a:t>– расположение объектов стандартизации в определенном порядке и последовательности, образующей четкую систему, удобную для пользования. </a:t>
            </a:r>
            <a:endParaRPr lang="ru-RU" sz="1800" dirty="0" smtClean="0"/>
          </a:p>
          <a:p>
            <a:pPr marL="0" indent="457200" algn="just">
              <a:spcBef>
                <a:spcPts val="0"/>
              </a:spcBef>
              <a:buNone/>
            </a:pPr>
            <a:r>
              <a:rPr lang="ru-RU" sz="1800" b="1" dirty="0" smtClean="0"/>
              <a:t>Селекция</a:t>
            </a:r>
            <a:r>
              <a:rPr lang="ru-RU" sz="1800" dirty="0" smtClean="0"/>
              <a:t> объектов </a:t>
            </a:r>
            <a:r>
              <a:rPr lang="ru-RU" sz="1800" dirty="0"/>
              <a:t>стандартизации - деятельность, заключающаяся в отборе таких конкретных объектов, которые признаются целесообразными для дальнейшего производства и применения в общественном производстве. </a:t>
            </a:r>
            <a:endParaRPr lang="ru-RU" sz="1800" dirty="0" smtClean="0"/>
          </a:p>
          <a:p>
            <a:pPr marL="0" indent="457200" algn="just">
              <a:spcBef>
                <a:spcPts val="0"/>
              </a:spcBef>
              <a:buNone/>
            </a:pPr>
            <a:r>
              <a:rPr lang="ru-RU" sz="1800" b="1" dirty="0" err="1" smtClean="0"/>
              <a:t>Симплификация</a:t>
            </a:r>
            <a:r>
              <a:rPr lang="ru-RU" sz="1800" dirty="0" smtClean="0"/>
              <a:t> </a:t>
            </a:r>
            <a:r>
              <a:rPr lang="ru-RU" sz="1800" dirty="0"/>
              <a:t>- деятельность, заключающаяся в определении таких конкретных объектов, которые признаются нецелесообразными для дальнейшего производства и применения в общественном производстве. </a:t>
            </a:r>
            <a:endParaRPr lang="ru-RU" sz="1800" dirty="0" smtClean="0"/>
          </a:p>
          <a:p>
            <a:pPr marL="0" indent="457200" algn="just">
              <a:spcBef>
                <a:spcPts val="0"/>
              </a:spcBef>
              <a:buNone/>
            </a:pPr>
            <a:r>
              <a:rPr lang="ru-RU" sz="1800" b="1" dirty="0" smtClean="0"/>
              <a:t>Типизация</a:t>
            </a:r>
            <a:r>
              <a:rPr lang="ru-RU" sz="1800" dirty="0" smtClean="0"/>
              <a:t> </a:t>
            </a:r>
            <a:r>
              <a:rPr lang="ru-RU" sz="1800" dirty="0"/>
              <a:t>объектов стандартизации - деятельность по созданию типовых (образцовых) объектов - конструкций, технологических правил, форм документации. Отобранные конкретные объекты подвергают каким-либо техническим преобразованиям, направленным на повышение их качества и универсальности. </a:t>
            </a:r>
            <a:endParaRPr lang="ru-RU" sz="1800" dirty="0" smtClean="0"/>
          </a:p>
          <a:p>
            <a:pPr marL="0" indent="457200" algn="just">
              <a:spcBef>
                <a:spcPts val="0"/>
              </a:spcBef>
              <a:buNone/>
            </a:pPr>
            <a:r>
              <a:rPr lang="ru-RU" sz="1800" b="1" dirty="0" smtClean="0"/>
              <a:t>Оптимизация</a:t>
            </a:r>
            <a:r>
              <a:rPr lang="ru-RU" sz="1800" dirty="0" smtClean="0"/>
              <a:t> </a:t>
            </a:r>
            <a:r>
              <a:rPr lang="ru-RU" sz="1800" dirty="0"/>
              <a:t>объектов стандартизации заключается в стремлении получить оптимальное сочетание устанавливаемых показателей, норм и требований к продукции с затратами на их достижение, обеспечить максимальный экономический эффект при минимальных затратах.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13693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51527" y="296652"/>
            <a:ext cx="8229600" cy="648072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Параметрическая стандартизация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16175" y="1080045"/>
            <a:ext cx="8496944" cy="4525963"/>
          </a:xfrm>
        </p:spPr>
        <p:txBody>
          <a:bodyPr>
            <a:noAutofit/>
          </a:bodyPr>
          <a:lstStyle/>
          <a:p>
            <a:pPr marL="0" indent="457200" algn="just">
              <a:spcBef>
                <a:spcPts val="0"/>
              </a:spcBef>
              <a:buNone/>
            </a:pPr>
            <a:r>
              <a:rPr lang="ru-RU" sz="2400" b="1" dirty="0" smtClean="0"/>
              <a:t>Параметр </a:t>
            </a:r>
            <a:r>
              <a:rPr lang="ru-RU" sz="2400" b="1" dirty="0"/>
              <a:t>продукции </a:t>
            </a:r>
            <a:r>
              <a:rPr lang="ru-RU" sz="2400" dirty="0"/>
              <a:t>- это количественная характеристика ее </a:t>
            </a:r>
            <a:r>
              <a:rPr lang="ru-RU" sz="2400" dirty="0" smtClean="0"/>
              <a:t>свойств.</a:t>
            </a:r>
          </a:p>
          <a:p>
            <a:pPr marL="0" indent="457200" algn="just">
              <a:spcBef>
                <a:spcPts val="0"/>
              </a:spcBef>
              <a:buNone/>
            </a:pPr>
            <a:endParaRPr lang="ru-RU" sz="2400" dirty="0" smtClean="0"/>
          </a:p>
          <a:p>
            <a:pPr marL="0" indent="457200" algn="just">
              <a:spcBef>
                <a:spcPts val="0"/>
              </a:spcBef>
              <a:buNone/>
            </a:pPr>
            <a:r>
              <a:rPr lang="ru-RU" sz="2400" b="1" dirty="0"/>
              <a:t>Параметр </a:t>
            </a:r>
            <a:r>
              <a:rPr lang="ru-RU" sz="2400" b="1" dirty="0" smtClean="0"/>
              <a:t>продукции</a:t>
            </a:r>
            <a:r>
              <a:rPr lang="ru-RU" sz="2400" dirty="0" smtClean="0"/>
              <a:t>: </a:t>
            </a:r>
          </a:p>
          <a:p>
            <a:pPr marL="0" indent="457200" algn="just">
              <a:spcBef>
                <a:spcPts val="0"/>
              </a:spcBef>
              <a:buNone/>
            </a:pPr>
            <a:r>
              <a:rPr lang="ru-RU" sz="2400" dirty="0" smtClean="0"/>
              <a:t>• </a:t>
            </a:r>
            <a:r>
              <a:rPr lang="ru-RU" sz="2400" dirty="0"/>
              <a:t>размерные параметры (размер одежды и обуви, вместимость посуды); </a:t>
            </a:r>
            <a:endParaRPr lang="ru-RU" sz="2400" dirty="0" smtClean="0"/>
          </a:p>
          <a:p>
            <a:pPr marL="0" indent="457200" algn="just">
              <a:spcBef>
                <a:spcPts val="0"/>
              </a:spcBef>
              <a:buNone/>
            </a:pPr>
            <a:r>
              <a:rPr lang="ru-RU" sz="2400" dirty="0" smtClean="0"/>
              <a:t>• </a:t>
            </a:r>
            <a:r>
              <a:rPr lang="ru-RU" sz="2400" dirty="0"/>
              <a:t>весовые параметры (масса отдельных видов спортинвентаря); </a:t>
            </a:r>
            <a:endParaRPr lang="ru-RU" sz="2400" dirty="0" smtClean="0"/>
          </a:p>
          <a:p>
            <a:pPr marL="0" indent="457200" algn="just">
              <a:spcBef>
                <a:spcPts val="0"/>
              </a:spcBef>
              <a:buNone/>
            </a:pPr>
            <a:r>
              <a:rPr lang="ru-RU" sz="2400" dirty="0" smtClean="0"/>
              <a:t>• </a:t>
            </a:r>
            <a:r>
              <a:rPr lang="ru-RU" sz="2400" dirty="0"/>
              <a:t>параметры, характеризующие производительность машин и </a:t>
            </a:r>
            <a:r>
              <a:rPr lang="ru-RU" sz="2400" dirty="0" smtClean="0"/>
              <a:t>приборов </a:t>
            </a:r>
            <a:r>
              <a:rPr lang="ru-RU" sz="2400" dirty="0"/>
              <a:t>(производительность вентиляторов и полотеров, </a:t>
            </a:r>
            <a:r>
              <a:rPr lang="ru-RU" sz="2400" dirty="0" smtClean="0"/>
              <a:t>скорость </a:t>
            </a:r>
            <a:r>
              <a:rPr lang="ru-RU" sz="2400" dirty="0"/>
              <a:t>движения транспортных средств); </a:t>
            </a:r>
            <a:endParaRPr lang="en-US" sz="2400" dirty="0" smtClean="0"/>
          </a:p>
          <a:p>
            <a:pPr marL="0" indent="457200" algn="just">
              <a:spcBef>
                <a:spcPts val="0"/>
              </a:spcBef>
              <a:buNone/>
            </a:pPr>
            <a:r>
              <a:rPr lang="ru-RU" sz="2400" dirty="0" smtClean="0"/>
              <a:t>• </a:t>
            </a:r>
            <a:r>
              <a:rPr lang="ru-RU" sz="2400" dirty="0"/>
              <a:t>энергетические параметры (мощность двигателя и пр.). </a:t>
            </a:r>
            <a:endParaRPr lang="ru-RU" sz="2400" dirty="0" smtClean="0"/>
          </a:p>
          <a:p>
            <a:pPr marL="0" indent="457200" algn="just">
              <a:spcBef>
                <a:spcPts val="0"/>
              </a:spcBef>
              <a:buNone/>
            </a:pPr>
            <a:endParaRPr lang="ru-RU" sz="2400" dirty="0" smtClean="0"/>
          </a:p>
          <a:p>
            <a:pPr marL="0" indent="457200" algn="just">
              <a:spcBef>
                <a:spcPts val="0"/>
              </a:spcBef>
              <a:buNone/>
            </a:pPr>
            <a:r>
              <a:rPr lang="ru-RU" sz="2400" b="1" dirty="0" smtClean="0"/>
              <a:t>Параметрический </a:t>
            </a:r>
            <a:r>
              <a:rPr lang="ru-RU" sz="2400" b="1" dirty="0"/>
              <a:t>ряд</a:t>
            </a:r>
            <a:r>
              <a:rPr lang="ru-RU" sz="2400" dirty="0"/>
              <a:t> - набор установленных значений параметров. </a:t>
            </a:r>
            <a:endParaRPr lang="ru-RU" sz="2400" dirty="0" smtClean="0"/>
          </a:p>
          <a:p>
            <a:pPr marL="0" indent="457200" algn="just">
              <a:spcBef>
                <a:spcPts val="0"/>
              </a:spcBef>
              <a:buNone/>
            </a:pPr>
            <a:endParaRPr lang="ru-RU" sz="2400" dirty="0" smtClean="0"/>
          </a:p>
          <a:p>
            <a:pPr marL="0" indent="457200" algn="just">
              <a:spcBef>
                <a:spcPts val="0"/>
              </a:spcBef>
              <a:buNone/>
            </a:pPr>
            <a:endParaRPr lang="ru-RU" sz="24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31586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40690" y="368660"/>
            <a:ext cx="8229600" cy="648072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Унификация продукции</a:t>
            </a:r>
            <a:endParaRPr lang="ru-RU" sz="2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9512" y="1191460"/>
            <a:ext cx="8784976" cy="4525963"/>
          </a:xfrm>
        </p:spPr>
        <p:txBody>
          <a:bodyPr>
            <a:noAutofit/>
          </a:bodyPr>
          <a:lstStyle/>
          <a:p>
            <a:pPr marL="0" indent="457200" algn="just">
              <a:spcBef>
                <a:spcPts val="0"/>
              </a:spcBef>
              <a:buNone/>
            </a:pPr>
            <a:r>
              <a:rPr lang="ru-RU" sz="1800" b="1" dirty="0"/>
              <a:t>Унификация продукции </a:t>
            </a:r>
            <a:r>
              <a:rPr lang="ru-RU" sz="1800" b="1" dirty="0" smtClean="0"/>
              <a:t>-</a:t>
            </a:r>
            <a:r>
              <a:rPr lang="ru-RU" sz="1800" dirty="0"/>
              <a:t> </a:t>
            </a:r>
            <a:r>
              <a:rPr lang="ru-RU" sz="1800" dirty="0" smtClean="0"/>
              <a:t>деятельность </a:t>
            </a:r>
            <a:r>
              <a:rPr lang="ru-RU" sz="1800" dirty="0"/>
              <a:t>по рациональному сокращению числа типов деталей, агрегатов одинакового функционального назначения. </a:t>
            </a:r>
            <a:endParaRPr lang="ru-RU" sz="1800" dirty="0" smtClean="0"/>
          </a:p>
          <a:p>
            <a:pPr marL="0" indent="457200" algn="just">
              <a:spcBef>
                <a:spcPts val="0"/>
              </a:spcBef>
              <a:buNone/>
            </a:pPr>
            <a:endParaRPr lang="ru-RU" sz="1800" dirty="0" smtClean="0"/>
          </a:p>
          <a:p>
            <a:pPr marL="0" indent="457200" algn="just">
              <a:spcBef>
                <a:spcPts val="0"/>
              </a:spcBef>
              <a:buNone/>
            </a:pPr>
            <a:r>
              <a:rPr lang="ru-RU" sz="1800" dirty="0" smtClean="0"/>
              <a:t>Основными </a:t>
            </a:r>
            <a:r>
              <a:rPr lang="ru-RU" sz="1800" b="1" dirty="0"/>
              <a:t>направлениями унификации </a:t>
            </a:r>
            <a:r>
              <a:rPr lang="ru-RU" sz="1800" dirty="0"/>
              <a:t>являются: </a:t>
            </a:r>
            <a:endParaRPr lang="ru-RU" sz="1800" dirty="0" smtClean="0"/>
          </a:p>
          <a:p>
            <a:pPr marL="0" indent="457200" algn="just">
              <a:spcBef>
                <a:spcPts val="0"/>
              </a:spcBef>
              <a:buNone/>
            </a:pPr>
            <a:r>
              <a:rPr lang="ru-RU" sz="1800" dirty="0" smtClean="0"/>
              <a:t>- разработка </a:t>
            </a:r>
            <a:r>
              <a:rPr lang="ru-RU" sz="1800" dirty="0"/>
              <a:t>параметрических и </a:t>
            </a:r>
            <a:r>
              <a:rPr lang="ru-RU" sz="1800" dirty="0" err="1"/>
              <a:t>типоразмерных</a:t>
            </a:r>
            <a:r>
              <a:rPr lang="ru-RU" sz="1800" dirty="0"/>
              <a:t> рядов изделий, машин, оборудования, приборов, узлов и деталей; </a:t>
            </a:r>
            <a:endParaRPr lang="ru-RU" sz="1800" dirty="0" smtClean="0"/>
          </a:p>
          <a:p>
            <a:pPr marL="0" indent="457200" algn="just">
              <a:spcBef>
                <a:spcPts val="0"/>
              </a:spcBef>
              <a:buNone/>
            </a:pPr>
            <a:r>
              <a:rPr lang="ru-RU" sz="1800" dirty="0" smtClean="0"/>
              <a:t>- разработка </a:t>
            </a:r>
            <a:r>
              <a:rPr lang="ru-RU" sz="1800" dirty="0"/>
              <a:t>типовых изделий в целях создания унифицированных групп однородной продукции; </a:t>
            </a:r>
            <a:endParaRPr lang="ru-RU" sz="1800" dirty="0" smtClean="0"/>
          </a:p>
          <a:p>
            <a:pPr marL="0" indent="457200" algn="just">
              <a:spcBef>
                <a:spcPts val="0"/>
              </a:spcBef>
              <a:buNone/>
            </a:pPr>
            <a:r>
              <a:rPr lang="ru-RU" sz="1800" dirty="0" smtClean="0"/>
              <a:t>- разработка </a:t>
            </a:r>
            <a:r>
              <a:rPr lang="ru-RU" sz="1800" dirty="0"/>
              <a:t>унифицированных технологических процессов, включая технологические процессы для специализированных производств продукции межотраслевого применения; </a:t>
            </a:r>
            <a:endParaRPr lang="ru-RU" sz="1800" dirty="0" smtClean="0"/>
          </a:p>
          <a:p>
            <a:pPr marL="0" indent="457200" algn="just">
              <a:spcBef>
                <a:spcPts val="0"/>
              </a:spcBef>
              <a:buNone/>
            </a:pPr>
            <a:r>
              <a:rPr lang="ru-RU" sz="1800" dirty="0" smtClean="0"/>
              <a:t>- ограничение </a:t>
            </a:r>
            <a:r>
              <a:rPr lang="ru-RU" sz="1800" dirty="0"/>
              <a:t>целесообразным минимумом номенклатуры разрешаемых к применению изделий и материалов. </a:t>
            </a:r>
            <a:endParaRPr lang="ru-RU" sz="1800" dirty="0" smtClean="0"/>
          </a:p>
          <a:p>
            <a:pPr marL="0" indent="457200" algn="just">
              <a:spcBef>
                <a:spcPts val="0"/>
              </a:spcBef>
              <a:buNone/>
            </a:pPr>
            <a:endParaRPr lang="ru-RU" sz="1800" dirty="0" smtClean="0"/>
          </a:p>
          <a:p>
            <a:pPr marL="0" indent="457200" algn="just">
              <a:spcBef>
                <a:spcPts val="0"/>
              </a:spcBef>
              <a:buNone/>
            </a:pPr>
            <a:r>
              <a:rPr lang="ru-RU" sz="1800" dirty="0" smtClean="0"/>
              <a:t>Степень </a:t>
            </a:r>
            <a:r>
              <a:rPr lang="ru-RU" sz="1800" dirty="0"/>
              <a:t>унификации характеризуется уровнем унификации продукции - насыщенностью продукции унифицированными, в том числе стандартизированными, деталями, узлами и сборочными единицами. </a:t>
            </a:r>
            <a:endParaRPr lang="ru-RU" sz="1800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91093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1096390"/>
            <a:ext cx="8640960" cy="4381947"/>
          </a:xfrm>
        </p:spPr>
        <p:txBody>
          <a:bodyPr>
            <a:noAutofit/>
          </a:bodyPr>
          <a:lstStyle/>
          <a:p>
            <a:pPr marL="0" indent="457200" algn="just">
              <a:spcBef>
                <a:spcPts val="0"/>
              </a:spcBef>
              <a:buNone/>
            </a:pPr>
            <a:r>
              <a:rPr lang="ru-RU" sz="2400" b="1" dirty="0" err="1" smtClean="0"/>
              <a:t>Агрегатирование</a:t>
            </a:r>
            <a:r>
              <a:rPr lang="ru-RU" sz="2400" dirty="0"/>
              <a:t> </a:t>
            </a:r>
            <a:r>
              <a:rPr lang="ru-RU" sz="2400" dirty="0" smtClean="0"/>
              <a:t>-  </a:t>
            </a:r>
            <a:r>
              <a:rPr lang="ru-RU" sz="2400" dirty="0"/>
              <a:t>это метод создания машин, приборов и оборудования из отдельных стандартных унифицированных узлов, многократно используемых при создании различных изделий на основе геометрической и функциональной взаимозаменяемости. </a:t>
            </a:r>
            <a:endParaRPr lang="ru-RU" sz="2400" dirty="0" smtClean="0"/>
          </a:p>
          <a:p>
            <a:pPr marL="0" indent="457200" algn="just">
              <a:spcBef>
                <a:spcPts val="0"/>
              </a:spcBef>
              <a:buNone/>
            </a:pPr>
            <a:endParaRPr lang="ru-RU" sz="2000" dirty="0" smtClean="0"/>
          </a:p>
          <a:p>
            <a:pPr marL="0" indent="457200" algn="just">
              <a:spcBef>
                <a:spcPts val="0"/>
              </a:spcBef>
              <a:buNone/>
            </a:pPr>
            <a:endParaRPr lang="ru-RU" sz="2000" dirty="0"/>
          </a:p>
          <a:p>
            <a:pPr marL="0" indent="457200" algn="just">
              <a:spcBef>
                <a:spcPts val="0"/>
              </a:spcBef>
              <a:buNone/>
            </a:pPr>
            <a:r>
              <a:rPr lang="ru-RU" sz="2000" dirty="0" err="1" smtClean="0"/>
              <a:t>Агрегатирование</a:t>
            </a:r>
            <a:r>
              <a:rPr lang="ru-RU" sz="2000" dirty="0" smtClean="0"/>
              <a:t> </a:t>
            </a:r>
            <a:r>
              <a:rPr lang="ru-RU" sz="2000" dirty="0"/>
              <a:t>очень широко применяется в машиностроении. Развитие машиностроения характеризуется усложнением и частой сменяемостью конструкции машин. </a:t>
            </a:r>
            <a:endParaRPr lang="ru-RU" sz="2000" dirty="0" smtClean="0"/>
          </a:p>
          <a:p>
            <a:pPr marL="0" indent="457200" algn="just">
              <a:spcBef>
                <a:spcPts val="0"/>
              </a:spcBef>
              <a:buNone/>
            </a:pPr>
            <a:r>
              <a:rPr lang="ru-RU" sz="2000" dirty="0" smtClean="0"/>
              <a:t>Для </a:t>
            </a:r>
            <a:r>
              <a:rPr lang="ru-RU" sz="2000" dirty="0"/>
              <a:t>проектирования и изготовления большого количества разнообразных машин потребовалось в первую очередь расчленить конструкцию машины на независимые сборочные единицы (агрегаты) так, чтобы каждая из них выполняла в машине определенную функцию. </a:t>
            </a:r>
            <a:endParaRPr lang="ru-RU" sz="2000" dirty="0" smtClean="0"/>
          </a:p>
          <a:p>
            <a:pPr marL="0" indent="457200" algn="just">
              <a:spcBef>
                <a:spcPts val="0"/>
              </a:spcBef>
              <a:buNone/>
            </a:pPr>
            <a:r>
              <a:rPr lang="ru-RU" sz="2000" dirty="0" smtClean="0"/>
              <a:t>Это </a:t>
            </a:r>
            <a:r>
              <a:rPr lang="ru-RU" sz="2000" dirty="0"/>
              <a:t>позволило специализировать изготовление агрегатов как самостоятельных изделий, работу которых можно проверить независимо от всей машины. </a:t>
            </a:r>
            <a:endParaRPr lang="ru-RU" sz="2000" dirty="0" smtClean="0"/>
          </a:p>
          <a:p>
            <a:pPr marL="0" indent="457200" algn="just">
              <a:spcBef>
                <a:spcPts val="0"/>
              </a:spcBef>
              <a:buNone/>
            </a:pPr>
            <a:r>
              <a:rPr lang="ru-RU" sz="2000" dirty="0" smtClean="0"/>
              <a:t>Расчленение </a:t>
            </a:r>
            <a:r>
              <a:rPr lang="ru-RU" sz="2000" dirty="0"/>
              <a:t>изделий на конструктивно законченные агрегаты явилось первой предпосылкой развития метода </a:t>
            </a:r>
            <a:r>
              <a:rPr lang="ru-RU" sz="2000" dirty="0" err="1"/>
              <a:t>агрегатирования</a:t>
            </a:r>
            <a:r>
              <a:rPr lang="ru-RU" sz="2000" dirty="0"/>
              <a:t>. </a:t>
            </a:r>
            <a:endParaRPr lang="ru-RU" sz="2000" dirty="0" smtClean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28</a:t>
            </a:fld>
            <a:endParaRPr lang="ru-RU"/>
          </a:p>
        </p:txBody>
      </p:sp>
      <p:sp>
        <p:nvSpPr>
          <p:cNvPr id="4" name="Прямоугольник 3"/>
          <p:cNvSpPr/>
          <p:nvPr/>
        </p:nvSpPr>
        <p:spPr>
          <a:xfrm>
            <a:off x="1138011" y="144122"/>
            <a:ext cx="391645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000" dirty="0" err="1" smtClean="0"/>
              <a:t>Агрегатирование</a:t>
            </a:r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33588645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1043226"/>
            <a:ext cx="8640960" cy="4381947"/>
          </a:xfrm>
        </p:spPr>
        <p:txBody>
          <a:bodyPr>
            <a:noAutofit/>
          </a:bodyPr>
          <a:lstStyle/>
          <a:p>
            <a:pPr marL="0" indent="457200" algn="just">
              <a:spcBef>
                <a:spcPts val="0"/>
              </a:spcBef>
              <a:buNone/>
            </a:pPr>
            <a:r>
              <a:rPr lang="ru-RU" sz="2400" b="1" dirty="0" smtClean="0"/>
              <a:t>Комплексная </a:t>
            </a:r>
            <a:r>
              <a:rPr lang="ru-RU" sz="2400" b="1" dirty="0"/>
              <a:t>стандартизация </a:t>
            </a:r>
            <a:r>
              <a:rPr lang="ru-RU" sz="2400" dirty="0" smtClean="0"/>
              <a:t>- </a:t>
            </a:r>
            <a:r>
              <a:rPr lang="ru-RU" sz="2400" dirty="0"/>
              <a:t>целенаправленное и планомерное установление и применение системы взаимоувязанных требований как к самому объекту комплексной стандартизации в целом, так и к его основным элементам в целях оптимального решения конкретной проблемы. </a:t>
            </a:r>
            <a:endParaRPr lang="ru-RU" sz="2400" dirty="0" smtClean="0"/>
          </a:p>
          <a:p>
            <a:pPr marL="0" indent="457200" algn="just">
              <a:spcBef>
                <a:spcPts val="0"/>
              </a:spcBef>
              <a:buNone/>
            </a:pPr>
            <a:endParaRPr lang="ru-RU" sz="2000" dirty="0" smtClean="0"/>
          </a:p>
          <a:p>
            <a:pPr marL="0" indent="457200" algn="just">
              <a:spcBef>
                <a:spcPts val="0"/>
              </a:spcBef>
              <a:buNone/>
            </a:pPr>
            <a:r>
              <a:rPr lang="ru-RU" sz="2000" dirty="0" smtClean="0"/>
              <a:t>Применительно </a:t>
            </a:r>
            <a:r>
              <a:rPr lang="ru-RU" sz="2000" dirty="0"/>
              <a:t>к продукции - это установление и применение взаимосвязанных по своему уровню требований к качеству готовых изделий, необходимых для их изготовления сырья, материалов и комплектующих узлов, а также условий сохранения и потребления (эксплуатации). Практической реализацией этого метода выступают программы комплексной стандартизации (ПКС), которые являются основой создания новой техники, технологии и материалов. </a:t>
            </a:r>
            <a:endParaRPr lang="ru-RU" sz="2000" dirty="0" smtClean="0"/>
          </a:p>
          <a:p>
            <a:pPr marL="0" indent="457200" algn="just">
              <a:spcBef>
                <a:spcPts val="0"/>
              </a:spcBef>
              <a:buNone/>
            </a:pPr>
            <a:r>
              <a:rPr lang="ru-RU" sz="2000" dirty="0" smtClean="0"/>
              <a:t>Также </a:t>
            </a:r>
            <a:r>
              <a:rPr lang="ru-RU" sz="2000" dirty="0"/>
              <a:t>результатом комплексной стандартизации являются межотраслевые системы стандартов, каждая из которых охватывает определенную сферу деятельности. </a:t>
            </a:r>
            <a:endParaRPr lang="ru-RU" sz="2000" dirty="0" smtClean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29</a:t>
            </a:fld>
            <a:endParaRPr lang="ru-RU"/>
          </a:p>
        </p:txBody>
      </p:sp>
      <p:sp>
        <p:nvSpPr>
          <p:cNvPr id="4" name="Прямоугольник 3"/>
          <p:cNvSpPr/>
          <p:nvPr/>
        </p:nvSpPr>
        <p:spPr>
          <a:xfrm>
            <a:off x="1138774" y="362911"/>
            <a:ext cx="545790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dirty="0"/>
              <a:t>Комплексная стандартизация </a:t>
            </a:r>
          </a:p>
        </p:txBody>
      </p:sp>
    </p:spTree>
    <p:extLst>
      <p:ext uri="{BB962C8B-B14F-4D97-AF65-F5344CB8AC3E}">
        <p14:creationId xmlns:p14="http://schemas.microsoft.com/office/powerpoint/2010/main" val="3828564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1190847"/>
            <a:ext cx="8640960" cy="4085470"/>
          </a:xfrm>
        </p:spPr>
        <p:txBody>
          <a:bodyPr>
            <a:noAutofit/>
          </a:bodyPr>
          <a:lstStyle/>
          <a:p>
            <a:pPr marL="0" indent="457200" algn="just">
              <a:spcBef>
                <a:spcPts val="0"/>
              </a:spcBef>
              <a:buNone/>
            </a:pPr>
            <a:r>
              <a:rPr lang="ru-RU" b="1" dirty="0" smtClean="0"/>
              <a:t>Опережающая </a:t>
            </a:r>
            <a:r>
              <a:rPr lang="ru-RU" b="1" dirty="0"/>
              <a:t>стандартизация </a:t>
            </a:r>
            <a:r>
              <a:rPr lang="ru-RU" dirty="0"/>
              <a:t>- установление повышенных по отношению к уже достигнутому на практике уровню норм и требований к объектам стандартизации, которые согласно прогнозам будут оптимальными в последующее время. </a:t>
            </a:r>
            <a:endParaRPr lang="ru-RU" dirty="0" smtClean="0"/>
          </a:p>
          <a:p>
            <a:pPr marL="0" indent="457200" algn="just">
              <a:spcBef>
                <a:spcPts val="0"/>
              </a:spcBef>
              <a:buNone/>
            </a:pPr>
            <a:endParaRPr lang="ru-RU" sz="2400" dirty="0" smtClean="0"/>
          </a:p>
          <a:p>
            <a:pPr marL="0" indent="457200" algn="just">
              <a:spcBef>
                <a:spcPts val="0"/>
              </a:spcBef>
              <a:buNone/>
            </a:pPr>
            <a:r>
              <a:rPr lang="ru-RU" sz="2400" dirty="0" smtClean="0"/>
              <a:t>Стандарты </a:t>
            </a:r>
            <a:r>
              <a:rPr lang="ru-RU" sz="2400" dirty="0"/>
              <a:t>не могут только фиксировать достигнутый уровень развития науки и техники, так как из-за высоких темпов морального старения многих видов продукции они могут стать тормозом технического прогресса. Для того чтобы стандарты не тормозили технический прогресс, они должны устанавливать перспективные показатели качества с указанием сроков их обеспечения промышленным производством.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30</a:t>
            </a:fld>
            <a:endParaRPr lang="ru-RU"/>
          </a:p>
        </p:txBody>
      </p:sp>
      <p:sp>
        <p:nvSpPr>
          <p:cNvPr id="4" name="Прямоугольник 3"/>
          <p:cNvSpPr/>
          <p:nvPr/>
        </p:nvSpPr>
        <p:spPr>
          <a:xfrm>
            <a:off x="1453472" y="362911"/>
            <a:ext cx="517782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dirty="0"/>
              <a:t>Опережающая стандартизация </a:t>
            </a:r>
          </a:p>
        </p:txBody>
      </p:sp>
    </p:spTree>
    <p:extLst>
      <p:ext uri="{BB962C8B-B14F-4D97-AF65-F5344CB8AC3E}">
        <p14:creationId xmlns:p14="http://schemas.microsoft.com/office/powerpoint/2010/main" val="40796515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ая выноска 7"/>
          <p:cNvSpPr/>
          <p:nvPr/>
        </p:nvSpPr>
        <p:spPr>
          <a:xfrm>
            <a:off x="457200" y="5518298"/>
            <a:ext cx="8229600" cy="754911"/>
          </a:xfrm>
          <a:prstGeom prst="wedgeRectCallou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ая выноска 6"/>
          <p:cNvSpPr/>
          <p:nvPr/>
        </p:nvSpPr>
        <p:spPr>
          <a:xfrm>
            <a:off x="457200" y="4602175"/>
            <a:ext cx="8229600" cy="714104"/>
          </a:xfrm>
          <a:prstGeom prst="wedgeRectCallou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ая выноска 5"/>
          <p:cNvSpPr/>
          <p:nvPr/>
        </p:nvSpPr>
        <p:spPr>
          <a:xfrm>
            <a:off x="457200" y="3444949"/>
            <a:ext cx="8229600" cy="818707"/>
          </a:xfrm>
          <a:prstGeom prst="wedgeRectCallou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ая выноска 4"/>
          <p:cNvSpPr/>
          <p:nvPr/>
        </p:nvSpPr>
        <p:spPr>
          <a:xfrm>
            <a:off x="457200" y="2232837"/>
            <a:ext cx="8229600" cy="786810"/>
          </a:xfrm>
          <a:prstGeom prst="wedgeRectCallou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291018"/>
            <a:ext cx="8229600" cy="850106"/>
          </a:xfrm>
        </p:spPr>
        <p:txBody>
          <a:bodyPr>
            <a:normAutofit fontScale="90000"/>
          </a:bodyPr>
          <a:lstStyle/>
          <a:p>
            <a:pPr lvl="0"/>
            <a:r>
              <a:rPr lang="ru-RU" dirty="0"/>
              <a:t>КАТЕГОРИИ </a:t>
            </a:r>
            <a:r>
              <a:rPr lang="ru-RU" dirty="0" smtClean="0"/>
              <a:t>СТАНДАРТОВ </a:t>
            </a:r>
            <a:br>
              <a:rPr lang="ru-RU" dirty="0" smtClean="0"/>
            </a:br>
            <a:r>
              <a:rPr lang="ru-RU" sz="2200" dirty="0" smtClean="0"/>
              <a:t>(</a:t>
            </a:r>
            <a:r>
              <a:rPr lang="ru-RU" sz="2200" dirty="0"/>
              <a:t>деление стандартов, исходя из сферы действия) 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274008"/>
            <a:ext cx="8229600" cy="5206690"/>
          </a:xfrm>
        </p:spPr>
        <p:txBody>
          <a:bodyPr>
            <a:noAutofit/>
          </a:bodyPr>
          <a:lstStyle/>
          <a:p>
            <a:pPr marL="0" lvl="0" indent="457200" algn="just">
              <a:spcBef>
                <a:spcPts val="0"/>
              </a:spcBef>
              <a:buNone/>
            </a:pPr>
            <a:r>
              <a:rPr lang="ru-RU" sz="2400" dirty="0"/>
              <a:t> </a:t>
            </a:r>
            <a:r>
              <a:rPr lang="ru-RU" sz="2400" dirty="0" smtClean="0"/>
              <a:t>Весь </a:t>
            </a:r>
            <a:r>
              <a:rPr lang="ru-RU" sz="2400" dirty="0"/>
              <a:t>фонд </a:t>
            </a:r>
            <a:r>
              <a:rPr lang="ru-RU" sz="2400" b="1" dirty="0"/>
              <a:t>стандартов, действующих на территории РФ</a:t>
            </a:r>
            <a:r>
              <a:rPr lang="ru-RU" sz="2400" dirty="0"/>
              <a:t>, включает </a:t>
            </a:r>
            <a:r>
              <a:rPr lang="ru-RU" sz="2400" dirty="0" smtClean="0"/>
              <a:t>категории:</a:t>
            </a:r>
          </a:p>
          <a:p>
            <a:pPr marL="0" lvl="0" indent="457200" algn="just">
              <a:spcBef>
                <a:spcPts val="0"/>
              </a:spcBef>
              <a:buNone/>
            </a:pPr>
            <a:endParaRPr lang="ru-RU" sz="2400" dirty="0" smtClean="0"/>
          </a:p>
          <a:p>
            <a:pPr marL="0" lvl="0" indent="457200" algn="just">
              <a:spcBef>
                <a:spcPts val="0"/>
              </a:spcBef>
              <a:buNone/>
            </a:pPr>
            <a:r>
              <a:rPr lang="ru-RU" sz="2400" dirty="0" smtClean="0"/>
              <a:t>международные </a:t>
            </a:r>
            <a:r>
              <a:rPr lang="ru-RU" sz="2400" dirty="0"/>
              <a:t>(ИСО, МЭК, МСЭ) и региональные (ЕС) стандарты; </a:t>
            </a:r>
            <a:endParaRPr lang="ru-RU" sz="2400" dirty="0" smtClean="0"/>
          </a:p>
          <a:p>
            <a:pPr marL="0" lvl="0" indent="457200" algn="just">
              <a:spcBef>
                <a:spcPts val="0"/>
              </a:spcBef>
              <a:buNone/>
            </a:pPr>
            <a:endParaRPr lang="ru-RU" sz="2400" dirty="0" smtClean="0"/>
          </a:p>
          <a:p>
            <a:pPr marL="0" lvl="0" indent="457200" algn="just">
              <a:spcBef>
                <a:spcPts val="0"/>
              </a:spcBef>
              <a:buNone/>
            </a:pPr>
            <a:endParaRPr lang="ru-RU" sz="2400" dirty="0" smtClean="0"/>
          </a:p>
          <a:p>
            <a:pPr marL="0" lvl="0" indent="457200" algn="just">
              <a:spcBef>
                <a:spcPts val="0"/>
              </a:spcBef>
              <a:buNone/>
            </a:pPr>
            <a:r>
              <a:rPr lang="ru-RU" sz="2400" dirty="0" smtClean="0"/>
              <a:t>межгосударственные </a:t>
            </a:r>
            <a:r>
              <a:rPr lang="ru-RU" sz="2400" dirty="0"/>
              <a:t>стандарты (ГОСТ); </a:t>
            </a:r>
            <a:endParaRPr lang="ru-RU" sz="2400" dirty="0" smtClean="0"/>
          </a:p>
          <a:p>
            <a:pPr marL="0" lvl="0" indent="457200" algn="just">
              <a:spcBef>
                <a:spcPts val="0"/>
              </a:spcBef>
              <a:buNone/>
            </a:pPr>
            <a:endParaRPr lang="ru-RU" sz="2400" dirty="0" smtClean="0"/>
          </a:p>
          <a:p>
            <a:pPr marL="0" lvl="0" indent="457200" algn="just">
              <a:spcBef>
                <a:spcPts val="0"/>
              </a:spcBef>
              <a:buNone/>
            </a:pPr>
            <a:endParaRPr lang="ru-RU" sz="2400" dirty="0" smtClean="0"/>
          </a:p>
          <a:p>
            <a:pPr marL="0" lvl="0" indent="457200" algn="just">
              <a:spcBef>
                <a:spcPts val="0"/>
              </a:spcBef>
              <a:buNone/>
            </a:pPr>
            <a:r>
              <a:rPr lang="ru-RU" sz="2400" dirty="0" smtClean="0"/>
              <a:t>национальные </a:t>
            </a:r>
            <a:r>
              <a:rPr lang="ru-RU" sz="2400" dirty="0"/>
              <a:t>стандарты РФ (ГОСТ Р); </a:t>
            </a:r>
            <a:endParaRPr lang="ru-RU" sz="2400" dirty="0" smtClean="0"/>
          </a:p>
          <a:p>
            <a:pPr marL="0" lvl="0" indent="457200" algn="just">
              <a:spcBef>
                <a:spcPts val="0"/>
              </a:spcBef>
              <a:buNone/>
            </a:pPr>
            <a:endParaRPr lang="ru-RU" sz="2400" dirty="0" smtClean="0"/>
          </a:p>
          <a:p>
            <a:pPr marL="0" lvl="0" indent="457200" algn="just">
              <a:spcBef>
                <a:spcPts val="0"/>
              </a:spcBef>
              <a:buNone/>
            </a:pPr>
            <a:endParaRPr lang="ru-RU" sz="2400" dirty="0" smtClean="0"/>
          </a:p>
          <a:p>
            <a:pPr marL="0" lvl="0" indent="457200" algn="just">
              <a:spcBef>
                <a:spcPts val="0"/>
              </a:spcBef>
              <a:buNone/>
            </a:pPr>
            <a:r>
              <a:rPr lang="ru-RU" sz="2400" dirty="0" smtClean="0"/>
              <a:t>стандарты </a:t>
            </a:r>
            <a:r>
              <a:rPr lang="ru-RU" sz="2400" dirty="0"/>
              <a:t>организаций (СТО</a:t>
            </a:r>
            <a:r>
              <a:rPr lang="ru-RU" sz="2400" dirty="0" smtClean="0"/>
              <a:t>).</a:t>
            </a:r>
          </a:p>
          <a:p>
            <a:pPr marL="0" lvl="0" indent="457200" algn="just">
              <a:spcBef>
                <a:spcPts val="0"/>
              </a:spcBef>
              <a:buNone/>
            </a:pPr>
            <a:r>
              <a:rPr lang="ru-RU" sz="2400" dirty="0" smtClean="0"/>
              <a:t> </a:t>
            </a:r>
          </a:p>
          <a:p>
            <a:pPr marL="0" indent="457200" algn="just">
              <a:spcBef>
                <a:spcPts val="0"/>
              </a:spcBef>
              <a:buNone/>
            </a:pPr>
            <a:endParaRPr lang="ru-RU" sz="24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12835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291018"/>
            <a:ext cx="8229600" cy="850106"/>
          </a:xfrm>
        </p:spPr>
        <p:txBody>
          <a:bodyPr>
            <a:normAutofit fontScale="90000"/>
          </a:bodyPr>
          <a:lstStyle/>
          <a:p>
            <a:pPr lvl="0"/>
            <a:r>
              <a:rPr lang="ru-RU" dirty="0"/>
              <a:t>КАТЕГОРИИ </a:t>
            </a:r>
            <a:r>
              <a:rPr lang="ru-RU" dirty="0" smtClean="0"/>
              <a:t>СТАНДАРТОВ </a:t>
            </a:r>
            <a:br>
              <a:rPr lang="ru-RU" dirty="0" smtClean="0"/>
            </a:br>
            <a:r>
              <a:rPr lang="ru-RU" sz="2200" dirty="0" smtClean="0"/>
              <a:t> 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955032"/>
            <a:ext cx="8229600" cy="4525963"/>
          </a:xfrm>
        </p:spPr>
        <p:txBody>
          <a:bodyPr>
            <a:noAutofit/>
          </a:bodyPr>
          <a:lstStyle/>
          <a:p>
            <a:pPr marL="0" lvl="0" indent="457200" algn="just">
              <a:spcBef>
                <a:spcPts val="0"/>
              </a:spcBef>
              <a:buNone/>
            </a:pPr>
            <a:r>
              <a:rPr lang="ru-RU" sz="1800" b="1" dirty="0" smtClean="0"/>
              <a:t>Международный </a:t>
            </a:r>
            <a:r>
              <a:rPr lang="ru-RU" sz="1800" b="1" dirty="0"/>
              <a:t>стандарт</a:t>
            </a:r>
            <a:r>
              <a:rPr lang="ru-RU" sz="1800" b="1" dirty="0" smtClean="0"/>
              <a:t>:</a:t>
            </a:r>
          </a:p>
          <a:p>
            <a:pPr marL="0" lvl="0" indent="457200" algn="just">
              <a:spcBef>
                <a:spcPts val="0"/>
              </a:spcBef>
              <a:buNone/>
            </a:pPr>
            <a:r>
              <a:rPr lang="ru-RU" sz="1800" dirty="0" smtClean="0"/>
              <a:t>Стандарт</a:t>
            </a:r>
            <a:r>
              <a:rPr lang="ru-RU" sz="1800" dirty="0"/>
              <a:t>, принятый международной организацией по стандартизации и доступный широкому кругу пользователей. </a:t>
            </a:r>
            <a:endParaRPr lang="ru-RU" sz="1800" dirty="0" smtClean="0"/>
          </a:p>
          <a:p>
            <a:pPr marL="0" lvl="0" indent="457200" algn="just">
              <a:spcBef>
                <a:spcPts val="0"/>
              </a:spcBef>
              <a:buNone/>
            </a:pPr>
            <a:r>
              <a:rPr lang="ru-RU" sz="1800" dirty="0" smtClean="0"/>
              <a:t>К </a:t>
            </a:r>
            <a:r>
              <a:rPr lang="ru-RU" sz="1800" dirty="0"/>
              <a:t>международным стандартам относятся стандарты ИСО, стандарты МЭК и стандарты ИСО/МЭК, которые являются совместными публикациями ИСО и МЭК. </a:t>
            </a:r>
            <a:endParaRPr lang="ru-RU" sz="1800" dirty="0" smtClean="0"/>
          </a:p>
          <a:p>
            <a:pPr marL="0" lvl="0" indent="457200" algn="just">
              <a:spcBef>
                <a:spcPts val="0"/>
              </a:spcBef>
              <a:buNone/>
            </a:pPr>
            <a:r>
              <a:rPr lang="ru-RU" sz="1800" dirty="0" smtClean="0"/>
              <a:t>ИСО </a:t>
            </a:r>
            <a:r>
              <a:rPr lang="ru-RU" sz="1800" dirty="0"/>
              <a:t>– международная организация по стандартизации; </a:t>
            </a:r>
            <a:endParaRPr lang="ru-RU" sz="1800" dirty="0" smtClean="0"/>
          </a:p>
          <a:p>
            <a:pPr marL="0" lvl="0" indent="457200" algn="just">
              <a:spcBef>
                <a:spcPts val="0"/>
              </a:spcBef>
              <a:buNone/>
            </a:pPr>
            <a:r>
              <a:rPr lang="ru-RU" sz="1800" dirty="0" smtClean="0"/>
              <a:t>МЭК </a:t>
            </a:r>
            <a:r>
              <a:rPr lang="ru-RU" sz="1800" dirty="0"/>
              <a:t>– международная электротехническая комиссия; </a:t>
            </a:r>
            <a:endParaRPr lang="ru-RU" sz="1800" dirty="0" smtClean="0"/>
          </a:p>
          <a:p>
            <a:pPr marL="0" lvl="0" indent="457200" algn="just">
              <a:spcBef>
                <a:spcPts val="0"/>
              </a:spcBef>
              <a:buNone/>
            </a:pPr>
            <a:r>
              <a:rPr lang="ru-RU" sz="1800" dirty="0" smtClean="0"/>
              <a:t>МСЭ </a:t>
            </a:r>
            <a:r>
              <a:rPr lang="ru-RU" sz="1800" dirty="0"/>
              <a:t>– международный союз электросвязи, ЕС – Европейский союз. </a:t>
            </a:r>
            <a:endParaRPr lang="ru-RU" sz="1800" dirty="0" smtClean="0"/>
          </a:p>
          <a:p>
            <a:pPr marL="0" lvl="0" indent="457200" algn="just">
              <a:spcBef>
                <a:spcPts val="0"/>
              </a:spcBef>
              <a:buNone/>
            </a:pPr>
            <a:endParaRPr lang="ru-RU" sz="1800" b="1" dirty="0" smtClean="0"/>
          </a:p>
          <a:p>
            <a:pPr marL="0" lvl="0" indent="457200" algn="just">
              <a:spcBef>
                <a:spcPts val="0"/>
              </a:spcBef>
              <a:buNone/>
            </a:pPr>
            <a:r>
              <a:rPr lang="ru-RU" sz="1800" b="1" dirty="0" smtClean="0"/>
              <a:t>Межгосударственный </a:t>
            </a:r>
            <a:r>
              <a:rPr lang="ru-RU" sz="1800" b="1" dirty="0"/>
              <a:t>стандарт (ГОСТ): </a:t>
            </a:r>
            <a:endParaRPr lang="ru-RU" sz="1800" b="1" dirty="0" smtClean="0"/>
          </a:p>
          <a:p>
            <a:pPr marL="0" lvl="0" indent="457200" algn="just">
              <a:spcBef>
                <a:spcPts val="0"/>
              </a:spcBef>
              <a:buNone/>
            </a:pPr>
            <a:r>
              <a:rPr lang="ru-RU" sz="1800" dirty="0" smtClean="0"/>
              <a:t>Региональный </a:t>
            </a:r>
            <a:r>
              <a:rPr lang="ru-RU" sz="1800" dirty="0"/>
              <a:t>стандарт, принятый Евразийским советом по стандартизации, метрологии и сертификации и доступный большому кругу пользователей. </a:t>
            </a:r>
            <a:endParaRPr lang="ru-RU" sz="1800" dirty="0" smtClean="0"/>
          </a:p>
          <a:p>
            <a:pPr marL="0" lvl="0" indent="457200" algn="just">
              <a:spcBef>
                <a:spcPts val="0"/>
              </a:spcBef>
              <a:buNone/>
            </a:pPr>
            <a:endParaRPr lang="ru-RU" sz="1800" b="1" dirty="0" smtClean="0"/>
          </a:p>
          <a:p>
            <a:pPr marL="0" lvl="0" indent="457200" algn="just">
              <a:spcBef>
                <a:spcPts val="0"/>
              </a:spcBef>
              <a:buNone/>
            </a:pPr>
            <a:r>
              <a:rPr lang="ru-RU" sz="1800" b="1" dirty="0" smtClean="0"/>
              <a:t>Национальный </a:t>
            </a:r>
            <a:r>
              <a:rPr lang="ru-RU" sz="1800" b="1" dirty="0"/>
              <a:t>стандарт (ГОСТ Р</a:t>
            </a:r>
            <a:r>
              <a:rPr lang="ru-RU" sz="1800" b="1" dirty="0" smtClean="0"/>
              <a:t>) </a:t>
            </a:r>
            <a:r>
              <a:rPr lang="ru-RU" sz="1800" dirty="0" smtClean="0"/>
              <a:t>– </a:t>
            </a:r>
            <a:r>
              <a:rPr lang="ru-RU" sz="1800" dirty="0"/>
              <a:t>стандарт, принятый национальным органом по стандартизации (</a:t>
            </a:r>
            <a:r>
              <a:rPr lang="ru-RU" sz="1800" dirty="0" err="1"/>
              <a:t>Росстандарт</a:t>
            </a:r>
            <a:r>
              <a:rPr lang="ru-RU" sz="1800" dirty="0"/>
              <a:t>) и доступный широкому кругу </a:t>
            </a:r>
            <a:r>
              <a:rPr lang="ru-RU" sz="1800" dirty="0" smtClean="0"/>
              <a:t>потребителей.</a:t>
            </a:r>
          </a:p>
          <a:p>
            <a:pPr marL="0" lvl="0" indent="457200" algn="just">
              <a:spcBef>
                <a:spcPts val="0"/>
              </a:spcBef>
              <a:buNone/>
            </a:pPr>
            <a:endParaRPr lang="ru-RU" sz="1800" b="1" dirty="0" smtClean="0"/>
          </a:p>
          <a:p>
            <a:pPr marL="0" lvl="0" indent="457200" algn="just">
              <a:spcBef>
                <a:spcPts val="0"/>
              </a:spcBef>
              <a:buNone/>
            </a:pPr>
            <a:r>
              <a:rPr lang="ru-RU" sz="1800" b="1" dirty="0" smtClean="0"/>
              <a:t>Стандарты </a:t>
            </a:r>
            <a:r>
              <a:rPr lang="ru-RU" sz="1800" b="1" dirty="0"/>
              <a:t>организаций (СТО</a:t>
            </a:r>
            <a:r>
              <a:rPr lang="ru-RU" sz="1800" b="1" dirty="0" smtClean="0"/>
              <a:t>) </a:t>
            </a:r>
            <a:r>
              <a:rPr lang="ru-RU" sz="1800" dirty="0" smtClean="0"/>
              <a:t>– </a:t>
            </a:r>
            <a:r>
              <a:rPr lang="ru-RU" sz="1800" dirty="0"/>
              <a:t>стандарт, утвержденный и применяемый организацией для целей стандартизации, а также для совершенствования производства и обеспечения качества продукции, выполнения работ, оказания услуг, а также для распространения и использования полученных в различных областях знаний результатов исследований (испытаний), измерений и разработок.</a:t>
            </a:r>
          </a:p>
          <a:p>
            <a:pPr marL="0" indent="457200" algn="just">
              <a:spcBef>
                <a:spcPts val="0"/>
              </a:spcBef>
              <a:buNone/>
            </a:pPr>
            <a:endParaRPr lang="ru-RU" sz="18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00496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ая выноска 5"/>
          <p:cNvSpPr/>
          <p:nvPr/>
        </p:nvSpPr>
        <p:spPr>
          <a:xfrm>
            <a:off x="728330" y="5518298"/>
            <a:ext cx="8187070" cy="606055"/>
          </a:xfrm>
          <a:prstGeom prst="wedgeRectCallou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ая выноска 4"/>
          <p:cNvSpPr/>
          <p:nvPr/>
        </p:nvSpPr>
        <p:spPr>
          <a:xfrm>
            <a:off x="728330" y="2721935"/>
            <a:ext cx="8187070" cy="1711842"/>
          </a:xfrm>
          <a:prstGeom prst="wedgeRectCallou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14582" y="212761"/>
            <a:ext cx="8229600" cy="1143000"/>
          </a:xfrm>
        </p:spPr>
        <p:txBody>
          <a:bodyPr/>
          <a:lstStyle/>
          <a:p>
            <a:r>
              <a:rPr lang="ru-RU" dirty="0" smtClean="0"/>
              <a:t>Виды </a:t>
            </a:r>
            <a:r>
              <a:rPr lang="ru-RU" dirty="0"/>
              <a:t>стандарта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91116" y="1056109"/>
            <a:ext cx="7995683" cy="5424589"/>
          </a:xfrm>
        </p:spPr>
        <p:txBody>
          <a:bodyPr>
            <a:normAutofit fontScale="62500" lnSpcReduction="20000"/>
          </a:bodyPr>
          <a:lstStyle/>
          <a:p>
            <a:pPr marL="0" lvl="0" indent="45720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ru-RU" dirty="0" smtClean="0"/>
              <a:t>Вид стандарта – </a:t>
            </a:r>
            <a:r>
              <a:rPr lang="ru-RU" dirty="0"/>
              <a:t>характеристика, определяющаяся его содержанием в зависимости от объекта стандартизации. </a:t>
            </a:r>
            <a:endParaRPr lang="ru-RU" dirty="0" smtClean="0"/>
          </a:p>
          <a:p>
            <a:pPr marL="0" lvl="0" indent="457200" algn="just">
              <a:lnSpc>
                <a:spcPct val="120000"/>
              </a:lnSpc>
              <a:spcBef>
                <a:spcPts val="0"/>
              </a:spcBef>
              <a:buNone/>
            </a:pPr>
            <a:endParaRPr lang="ru-RU" dirty="0" smtClean="0"/>
          </a:p>
          <a:p>
            <a:pPr marL="0" lvl="0" indent="45720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ru-RU" dirty="0" smtClean="0"/>
              <a:t>В </a:t>
            </a:r>
            <a:r>
              <a:rPr lang="ru-RU" dirty="0"/>
              <a:t>зависимости от назначения и содержания </a:t>
            </a:r>
            <a:r>
              <a:rPr lang="ru-RU" dirty="0" smtClean="0"/>
              <a:t>установлены основные </a:t>
            </a:r>
            <a:r>
              <a:rPr lang="ru-RU" dirty="0"/>
              <a:t>виды стандартов: </a:t>
            </a:r>
            <a:endParaRPr lang="ru-RU" dirty="0" smtClean="0"/>
          </a:p>
          <a:p>
            <a:pPr marL="0" lvl="0" indent="457200" algn="just">
              <a:lnSpc>
                <a:spcPct val="120000"/>
              </a:lnSpc>
              <a:spcBef>
                <a:spcPts val="0"/>
              </a:spcBef>
              <a:buNone/>
            </a:pPr>
            <a:endParaRPr lang="ru-RU" dirty="0" smtClean="0"/>
          </a:p>
          <a:p>
            <a:pPr marL="0" lvl="0" indent="45720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ru-RU" dirty="0" smtClean="0"/>
              <a:t>- стандарты </a:t>
            </a:r>
            <a:r>
              <a:rPr lang="ru-RU" dirty="0"/>
              <a:t>основополагающие; </a:t>
            </a:r>
            <a:endParaRPr lang="ru-RU" dirty="0" smtClean="0"/>
          </a:p>
          <a:p>
            <a:pPr marL="0" lvl="0" indent="45720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ru-RU" dirty="0" smtClean="0"/>
              <a:t>- стандарты </a:t>
            </a:r>
            <a:r>
              <a:rPr lang="ru-RU" dirty="0"/>
              <a:t>на термины и определения; </a:t>
            </a:r>
            <a:endParaRPr lang="ru-RU" dirty="0" smtClean="0"/>
          </a:p>
          <a:p>
            <a:pPr marL="0" lvl="0" indent="45720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ru-RU" dirty="0" smtClean="0"/>
              <a:t>- стандарты </a:t>
            </a:r>
            <a:r>
              <a:rPr lang="ru-RU" dirty="0"/>
              <a:t>на продукцию; </a:t>
            </a:r>
            <a:endParaRPr lang="ru-RU" dirty="0" smtClean="0"/>
          </a:p>
          <a:p>
            <a:pPr marL="0" lvl="0" indent="45720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ru-RU" dirty="0" smtClean="0"/>
              <a:t>- стандарты </a:t>
            </a:r>
            <a:r>
              <a:rPr lang="ru-RU" dirty="0"/>
              <a:t>на услугу; </a:t>
            </a:r>
            <a:endParaRPr lang="ru-RU" dirty="0" smtClean="0"/>
          </a:p>
          <a:p>
            <a:pPr marL="0" lvl="0" indent="45720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ru-RU" dirty="0" smtClean="0"/>
              <a:t>- стандарты </a:t>
            </a:r>
            <a:r>
              <a:rPr lang="ru-RU" dirty="0"/>
              <a:t>на процессы (работы); </a:t>
            </a:r>
            <a:endParaRPr lang="ru-RU" dirty="0" smtClean="0"/>
          </a:p>
          <a:p>
            <a:pPr marL="0" lvl="0" indent="45720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ru-RU" dirty="0" smtClean="0"/>
              <a:t>- стандарты </a:t>
            </a:r>
            <a:r>
              <a:rPr lang="ru-RU" dirty="0"/>
              <a:t>на методы контроля. </a:t>
            </a:r>
            <a:endParaRPr lang="ru-RU" dirty="0" smtClean="0"/>
          </a:p>
          <a:p>
            <a:pPr marL="0" lvl="0" indent="457200" algn="just">
              <a:lnSpc>
                <a:spcPct val="120000"/>
              </a:lnSpc>
              <a:spcBef>
                <a:spcPts val="0"/>
              </a:spcBef>
              <a:buNone/>
            </a:pPr>
            <a:endParaRPr lang="ru-RU" dirty="0" smtClean="0"/>
          </a:p>
          <a:p>
            <a:pPr marL="0" lvl="0" indent="457200" algn="just">
              <a:lnSpc>
                <a:spcPct val="120000"/>
              </a:lnSpc>
              <a:spcBef>
                <a:spcPts val="0"/>
              </a:spcBef>
              <a:buNone/>
            </a:pPr>
            <a:endParaRPr lang="ru-RU" dirty="0" smtClean="0"/>
          </a:p>
          <a:p>
            <a:pPr marL="0" lvl="0" indent="45720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ru-RU" dirty="0" smtClean="0"/>
              <a:t>Дополнительно </a:t>
            </a:r>
            <a:r>
              <a:rPr lang="ru-RU" dirty="0"/>
              <a:t>могут разрабатываться: </a:t>
            </a:r>
            <a:endParaRPr lang="ru-RU" dirty="0" smtClean="0"/>
          </a:p>
          <a:p>
            <a:pPr marL="0" lvl="0" indent="457200" algn="just">
              <a:lnSpc>
                <a:spcPct val="120000"/>
              </a:lnSpc>
              <a:spcBef>
                <a:spcPts val="0"/>
              </a:spcBef>
              <a:buNone/>
            </a:pPr>
            <a:endParaRPr lang="ru-RU" dirty="0" smtClean="0"/>
          </a:p>
          <a:p>
            <a:pPr marL="0" lvl="0" indent="45720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ru-RU" dirty="0" smtClean="0"/>
              <a:t>- стандарты </a:t>
            </a:r>
            <a:r>
              <a:rPr lang="ru-RU" dirty="0"/>
              <a:t>на совместимость; </a:t>
            </a:r>
            <a:endParaRPr lang="ru-RU" dirty="0" smtClean="0"/>
          </a:p>
          <a:p>
            <a:pPr marL="0" lvl="0" indent="45720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ru-RU" dirty="0" smtClean="0"/>
              <a:t>- </a:t>
            </a:r>
            <a:r>
              <a:rPr lang="ru-RU" dirty="0"/>
              <a:t>стандарты на номенклатуру показателей.</a:t>
            </a:r>
          </a:p>
          <a:p>
            <a:pPr indent="457200" algn="just">
              <a:lnSpc>
                <a:spcPct val="120000"/>
              </a:lnSpc>
              <a:spcBef>
                <a:spcPts val="0"/>
              </a:spcBef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670601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77637" y="287535"/>
            <a:ext cx="8229600" cy="1143000"/>
          </a:xfrm>
        </p:spPr>
        <p:txBody>
          <a:bodyPr>
            <a:normAutofit/>
          </a:bodyPr>
          <a:lstStyle/>
          <a:p>
            <a:r>
              <a:rPr lang="ru-RU" sz="3200" dirty="0"/>
              <a:t>Обозначение </a:t>
            </a:r>
            <a:r>
              <a:rPr lang="ru-RU" sz="3200" dirty="0" smtClean="0"/>
              <a:t>национальных стандартов 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752528"/>
          </a:xfrm>
        </p:spPr>
        <p:txBody>
          <a:bodyPr>
            <a:normAutofit fontScale="70000" lnSpcReduction="20000"/>
          </a:bodyPr>
          <a:lstStyle/>
          <a:p>
            <a:pPr marL="0" lvl="0" indent="0">
              <a:buNone/>
            </a:pPr>
            <a:r>
              <a:rPr lang="ru-RU" dirty="0" smtClean="0"/>
              <a:t>1. </a:t>
            </a:r>
          </a:p>
          <a:p>
            <a:pPr marL="0" lvl="0" indent="0">
              <a:buNone/>
            </a:pPr>
            <a:endParaRPr lang="ru-RU" dirty="0"/>
          </a:p>
          <a:p>
            <a:pPr marL="0" lvl="0" indent="0">
              <a:buNone/>
            </a:pPr>
            <a:endParaRPr lang="ru-RU" dirty="0" smtClean="0"/>
          </a:p>
          <a:p>
            <a:pPr marL="0" lvl="0" indent="0" algn="just">
              <a:buNone/>
            </a:pPr>
            <a:r>
              <a:rPr lang="ru-RU" sz="2600" dirty="0" smtClean="0"/>
              <a:t>До </a:t>
            </a:r>
            <a:r>
              <a:rPr lang="ru-RU" sz="2600" dirty="0"/>
              <a:t>2000 г. год принятия стандарта указывался двумя последними цифрами этого года. После 1 июля 2003 г. национальные стандарты Российской Федерации не принимают, а утверждают. </a:t>
            </a:r>
            <a:endParaRPr lang="ru-RU" sz="2600" dirty="0" smtClean="0"/>
          </a:p>
          <a:p>
            <a:pPr marL="0" lvl="0" indent="0">
              <a:buNone/>
            </a:pPr>
            <a:r>
              <a:rPr lang="ru-RU" b="1" dirty="0" smtClean="0"/>
              <a:t>Пример.</a:t>
            </a:r>
            <a:r>
              <a:rPr lang="ru-RU" dirty="0" smtClean="0"/>
              <a:t>  </a:t>
            </a:r>
            <a:r>
              <a:rPr lang="ru-RU" dirty="0"/>
              <a:t>ГОСТ Р 50628-2000 </a:t>
            </a:r>
            <a:endParaRPr lang="ru-RU" dirty="0" smtClean="0"/>
          </a:p>
          <a:p>
            <a:pPr marL="0" lvl="0" indent="0" algn="just">
              <a:buNone/>
            </a:pPr>
            <a:r>
              <a:rPr lang="ru-RU" dirty="0" smtClean="0"/>
              <a:t>2</a:t>
            </a:r>
            <a:r>
              <a:rPr lang="ru-RU" dirty="0"/>
              <a:t>. Если национальный стандарт РФ входит в систему (комплекс) общетехнических или организационно-методических национальных стандартов РФ, то в обозначение стандарта включают одно-, двухразрядный код системы стандартов, отделенный от остальной цифровой части обозначения точкой. </a:t>
            </a:r>
            <a:endParaRPr lang="ru-RU" dirty="0" smtClean="0"/>
          </a:p>
          <a:p>
            <a:pPr marL="0" lvl="0" indent="0" algn="just">
              <a:buNone/>
            </a:pPr>
            <a:endParaRPr lang="ru-RU" dirty="0"/>
          </a:p>
          <a:p>
            <a:pPr marL="0" lvl="0" indent="0" algn="just">
              <a:buNone/>
            </a:pPr>
            <a:endParaRPr lang="ru-RU" dirty="0" smtClean="0"/>
          </a:p>
          <a:p>
            <a:pPr marL="0" lvl="0" indent="0" algn="just">
              <a:buNone/>
            </a:pPr>
            <a:endParaRPr lang="ru-RU" dirty="0" smtClean="0"/>
          </a:p>
          <a:p>
            <a:pPr marL="0" lvl="0" indent="0" algn="just">
              <a:buNone/>
            </a:pPr>
            <a:r>
              <a:rPr lang="ru-RU" b="1" dirty="0" smtClean="0"/>
              <a:t>Пример</a:t>
            </a:r>
            <a:r>
              <a:rPr lang="ru-RU" dirty="0" smtClean="0"/>
              <a:t>. </a:t>
            </a:r>
            <a:r>
              <a:rPr lang="ru-RU" dirty="0"/>
              <a:t>ГОСТ Р 1.5 – 2004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15" t="27932" r="29949" b="61437"/>
          <a:stretch/>
        </p:blipFill>
        <p:spPr bwMode="auto">
          <a:xfrm>
            <a:off x="1656759" y="958208"/>
            <a:ext cx="5429841" cy="10369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18" t="59439" r="22912" b="32829"/>
          <a:stretch/>
        </p:blipFill>
        <p:spPr bwMode="auto">
          <a:xfrm>
            <a:off x="1535390" y="4520239"/>
            <a:ext cx="6579910" cy="7541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34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959516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57563" y="399848"/>
            <a:ext cx="7800110" cy="940920"/>
          </a:xfrm>
        </p:spPr>
        <p:txBody>
          <a:bodyPr>
            <a:noAutofit/>
          </a:bodyPr>
          <a:lstStyle/>
          <a:p>
            <a:r>
              <a:rPr lang="ru-RU" sz="2400" dirty="0"/>
              <a:t>Обозначения </a:t>
            </a:r>
            <a:r>
              <a:rPr lang="ru-RU" sz="2400" dirty="0" smtClean="0"/>
              <a:t>национальных стандартов </a:t>
            </a:r>
            <a:r>
              <a:rPr lang="ru-RU" sz="2400" dirty="0"/>
              <a:t>РФ, разрабатываемых на основе применения международных стандартов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597971"/>
          </a:xfrm>
        </p:spPr>
        <p:txBody>
          <a:bodyPr>
            <a:noAutofit/>
          </a:bodyPr>
          <a:lstStyle/>
          <a:p>
            <a:pPr marL="0" lvl="0" indent="0" algn="just">
              <a:spcBef>
                <a:spcPts val="0"/>
              </a:spcBef>
              <a:buNone/>
            </a:pPr>
            <a:r>
              <a:rPr lang="ru-RU" sz="2000" b="1" dirty="0" smtClean="0"/>
              <a:t>1. Обозначение </a:t>
            </a:r>
            <a:r>
              <a:rPr lang="ru-RU" sz="2000" b="1" dirty="0"/>
              <a:t>идентичного стандарта </a:t>
            </a:r>
            <a:endParaRPr lang="ru-RU" sz="2000" b="1" dirty="0" smtClean="0"/>
          </a:p>
          <a:p>
            <a:pPr marL="0" lvl="0" indent="0" algn="just">
              <a:spcBef>
                <a:spcPts val="0"/>
              </a:spcBef>
              <a:buNone/>
            </a:pPr>
            <a:endParaRPr lang="ru-RU" sz="1600" dirty="0" smtClean="0"/>
          </a:p>
          <a:p>
            <a:pPr marL="0" lvl="0" indent="0" algn="just">
              <a:spcBef>
                <a:spcPts val="0"/>
              </a:spcBef>
              <a:buNone/>
            </a:pPr>
            <a:endParaRPr lang="ru-RU" sz="1600" b="1" dirty="0" smtClean="0"/>
          </a:p>
          <a:p>
            <a:pPr marL="0" lvl="0" indent="0" algn="just">
              <a:spcBef>
                <a:spcPts val="0"/>
              </a:spcBef>
              <a:buNone/>
            </a:pPr>
            <a:r>
              <a:rPr lang="ru-RU" sz="1600" b="1" dirty="0" smtClean="0"/>
              <a:t>Примеры</a:t>
            </a:r>
            <a:r>
              <a:rPr lang="ru-RU" sz="1600" b="1" dirty="0"/>
              <a:t>.</a:t>
            </a:r>
            <a:r>
              <a:rPr lang="ru-RU" sz="1600" dirty="0"/>
              <a:t> </a:t>
            </a:r>
            <a:endParaRPr lang="ru-RU" sz="1600" dirty="0" smtClean="0"/>
          </a:p>
          <a:p>
            <a:pPr marL="0" lvl="0" indent="0" algn="just">
              <a:spcBef>
                <a:spcPts val="0"/>
              </a:spcBef>
              <a:buNone/>
            </a:pPr>
            <a:r>
              <a:rPr lang="ru-RU" sz="1600" dirty="0" smtClean="0"/>
              <a:t>- Национальный </a:t>
            </a:r>
            <a:r>
              <a:rPr lang="ru-RU" sz="1600" dirty="0"/>
              <a:t>стандарт Российской Федерации, идентичный международному стандарту ИСО 10264:1990, </a:t>
            </a:r>
            <a:r>
              <a:rPr lang="ru-RU" sz="1600" u="sng" dirty="0"/>
              <a:t>обозначают:</a:t>
            </a:r>
            <a:r>
              <a:rPr lang="ru-RU" sz="1600" dirty="0"/>
              <a:t> </a:t>
            </a:r>
            <a:endParaRPr lang="ru-RU" sz="1600" dirty="0" smtClean="0"/>
          </a:p>
          <a:p>
            <a:pPr marL="0" lvl="0" indent="0" algn="just">
              <a:spcBef>
                <a:spcPts val="0"/>
              </a:spcBef>
              <a:buNone/>
            </a:pPr>
            <a:endParaRPr lang="ru-RU" sz="1600" dirty="0" smtClean="0"/>
          </a:p>
          <a:p>
            <a:pPr marL="0" lvl="0" indent="0" algn="just">
              <a:spcBef>
                <a:spcPts val="0"/>
              </a:spcBef>
              <a:buNone/>
            </a:pPr>
            <a:endParaRPr lang="ru-RU" sz="1600" dirty="0" smtClean="0"/>
          </a:p>
          <a:p>
            <a:pPr marL="0" lvl="0" indent="0" algn="just">
              <a:spcBef>
                <a:spcPts val="0"/>
              </a:spcBef>
              <a:buNone/>
            </a:pPr>
            <a:endParaRPr lang="ru-RU" sz="1600" dirty="0" smtClean="0"/>
          </a:p>
          <a:p>
            <a:pPr marL="0" lvl="0" indent="0" algn="just">
              <a:spcBef>
                <a:spcPts val="0"/>
              </a:spcBef>
              <a:buNone/>
            </a:pPr>
            <a:r>
              <a:rPr lang="ru-RU" sz="1600" dirty="0" smtClean="0"/>
              <a:t>- Национальный </a:t>
            </a:r>
            <a:r>
              <a:rPr lang="ru-RU" sz="1600" dirty="0"/>
              <a:t>стандарт Российской Федерации, идентичный международному стандарту МЭК 61097:1999, </a:t>
            </a:r>
            <a:r>
              <a:rPr lang="ru-RU" sz="1600" u="sng" dirty="0" smtClean="0"/>
              <a:t>обозначают: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ru-RU" sz="2000" dirty="0" smtClean="0"/>
              <a:t>ГОСТ Р МЭК 61097-2004.</a:t>
            </a:r>
          </a:p>
          <a:p>
            <a:pPr marL="0" lvl="0" indent="0" algn="just">
              <a:spcBef>
                <a:spcPts val="0"/>
              </a:spcBef>
              <a:buNone/>
            </a:pPr>
            <a:r>
              <a:rPr lang="ru-RU" sz="1800" b="1" dirty="0" smtClean="0"/>
              <a:t>2</a:t>
            </a:r>
            <a:r>
              <a:rPr lang="ru-RU" sz="1800" b="1" dirty="0"/>
              <a:t>. Обозначение стандарта, модифицированного по отношению к международному стандарту </a:t>
            </a:r>
            <a:endParaRPr lang="ru-RU" sz="1800" b="1" dirty="0" smtClean="0"/>
          </a:p>
          <a:p>
            <a:pPr marL="0" lvl="0" indent="0" algn="just">
              <a:spcBef>
                <a:spcPts val="0"/>
              </a:spcBef>
              <a:buNone/>
            </a:pPr>
            <a:r>
              <a:rPr lang="ru-RU" sz="1600" dirty="0" smtClean="0"/>
              <a:t>обозначение </a:t>
            </a:r>
            <a:r>
              <a:rPr lang="ru-RU" sz="1600" dirty="0"/>
              <a:t>примененного международного стандарта приводят в скобках под обозначением национального стандарта </a:t>
            </a:r>
            <a:endParaRPr lang="ru-RU" sz="1600" dirty="0" smtClean="0"/>
          </a:p>
          <a:p>
            <a:pPr marL="0" lvl="0" indent="0">
              <a:spcBef>
                <a:spcPts val="0"/>
              </a:spcBef>
              <a:buNone/>
            </a:pPr>
            <a:r>
              <a:rPr lang="ru-RU" sz="1600" b="1" dirty="0" smtClean="0"/>
              <a:t>Примеры</a:t>
            </a:r>
            <a:r>
              <a:rPr lang="ru-RU" sz="1600" b="1" dirty="0"/>
              <a:t>. </a:t>
            </a:r>
            <a:r>
              <a:rPr lang="ru-RU" sz="1600" b="1" dirty="0" smtClean="0"/>
              <a:t>                                             </a:t>
            </a:r>
            <a:r>
              <a:rPr lang="ru-RU" sz="2000" dirty="0" smtClean="0"/>
              <a:t>ГОСТ </a:t>
            </a:r>
            <a:r>
              <a:rPr lang="ru-RU" sz="2000" dirty="0"/>
              <a:t>Р 51885-2002 </a:t>
            </a:r>
            <a:endParaRPr lang="ru-RU" sz="2000" dirty="0" smtClean="0"/>
          </a:p>
          <a:p>
            <a:pPr marL="0" lvl="0" indent="0" algn="ctr">
              <a:spcBef>
                <a:spcPts val="0"/>
              </a:spcBef>
              <a:buNone/>
            </a:pPr>
            <a:r>
              <a:rPr lang="ru-RU" sz="2000" dirty="0" smtClean="0"/>
              <a:t>(</a:t>
            </a:r>
            <a:r>
              <a:rPr lang="ru-RU" sz="2000" dirty="0"/>
              <a:t>ИСО 7001:1990) </a:t>
            </a:r>
            <a:endParaRPr lang="ru-RU" sz="2000" dirty="0" smtClean="0"/>
          </a:p>
          <a:p>
            <a:pPr marL="0" lvl="0" indent="0" algn="ctr">
              <a:spcBef>
                <a:spcPts val="0"/>
              </a:spcBef>
              <a:buNone/>
            </a:pPr>
            <a:r>
              <a:rPr lang="ru-RU" sz="2000" dirty="0" smtClean="0"/>
              <a:t>ГОСТ </a:t>
            </a:r>
            <a:r>
              <a:rPr lang="ru-RU" sz="2000" dirty="0"/>
              <a:t>Р 52377-2004 </a:t>
            </a:r>
            <a:endParaRPr lang="ru-RU" sz="2000" dirty="0" smtClean="0"/>
          </a:p>
          <a:p>
            <a:pPr marL="0" lvl="0" indent="0" algn="ctr">
              <a:spcBef>
                <a:spcPts val="0"/>
              </a:spcBef>
              <a:buNone/>
            </a:pPr>
            <a:r>
              <a:rPr lang="ru-RU" sz="2000" dirty="0" smtClean="0"/>
              <a:t>(</a:t>
            </a:r>
            <a:r>
              <a:rPr lang="ru-RU" sz="2000" dirty="0"/>
              <a:t>МЭК 60634-3:1998)</a:t>
            </a:r>
          </a:p>
          <a:p>
            <a:pPr marL="0" indent="0" algn="just">
              <a:spcBef>
                <a:spcPts val="0"/>
              </a:spcBef>
              <a:buNone/>
            </a:pPr>
            <a:endParaRPr lang="ru-RU" sz="16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95" t="34310" r="29794" b="61632"/>
          <a:stretch/>
        </p:blipFill>
        <p:spPr bwMode="auto">
          <a:xfrm>
            <a:off x="1403648" y="1729656"/>
            <a:ext cx="6048672" cy="40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948" t="43299" r="36134" b="51192"/>
          <a:stretch/>
        </p:blipFill>
        <p:spPr bwMode="auto">
          <a:xfrm>
            <a:off x="2554249" y="2730980"/>
            <a:ext cx="4252262" cy="6480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35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521240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ru-RU" sz="4400" dirty="0" smtClean="0"/>
          </a:p>
          <a:p>
            <a:pPr marL="0" indent="0" algn="ctr">
              <a:buNone/>
            </a:pPr>
            <a:r>
              <a:rPr lang="ru-RU" sz="4400" dirty="0" smtClean="0"/>
              <a:t>Метрология </a:t>
            </a:r>
            <a:endParaRPr lang="ru-RU" sz="4400" dirty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36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223268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ая выноска 4"/>
          <p:cNvSpPr/>
          <p:nvPr/>
        </p:nvSpPr>
        <p:spPr>
          <a:xfrm>
            <a:off x="255181" y="1052736"/>
            <a:ext cx="8601740" cy="1073776"/>
          </a:xfrm>
          <a:prstGeom prst="wedgeRectCallou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357744" y="249382"/>
            <a:ext cx="7329055" cy="866234"/>
          </a:xfrm>
        </p:spPr>
        <p:txBody>
          <a:bodyPr/>
          <a:lstStyle/>
          <a:p>
            <a:r>
              <a:rPr lang="ru-RU" dirty="0"/>
              <a:t>Метрология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4525963"/>
          </a:xfrm>
        </p:spPr>
        <p:txBody>
          <a:bodyPr>
            <a:noAutofit/>
          </a:bodyPr>
          <a:lstStyle/>
          <a:p>
            <a:pPr marL="0" lv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 smtClean="0"/>
              <a:t>Метрология (</a:t>
            </a:r>
            <a:r>
              <a:rPr lang="ru-RU" sz="2000" b="1" dirty="0"/>
              <a:t>от греч. "метро" - мера</a:t>
            </a:r>
            <a:r>
              <a:rPr lang="ru-RU" sz="2000" dirty="0"/>
              <a:t> и </a:t>
            </a:r>
            <a:r>
              <a:rPr lang="ru-RU" sz="2000" b="1" dirty="0"/>
              <a:t>"логос" - учение</a:t>
            </a:r>
            <a:r>
              <a:rPr lang="ru-RU" sz="2000" dirty="0"/>
              <a:t>) - это наука об измерениях, методах и средствах обеспечения единства и требуемой точности измерений</a:t>
            </a:r>
            <a:r>
              <a:rPr lang="ru-RU" sz="2000" dirty="0" smtClean="0"/>
              <a:t>.</a:t>
            </a:r>
          </a:p>
          <a:p>
            <a:pPr marL="0" lv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 smtClean="0"/>
              <a:t> </a:t>
            </a:r>
          </a:p>
          <a:p>
            <a:pPr marL="0" lv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 smtClean="0"/>
              <a:t>Метрология бывает:</a:t>
            </a:r>
          </a:p>
          <a:p>
            <a:pPr marL="0" lv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 smtClean="0"/>
              <a:t>теоретическая метрология</a:t>
            </a:r>
            <a:r>
              <a:rPr lang="ru-RU" sz="2000" dirty="0" smtClean="0"/>
              <a:t> - занимается </a:t>
            </a:r>
            <a:r>
              <a:rPr lang="ru-RU" sz="2000" dirty="0"/>
              <a:t>вопросами фундаментальных исследований, созданием системы единиц измерений, физических постоянных, разработкой новых методов </a:t>
            </a:r>
            <a:r>
              <a:rPr lang="ru-RU" sz="2000" dirty="0" smtClean="0"/>
              <a:t>измерения; </a:t>
            </a:r>
          </a:p>
          <a:p>
            <a:pPr marL="0" lv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 smtClean="0"/>
              <a:t>прикладная метрология </a:t>
            </a:r>
            <a:r>
              <a:rPr lang="ru-RU" sz="2000" dirty="0" smtClean="0"/>
              <a:t>- занимается </a:t>
            </a:r>
            <a:r>
              <a:rPr lang="ru-RU" sz="2000" dirty="0"/>
              <a:t>вопросами практического применения в различных сферах деятельности результатов теоретических исследований в рамках </a:t>
            </a:r>
            <a:r>
              <a:rPr lang="ru-RU" sz="2000" dirty="0" smtClean="0"/>
              <a:t>метрологии;</a:t>
            </a:r>
          </a:p>
          <a:p>
            <a:pPr marL="0" lv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 smtClean="0"/>
              <a:t>законодательная метрология </a:t>
            </a:r>
            <a:r>
              <a:rPr lang="ru-RU" sz="2000" dirty="0" smtClean="0"/>
              <a:t>- включает </a:t>
            </a:r>
            <a:r>
              <a:rPr lang="ru-RU" sz="2000" dirty="0"/>
              <a:t>совокупность взаимообусловленных правил и норм, направленных на обеспечение единства измерений, которые возводятся в ранг правовых положений и имеют обязательную силу и находятся под контролем государства.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0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37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956791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64360" y="306456"/>
            <a:ext cx="7886700" cy="829617"/>
          </a:xfrm>
        </p:spPr>
        <p:txBody>
          <a:bodyPr/>
          <a:lstStyle/>
          <a:p>
            <a:r>
              <a:rPr lang="ru-RU" dirty="0" smtClean="0"/>
              <a:t>Определения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27050" y="1313779"/>
            <a:ext cx="7886700" cy="3653219"/>
          </a:xfrm>
        </p:spPr>
        <p:txBody>
          <a:bodyPr>
            <a:noAutofit/>
          </a:bodyPr>
          <a:lstStyle/>
          <a:p>
            <a:pPr marL="0" indent="457200" algn="just">
              <a:spcBef>
                <a:spcPts val="0"/>
              </a:spcBef>
              <a:buNone/>
            </a:pPr>
            <a:r>
              <a:rPr lang="ru-RU" sz="2400" b="1" dirty="0"/>
              <a:t>Измерение</a:t>
            </a:r>
            <a:r>
              <a:rPr lang="ru-RU" sz="2400" dirty="0"/>
              <a:t> – совокупность операций, выполняемых для </a:t>
            </a:r>
            <a:r>
              <a:rPr lang="ru-RU" sz="2400" dirty="0" smtClean="0"/>
              <a:t>определения </a:t>
            </a:r>
            <a:r>
              <a:rPr lang="ru-RU" sz="2400" dirty="0"/>
              <a:t>количественного значения величины.</a:t>
            </a:r>
          </a:p>
          <a:p>
            <a:pPr marL="0" indent="457200" algn="just">
              <a:spcBef>
                <a:spcPts val="0"/>
              </a:spcBef>
              <a:buNone/>
            </a:pPr>
            <a:endParaRPr lang="ru-RU" sz="2400" b="1" dirty="0" smtClean="0"/>
          </a:p>
          <a:p>
            <a:pPr marL="0" indent="457200" algn="just">
              <a:spcBef>
                <a:spcPts val="0"/>
              </a:spcBef>
              <a:buNone/>
            </a:pPr>
            <a:r>
              <a:rPr lang="ru-RU" sz="2400" b="1" dirty="0" smtClean="0"/>
              <a:t>Физической </a:t>
            </a:r>
            <a:r>
              <a:rPr lang="ru-RU" sz="2400" b="1" dirty="0"/>
              <a:t>величиной </a:t>
            </a:r>
            <a:r>
              <a:rPr lang="ru-RU" sz="2400" dirty="0"/>
              <a:t>называют одно из свойств </a:t>
            </a:r>
            <a:r>
              <a:rPr lang="ru-RU" sz="2400" dirty="0" smtClean="0"/>
              <a:t>физического </a:t>
            </a:r>
            <a:r>
              <a:rPr lang="ru-RU" sz="2400" dirty="0"/>
              <a:t>объекта (явления, процесса), которое является общим в </a:t>
            </a:r>
            <a:r>
              <a:rPr lang="ru-RU" sz="2400" dirty="0" smtClean="0"/>
              <a:t>качественном </a:t>
            </a:r>
            <a:r>
              <a:rPr lang="ru-RU" sz="2400" dirty="0"/>
              <a:t>отношении для многих физических объектов, </a:t>
            </a:r>
            <a:r>
              <a:rPr lang="ru-RU" sz="2400" dirty="0" smtClean="0"/>
              <a:t>отличаясь </a:t>
            </a:r>
            <a:r>
              <a:rPr lang="ru-RU" sz="2400" dirty="0"/>
              <a:t>при этом количественным значением</a:t>
            </a:r>
            <a:r>
              <a:rPr lang="ru-RU" sz="2400" dirty="0" smtClean="0"/>
              <a:t>.</a:t>
            </a:r>
          </a:p>
          <a:p>
            <a:pPr marL="0" indent="457200" algn="just">
              <a:spcBef>
                <a:spcPts val="0"/>
              </a:spcBef>
              <a:buNone/>
            </a:pPr>
            <a:endParaRPr lang="ru-RU" sz="2400" b="1" dirty="0" smtClean="0"/>
          </a:p>
          <a:p>
            <a:pPr marL="0" indent="457200" algn="just">
              <a:spcBef>
                <a:spcPts val="0"/>
              </a:spcBef>
              <a:buNone/>
            </a:pPr>
            <a:r>
              <a:rPr lang="ru-RU" sz="2400" b="1" dirty="0" smtClean="0"/>
              <a:t>Единство </a:t>
            </a:r>
            <a:r>
              <a:rPr lang="ru-RU" sz="2400" b="1" dirty="0"/>
              <a:t>измерений </a:t>
            </a:r>
            <a:r>
              <a:rPr lang="ru-RU" sz="2400" dirty="0"/>
              <a:t>– состояние измерений, при котором </a:t>
            </a:r>
            <a:r>
              <a:rPr lang="ru-RU" sz="2400" dirty="0" smtClean="0"/>
              <a:t>их результаты </a:t>
            </a:r>
            <a:r>
              <a:rPr lang="ru-RU" sz="2400" dirty="0"/>
              <a:t>выражены в допущенных к применению в </a:t>
            </a:r>
            <a:r>
              <a:rPr lang="ru-RU" sz="2400" dirty="0" smtClean="0"/>
              <a:t>Российской Федерации </a:t>
            </a:r>
            <a:r>
              <a:rPr lang="ru-RU" sz="2400" dirty="0"/>
              <a:t>единицах величин, а показатели точности измерений </a:t>
            </a:r>
            <a:r>
              <a:rPr lang="ru-RU" sz="2400" dirty="0" smtClean="0"/>
              <a:t>не выходят </a:t>
            </a:r>
            <a:r>
              <a:rPr lang="ru-RU" sz="2400" dirty="0"/>
              <a:t>за установленные границы.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38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949709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58950" y="434108"/>
            <a:ext cx="7527850" cy="681507"/>
          </a:xfrm>
        </p:spPr>
        <p:txBody>
          <a:bodyPr/>
          <a:lstStyle/>
          <a:p>
            <a:r>
              <a:rPr lang="ru-RU" dirty="0" smtClean="0"/>
              <a:t>Определения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525963"/>
          </a:xfrm>
        </p:spPr>
        <p:txBody>
          <a:bodyPr>
            <a:normAutofit fontScale="92500" lnSpcReduction="10000"/>
          </a:bodyPr>
          <a:lstStyle/>
          <a:p>
            <a:pPr marL="0" indent="45720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ru-RU" b="1" dirty="0"/>
              <a:t>Единица величины </a:t>
            </a:r>
            <a:r>
              <a:rPr lang="ru-RU" dirty="0"/>
              <a:t>– фиксированное значение величины, </a:t>
            </a:r>
            <a:r>
              <a:rPr lang="ru-RU" dirty="0" smtClean="0"/>
              <a:t>которое </a:t>
            </a:r>
            <a:r>
              <a:rPr lang="ru-RU" dirty="0"/>
              <a:t>принято за единицу данной величины и применяется для </a:t>
            </a:r>
            <a:r>
              <a:rPr lang="ru-RU" dirty="0" smtClean="0"/>
              <a:t>количественного </a:t>
            </a:r>
            <a:r>
              <a:rPr lang="ru-RU" dirty="0"/>
              <a:t>выражения однородных с ней величин.</a:t>
            </a:r>
          </a:p>
          <a:p>
            <a:pPr marL="0" indent="45720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ru-RU" b="1" dirty="0"/>
              <a:t>Эталон единицы величины </a:t>
            </a:r>
            <a:r>
              <a:rPr lang="ru-RU" dirty="0"/>
              <a:t>– техническое средство, </a:t>
            </a:r>
            <a:r>
              <a:rPr lang="ru-RU" dirty="0" smtClean="0"/>
              <a:t>предназначенное </a:t>
            </a:r>
            <a:r>
              <a:rPr lang="ru-RU" dirty="0"/>
              <a:t>для воспроизведения, хранения и передачи единицы </a:t>
            </a:r>
            <a:r>
              <a:rPr lang="ru-RU" dirty="0" smtClean="0"/>
              <a:t>величины</a:t>
            </a:r>
            <a:r>
              <a:rPr lang="ru-RU" dirty="0"/>
              <a:t>.</a:t>
            </a:r>
          </a:p>
          <a:p>
            <a:pPr marL="0" indent="45720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ru-RU" b="1" dirty="0"/>
              <a:t>Государственный эталон единицы величины</a:t>
            </a:r>
            <a:r>
              <a:rPr lang="ru-RU" dirty="0"/>
              <a:t> – эталон </a:t>
            </a:r>
            <a:r>
              <a:rPr lang="ru-RU" dirty="0" smtClean="0"/>
              <a:t>единицы </a:t>
            </a:r>
            <a:r>
              <a:rPr lang="ru-RU" dirty="0"/>
              <a:t>величины, находящийся в федеральной собственности.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39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510446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52622" y="287078"/>
            <a:ext cx="7634177" cy="828537"/>
          </a:xfrm>
        </p:spPr>
        <p:txBody>
          <a:bodyPr/>
          <a:lstStyle/>
          <a:p>
            <a:r>
              <a:rPr lang="ru-RU" dirty="0" smtClean="0"/>
              <a:t>Метрологическая служба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908720"/>
            <a:ext cx="8229600" cy="4525963"/>
          </a:xfrm>
        </p:spPr>
        <p:txBody>
          <a:bodyPr>
            <a:normAutofit fontScale="92500" lnSpcReduction="10000"/>
          </a:bodyPr>
          <a:lstStyle/>
          <a:p>
            <a:pPr marL="0" indent="45720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ru-RU" b="1" dirty="0" smtClean="0"/>
              <a:t>Метрологическая </a:t>
            </a:r>
            <a:r>
              <a:rPr lang="ru-RU" b="1" dirty="0"/>
              <a:t>служба </a:t>
            </a:r>
            <a:r>
              <a:rPr lang="ru-RU" dirty="0"/>
              <a:t>– юридическое лицо, </a:t>
            </a:r>
            <a:r>
              <a:rPr lang="ru-RU" dirty="0" smtClean="0"/>
              <a:t>подразделение </a:t>
            </a:r>
            <a:r>
              <a:rPr lang="ru-RU" dirty="0"/>
              <a:t>юридического лица или объединение юридических лиц, либо </a:t>
            </a:r>
            <a:r>
              <a:rPr lang="ru-RU" dirty="0" smtClean="0"/>
              <a:t>работник </a:t>
            </a:r>
            <a:r>
              <a:rPr lang="ru-RU" dirty="0"/>
              <a:t>(работники) юридического лица, либо </a:t>
            </a:r>
            <a:r>
              <a:rPr lang="ru-RU" dirty="0" smtClean="0"/>
              <a:t>индивидуальный предприниматель, либо подведомственная организация федерального </a:t>
            </a:r>
            <a:r>
              <a:rPr lang="ru-RU" dirty="0"/>
              <a:t>органа исполнительной власти, его подразделение или </a:t>
            </a:r>
            <a:r>
              <a:rPr lang="ru-RU" dirty="0" smtClean="0"/>
              <a:t>должностное </a:t>
            </a:r>
            <a:r>
              <a:rPr lang="ru-RU" dirty="0"/>
              <a:t>лицо, выполняющие работы и (или) оказывающие услуги </a:t>
            </a:r>
            <a:r>
              <a:rPr lang="ru-RU" dirty="0" smtClean="0"/>
              <a:t>по обеспечению </a:t>
            </a:r>
            <a:r>
              <a:rPr lang="ru-RU" dirty="0"/>
              <a:t>единства измерений и действующие на основании </a:t>
            </a:r>
            <a:r>
              <a:rPr lang="ru-RU" dirty="0" smtClean="0"/>
              <a:t>положения </a:t>
            </a:r>
            <a:r>
              <a:rPr lang="ru-RU" dirty="0"/>
              <a:t>о метрологической службе.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40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646129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32687" y="260710"/>
            <a:ext cx="7886700" cy="1325563"/>
          </a:xfrm>
        </p:spPr>
        <p:txBody>
          <a:bodyPr>
            <a:normAutofit/>
          </a:bodyPr>
          <a:lstStyle/>
          <a:p>
            <a:r>
              <a:rPr lang="ru-RU" dirty="0" smtClean="0"/>
              <a:t>Калибровка и поверка </a:t>
            </a:r>
            <a:r>
              <a:rPr lang="ru-RU" dirty="0"/>
              <a:t>средства измерений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35935" y="1611365"/>
            <a:ext cx="8346558" cy="3653219"/>
          </a:xfrm>
        </p:spPr>
        <p:txBody>
          <a:bodyPr>
            <a:noAutofit/>
          </a:bodyPr>
          <a:lstStyle/>
          <a:p>
            <a:pPr marL="0" indent="45720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2400" dirty="0"/>
              <a:t>Закон вводит </a:t>
            </a:r>
            <a:r>
              <a:rPr lang="ru-RU" sz="2400" b="1" dirty="0">
                <a:solidFill>
                  <a:srgbClr val="FF0000"/>
                </a:solidFill>
              </a:rPr>
              <a:t>добровольную систему сертификации средств измерений </a:t>
            </a:r>
            <a:r>
              <a:rPr lang="ru-RU" sz="2400" b="1" dirty="0" smtClean="0">
                <a:solidFill>
                  <a:srgbClr val="FF0000"/>
                </a:solidFill>
              </a:rPr>
              <a:t>на соответствие </a:t>
            </a:r>
            <a:r>
              <a:rPr lang="ru-RU" sz="2400" b="1" dirty="0">
                <a:solidFill>
                  <a:srgbClr val="FF0000"/>
                </a:solidFill>
              </a:rPr>
              <a:t>метрологическим нормам и правилам, а также требованиям </a:t>
            </a:r>
            <a:r>
              <a:rPr lang="ru-RU" sz="2400" b="1" dirty="0" smtClean="0">
                <a:solidFill>
                  <a:srgbClr val="FF0000"/>
                </a:solidFill>
              </a:rPr>
              <a:t>Российской </a:t>
            </a:r>
            <a:r>
              <a:rPr lang="ru-RU" sz="2400" b="1" dirty="0">
                <a:solidFill>
                  <a:srgbClr val="FF0000"/>
                </a:solidFill>
              </a:rPr>
              <a:t>системы калибровки средств измерений</a:t>
            </a:r>
            <a:r>
              <a:rPr lang="ru-RU" sz="2400" dirty="0"/>
              <a:t>.</a:t>
            </a:r>
          </a:p>
          <a:p>
            <a:pPr marL="0" indent="45720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2400" b="1" dirty="0" smtClean="0"/>
              <a:t>Калибровка </a:t>
            </a:r>
            <a:r>
              <a:rPr lang="ru-RU" sz="2400" b="1" dirty="0"/>
              <a:t>средства измерений </a:t>
            </a:r>
            <a:r>
              <a:rPr lang="ru-RU" sz="2400" dirty="0"/>
              <a:t>– совокупность операций</a:t>
            </a:r>
            <a:r>
              <a:rPr lang="ru-RU" sz="2400" dirty="0" smtClean="0"/>
              <a:t>, выполняемых </a:t>
            </a:r>
            <a:r>
              <a:rPr lang="ru-RU" sz="2400" dirty="0"/>
              <a:t>в целях определения действительных значений </a:t>
            </a:r>
            <a:r>
              <a:rPr lang="ru-RU" sz="2400" dirty="0" smtClean="0"/>
              <a:t>метрологических </a:t>
            </a:r>
            <a:r>
              <a:rPr lang="ru-RU" sz="2400" dirty="0"/>
              <a:t>характеристик средств измерений</a:t>
            </a:r>
            <a:r>
              <a:rPr lang="ru-RU" sz="2400" dirty="0" smtClean="0"/>
              <a:t>.</a:t>
            </a:r>
            <a:endParaRPr lang="ru-RU" sz="2400" dirty="0"/>
          </a:p>
          <a:p>
            <a:pPr marL="0" indent="45720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2400" b="1" dirty="0"/>
              <a:t>Поверка средства измерений </a:t>
            </a:r>
            <a:r>
              <a:rPr lang="ru-RU" sz="2400" dirty="0"/>
              <a:t>– совокупность операций, </a:t>
            </a:r>
            <a:r>
              <a:rPr lang="ru-RU" sz="2400" dirty="0" smtClean="0"/>
              <a:t>выполняемых </a:t>
            </a:r>
            <a:r>
              <a:rPr lang="ru-RU" sz="2400" dirty="0"/>
              <a:t>в целях подтверждения соответствия средств </a:t>
            </a:r>
            <a:r>
              <a:rPr lang="ru-RU" sz="2400" dirty="0" smtClean="0"/>
              <a:t>измерений </a:t>
            </a:r>
            <a:r>
              <a:rPr lang="ru-RU" sz="2400" dirty="0"/>
              <a:t>метрологическим требованиям.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41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268037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22055" y="441465"/>
            <a:ext cx="7886700" cy="887606"/>
          </a:xfrm>
        </p:spPr>
        <p:txBody>
          <a:bodyPr/>
          <a:lstStyle/>
          <a:p>
            <a:r>
              <a:rPr lang="ru-RU" dirty="0"/>
              <a:t>Виды измерений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52893" y="1329071"/>
            <a:ext cx="8176437" cy="3653219"/>
          </a:xfrm>
        </p:spPr>
        <p:txBody>
          <a:bodyPr>
            <a:noAutofit/>
          </a:bodyPr>
          <a:lstStyle/>
          <a:p>
            <a:pPr marL="0" indent="45720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2000" dirty="0"/>
              <a:t>По способу получения информации измерения разделяют:</a:t>
            </a:r>
          </a:p>
          <a:p>
            <a:pPr marL="0" indent="45720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2000" dirty="0"/>
              <a:t>1) на прямые измерения – непосредственное сравнение физической </a:t>
            </a:r>
            <a:r>
              <a:rPr lang="ru-RU" sz="2000" dirty="0" smtClean="0"/>
              <a:t>величины </a:t>
            </a:r>
            <a:r>
              <a:rPr lang="ru-RU" sz="2000" dirty="0"/>
              <a:t>с ее мерой</a:t>
            </a:r>
            <a:r>
              <a:rPr lang="ru-RU" sz="2000" dirty="0" smtClean="0"/>
              <a:t>;</a:t>
            </a:r>
            <a:endParaRPr lang="ru-RU" sz="2000" dirty="0"/>
          </a:p>
          <a:p>
            <a:pPr marL="0" indent="45720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2000" dirty="0"/>
              <a:t>2) косвенные измерения, отличающиеся от прямых тем, что искомое </a:t>
            </a:r>
            <a:r>
              <a:rPr lang="ru-RU" sz="2000" dirty="0" smtClean="0"/>
              <a:t>значение </a:t>
            </a:r>
            <a:r>
              <a:rPr lang="ru-RU" sz="2000" dirty="0"/>
              <a:t>величины устанавливают по результатам прямых измерений </a:t>
            </a:r>
            <a:r>
              <a:rPr lang="ru-RU" sz="2000" dirty="0" smtClean="0"/>
              <a:t>таких </a:t>
            </a:r>
            <a:r>
              <a:rPr lang="ru-RU" sz="2000" dirty="0"/>
              <a:t>величин, которые связаны с искомой определенной </a:t>
            </a:r>
            <a:r>
              <a:rPr lang="ru-RU" sz="2000" dirty="0" smtClean="0"/>
              <a:t>зависимостью</a:t>
            </a:r>
            <a:r>
              <a:rPr lang="ru-RU" sz="2000" dirty="0"/>
              <a:t>;</a:t>
            </a:r>
          </a:p>
          <a:p>
            <a:pPr marL="0" indent="45720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2000" dirty="0"/>
              <a:t>3) совокупные измерения, сопряженные с решением системы </a:t>
            </a:r>
            <a:r>
              <a:rPr lang="ru-RU" sz="2000" dirty="0" smtClean="0"/>
              <a:t>уравнений, составляемых </a:t>
            </a:r>
            <a:r>
              <a:rPr lang="ru-RU" sz="2000" dirty="0"/>
              <a:t>по результатам одновременных измерений </a:t>
            </a:r>
            <a:r>
              <a:rPr lang="ru-RU" sz="2000" dirty="0" smtClean="0"/>
              <a:t>нескольких однородных </a:t>
            </a:r>
            <a:r>
              <a:rPr lang="ru-RU" sz="2000" dirty="0"/>
              <a:t>величин. Решение системы уравнений дает </a:t>
            </a:r>
            <a:r>
              <a:rPr lang="ru-RU" sz="2000" dirty="0" smtClean="0"/>
              <a:t>возможность вычислить </a:t>
            </a:r>
            <a:r>
              <a:rPr lang="ru-RU" sz="2000" dirty="0"/>
              <a:t>искомую величину;</a:t>
            </a:r>
          </a:p>
          <a:p>
            <a:pPr marL="0" indent="45720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2000" dirty="0"/>
              <a:t>4) совместные измерения – измерения двух или более неоднородных </a:t>
            </a:r>
            <a:r>
              <a:rPr lang="ru-RU" sz="2000" dirty="0" smtClean="0"/>
              <a:t>физических </a:t>
            </a:r>
            <a:r>
              <a:rPr lang="ru-RU" sz="2000" dirty="0"/>
              <a:t>величин для определения зависимости между ними.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42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980006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64585" y="373346"/>
            <a:ext cx="7886700" cy="711175"/>
          </a:xfrm>
        </p:spPr>
        <p:txBody>
          <a:bodyPr/>
          <a:lstStyle/>
          <a:p>
            <a:r>
              <a:rPr lang="ru-RU" dirty="0"/>
              <a:t>Виды измерений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73469" y="1354161"/>
            <a:ext cx="8451554" cy="3653219"/>
          </a:xfrm>
        </p:spPr>
        <p:txBody>
          <a:bodyPr>
            <a:noAutofit/>
          </a:bodyPr>
          <a:lstStyle/>
          <a:p>
            <a:pPr marL="0" indent="45720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2400" dirty="0"/>
              <a:t>По характеру изменения измеряемой величины в процессе </a:t>
            </a:r>
            <a:r>
              <a:rPr lang="ru-RU" sz="2400" dirty="0" smtClean="0"/>
              <a:t>измерений различают</a:t>
            </a:r>
            <a:r>
              <a:rPr lang="ru-RU" sz="2400" dirty="0"/>
              <a:t>:</a:t>
            </a:r>
          </a:p>
          <a:p>
            <a:pPr marL="0" indent="45720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2400" dirty="0"/>
              <a:t>1) статистические измерения. Связаны с определением </a:t>
            </a:r>
            <a:r>
              <a:rPr lang="ru-RU" sz="2400" dirty="0" smtClean="0"/>
              <a:t>характеристик случайных </a:t>
            </a:r>
            <a:r>
              <a:rPr lang="ru-RU" sz="2400" dirty="0"/>
              <a:t>процессов, звуковых сигналов, уровня шумов и т. д.;</a:t>
            </a:r>
          </a:p>
          <a:p>
            <a:pPr marL="0" indent="45720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2400" dirty="0"/>
              <a:t>2) статические измерения. Имеют место тогда, когда измеряемая </a:t>
            </a:r>
            <a:r>
              <a:rPr lang="ru-RU" sz="2400" dirty="0" smtClean="0"/>
              <a:t>величина </a:t>
            </a:r>
            <a:r>
              <a:rPr lang="ru-RU" sz="2400" dirty="0"/>
              <a:t>практически постоянна;</a:t>
            </a:r>
          </a:p>
          <a:p>
            <a:pPr marL="0" indent="45720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2400" dirty="0"/>
              <a:t>3) динамические измерения. Связаны с такими величинами, которые </a:t>
            </a:r>
            <a:r>
              <a:rPr lang="ru-RU" sz="2400" dirty="0" smtClean="0"/>
              <a:t>в процессе </a:t>
            </a:r>
            <a:r>
              <a:rPr lang="ru-RU" sz="2400" dirty="0"/>
              <a:t>измерений претерпевают те или иные изменения.</a:t>
            </a:r>
          </a:p>
          <a:p>
            <a:pPr marL="0" indent="45720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2400" dirty="0"/>
              <a:t>На практике статические и динамические измерения в идеальном </a:t>
            </a:r>
            <a:r>
              <a:rPr lang="ru-RU" sz="2400" dirty="0" smtClean="0"/>
              <a:t>виде редки</a:t>
            </a:r>
            <a:r>
              <a:rPr lang="ru-RU" sz="2400" dirty="0"/>
              <a:t>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43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444277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32687" y="291850"/>
            <a:ext cx="7886700" cy="675714"/>
          </a:xfrm>
        </p:spPr>
        <p:txBody>
          <a:bodyPr/>
          <a:lstStyle/>
          <a:p>
            <a:r>
              <a:rPr lang="ru-RU" dirty="0"/>
              <a:t>Виды измерений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43590" y="1205306"/>
            <a:ext cx="7886700" cy="3653219"/>
          </a:xfrm>
        </p:spPr>
        <p:txBody>
          <a:bodyPr>
            <a:noAutofit/>
          </a:bodyPr>
          <a:lstStyle/>
          <a:p>
            <a:pPr marL="0" indent="45720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2000" dirty="0"/>
              <a:t>По количеству измерительной информации различают однократные </a:t>
            </a:r>
            <a:r>
              <a:rPr lang="ru-RU" sz="2000" dirty="0" smtClean="0"/>
              <a:t>и многократные </a:t>
            </a:r>
            <a:r>
              <a:rPr lang="ru-RU" sz="2000" dirty="0"/>
              <a:t>измерения.</a:t>
            </a:r>
          </a:p>
          <a:p>
            <a:pPr marL="0" indent="45720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2000" b="1" dirty="0"/>
              <a:t>Однократные измерения </a:t>
            </a:r>
            <a:r>
              <a:rPr lang="ru-RU" sz="2000" dirty="0"/>
              <a:t>– это одно измерение одной величины, т. е. </a:t>
            </a:r>
            <a:r>
              <a:rPr lang="ru-RU" sz="2000" dirty="0" smtClean="0"/>
              <a:t>число </a:t>
            </a:r>
            <a:r>
              <a:rPr lang="ru-RU" sz="2000" dirty="0"/>
              <a:t>измерений равно числу измеряемых величин. Практическое применение </a:t>
            </a:r>
            <a:r>
              <a:rPr lang="ru-RU" sz="2000" dirty="0" smtClean="0"/>
              <a:t>такого </a:t>
            </a:r>
            <a:r>
              <a:rPr lang="ru-RU" sz="2000" dirty="0"/>
              <a:t>вида измерений всегда сопряжено с большими погрешностями, </a:t>
            </a:r>
            <a:r>
              <a:rPr lang="ru-RU" sz="2000" dirty="0" smtClean="0"/>
              <a:t>поэтому следует </a:t>
            </a:r>
            <a:r>
              <a:rPr lang="ru-RU" sz="2000" dirty="0"/>
              <a:t>проводить не менее трех однократных измерений и находить </a:t>
            </a:r>
            <a:r>
              <a:rPr lang="ru-RU" sz="2000" dirty="0" smtClean="0"/>
              <a:t>конечный результат </a:t>
            </a:r>
            <a:r>
              <a:rPr lang="ru-RU" sz="2000" dirty="0"/>
              <a:t>как среднее арифметическое значение.</a:t>
            </a:r>
          </a:p>
          <a:p>
            <a:pPr marL="0" indent="45720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2000" b="1" dirty="0"/>
              <a:t>Многократные измерения </a:t>
            </a:r>
            <a:r>
              <a:rPr lang="ru-RU" sz="2000" dirty="0"/>
              <a:t>характеризуются превышением числа </a:t>
            </a:r>
            <a:r>
              <a:rPr lang="ru-RU" sz="2000" dirty="0" smtClean="0"/>
              <a:t>измерений </a:t>
            </a:r>
            <a:r>
              <a:rPr lang="ru-RU" sz="2000" dirty="0"/>
              <a:t>количества измеряемых величин.</a:t>
            </a:r>
          </a:p>
          <a:p>
            <a:pPr marL="0" indent="45720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2000" dirty="0"/>
              <a:t>Обычно минимальное число измерений в данном случае – больше трех.</a:t>
            </a:r>
          </a:p>
          <a:p>
            <a:pPr marL="0" indent="45720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2000" dirty="0"/>
              <a:t>Преимущество многократных измерений – в значительном снижении </a:t>
            </a:r>
            <a:r>
              <a:rPr lang="ru-RU" sz="2000" dirty="0" smtClean="0"/>
              <a:t>влияний случайных </a:t>
            </a:r>
            <a:r>
              <a:rPr lang="ru-RU" sz="2000" dirty="0"/>
              <a:t>факторов на погрешность измерения.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44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600438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22055" y="373346"/>
            <a:ext cx="7886700" cy="711175"/>
          </a:xfrm>
        </p:spPr>
        <p:txBody>
          <a:bodyPr/>
          <a:lstStyle/>
          <a:p>
            <a:r>
              <a:rPr lang="ru-RU" dirty="0"/>
              <a:t>Виды измерений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4525963"/>
          </a:xfrm>
        </p:spPr>
        <p:txBody>
          <a:bodyPr>
            <a:normAutofit lnSpcReduction="10000"/>
          </a:bodyPr>
          <a:lstStyle/>
          <a:p>
            <a:pPr marL="0" indent="45720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ru-RU" b="1" dirty="0"/>
              <a:t>По отношению к основным единицам </a:t>
            </a:r>
            <a:r>
              <a:rPr lang="ru-RU" dirty="0"/>
              <a:t>измерения делят на абсолютные </a:t>
            </a:r>
            <a:r>
              <a:rPr lang="ru-RU" dirty="0" smtClean="0"/>
              <a:t>и относительные</a:t>
            </a:r>
            <a:r>
              <a:rPr lang="ru-RU" dirty="0"/>
              <a:t>.</a:t>
            </a:r>
          </a:p>
          <a:p>
            <a:pPr marL="0" indent="45720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ru-RU" b="1" dirty="0" smtClean="0"/>
              <a:t>Абсолютными </a:t>
            </a:r>
            <a:r>
              <a:rPr lang="ru-RU" b="1" dirty="0"/>
              <a:t>измерениями </a:t>
            </a:r>
            <a:r>
              <a:rPr lang="ru-RU" dirty="0"/>
              <a:t>называют такие, при </a:t>
            </a:r>
            <a:r>
              <a:rPr lang="ru-RU" dirty="0" smtClean="0"/>
              <a:t>которых используются </a:t>
            </a:r>
            <a:r>
              <a:rPr lang="ru-RU" dirty="0"/>
              <a:t>прямые измерения одной (иногда нескольких) </a:t>
            </a:r>
            <a:r>
              <a:rPr lang="ru-RU" dirty="0" smtClean="0"/>
              <a:t>основной </a:t>
            </a:r>
            <a:r>
              <a:rPr lang="ru-RU" dirty="0"/>
              <a:t>величины и физическая константа.</a:t>
            </a:r>
          </a:p>
          <a:p>
            <a:pPr marL="0" indent="45720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ru-RU" b="1" dirty="0"/>
              <a:t>Относительные измерения </a:t>
            </a:r>
            <a:r>
              <a:rPr lang="ru-RU" dirty="0"/>
              <a:t>базируются на </a:t>
            </a:r>
            <a:r>
              <a:rPr lang="ru-RU" dirty="0" smtClean="0"/>
              <a:t>установлении отношения </a:t>
            </a:r>
            <a:r>
              <a:rPr lang="ru-RU" dirty="0"/>
              <a:t>измеряемой величины к однородной, применяемой в </a:t>
            </a:r>
            <a:r>
              <a:rPr lang="ru-RU" dirty="0" smtClean="0"/>
              <a:t>качестве </a:t>
            </a:r>
            <a:r>
              <a:rPr lang="ru-RU" dirty="0"/>
              <a:t>единицы.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45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002248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88828" y="230238"/>
            <a:ext cx="8229600" cy="792088"/>
          </a:xfrm>
        </p:spPr>
        <p:txBody>
          <a:bodyPr/>
          <a:lstStyle/>
          <a:p>
            <a:r>
              <a:rPr lang="ru-RU" dirty="0"/>
              <a:t>Средства измерений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991269"/>
            <a:ext cx="8229600" cy="4525963"/>
          </a:xfrm>
        </p:spPr>
        <p:txBody>
          <a:bodyPr>
            <a:noAutofit/>
          </a:bodyPr>
          <a:lstStyle/>
          <a:p>
            <a:pPr marL="0" indent="45720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1400" b="1" dirty="0"/>
              <a:t>Средство измерений </a:t>
            </a:r>
            <a:r>
              <a:rPr lang="ru-RU" sz="1400" dirty="0"/>
              <a:t>– техническое средство, </a:t>
            </a:r>
            <a:r>
              <a:rPr lang="ru-RU" sz="1400" dirty="0" smtClean="0"/>
              <a:t>предназначенное </a:t>
            </a:r>
            <a:r>
              <a:rPr lang="ru-RU" sz="1400" dirty="0"/>
              <a:t>для измерений</a:t>
            </a:r>
            <a:r>
              <a:rPr lang="ru-RU" sz="1400" dirty="0" smtClean="0"/>
              <a:t>.</a:t>
            </a:r>
          </a:p>
          <a:p>
            <a:pPr marL="0" indent="45720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1400" dirty="0"/>
              <a:t>К средствам измерений относятся: меры, измерительные </a:t>
            </a:r>
            <a:r>
              <a:rPr lang="ru-RU" sz="1400" dirty="0" smtClean="0"/>
              <a:t>преобразователи</a:t>
            </a:r>
            <a:r>
              <a:rPr lang="ru-RU" sz="1400" dirty="0"/>
              <a:t>, измерительные приборы, измерительные установки и системы, </a:t>
            </a:r>
            <a:r>
              <a:rPr lang="ru-RU" sz="1400" dirty="0" smtClean="0"/>
              <a:t>измерительные </a:t>
            </a:r>
            <a:r>
              <a:rPr lang="ru-RU" sz="1400" dirty="0"/>
              <a:t>принадлежности.</a:t>
            </a:r>
          </a:p>
          <a:p>
            <a:pPr marL="0" indent="45720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1400" b="1" dirty="0"/>
              <a:t>Мерой</a:t>
            </a:r>
            <a:r>
              <a:rPr lang="ru-RU" sz="1400" dirty="0"/>
              <a:t> называют средство измерения, предназначенное для </a:t>
            </a:r>
            <a:r>
              <a:rPr lang="ru-RU" sz="1400" dirty="0" smtClean="0"/>
              <a:t>воспроизведения </a:t>
            </a:r>
            <a:r>
              <a:rPr lang="ru-RU" sz="1400" dirty="0"/>
              <a:t>физических величин заданного размера. К данному виду средств </a:t>
            </a:r>
            <a:r>
              <a:rPr lang="ru-RU" sz="1400" dirty="0" smtClean="0"/>
              <a:t>измерений </a:t>
            </a:r>
            <a:r>
              <a:rPr lang="ru-RU" sz="1400" dirty="0"/>
              <a:t>относятся гири, концевые меры длины и т. п. На практике используют </a:t>
            </a:r>
            <a:r>
              <a:rPr lang="ru-RU" sz="1400" dirty="0" smtClean="0"/>
              <a:t>однозначные </a:t>
            </a:r>
            <a:r>
              <a:rPr lang="ru-RU" sz="1400" dirty="0"/>
              <a:t>и многозначные меры, а также наборы и магазины мер</a:t>
            </a:r>
            <a:r>
              <a:rPr lang="ru-RU" sz="1400" dirty="0" smtClean="0"/>
              <a:t>.</a:t>
            </a:r>
          </a:p>
          <a:p>
            <a:pPr marL="0" indent="45720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1400" dirty="0"/>
              <a:t>К однозначным мерам относят стандартные образцы и стандартные </a:t>
            </a:r>
            <a:r>
              <a:rPr lang="ru-RU" sz="1400" dirty="0" smtClean="0"/>
              <a:t>вещества.</a:t>
            </a:r>
          </a:p>
          <a:p>
            <a:pPr marL="0" indent="45720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1400" b="1" dirty="0"/>
              <a:t>Стандартный образец </a:t>
            </a:r>
            <a:r>
              <a:rPr lang="ru-RU" sz="1400" dirty="0"/>
              <a:t>– образец вещества с </a:t>
            </a:r>
            <a:r>
              <a:rPr lang="ru-RU" sz="1400" dirty="0" smtClean="0"/>
              <a:t>установленными </a:t>
            </a:r>
            <a:r>
              <a:rPr lang="ru-RU" sz="1400" dirty="0"/>
              <a:t>по результатам испытаний значениями одной и более </a:t>
            </a:r>
            <a:r>
              <a:rPr lang="ru-RU" sz="1400" dirty="0" smtClean="0"/>
              <a:t>величин, характеризующих </a:t>
            </a:r>
            <a:r>
              <a:rPr lang="ru-RU" sz="1400" dirty="0"/>
              <a:t>состав или свойство этого вещества.</a:t>
            </a:r>
          </a:p>
          <a:p>
            <a:pPr marL="0" indent="45720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1400" b="1" dirty="0" smtClean="0"/>
              <a:t>Однозначные </a:t>
            </a:r>
            <a:r>
              <a:rPr lang="ru-RU" sz="1400" b="1" dirty="0"/>
              <a:t>меры </a:t>
            </a:r>
            <a:r>
              <a:rPr lang="ru-RU" sz="1400" dirty="0"/>
              <a:t>воспроизводят величины только одного размера (</a:t>
            </a:r>
            <a:r>
              <a:rPr lang="ru-RU" sz="1400" dirty="0" smtClean="0"/>
              <a:t>гиря</a:t>
            </a:r>
            <a:r>
              <a:rPr lang="ru-RU" sz="1400" dirty="0"/>
              <a:t>).</a:t>
            </a:r>
          </a:p>
          <a:p>
            <a:pPr marL="0" indent="45720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1400" b="1" dirty="0"/>
              <a:t>Многозначные меры </a:t>
            </a:r>
            <a:r>
              <a:rPr lang="ru-RU" sz="1400" dirty="0"/>
              <a:t>воспроизводят несколько размеров физической </a:t>
            </a:r>
            <a:r>
              <a:rPr lang="ru-RU" sz="1400" dirty="0" smtClean="0"/>
              <a:t>величины</a:t>
            </a:r>
            <a:r>
              <a:rPr lang="ru-RU" sz="1400" dirty="0"/>
              <a:t>. Например, миллиметровая линейка дает возможность выразить </a:t>
            </a:r>
            <a:r>
              <a:rPr lang="ru-RU" sz="1400" dirty="0" smtClean="0"/>
              <a:t>длину предмета </a:t>
            </a:r>
            <a:r>
              <a:rPr lang="ru-RU" sz="1400" dirty="0"/>
              <a:t>в сантиметрах и в миллиметрах.</a:t>
            </a:r>
          </a:p>
          <a:p>
            <a:pPr marL="0" indent="45720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1400" b="1" dirty="0"/>
              <a:t>Набор мер </a:t>
            </a:r>
            <a:r>
              <a:rPr lang="ru-RU" sz="1400" dirty="0"/>
              <a:t>представляет собой комплект однородных мер разного </a:t>
            </a:r>
            <a:r>
              <a:rPr lang="ru-RU" sz="1400" dirty="0" smtClean="0"/>
              <a:t>размера</a:t>
            </a:r>
            <a:r>
              <a:rPr lang="ru-RU" sz="1400" dirty="0"/>
              <a:t>, что дает возможность применять их в нужных сочетаниях. Например, </a:t>
            </a:r>
            <a:r>
              <a:rPr lang="ru-RU" sz="1400" dirty="0" smtClean="0"/>
              <a:t>набор лабораторных </a:t>
            </a:r>
            <a:r>
              <a:rPr lang="ru-RU" sz="1400" dirty="0"/>
              <a:t>гирь.</a:t>
            </a:r>
          </a:p>
          <a:p>
            <a:pPr marL="0" indent="45720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1400" b="1" dirty="0"/>
              <a:t>Магазин мер </a:t>
            </a:r>
            <a:r>
              <a:rPr lang="ru-RU" sz="1400" dirty="0"/>
              <a:t>– сочетания мер, объединенных конструктивно в одно </a:t>
            </a:r>
            <a:r>
              <a:rPr lang="ru-RU" sz="1400" dirty="0" smtClean="0"/>
              <a:t>механическое </a:t>
            </a:r>
            <a:r>
              <a:rPr lang="ru-RU" sz="1400" dirty="0"/>
              <a:t>целое, в котором предусмотрена возможность посредством </a:t>
            </a:r>
            <a:r>
              <a:rPr lang="ru-RU" sz="1400" dirty="0" smtClean="0"/>
              <a:t>ручных или </a:t>
            </a:r>
            <a:r>
              <a:rPr lang="ru-RU" sz="1400" dirty="0"/>
              <a:t>автоматизированных переключателей, связанных с отсчетным </a:t>
            </a:r>
            <a:r>
              <a:rPr lang="ru-RU" sz="1400" dirty="0" smtClean="0"/>
              <a:t>устройством</a:t>
            </a:r>
            <a:r>
              <a:rPr lang="ru-RU" sz="1400" dirty="0"/>
              <a:t>, соединять составляющие магазин меры в нужном сочетании. По </a:t>
            </a:r>
            <a:r>
              <a:rPr lang="ru-RU" sz="1400" dirty="0" smtClean="0"/>
              <a:t>такому принципу </a:t>
            </a:r>
            <a:r>
              <a:rPr lang="ru-RU" sz="1400" dirty="0"/>
              <a:t>устроены магазины электрических сопротивлений</a:t>
            </a:r>
            <a:r>
              <a:rPr lang="ru-RU" sz="1400" dirty="0" smtClean="0"/>
              <a:t>.</a:t>
            </a:r>
          </a:p>
          <a:p>
            <a:pPr marL="0" indent="45720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1400" b="1" dirty="0"/>
              <a:t>Измерительный преобразователь </a:t>
            </a:r>
            <a:r>
              <a:rPr lang="ru-RU" sz="1400" dirty="0"/>
              <a:t>– это средство измерений, </a:t>
            </a:r>
            <a:r>
              <a:rPr lang="ru-RU" sz="1400" dirty="0" smtClean="0"/>
              <a:t>которое служит </a:t>
            </a:r>
            <a:r>
              <a:rPr lang="ru-RU" sz="1400" dirty="0"/>
              <a:t>для преобразования сигнала измерительной информации в форму</a:t>
            </a:r>
            <a:r>
              <a:rPr lang="ru-RU" sz="1400" dirty="0" smtClean="0"/>
              <a:t>, удобную </a:t>
            </a:r>
            <a:r>
              <a:rPr lang="ru-RU" sz="1400" dirty="0"/>
              <a:t>для обработки или хранения, а также передачи в </a:t>
            </a:r>
            <a:r>
              <a:rPr lang="ru-RU" sz="1400" dirty="0" smtClean="0"/>
              <a:t>показывающее устройство</a:t>
            </a:r>
            <a:r>
              <a:rPr lang="ru-RU" sz="1400" dirty="0"/>
              <a:t>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46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93917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79524" y="142400"/>
            <a:ext cx="7886700" cy="1325563"/>
          </a:xfrm>
        </p:spPr>
        <p:txBody>
          <a:bodyPr>
            <a:noAutofit/>
          </a:bodyPr>
          <a:lstStyle/>
          <a:p>
            <a:r>
              <a:rPr lang="ru-RU" sz="3600" dirty="0"/>
              <a:t>Стандартизация, метрология, сертификация </a:t>
            </a:r>
            <a:r>
              <a:rPr lang="ru-RU" sz="3600" dirty="0" smtClean="0"/>
              <a:t>– инструменты </a:t>
            </a:r>
            <a:r>
              <a:rPr lang="ru-RU" sz="3600" dirty="0"/>
              <a:t>повышения качества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08344" y="1626288"/>
            <a:ext cx="8557880" cy="4525963"/>
          </a:xfrm>
        </p:spPr>
        <p:txBody>
          <a:bodyPr>
            <a:noAutofit/>
          </a:bodyPr>
          <a:lstStyle/>
          <a:p>
            <a:pPr marL="0" indent="45720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1600" dirty="0"/>
              <a:t>Увеличивающаяся в мировом масштабе конкуренция среди организаций </a:t>
            </a:r>
            <a:r>
              <a:rPr lang="ru-RU" sz="1600" dirty="0" smtClean="0"/>
              <a:t>– разработчиков </a:t>
            </a:r>
            <a:r>
              <a:rPr lang="ru-RU" sz="1600" dirty="0"/>
              <a:t>программных систем (ПС), повышение требований </a:t>
            </a:r>
            <a:r>
              <a:rPr lang="ru-RU" sz="1600" dirty="0" smtClean="0"/>
              <a:t>конечного пользователя </a:t>
            </a:r>
            <a:r>
              <a:rPr lang="ru-RU" sz="1600" dirty="0"/>
              <a:t>к качеству и надежности ПС привело их разработчиков </a:t>
            </a:r>
            <a:r>
              <a:rPr lang="ru-RU" sz="1600" dirty="0" smtClean="0"/>
              <a:t>к пониманию </a:t>
            </a:r>
            <a:r>
              <a:rPr lang="ru-RU" sz="1600" dirty="0"/>
              <a:t>важности вопросов стандартизации в области </a:t>
            </a:r>
            <a:r>
              <a:rPr lang="ru-RU" sz="1600" dirty="0" smtClean="0"/>
              <a:t>качества.</a:t>
            </a:r>
            <a:endParaRPr lang="ru-RU" sz="1600" dirty="0"/>
          </a:p>
          <a:p>
            <a:pPr marL="0" indent="45720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1600" dirty="0" smtClean="0"/>
              <a:t>Стандартизация </a:t>
            </a:r>
            <a:r>
              <a:rPr lang="ru-RU" sz="1600" dirty="0"/>
              <a:t>– наиболее перспективное направление </a:t>
            </a:r>
            <a:r>
              <a:rPr lang="ru-RU" sz="1600" dirty="0" smtClean="0"/>
              <a:t>развития передовых </a:t>
            </a:r>
            <a:r>
              <a:rPr lang="ru-RU" sz="1600" dirty="0"/>
              <a:t>информационных технологий в проектировании, производстве </a:t>
            </a:r>
            <a:r>
              <a:rPr lang="ru-RU" sz="1600" dirty="0" smtClean="0"/>
              <a:t>и менеджменте</a:t>
            </a:r>
            <a:r>
              <a:rPr lang="ru-RU" sz="1600" dirty="0"/>
              <a:t>. </a:t>
            </a:r>
            <a:endParaRPr lang="ru-RU" sz="1600" dirty="0" smtClean="0"/>
          </a:p>
          <a:p>
            <a:pPr marL="0" indent="45720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1600" b="1" dirty="0" smtClean="0"/>
              <a:t>Конкурентоспособность продукции</a:t>
            </a:r>
            <a:r>
              <a:rPr lang="ru-RU" sz="1600" dirty="0" smtClean="0"/>
              <a:t> </a:t>
            </a:r>
            <a:r>
              <a:rPr lang="ru-RU" sz="1600" dirty="0"/>
              <a:t>– это его относительная характеристика, которая отражает </a:t>
            </a:r>
            <a:r>
              <a:rPr lang="ru-RU" sz="1600" dirty="0" smtClean="0"/>
              <a:t>отличие данной </a:t>
            </a:r>
            <a:r>
              <a:rPr lang="ru-RU" sz="1600" dirty="0"/>
              <a:t>продукции от продукции конкурента, во-первых, по </a:t>
            </a:r>
            <a:r>
              <a:rPr lang="ru-RU" sz="1600" dirty="0" smtClean="0"/>
              <a:t>степени соответствия </a:t>
            </a:r>
            <a:r>
              <a:rPr lang="ru-RU" sz="1600" dirty="0"/>
              <a:t>одной и той же общественной потребности, а во-вторых, </a:t>
            </a:r>
            <a:r>
              <a:rPr lang="ru-RU" sz="1600" dirty="0" smtClean="0"/>
              <a:t>по затратам </a:t>
            </a:r>
            <a:r>
              <a:rPr lang="ru-RU" sz="1600" dirty="0"/>
              <a:t>на удовлетворение этой потребности</a:t>
            </a:r>
            <a:r>
              <a:rPr lang="ru-RU" sz="1600" dirty="0" smtClean="0"/>
              <a:t>.</a:t>
            </a:r>
          </a:p>
          <a:p>
            <a:pPr marL="0" indent="45720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1600" dirty="0" smtClean="0"/>
              <a:t>Для </a:t>
            </a:r>
            <a:r>
              <a:rPr lang="ru-RU" sz="1600" dirty="0"/>
              <a:t>достижения высокого качества </a:t>
            </a:r>
            <a:r>
              <a:rPr lang="ru-RU" sz="1600" dirty="0" smtClean="0"/>
              <a:t>программных средств </a:t>
            </a:r>
            <a:r>
              <a:rPr lang="ru-RU" sz="1600" dirty="0"/>
              <a:t>нужна не только передовая технология, соответствующая </a:t>
            </a:r>
            <a:r>
              <a:rPr lang="ru-RU" sz="1600" dirty="0" smtClean="0"/>
              <a:t>материальная база </a:t>
            </a:r>
            <a:r>
              <a:rPr lang="ru-RU" sz="1600" dirty="0"/>
              <a:t>и заинтересованный, квалифицированный персонал, но и </a:t>
            </a:r>
            <a:r>
              <a:rPr lang="ru-RU" sz="1600" dirty="0" smtClean="0"/>
              <a:t>рациональная организация </a:t>
            </a:r>
            <a:r>
              <a:rPr lang="ru-RU" sz="1600" dirty="0"/>
              <a:t>работ и хорошо отлаженное, умелое управление предприятием, </a:t>
            </a:r>
            <a:r>
              <a:rPr lang="ru-RU" sz="1600" dirty="0" smtClean="0"/>
              <a:t>в том </a:t>
            </a:r>
            <a:r>
              <a:rPr lang="ru-RU" sz="1600" dirty="0"/>
              <a:t>числе </a:t>
            </a:r>
            <a:r>
              <a:rPr lang="ru-RU" sz="1600" b="1" dirty="0"/>
              <a:t>управление качеством</a:t>
            </a:r>
            <a:r>
              <a:rPr lang="ru-RU" sz="1600" dirty="0" smtClean="0"/>
              <a:t>.</a:t>
            </a:r>
          </a:p>
          <a:p>
            <a:pPr marL="0" indent="45720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1600" b="1" dirty="0"/>
              <a:t>Механизм управления качеством продукции </a:t>
            </a:r>
            <a:r>
              <a:rPr lang="ru-RU" sz="1600" dirty="0"/>
              <a:t>представляет </a:t>
            </a:r>
            <a:r>
              <a:rPr lang="ru-RU" sz="1600" dirty="0" smtClean="0"/>
              <a:t>собой совокупность </a:t>
            </a:r>
            <a:r>
              <a:rPr lang="ru-RU" sz="1600" dirty="0"/>
              <a:t>взаимосвязанных объектов и субъектов управления, методов </a:t>
            </a:r>
            <a:r>
              <a:rPr lang="ru-RU" sz="1600" dirty="0" smtClean="0"/>
              <a:t>и функций </a:t>
            </a:r>
            <a:r>
              <a:rPr lang="ru-RU" sz="1600" dirty="0"/>
              <a:t>управления на различных этапах жизненного цикла продукции </a:t>
            </a:r>
            <a:r>
              <a:rPr lang="ru-RU" sz="1600" dirty="0" smtClean="0"/>
              <a:t>и уровнях </a:t>
            </a:r>
            <a:r>
              <a:rPr lang="ru-RU" sz="1600" dirty="0"/>
              <a:t>управления качеством.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47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182361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07340" y="231229"/>
            <a:ext cx="7886700" cy="1325563"/>
          </a:xfrm>
        </p:spPr>
        <p:txBody>
          <a:bodyPr>
            <a:normAutofit/>
          </a:bodyPr>
          <a:lstStyle/>
          <a:p>
            <a:r>
              <a:rPr lang="ru-RU" dirty="0" smtClean="0"/>
              <a:t>Механизм управления качеством продукции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48</a:t>
            </a:fld>
            <a:endParaRPr lang="ru-RU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97" t="42330" r="29949" b="15240"/>
          <a:stretch/>
        </p:blipFill>
        <p:spPr bwMode="auto">
          <a:xfrm>
            <a:off x="599951" y="1556791"/>
            <a:ext cx="7035979" cy="52890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3825449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ая выноска 4"/>
          <p:cNvSpPr/>
          <p:nvPr/>
        </p:nvSpPr>
        <p:spPr>
          <a:xfrm>
            <a:off x="372140" y="1477926"/>
            <a:ext cx="8580474" cy="1871330"/>
          </a:xfrm>
          <a:prstGeom prst="wedgeRectCallou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57300" y="500420"/>
            <a:ext cx="5642264" cy="801908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Схема сертификации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1563161"/>
            <a:ext cx="7886700" cy="3653219"/>
          </a:xfrm>
        </p:spPr>
        <p:txBody>
          <a:bodyPr/>
          <a:lstStyle/>
          <a:p>
            <a:pPr marL="0" indent="0" algn="just">
              <a:buNone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Схема сертификации - совокупность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действий, результаты которых рассматриваются в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качестве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доказательств соответствия продукции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установленным (заявленным) требованиям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49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9941271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57300" y="298843"/>
            <a:ext cx="5642264" cy="801908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Схема сертификации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2772" y="983793"/>
            <a:ext cx="8346558" cy="5140561"/>
          </a:xfrm>
        </p:spPr>
        <p:txBody>
          <a:bodyPr/>
          <a:lstStyle/>
          <a:p>
            <a:pPr marL="0" indent="0" algn="just">
              <a:buNone/>
            </a:pP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Схема сертификации является определяющей частью процедуры сертификации, 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характери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ующей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необходимый уровень доказательности соответствия продукции установленным требованиям.</a:t>
            </a:r>
          </a:p>
          <a:p>
            <a:pPr marL="0" indent="0" algn="just">
              <a:buNone/>
            </a:pP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Схема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сертификации может содержать одно или несколько предпринимаемых действий (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мо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улей),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 которых используют для принятия органом по сертификации общего решения 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 соответствии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(несоответствии) продукции установленным (заявленным) требованиям. </a:t>
            </a:r>
            <a:endParaRPr lang="ru-RU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Такими действиями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общем случае могут считаться:</a:t>
            </a:r>
          </a:p>
          <a:p>
            <a:pPr marL="0" indent="0" algn="just">
              <a:buNone/>
            </a:pP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анализ представленной документации:</a:t>
            </a:r>
          </a:p>
          <a:p>
            <a:pPr marL="0" indent="0" algn="just">
              <a:buNone/>
            </a:pP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исследования (испытания) и измерения продукции:</a:t>
            </a:r>
          </a:p>
          <a:p>
            <a:pPr marL="0" indent="0" algn="just">
              <a:buNone/>
            </a:pP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анализ состояния производства;</a:t>
            </a:r>
          </a:p>
          <a:p>
            <a:pPr algn="just">
              <a:buFontTx/>
              <a:buChar char="-"/>
            </a:pP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оценка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системы 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менеджмента;</a:t>
            </a:r>
          </a:p>
          <a:p>
            <a:pPr algn="just">
              <a:buFontTx/>
              <a:buChar char="-"/>
            </a:pP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инспекционный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контроль за сертифицированной продукцией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50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5600013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70396" y="306455"/>
            <a:ext cx="7886700" cy="607945"/>
          </a:xfrm>
        </p:spPr>
        <p:txBody>
          <a:bodyPr/>
          <a:lstStyle/>
          <a:p>
            <a:r>
              <a:rPr lang="ru-RU" sz="3600" dirty="0"/>
              <a:t>Схемы сертификации продукции </a:t>
            </a:r>
            <a:r>
              <a:rPr lang="ru-RU" sz="3600" dirty="0" smtClean="0"/>
              <a:t>в РФ  </a:t>
            </a:r>
            <a:endParaRPr lang="ru-RU" sz="36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51</a:t>
            </a:fld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2"/>
          <a:srcRect l="30413" t="31235" r="33659" b="12956"/>
          <a:stretch/>
        </p:blipFill>
        <p:spPr>
          <a:xfrm>
            <a:off x="1119123" y="914400"/>
            <a:ext cx="6570483" cy="5740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92744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70396" y="306455"/>
            <a:ext cx="7886700" cy="607945"/>
          </a:xfrm>
        </p:spPr>
        <p:txBody>
          <a:bodyPr/>
          <a:lstStyle/>
          <a:p>
            <a:r>
              <a:rPr lang="ru-RU" sz="3600" dirty="0"/>
              <a:t>Схемы сертификации продукции </a:t>
            </a:r>
            <a:r>
              <a:rPr lang="ru-RU" sz="3600" dirty="0" smtClean="0"/>
              <a:t>в РФ  </a:t>
            </a:r>
            <a:endParaRPr lang="ru-RU" sz="36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52</a:t>
            </a:fld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2"/>
          <a:srcRect l="32165" t="14284" r="31237" b="16346"/>
          <a:stretch/>
        </p:blipFill>
        <p:spPr>
          <a:xfrm>
            <a:off x="1725965" y="811204"/>
            <a:ext cx="5580406" cy="5949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4692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70396" y="306455"/>
            <a:ext cx="7886700" cy="607945"/>
          </a:xfrm>
        </p:spPr>
        <p:txBody>
          <a:bodyPr/>
          <a:lstStyle/>
          <a:p>
            <a:r>
              <a:rPr lang="ru-RU" sz="3600" dirty="0"/>
              <a:t>Схемы сертификации продукции </a:t>
            </a:r>
            <a:r>
              <a:rPr lang="ru-RU" sz="3600" dirty="0" smtClean="0"/>
              <a:t>в РФ  </a:t>
            </a:r>
            <a:endParaRPr lang="ru-RU" sz="36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53</a:t>
            </a:fld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2"/>
          <a:srcRect l="29407" t="31859" r="33325" b="23845"/>
          <a:stretch/>
        </p:blipFill>
        <p:spPr>
          <a:xfrm>
            <a:off x="457029" y="1093509"/>
            <a:ext cx="7910519" cy="5288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611248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ая выноска 4"/>
          <p:cNvSpPr/>
          <p:nvPr/>
        </p:nvSpPr>
        <p:spPr>
          <a:xfrm>
            <a:off x="628650" y="1553925"/>
            <a:ext cx="8058150" cy="2571508"/>
          </a:xfrm>
          <a:prstGeom prst="wedgeRectCallou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36650" y="389949"/>
            <a:ext cx="7886700" cy="1325563"/>
          </a:xfrm>
        </p:spPr>
        <p:txBody>
          <a:bodyPr/>
          <a:lstStyle/>
          <a:p>
            <a:r>
              <a:rPr lang="ru-RU" dirty="0"/>
              <a:t>Обязательная сертификация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1553925"/>
            <a:ext cx="7886700" cy="3653219"/>
          </a:xfrm>
        </p:spPr>
        <p:txBody>
          <a:bodyPr/>
          <a:lstStyle/>
          <a:p>
            <a:pPr marL="0" indent="0" algn="just">
              <a:buNone/>
            </a:pPr>
            <a:r>
              <a:rPr lang="ru-RU" b="1" dirty="0"/>
              <a:t>Обязательная сертификация</a:t>
            </a:r>
            <a:r>
              <a:rPr lang="ru-RU" dirty="0"/>
              <a:t> — это процесс, предусмотренный законодательством Российской Федерации и Таможенного союза (ЕАЭС) для подтверждения соответствия продукции требованиям технических регламентов или национальных стандартов (ГОСТ Р). </a:t>
            </a:r>
            <a:endParaRPr lang="ru-RU" dirty="0" smtClean="0"/>
          </a:p>
          <a:p>
            <a:pPr marL="0" indent="0" algn="just">
              <a:buNone/>
            </a:pPr>
            <a:endParaRPr lang="ru-RU" dirty="0" smtClean="0"/>
          </a:p>
          <a:p>
            <a:pPr marL="0" indent="0" algn="just">
              <a:buNone/>
            </a:pPr>
            <a:r>
              <a:rPr lang="ru-RU" dirty="0" smtClean="0"/>
              <a:t>Она </a:t>
            </a:r>
            <a:r>
              <a:rPr lang="ru-RU" dirty="0"/>
              <a:t>обязательна для определённых видов продукции, включённых в специальные перечни, утверждённые нормативными актами. 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54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166315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88828" y="251726"/>
            <a:ext cx="8034522" cy="1325563"/>
          </a:xfrm>
        </p:spPr>
        <p:txBody>
          <a:bodyPr/>
          <a:lstStyle/>
          <a:p>
            <a:r>
              <a:rPr lang="ru-RU" dirty="0" smtClean="0"/>
              <a:t>Особенности </a:t>
            </a:r>
            <a:r>
              <a:rPr lang="ru-RU" dirty="0"/>
              <a:t>обязательной сертификации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2773" y="1577289"/>
            <a:ext cx="8431618" cy="3653219"/>
          </a:xfrm>
        </p:spPr>
        <p:txBody>
          <a:bodyPr/>
          <a:lstStyle/>
          <a:p>
            <a:pPr algn="just"/>
            <a:r>
              <a:rPr lang="ru-RU" sz="2200" b="1" dirty="0"/>
              <a:t>Законодательная основа</a:t>
            </a:r>
            <a:r>
              <a:rPr lang="ru-RU" sz="2200" dirty="0"/>
              <a:t>: регулируется Федеральным законом №184-ФЗ «О техническом регулировании» и техническими регламентами ЕАЭС.</a:t>
            </a:r>
          </a:p>
          <a:p>
            <a:pPr algn="just"/>
            <a:r>
              <a:rPr lang="ru-RU" sz="2200" b="1" dirty="0"/>
              <a:t>Перечень продукции</a:t>
            </a:r>
            <a:r>
              <a:rPr lang="ru-RU" sz="2200" dirty="0"/>
              <a:t>: обязательная сертификация требуется для товаров, которые могут повлиять на безопасность людей, имущества или окружающей среды (например, электроприборы, детские товары, продукты питания, медицинские изделия).</a:t>
            </a:r>
          </a:p>
          <a:p>
            <a:pPr algn="just"/>
            <a:r>
              <a:rPr lang="ru-RU" sz="2200" b="1" dirty="0"/>
              <a:t>Форма подтверждения</a:t>
            </a:r>
            <a:r>
              <a:rPr lang="ru-RU" sz="2200" dirty="0"/>
              <a:t>: может проводиться в виде сертификата соответствия или декларации соответствия. Сертификат выдаёт аккредитованный орган, а декларацию заполняет заявитель на основе предоставленных доказательств.</a:t>
            </a:r>
          </a:p>
          <a:p>
            <a:pPr algn="just"/>
            <a:r>
              <a:rPr lang="ru-RU" sz="2200" b="1" dirty="0"/>
              <a:t>Последствия несоблюдения</a:t>
            </a:r>
            <a:r>
              <a:rPr lang="ru-RU" sz="2200" dirty="0"/>
              <a:t>: отсутствие обязательного сертификата или декларации влечёт штрафы, запрет на реализацию продукции и другие санкции.</a:t>
            </a:r>
          </a:p>
          <a:p>
            <a:pPr marL="0" indent="0" algn="just">
              <a:buNone/>
            </a:pPr>
            <a:r>
              <a:rPr lang="ru-RU" sz="2200" dirty="0"/>
              <a:t> 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55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5492052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ая выноска 4"/>
          <p:cNvSpPr/>
          <p:nvPr/>
        </p:nvSpPr>
        <p:spPr>
          <a:xfrm>
            <a:off x="414670" y="1616149"/>
            <a:ext cx="8357190" cy="2977116"/>
          </a:xfrm>
          <a:prstGeom prst="wedgeRectCallou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36650" y="389949"/>
            <a:ext cx="7886700" cy="1325563"/>
          </a:xfrm>
        </p:spPr>
        <p:txBody>
          <a:bodyPr/>
          <a:lstStyle/>
          <a:p>
            <a:r>
              <a:rPr lang="ru-RU" dirty="0"/>
              <a:t>Добровольная сертификация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1763910"/>
            <a:ext cx="7886700" cy="3653219"/>
          </a:xfrm>
        </p:spPr>
        <p:txBody>
          <a:bodyPr/>
          <a:lstStyle/>
          <a:p>
            <a:pPr marL="0" indent="0" algn="just">
              <a:buNone/>
            </a:pPr>
            <a:r>
              <a:rPr lang="ru-RU" b="1" dirty="0"/>
              <a:t>Добровольная сертификация</a:t>
            </a:r>
            <a:r>
              <a:rPr lang="ru-RU" dirty="0"/>
              <a:t> проводится по инициативе производителя, поставщика или продавца, чтобы подтвердить качество продукции, не входящей в перечень обязательной сертификации, или дополнительные характеристики, не регулируемые законом. </a:t>
            </a:r>
            <a:r>
              <a:rPr lang="ru-RU" dirty="0">
                <a:hlinkClick r:id="rId2"/>
              </a:rPr>
              <a:t/>
            </a:r>
            <a:br>
              <a:rPr lang="ru-RU" dirty="0">
                <a:hlinkClick r:id="rId2"/>
              </a:rPr>
            </a:br>
            <a:endParaRPr lang="ru-RU" sz="20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56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1330857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36650" y="389949"/>
            <a:ext cx="7886700" cy="1325563"/>
          </a:xfrm>
        </p:spPr>
        <p:txBody>
          <a:bodyPr/>
          <a:lstStyle/>
          <a:p>
            <a:r>
              <a:rPr lang="ru-RU" dirty="0" smtClean="0"/>
              <a:t>Особенности </a:t>
            </a:r>
            <a:r>
              <a:rPr lang="ru-RU" dirty="0"/>
              <a:t>добровольной сертификации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1763910"/>
            <a:ext cx="7886700" cy="3653219"/>
          </a:xfrm>
        </p:spPr>
        <p:txBody>
          <a:bodyPr/>
          <a:lstStyle/>
          <a:p>
            <a:r>
              <a:rPr lang="ru-RU" sz="2400" b="1" dirty="0" smtClean="0"/>
              <a:t>Цель</a:t>
            </a:r>
            <a:r>
              <a:rPr lang="ru-RU" sz="2400" dirty="0"/>
              <a:t>: повышение конкурентоспособности продукции, укрепление доверия потребителей, выход на новые рынки (например, </a:t>
            </a:r>
            <a:r>
              <a:rPr lang="ru-RU" sz="2400" dirty="0" err="1"/>
              <a:t>маркетплейсы</a:t>
            </a:r>
            <a:r>
              <a:rPr lang="ru-RU" sz="2400" dirty="0"/>
              <a:t> или экспорт).</a:t>
            </a:r>
          </a:p>
          <a:p>
            <a:r>
              <a:rPr lang="ru-RU" sz="2400" b="1" dirty="0"/>
              <a:t>Основа</a:t>
            </a:r>
            <a:r>
              <a:rPr lang="ru-RU" sz="2400" dirty="0"/>
              <a:t>: проводится на соответствие стандартам ГОСТ, ТУ (техническим условиям) или другим критериям, выбранным заявителем.</a:t>
            </a:r>
          </a:p>
          <a:p>
            <a:r>
              <a:rPr lang="ru-RU" sz="2400" b="1" dirty="0"/>
              <a:t>Гибкость</a:t>
            </a:r>
            <a:r>
              <a:rPr lang="ru-RU" sz="2400" dirty="0"/>
              <a:t>: заявитель сам определяет, какие характеристики продукции проверять (например, </a:t>
            </a:r>
            <a:r>
              <a:rPr lang="ru-RU" sz="2400" dirty="0" err="1"/>
              <a:t>экологичность</a:t>
            </a:r>
            <a:r>
              <a:rPr lang="ru-RU" sz="2400" dirty="0"/>
              <a:t>, долговечность, эргономичность).</a:t>
            </a:r>
          </a:p>
          <a:p>
            <a:r>
              <a:rPr lang="ru-RU" sz="2400" b="1" dirty="0"/>
              <a:t>Документ</a:t>
            </a:r>
            <a:r>
              <a:rPr lang="ru-RU" sz="2400" dirty="0"/>
              <a:t>: выдаётся сертификат соответствия, который подтверждает заявленные качества.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57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0209052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36650" y="198563"/>
            <a:ext cx="7886700" cy="1325563"/>
          </a:xfrm>
        </p:spPr>
        <p:txBody>
          <a:bodyPr/>
          <a:lstStyle/>
          <a:p>
            <a:r>
              <a:rPr lang="ru-RU" dirty="0"/>
              <a:t>Некоторые ситуации, когда применяется добровольная сертификация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73809" y="2262023"/>
            <a:ext cx="7886700" cy="3653219"/>
          </a:xfrm>
        </p:spPr>
        <p:txBody>
          <a:bodyPr/>
          <a:lstStyle/>
          <a:p>
            <a:r>
              <a:rPr lang="ru-RU" dirty="0" smtClean="0"/>
              <a:t>Для </a:t>
            </a:r>
            <a:r>
              <a:rPr lang="ru-RU" dirty="0"/>
              <a:t>продукции, не требующей обязательной сертификации, но где производитель хочет подчеркнуть качество (например, мебель, текстиль, посуда).</a:t>
            </a:r>
          </a:p>
          <a:p>
            <a:r>
              <a:rPr lang="ru-RU" dirty="0"/>
              <a:t>При участии в тендерах или поставках для крупных компаний, требующих подтверждения качества.</a:t>
            </a:r>
          </a:p>
          <a:p>
            <a:r>
              <a:rPr lang="ru-RU" dirty="0"/>
              <a:t>Для продвижения на рынке, включая </a:t>
            </a:r>
            <a:r>
              <a:rPr lang="ru-RU" dirty="0" err="1"/>
              <a:t>маркетплейсы</a:t>
            </a:r>
            <a:r>
              <a:rPr lang="ru-RU" dirty="0"/>
              <a:t> (</a:t>
            </a:r>
            <a:r>
              <a:rPr lang="ru-RU" dirty="0" err="1"/>
              <a:t>Ozon</a:t>
            </a:r>
            <a:r>
              <a:rPr lang="ru-RU" dirty="0"/>
              <a:t>, </a:t>
            </a:r>
            <a:r>
              <a:rPr lang="ru-RU" dirty="0" err="1"/>
              <a:t>Wildberries</a:t>
            </a:r>
            <a:r>
              <a:rPr lang="ru-RU" dirty="0"/>
              <a:t>), где сертификат повышает доверие покупателей.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58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5373634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70394" y="177321"/>
            <a:ext cx="8173605" cy="940279"/>
          </a:xfrm>
        </p:spPr>
        <p:txBody>
          <a:bodyPr/>
          <a:lstStyle/>
          <a:p>
            <a:r>
              <a:rPr lang="ru-RU" sz="3200" b="1" dirty="0"/>
              <a:t>Некоторые документы, которые могут входить в перечень необходимых для сертификации</a:t>
            </a:r>
            <a:r>
              <a:rPr lang="ru-RU" sz="3200" dirty="0"/>
              <a:t>: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71055" y="1117600"/>
            <a:ext cx="8238835" cy="3653219"/>
          </a:xfrm>
        </p:spPr>
        <p:txBody>
          <a:bodyPr/>
          <a:lstStyle/>
          <a:p>
            <a:r>
              <a:rPr lang="ru-RU" sz="1600" dirty="0" smtClean="0"/>
              <a:t>ИНН</a:t>
            </a:r>
            <a:r>
              <a:rPr lang="ru-RU" sz="1600" dirty="0"/>
              <a:t>, ОГРН предпринимателя;</a:t>
            </a:r>
          </a:p>
          <a:p>
            <a:r>
              <a:rPr lang="ru-RU" sz="1600" dirty="0"/>
              <a:t>Нормативная документация, по требованиям которой организован выпуск продукции изготовителем (ГОСТ, ТУ);</a:t>
            </a:r>
          </a:p>
          <a:p>
            <a:r>
              <a:rPr lang="ru-RU" sz="1600" dirty="0"/>
              <a:t>Сведения по объекту — код ТН ВЭД, состав, назначение и прочая характеристика, позволяющая идентифицировать изделие;</a:t>
            </a:r>
          </a:p>
          <a:p>
            <a:r>
              <a:rPr lang="ru-RU" sz="1600" dirty="0"/>
              <a:t>Документация, свидетельствующая о праве собственности на помещение, в котором расположено производство, или договор его аренды;</a:t>
            </a:r>
          </a:p>
          <a:p>
            <a:r>
              <a:rPr lang="ru-RU" sz="1600" dirty="0"/>
              <a:t>Эксплуатационная документация;</a:t>
            </a:r>
          </a:p>
          <a:p>
            <a:r>
              <a:rPr lang="ru-RU" sz="1600" dirty="0"/>
              <a:t>Сертификат, свидетельствующий о функционировании на предприятии системы менеджмента качества;</a:t>
            </a:r>
          </a:p>
          <a:p>
            <a:r>
              <a:rPr lang="ru-RU" sz="1600" dirty="0"/>
              <a:t>Протокол испытаний;</a:t>
            </a:r>
          </a:p>
          <a:p>
            <a:r>
              <a:rPr lang="ru-RU" sz="1600" dirty="0"/>
              <a:t>Акт производственного контроля;</a:t>
            </a:r>
          </a:p>
          <a:p>
            <a:r>
              <a:rPr lang="ru-RU" sz="1600" dirty="0"/>
              <a:t>Товарно-сопроводительная документация (инвойс, контракт на поставку);</a:t>
            </a:r>
          </a:p>
          <a:p>
            <a:r>
              <a:rPr lang="ru-RU" sz="1600" dirty="0"/>
              <a:t>Договор уполномоченного производителем лица;</a:t>
            </a:r>
          </a:p>
          <a:p>
            <a:r>
              <a:rPr lang="ru-RU" sz="1600" dirty="0"/>
              <a:t>Обоснование безопасности (предоставляется для некоторых видов оборудования);</a:t>
            </a:r>
          </a:p>
          <a:p>
            <a:r>
              <a:rPr lang="ru-RU" sz="1600" dirty="0"/>
              <a:t>Паспорт оборудования;</a:t>
            </a:r>
          </a:p>
          <a:p>
            <a:r>
              <a:rPr lang="ru-RU" sz="1600" dirty="0"/>
              <a:t>Проектная документация на машины или аппараты, чертежи;</a:t>
            </a:r>
          </a:p>
          <a:p>
            <a:r>
              <a:rPr lang="ru-RU" sz="1600" dirty="0"/>
              <a:t>Сертификаты на комплектующие материалы.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59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0027099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70395" y="177321"/>
            <a:ext cx="7886700" cy="1325563"/>
          </a:xfrm>
        </p:spPr>
        <p:txBody>
          <a:bodyPr/>
          <a:lstStyle/>
          <a:p>
            <a:r>
              <a:rPr lang="ru-RU" sz="3600" dirty="0" smtClean="0"/>
              <a:t>Некоторые документы </a:t>
            </a:r>
            <a:r>
              <a:rPr lang="ru-RU" sz="3600" dirty="0"/>
              <a:t>для проведения добровольной сертификации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71055" y="1502884"/>
            <a:ext cx="8238835" cy="3653219"/>
          </a:xfrm>
        </p:spPr>
        <p:txBody>
          <a:bodyPr/>
          <a:lstStyle/>
          <a:p>
            <a:r>
              <a:rPr lang="ru-RU" sz="2000" b="1" dirty="0"/>
              <a:t>Обычно для проведения добровольной </a:t>
            </a:r>
            <a:r>
              <a:rPr lang="ru-RU" sz="2000" b="1" dirty="0" smtClean="0"/>
              <a:t>сертификации запрашивают</a:t>
            </a:r>
            <a:r>
              <a:rPr lang="ru-RU" sz="2000" dirty="0"/>
              <a:t>:</a:t>
            </a:r>
          </a:p>
          <a:p>
            <a:r>
              <a:rPr lang="ru-RU" sz="2000" b="1" dirty="0"/>
              <a:t>Заявление на проведение сертификации</a:t>
            </a:r>
            <a:r>
              <a:rPr lang="ru-RU" sz="2000" dirty="0"/>
              <a:t>. В нём указывают название и контакты заявителя, наименование услуги или товара, список нормативных документов и стандартов, служащих основанием для проведения сертификации, номер и дату регистрации в ЕГРПО.</a:t>
            </a:r>
          </a:p>
          <a:p>
            <a:r>
              <a:rPr lang="ru-RU" sz="2000" b="1" dirty="0"/>
              <a:t>Описание продукции</a:t>
            </a:r>
            <a:r>
              <a:rPr lang="ru-RU" sz="2000" dirty="0"/>
              <a:t>: состав, назначение, характеристики.</a:t>
            </a:r>
          </a:p>
          <a:p>
            <a:r>
              <a:rPr lang="ru-RU" sz="2000" b="1" dirty="0"/>
              <a:t>Договоры или техническую документацию</a:t>
            </a:r>
            <a:r>
              <a:rPr lang="ru-RU" sz="2000" dirty="0"/>
              <a:t>. Например, паспорт, </a:t>
            </a:r>
            <a:r>
              <a:rPr lang="ru-RU" sz="2000" dirty="0" err="1"/>
              <a:t>техусловия</a:t>
            </a:r>
            <a:r>
              <a:rPr lang="ru-RU" sz="2000" dirty="0"/>
              <a:t>, чертежи, руководство по эксплуатации.</a:t>
            </a:r>
          </a:p>
          <a:p>
            <a:r>
              <a:rPr lang="ru-RU" sz="2000" b="1" dirty="0"/>
              <a:t>Протоколы испытаний</a:t>
            </a:r>
            <a:r>
              <a:rPr lang="ru-RU" sz="2000" dirty="0"/>
              <a:t>, если они уже проводились.</a:t>
            </a:r>
          </a:p>
          <a:p>
            <a:r>
              <a:rPr lang="ru-RU" sz="2000" b="1" dirty="0"/>
              <a:t>Регистрационные документы компании или ИП</a:t>
            </a:r>
            <a:r>
              <a:rPr lang="ru-RU" sz="2000" dirty="0"/>
              <a:t>.</a:t>
            </a:r>
          </a:p>
          <a:p>
            <a:endParaRPr lang="ru-RU" sz="20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60</a:t>
            </a:fld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323850" y="5156103"/>
            <a:ext cx="824749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>
                <a:solidFill>
                  <a:srgbClr val="333333"/>
                </a:solidFill>
                <a:latin typeface="YS Text"/>
              </a:rPr>
              <a:t>Дополнительно орган сертификации может попросить</a:t>
            </a:r>
            <a:r>
              <a:rPr lang="ru-RU" dirty="0">
                <a:solidFill>
                  <a:srgbClr val="333333"/>
                </a:solidFill>
                <a:latin typeface="YS Text"/>
              </a:rPr>
              <a:t> инструкции по применению, макеты упаковки или другие материалы. </a:t>
            </a:r>
            <a:r>
              <a:rPr lang="ru-RU" dirty="0" smtClean="0">
                <a:solidFill>
                  <a:srgbClr val="333333"/>
                </a:solidFill>
                <a:latin typeface="YS Text"/>
              </a:rPr>
              <a:t>Если </a:t>
            </a:r>
            <a:r>
              <a:rPr lang="ru-RU" dirty="0">
                <a:solidFill>
                  <a:srgbClr val="333333"/>
                </a:solidFill>
                <a:latin typeface="YS Text"/>
              </a:rPr>
              <a:t>товар поставляется на экспорт, нужно предоставить </a:t>
            </a:r>
            <a:r>
              <a:rPr lang="ru-RU" b="1" dirty="0">
                <a:solidFill>
                  <a:srgbClr val="333333"/>
                </a:solidFill>
                <a:latin typeface="YS Text"/>
              </a:rPr>
              <a:t>контракт на поставку</a:t>
            </a:r>
            <a:r>
              <a:rPr lang="ru-RU" dirty="0">
                <a:solidFill>
                  <a:srgbClr val="333333"/>
                </a:solidFill>
                <a:latin typeface="YS Text"/>
              </a:rPr>
              <a:t>, а если приобретается у другой компании —  </a:t>
            </a:r>
            <a:r>
              <a:rPr lang="ru-RU" b="1" dirty="0">
                <a:solidFill>
                  <a:srgbClr val="333333"/>
                </a:solidFill>
                <a:latin typeface="YS Text"/>
              </a:rPr>
              <a:t>договор поставки</a:t>
            </a:r>
            <a:endParaRPr lang="ru-RU" b="0" dirty="0">
              <a:solidFill>
                <a:srgbClr val="333333"/>
              </a:solidFill>
              <a:effectLst/>
              <a:latin typeface="YS Text"/>
            </a:endParaRPr>
          </a:p>
        </p:txBody>
      </p:sp>
    </p:spTree>
    <p:extLst>
      <p:ext uri="{BB962C8B-B14F-4D97-AF65-F5344CB8AC3E}">
        <p14:creationId xmlns:p14="http://schemas.microsoft.com/office/powerpoint/2010/main" val="247395339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E5BE26A0-0BD0-4F5C-8BB0-203795747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832284"/>
            <a:ext cx="7886700" cy="2852737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2159761912"/>
      </p:ext>
    </p:extLst>
  </p:cSld>
  <p:clrMapOvr>
    <a:masterClrMapping/>
  </p:clrMapOvr>
</p:sld>
</file>

<file path=ppt/theme/theme1.xml><?xml version="1.0" encoding="utf-8"?>
<a:theme xmlns:a="http://schemas.openxmlformats.org/drawingml/2006/main" name="Специальное оформление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Специальное оформление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6071</TotalTime>
  <Words>4532</Words>
  <Application>Microsoft Office PowerPoint</Application>
  <PresentationFormat>Экран (4:3)</PresentationFormat>
  <Paragraphs>493</Paragraphs>
  <Slides>61</Slides>
  <Notes>1</Notes>
  <HiddenSlides>0</HiddenSlides>
  <MMClips>0</MMClips>
  <ScaleCrop>false</ScaleCrop>
  <HeadingPairs>
    <vt:vector size="4" baseType="variant">
      <vt:variant>
        <vt:lpstr>Тема</vt:lpstr>
      </vt:variant>
      <vt:variant>
        <vt:i4>2</vt:i4>
      </vt:variant>
      <vt:variant>
        <vt:lpstr>Заголовки слайдов</vt:lpstr>
      </vt:variant>
      <vt:variant>
        <vt:i4>61</vt:i4>
      </vt:variant>
    </vt:vector>
  </HeadingPairs>
  <TitlesOfParts>
    <vt:vector size="63" baseType="lpstr">
      <vt:lpstr>Специальное оформление</vt:lpstr>
      <vt:lpstr>1_Специальное оформление</vt:lpstr>
      <vt:lpstr>ДИСЦИЛИНА Сертификация и лицензирование беспилотных систем  ИНСТИТУТ ИПТИП  КАФЕДРА индустриального программирования  ВИД УЧЕБНОГО МАТЕРИАЛА Лекция  ПРЕПОДАВАТЕЛЬ Ризаева Юлия Николаевна  СЕМЕСТР 3, 2026-2027 уч. г. </vt:lpstr>
      <vt:lpstr> Обязательная и добровольная сертификация беспилотных систем: цели и сфера применения</vt:lpstr>
      <vt:lpstr>План лекции</vt:lpstr>
      <vt:lpstr>ОСНОВНЫЕ ПОНЯТИЯ: СЕРТИФИКАЦИЯ</vt:lpstr>
      <vt:lpstr>ОСНОВНЫЕ ПОНЯТИЯ: СЕРТИФИКАЦИЯ</vt:lpstr>
      <vt:lpstr>Определение и разграничение понятий "лицензирование" и "сертификация"</vt:lpstr>
      <vt:lpstr>Общие сведения</vt:lpstr>
      <vt:lpstr>Общие сведения</vt:lpstr>
      <vt:lpstr>Общие сведения</vt:lpstr>
      <vt:lpstr>Презентация PowerPoint</vt:lpstr>
      <vt:lpstr>Презентация PowerPoint</vt:lpstr>
      <vt:lpstr>Система технического регулирования</vt:lpstr>
      <vt:lpstr>Технические регламенты</vt:lpstr>
      <vt:lpstr>Технические регламенты</vt:lpstr>
      <vt:lpstr>Технические регламенты,  цели, принятия, содержание </vt:lpstr>
      <vt:lpstr>Принятые технические регламенты</vt:lpstr>
      <vt:lpstr>Структура и содержание  технических регламентов </vt:lpstr>
      <vt:lpstr>Государственный контроль и надзор за соблюдением требований технических регламентов (ГКиН)</vt:lpstr>
      <vt:lpstr>Государственный контроль и надзор за соблюдением требований технических регламентов (ГКиН)</vt:lpstr>
      <vt:lpstr>Презентация PowerPoint</vt:lpstr>
      <vt:lpstr>Стандартизация</vt:lpstr>
      <vt:lpstr>Принципы стандартизации</vt:lpstr>
      <vt:lpstr>Цели стандартизации</vt:lpstr>
      <vt:lpstr>Метод стандартизации</vt:lpstr>
      <vt:lpstr>Упорядочение объектов стандартизации</vt:lpstr>
      <vt:lpstr>Параметрическая стандартизация</vt:lpstr>
      <vt:lpstr>Унификация продукции</vt:lpstr>
      <vt:lpstr>Презентация PowerPoint</vt:lpstr>
      <vt:lpstr>Презентация PowerPoint</vt:lpstr>
      <vt:lpstr>Презентация PowerPoint</vt:lpstr>
      <vt:lpstr>КАТЕГОРИИ СТАНДАРТОВ  (деление стандартов, исходя из сферы действия)  </vt:lpstr>
      <vt:lpstr>КАТЕГОРИИ СТАНДАРТОВ    </vt:lpstr>
      <vt:lpstr>Виды стандарта</vt:lpstr>
      <vt:lpstr>Обозначение национальных стандартов </vt:lpstr>
      <vt:lpstr>Обозначения национальных стандартов РФ, разрабатываемых на основе применения международных стандартов </vt:lpstr>
      <vt:lpstr>Презентация PowerPoint</vt:lpstr>
      <vt:lpstr>Метрология</vt:lpstr>
      <vt:lpstr>Определения</vt:lpstr>
      <vt:lpstr>Определения</vt:lpstr>
      <vt:lpstr>Метрологическая служба</vt:lpstr>
      <vt:lpstr>Калибровка и поверка средства измерений </vt:lpstr>
      <vt:lpstr>Виды измерений</vt:lpstr>
      <vt:lpstr>Виды измерений</vt:lpstr>
      <vt:lpstr>Виды измерений</vt:lpstr>
      <vt:lpstr>Виды измерений</vt:lpstr>
      <vt:lpstr>Средства измерений</vt:lpstr>
      <vt:lpstr>Стандартизация, метрология, сертификация – инструменты повышения качества</vt:lpstr>
      <vt:lpstr>Механизм управления качеством продукции</vt:lpstr>
      <vt:lpstr>Схема сертификации</vt:lpstr>
      <vt:lpstr>Схема сертификации</vt:lpstr>
      <vt:lpstr>Схемы сертификации продукции в РФ  </vt:lpstr>
      <vt:lpstr>Схемы сертификации продукции в РФ  </vt:lpstr>
      <vt:lpstr>Схемы сертификации продукции в РФ  </vt:lpstr>
      <vt:lpstr>Обязательная сертификация</vt:lpstr>
      <vt:lpstr>Особенности обязательной сертификации</vt:lpstr>
      <vt:lpstr>Добровольная сертификация</vt:lpstr>
      <vt:lpstr>Особенности добровольной сертификации</vt:lpstr>
      <vt:lpstr>Некоторые ситуации, когда применяется добровольная сертификация</vt:lpstr>
      <vt:lpstr>Некоторые документы, которые могут входить в перечень необходимых для сертификации:</vt:lpstr>
      <vt:lpstr>Некоторые документы для проведения добровольной сертификации</vt:lpstr>
      <vt:lpstr>Спасибо за внимание!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Я</dc:creator>
  <cp:lastModifiedBy>Аня</cp:lastModifiedBy>
  <cp:revision>362</cp:revision>
  <dcterms:created xsi:type="dcterms:W3CDTF">2015-07-29T11:14:37Z</dcterms:created>
  <dcterms:modified xsi:type="dcterms:W3CDTF">2026-06-26T19:55:46Z</dcterms:modified>
</cp:coreProperties>
</file>