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</p:sldMasterIdLst>
  <p:notesMasterIdLst>
    <p:notesMasterId r:id="rId22"/>
  </p:notesMasterIdLst>
  <p:sldIdLst>
    <p:sldId id="274" r:id="rId2"/>
    <p:sldId id="263" r:id="rId3"/>
    <p:sldId id="297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92" r:id="rId18"/>
    <p:sldId id="293" r:id="rId19"/>
    <p:sldId id="294" r:id="rId20"/>
    <p:sldId id="26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6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9/22/2025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9/22/2025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9/22/2025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892" y="119727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133600" cy="365125"/>
          </a:xfrm>
          <a:prstGeom prst="rect">
            <a:avLst/>
          </a:prstGeom>
        </p:spPr>
        <p:txBody>
          <a:bodyPr/>
          <a:lstStyle/>
          <a:p>
            <a:fld id="{8BAA42B7-A82E-48C9-B2B8-A78715E37E3C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37751" y="2693773"/>
            <a:ext cx="8349049" cy="343239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B918F5CA-B6E4-02FB-5091-E0C38EFFE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4915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8452735" cy="2852737"/>
          </a:xfrm>
        </p:spPr>
        <p:txBody>
          <a:bodyPr/>
          <a:lstStyle/>
          <a:p>
            <a:pPr algn="ctr"/>
            <a:r>
              <a:rPr lang="ru-RU" altLang="ru-RU" sz="7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Электротехника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</a:t>
            </a:r>
            <a: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2025-2026</a:t>
            </a:r>
            <a:b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05CABD-092D-4CC1-B799-8089F630E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ФИО преподавателя</a:t>
            </a:r>
            <a:r>
              <a:rPr lang="en-US" dirty="0" smtClean="0"/>
              <a:t>: </a:t>
            </a:r>
            <a:r>
              <a:rPr lang="ru-RU" dirty="0" err="1" smtClean="0"/>
              <a:t>Микаева</a:t>
            </a:r>
            <a:r>
              <a:rPr lang="ru-RU" dirty="0" smtClean="0"/>
              <a:t> Светлана Анатольевна</a:t>
            </a:r>
            <a:r>
              <a:rPr lang="en-US" dirty="0" smtClean="0"/>
              <a:t> </a:t>
            </a:r>
            <a:endParaRPr lang="ru-RU" dirty="0"/>
          </a:p>
          <a:p>
            <a:r>
              <a:rPr lang="en-US" dirty="0"/>
              <a:t>e-mail: mikaeva_s@mirea.ru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74000">
              <a:schemeClr val="bg2"/>
            </a:gs>
            <a:gs pos="83000">
              <a:schemeClr val="bg2">
                <a:lumMod val="45000"/>
                <a:lumOff val="55000"/>
              </a:schemeClr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Электрические цепи постоянного тока.</a:t>
            </a:r>
            <a:endParaRPr lang="ru-RU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190ACFE-8886-0DB4-2BEB-A9EDDB97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D262070-2A5E-5642-84A2-C705DC40505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77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909873" y="696371"/>
            <a:ext cx="774524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Сила электрического тока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помещении проводника в электрическое поле на заряженные частицы (электроны) действуют силы, заставляющие электроны приобретать упорядоченное движение вдоль линий напряжённости поля.</a:t>
            </a:r>
          </a:p>
          <a:p>
            <a:pPr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Направленное движение свободных заряженных частиц в проводнике под действием электрического поля называется электрическим током проводимости или электрическим током.</a:t>
            </a:r>
          </a:p>
          <a:p>
            <a:pPr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Условно принято считать, что электрический ток направлен в сторону движения положительно заряженных частиц от зажима "+" к зажиму "-" источника питания.</a:t>
            </a:r>
          </a:p>
          <a:p>
            <a:pPr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Сила электрического тока в проводнике равна величине заряда, проходящего за единицу времени через поперечное сечение проводника: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I=Q/t           (1.1)</a:t>
            </a:r>
          </a:p>
          <a:p>
            <a:pPr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сила постоянного тока [A], 1[A] = 10</a:t>
            </a:r>
            <a:r>
              <a:rPr lang="ru-RU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[мА] = 10</a:t>
            </a:r>
            <a:r>
              <a:rPr lang="ru-RU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[мкА],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количество электричества [Кл],  1[Кл] = 6,29 10</a:t>
            </a:r>
            <a:r>
              <a:rPr lang="ru-RU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[э],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- время [сек].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484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28600" y="1281756"/>
            <a:ext cx="8716224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Плотность тока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>
              <a:defRPr/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передаче электрического тока поперечное сечение проводов выбирается исходя из плотности тока:</a:t>
            </a:r>
          </a:p>
          <a:p>
            <a:pPr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δ = I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(1.2)</a:t>
            </a:r>
          </a:p>
          <a:p>
            <a:pPr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δ - плотность тока [A / мм</a:t>
            </a:r>
            <a:r>
              <a:rPr lang="ru-RU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</a:p>
          <a:p>
            <a:pPr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  - сила постоянного тока [A],</a:t>
            </a:r>
          </a:p>
          <a:p>
            <a:pPr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площадь поперечного сечения проводника [мм</a:t>
            </a:r>
            <a:r>
              <a:rPr lang="ru-RU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</a:p>
        </p:txBody>
      </p:sp>
    </p:spTree>
    <p:extLst>
      <p:ext uri="{BB962C8B-B14F-4D97-AF65-F5344CB8AC3E}">
        <p14:creationId xmlns:p14="http://schemas.microsoft.com/office/powerpoint/2010/main" val="937898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792178" y="1157034"/>
            <a:ext cx="7410261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Разность потенциалов или электрическое напряжение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Разность потенциалов или электрическое напряжение между любыми двумя точками электрического поля численно равно работе, затраченной на перемещение электрического заряда из одной точки поля в другую: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 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 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                      (1.3)</a:t>
            </a:r>
          </a:p>
          <a:p>
            <a:pPr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 - потенциалы соответственно точки «а» и точки «б» [В],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 - электрическое напряжение между точками «а» и «б» [В],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электрический заряд [Кл],</a:t>
            </a:r>
          </a:p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 – работа, затраченная на перемещение  электрического заряда [Дж].</a:t>
            </a:r>
          </a:p>
          <a:p>
            <a:pPr>
              <a:defRPr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50346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93926" y="1466611"/>
            <a:ext cx="6921374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и элементы электрической цепи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ru-RU" sz="1600" dirty="0"/>
          </a:p>
          <a:p>
            <a:pPr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Электрической цепью называется совокупность устройств и объектов, образующих путь для прохождения электрического тока.</a:t>
            </a:r>
          </a:p>
          <a:p>
            <a:pPr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Активными элементами электрической цепи (источники электрической энергии) называются  элементы, где происходит преобразование какого-либо вида энергии в электрическую.</a:t>
            </a:r>
          </a:p>
          <a:p>
            <a:pPr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Пассивными элементами электрической цепи (резисторы, катушки индуктивности, конденсаторы и т.д.) называются элементы, где происходит преобразование электрической энергии в какой-либо другой вид энергии.</a:t>
            </a:r>
          </a:p>
        </p:txBody>
      </p:sp>
    </p:spTree>
    <p:extLst>
      <p:ext uri="{BB962C8B-B14F-4D97-AF65-F5344CB8AC3E}">
        <p14:creationId xmlns:p14="http://schemas.microsoft.com/office/powerpoint/2010/main" val="905855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300038" y="1011238"/>
            <a:ext cx="4824412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alt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выключатель однополюсный,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выключатель двухполюсный,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источник напряжения,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источник тока,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плавкий предохранитель,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резистор,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резистор переменный(регулируемый),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конденсатор,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конденсатор полярный электролитический,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     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Arial" panose="020B0604020202020204" pitchFamily="34" charset="0"/>
            </a:endParaRPr>
          </a:p>
        </p:txBody>
      </p:sp>
      <p:pic>
        <p:nvPicPr>
          <p:cNvPr id="8" name="Рисунок 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203325"/>
            <a:ext cx="477837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Рисунок 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1716088"/>
            <a:ext cx="4476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Рисунок 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2233613"/>
            <a:ext cx="54133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Рисунок 3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2820988"/>
            <a:ext cx="517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Рисунок 3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3384550"/>
            <a:ext cx="58261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Рисунок 3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3900488"/>
            <a:ext cx="6397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Рисунок 3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" y="4462463"/>
            <a:ext cx="623888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Рисунок 3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8" y="4957763"/>
            <a:ext cx="287337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Рисунок 3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8" y="5487988"/>
            <a:ext cx="376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Рисунок 3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1401763"/>
            <a:ext cx="647700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Рисунок 4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313" y="1965325"/>
            <a:ext cx="69373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Рисунок 4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863" y="2692400"/>
            <a:ext cx="668337" cy="24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7"/>
          <p:cNvSpPr txBox="1">
            <a:spLocks noChangeArrowheads="1"/>
          </p:cNvSpPr>
          <p:nvPr/>
        </p:nvSpPr>
        <p:spPr bwMode="auto">
          <a:xfrm>
            <a:off x="5124450" y="1341438"/>
            <a:ext cx="384016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катушка индуктивности без сердечника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катушка индуктивности с ферромагнитным сердечником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катушка индуктивности с отводом</a:t>
            </a:r>
          </a:p>
        </p:txBody>
      </p:sp>
      <p:sp>
        <p:nvSpPr>
          <p:cNvPr id="21" name="TextBox 18"/>
          <p:cNvSpPr txBox="1">
            <a:spLocks noChangeArrowheads="1"/>
          </p:cNvSpPr>
          <p:nvPr/>
        </p:nvSpPr>
        <p:spPr bwMode="auto">
          <a:xfrm>
            <a:off x="584200" y="825500"/>
            <a:ext cx="7127875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основным элементам электрической цепи относятся: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250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7" name="Объект 1"/>
          <p:cNvSpPr txBox="1">
            <a:spLocks/>
          </p:cNvSpPr>
          <p:nvPr/>
        </p:nvSpPr>
        <p:spPr>
          <a:xfrm>
            <a:off x="760413" y="836613"/>
            <a:ext cx="7745412" cy="51847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Резистивный элемент (резистор)</a:t>
            </a: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прохождении электрического тока по проводнику, свободные электроны перемещаясь под действием сил электрического поля сталкиваются с атомами кристаллической решётки проводника и тормозятся, т.е. они испытывают противодействие своему движению, которое называется электрическим сопротивлением.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800" dirty="0"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3322638"/>
            <a:ext cx="2081213" cy="139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3203575" y="5157788"/>
            <a:ext cx="33782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i="1">
                <a:latin typeface="Arial" panose="020B0604020202020204" pitchFamily="34" charset="0"/>
              </a:rPr>
              <a:t>Рис. 1.1.</a:t>
            </a:r>
            <a:r>
              <a:rPr lang="ru-RU" altLang="ru-RU" sz="1600" b="1">
                <a:latin typeface="Arial" panose="020B0604020202020204" pitchFamily="34" charset="0"/>
              </a:rPr>
              <a:t> </a:t>
            </a:r>
            <a:r>
              <a:rPr lang="ru-RU" altLang="ru-RU" sz="1600" i="1">
                <a:latin typeface="Arial" panose="020B0604020202020204" pitchFamily="34" charset="0"/>
              </a:rPr>
              <a:t>Резистивный элемент</a:t>
            </a:r>
            <a:r>
              <a:rPr lang="ru-RU" altLang="ru-RU" sz="1800" i="1">
                <a:latin typeface="Arial" panose="020B0604020202020204" pitchFamily="34" charset="0"/>
              </a:rPr>
              <a:t>.</a:t>
            </a:r>
            <a:endParaRPr lang="ru-RU" altLang="ru-RU" sz="18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642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900113" y="1125538"/>
            <a:ext cx="7775575" cy="467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Связь между приложенным к резистору напряжением и величиной тока определяется законом Ома, по которому падение напряжения на активном резисторе равно произведению величины сопротивления резистора на силу тока протекающего через него: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= R I,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(1.4)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откуда сопротивление R = U/I [Ом],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1[Ом]=1[В/A],   1[кОм]=10</a:t>
            </a:r>
            <a:r>
              <a:rPr lang="ru-RU" altLang="ru-RU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[Ом],   1[МОм] =10</a:t>
            </a:r>
            <a:r>
              <a:rPr lang="ru-RU" altLang="ru-RU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[Ом].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Величина электрического сопротивления зависит от свойств проводника: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R = ρ 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               (1.5)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ρ – удельное сопротивление [Ом мм</a:t>
            </a:r>
            <a:r>
              <a:rPr lang="ru-RU" altLang="ru-RU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м],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длина проводника [м],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площадь поперечного сечения проводника [мм</a:t>
            </a:r>
            <a:r>
              <a:rPr lang="ru-RU" altLang="ru-RU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759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7" name="Объект 1"/>
          <p:cNvSpPr txBox="1">
            <a:spLocks/>
          </p:cNvSpPr>
          <p:nvPr/>
        </p:nvSpPr>
        <p:spPr>
          <a:xfrm>
            <a:off x="760413" y="836613"/>
            <a:ext cx="7745412" cy="209232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Источники электрической энергии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Источником напряжения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э.д.с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 называется элемент с двумя выводами, напряжение между которыми задано в виде некоторой функции времени, независимо от величины тока, отдаваемого во внешнюю цепь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800" dirty="0">
              <a:cs typeface="Times New Roman" panose="02020603050405020304" pitchFamily="18" charset="0"/>
            </a:endParaRPr>
          </a:p>
        </p:txBody>
      </p:sp>
      <p:pic>
        <p:nvPicPr>
          <p:cNvPr id="8" name="Рисунок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2928938"/>
            <a:ext cx="2486025" cy="152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2971800" y="5013325"/>
            <a:ext cx="4027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Arial" panose="020B0604020202020204" pitchFamily="34" charset="0"/>
              </a:rPr>
              <a:t>Рис. 1.2. Источник напряжения.</a:t>
            </a:r>
            <a:endParaRPr lang="ru-RU" altLang="ru-RU" sz="18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285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755650" y="804863"/>
            <a:ext cx="8064500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Идеальный источник напряжения при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способен отдавать в нагрузку неограниченную мощность.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Уравнение электрического состояния реального источника напряжения  записывается в виде: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U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</a:t>
            </a: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(1.6)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внутреннее сопротивление источника напряжения.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Источником тока называется элемент, через выводы которого протекает ток с заданным законом изменения во времени независимо от напряжения, появляющегося между выводами.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8" name="Рисунок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3695700"/>
            <a:ext cx="2087562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3419475" y="5516563"/>
            <a:ext cx="43211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Arial" panose="020B0604020202020204" pitchFamily="34" charset="0"/>
              </a:rPr>
              <a:t>Рис.1.3. Источник тока.</a:t>
            </a:r>
            <a:endParaRPr lang="ru-RU" altLang="ru-RU" sz="18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752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755650" y="692150"/>
            <a:ext cx="8137525" cy="591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Идеальный источник тока при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∞  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= 0 способен отдавать в нагрузку неограниченную мощность. </a:t>
            </a:r>
          </a:p>
          <a:p>
            <a:pPr eaLnBrk="1" hangingPunct="1"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Уравнение электрического состояния реального источника тока  записывается в виде: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             (1.7)</a:t>
            </a:r>
          </a:p>
          <a:p>
            <a:pPr eaLnBrk="1" hangingPunct="1"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    - ток идеальный источник тока,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внутреннее сопротивление источника тока.</a:t>
            </a:r>
          </a:p>
          <a:p>
            <a:pPr eaLnBrk="1" hangingPunct="1"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Реальный источник напряжения и реальный источник тока будут эквивалентными и могут быть заменены один на другой при выполнении двух условий:</a:t>
            </a:r>
          </a:p>
          <a:p>
            <a:pPr marL="342900" indent="-342900" eaLnBrk="1" hangingPunct="1">
              <a:buFontTx/>
              <a:buAutoNum type="arabicPeriod"/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Реальный источник тока должен генерировать ток, равный току короткого замыкания реального источника напряжения: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Е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                          (1.8)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внутреннее сопротивление реального источника напряжения.</a:t>
            </a:r>
          </a:p>
          <a:p>
            <a:pPr eaLnBrk="1" hangingPunct="1"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Внутренние сопротивления реального источника напряжения и реального источника тока должны быть равны: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dirty="0"/>
              <a:t>           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(1.9)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внутреннее сопротивление реального источника тока.</a:t>
            </a:r>
          </a:p>
          <a:p>
            <a:pPr eaLnBrk="1" hangingPunct="1">
              <a:defRPr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30323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60413" y="836613"/>
            <a:ext cx="7745412" cy="20923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Особенности работы источников энергии на нагрузку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условия, при которых источник напряжения отдаёт в нагрузку максимальную мощность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800" dirty="0"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2781300"/>
            <a:ext cx="2849562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908175" y="4941888"/>
            <a:ext cx="77771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Arial" panose="020B0604020202020204" pitchFamily="34" charset="0"/>
              </a:rPr>
              <a:t> Рис.1.4. Подключение нагрузки к источнику напряжения.</a:t>
            </a:r>
            <a:endParaRPr lang="ru-RU" altLang="ru-RU" sz="18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912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765175" y="908050"/>
            <a:ext cx="8351838" cy="587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Найдём ток и напряжение на нагрузке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Поскольку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 и Е =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н), получим:</a:t>
            </a: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I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Е /(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н),                              (1.10)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U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 Е /(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н) = Е /(1 +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н).                (1.11)</a:t>
            </a: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Отдаваемая источником напряжения мощность Р1 при Е =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растёт линейно с увеличением тока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Р1 = Е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                               (1.12)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Мощность потерь на внутреннем сопротивлении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источника напряжения возрастает по закону параболы, достигая значения Р1 при коротком замыкании нагрузки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 т.к.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Е: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Рвн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                                        (1.13)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614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661988" y="847725"/>
            <a:ext cx="8424862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Полезная мощность Р2 в нагрузке будет равна: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Р2 =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 [Е /(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н)]</a:t>
            </a:r>
            <a:r>
              <a:rPr lang="ru-RU" altLang="ru-RU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Е</a:t>
            </a:r>
            <a:r>
              <a:rPr lang="ru-RU" altLang="ru-RU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 /(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н)</a:t>
            </a:r>
            <a:r>
              <a:rPr lang="ru-RU" altLang="ru-RU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       (1.14)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Нетрудно заметить, что зависимость (1.14) имеет экстремум, т.к. в режиме  холостого хода при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и в режиме короткого замыкания при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 = 0 мощность Р2 = 0.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Определим условия, соответствующие экстремуму зависимости (1.14).</a:t>
            </a: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113" y="3644900"/>
            <a:ext cx="2735262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716463" y="3990975"/>
            <a:ext cx="410368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Arial" panose="020B0604020202020204" pitchFamily="34" charset="0"/>
              </a:rPr>
              <a:t>Рис.1.5. Основные характеристики источника напряжения, нагруженного на активное сопротивление.</a:t>
            </a:r>
            <a:r>
              <a:rPr lang="ru-RU" altLang="ru-RU" sz="1800">
                <a:latin typeface="Arial" panose="020B0604020202020204" pitchFamily="34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335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827088" y="981075"/>
            <a:ext cx="7993062" cy="498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Р2/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 = 0 получим при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 =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Imax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Е /2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                             (1.15)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Р2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Е</a:t>
            </a:r>
            <a:r>
              <a:rPr lang="ru-RU" altLang="ru-RU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/4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                      (1.16)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Коэффициент полезного действия η рассматриваемой схемы будет равен: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 = Р2/Р1 = 1 /(1 +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н) = 0,5.                           (1.17)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рис. 1.5 видно, что при передаче больших мощностей в нагрузку следует использовать режим, при котором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 &gt;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η &gt; 0,5. В маломощных устройствах  (датчик  –  усилитель)  следует  использовать  режим,  при котором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 =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η = 0,5.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079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5" name="Объект 1"/>
          <p:cNvSpPr txBox="1">
            <a:spLocks/>
          </p:cNvSpPr>
          <p:nvPr/>
        </p:nvSpPr>
        <p:spPr>
          <a:xfrm>
            <a:off x="760413" y="836613"/>
            <a:ext cx="7745412" cy="56245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Законы Кирхгофа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Любую сложную электрическую цепь можно графически изобразить так называемой схемой, состоящей из ветвей.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Ветвью называется участок схемы, по которому проходит один и тот же ток.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Точки, в которых сходятся не менее 3-х ветвей называются узлами.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сложной схеме всегда можно выделить замкнутые контура, состоящие из разных ветвей. 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закон Кирхгофа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применяется к узлам электрической цепи и вытекает из принципа непрерывности электрического тока.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Алгебраическая сумма токов в любом узле электрической цепи равна нулю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(1.18)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800" dirty="0">
              <a:cs typeface="Times New Roman" panose="02020603050405020304" pitchFamily="18" charset="0"/>
            </a:endParaRPr>
          </a:p>
        </p:txBody>
      </p:sp>
      <p:pic>
        <p:nvPicPr>
          <p:cNvPr id="6" name="Рисунок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5013325"/>
            <a:ext cx="1944688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4900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684213" y="1196975"/>
            <a:ext cx="8208962" cy="437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Второй закон Кирхгофа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применяется к замкнутым контурам электрической цепи.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 любом замкнутом контуре электрической цепи алгебраическая сумма э.д.с. равна алгебраической сумме падений напряжения на элементах, составляющих контур.</a:t>
            </a:r>
            <a:endParaRPr lang="en-US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(1.19)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где 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число эдс в контуре,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число ветвей в контуре.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825" y="2859088"/>
            <a:ext cx="212090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2835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2484438" y="690563"/>
            <a:ext cx="53387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Методика составления уравнений. 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 </a:t>
            </a: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04975"/>
            <a:ext cx="2892425" cy="194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98488" y="3968750"/>
            <a:ext cx="2484437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Рис.1.6. Схема контура электрической цепи.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492500" y="1166813"/>
            <a:ext cx="5219700" cy="560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1. Задаём положительные направления всех токов, эдс и напряжений. Если направления эдс не известны, то их выбираем произвольно и сохраняем до конца решения.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2. Произвольно выбираем направление обхода контура (по часовой стрелке или против). При составлении уравнений положительным направлением э.д.с. и напряжений считаем то, которое совпадает с выбранным.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3. В левой части уравнений записывается алгебраическая сумма всех эдс, а в правой – алгебраическая сумма всех падений напряжений.</a:t>
            </a:r>
            <a:endParaRPr lang="en-US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– Е1 + Е2 = </a:t>
            </a:r>
            <a:r>
              <a:rPr lang="en-US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1 + </a:t>
            </a:r>
            <a:r>
              <a:rPr lang="en-US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2 + </a:t>
            </a:r>
            <a:r>
              <a:rPr lang="en-US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3 – </a:t>
            </a:r>
            <a:r>
              <a:rPr lang="en-US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(1.20)</a:t>
            </a:r>
            <a:endParaRPr lang="en-US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В общем случае.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Если цепь содержит </a:t>
            </a:r>
            <a:r>
              <a:rPr lang="en-US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 – ветвей,  </a:t>
            </a:r>
            <a:r>
              <a:rPr lang="en-US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 – узлов, все величины эдс, напряжений и элементов цепи известны, а необходимо определить </a:t>
            </a:r>
            <a:r>
              <a:rPr lang="en-US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 - токов ветвей, то по первому закону Кирхгофа составляется   </a:t>
            </a:r>
            <a:r>
              <a:rPr lang="en-US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 – 1 уравнений, а по второму закону Кирхгофа составляется остальные </a:t>
            </a:r>
            <a:r>
              <a:rPr lang="en-US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 – (</a:t>
            </a:r>
            <a:r>
              <a:rPr lang="en-US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 – 1) уравнений.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190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2747</TotalTime>
  <Words>1329</Words>
  <Application>Microsoft Office PowerPoint</Application>
  <PresentationFormat>Экран (4:3)</PresentationFormat>
  <Paragraphs>197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PT Sans</vt:lpstr>
      <vt:lpstr>Times New Roman</vt:lpstr>
      <vt:lpstr>Специальное оформление</vt:lpstr>
      <vt:lpstr>Электротехника   Москва, 2025-2026 </vt:lpstr>
      <vt:lpstr>1. Электрические цепи постоянного тока.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User</cp:lastModifiedBy>
  <cp:revision>113</cp:revision>
  <dcterms:created xsi:type="dcterms:W3CDTF">2015-07-29T11:14:37Z</dcterms:created>
  <dcterms:modified xsi:type="dcterms:W3CDTF">2025-09-22T06:51:21Z</dcterms:modified>
</cp:coreProperties>
</file>