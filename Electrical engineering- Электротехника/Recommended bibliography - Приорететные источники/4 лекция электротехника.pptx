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1" r:id="rId1"/>
  </p:sldMasterIdLst>
  <p:notesMasterIdLst>
    <p:notesMasterId r:id="rId23"/>
  </p:notesMasterIdLst>
  <p:sldIdLst>
    <p:sldId id="274" r:id="rId2"/>
    <p:sldId id="263" r:id="rId3"/>
    <p:sldId id="275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2" r:id="rId17"/>
    <p:sldId id="311" r:id="rId18"/>
    <p:sldId id="313" r:id="rId19"/>
    <p:sldId id="314" r:id="rId20"/>
    <p:sldId id="315" r:id="rId21"/>
    <p:sldId id="26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82C1"/>
    <a:srgbClr val="295CA8"/>
    <a:srgbClr val="C60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6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C9240-0B00-47F5-8315-EA25A5DD21D4}" type="datetimeFigureOut">
              <a:rPr lang="ru-RU" smtClean="0"/>
              <a:t>22.09.2025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E969A-3B85-41F0-B329-9B9FD47284A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5821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1">
          <a:gsLst>
            <a:gs pos="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Название дисциплины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 hasCustomPrompt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ФИО преподавателя</a:t>
            </a:r>
          </a:p>
          <a:p>
            <a:pPr lvl="0"/>
            <a:r>
              <a:rPr lang="ru-RU" dirty="0"/>
              <a:t>Электронная почта (укажите корпоративную почту)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DCB871D2-25B0-448C-80C6-D62A08D94E97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5012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143000" y="2057399"/>
            <a:ext cx="6858000" cy="1452563"/>
          </a:xfrm>
          <a:prstGeom prst="rect">
            <a:avLst/>
          </a:prstGeom>
        </p:spPr>
        <p:txBody>
          <a:bodyPr anchor="b"/>
          <a:lstStyle>
            <a:lvl1pPr algn="ctr">
              <a:defRPr sz="6000" b="1"/>
            </a:lvl1pPr>
          </a:lstStyle>
          <a:p>
            <a:r>
              <a:rPr lang="ru-RU" dirty="0"/>
              <a:t>Название темы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143000" y="1178878"/>
            <a:ext cx="6858000" cy="4670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Номер темы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DA0D15EA-F46C-4827-B7EA-97593F313E8E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93D961C8-81F0-CCE5-93CC-B19775D08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5662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6128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2523743"/>
            <a:ext cx="7886700" cy="365321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B4E48A99-5F05-4D77-81C7-5AA7E39ED88A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1400F3A-7B5E-E986-3C8D-D7E3ED32C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7936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33272"/>
            <a:ext cx="7886700" cy="1218691"/>
          </a:xfrm>
          <a:prstGeom prst="rect">
            <a:avLst/>
          </a:prstGeo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2414015"/>
            <a:ext cx="3867150" cy="376294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2414015"/>
            <a:ext cx="3867150" cy="376294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92875"/>
            <a:ext cx="2057400" cy="365125"/>
          </a:xfrm>
          <a:prstGeom prst="rect">
            <a:avLst/>
          </a:prstGeom>
        </p:spPr>
        <p:txBody>
          <a:bodyPr/>
          <a:lstStyle/>
          <a:p>
            <a:fld id="{40862930-79B4-4CB1-AFB3-68C345192A83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F9E7562-4C64-9200-F7CF-81A74263C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8025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18808" y="1033272"/>
            <a:ext cx="7886700" cy="10245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18808" y="2099469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3006725"/>
            <a:ext cx="3868737" cy="31829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2099469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3006725"/>
            <a:ext cx="3887788" cy="318293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3087BD15-8EC4-4859-8441-4B361B08C53D}" type="datetime1">
              <a:rPr lang="en-US" smtClean="0"/>
              <a:t>9/22/2025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E5425750-DBEE-C9FA-18B0-C2B675CDD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60551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160653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0" y="6479279"/>
            <a:ext cx="2057400" cy="365125"/>
          </a:xfrm>
          <a:prstGeom prst="rect">
            <a:avLst/>
          </a:prstGeom>
        </p:spPr>
        <p:txBody>
          <a:bodyPr/>
          <a:lstStyle/>
          <a:p>
            <a:fld id="{DB9CD66F-39BB-4206-A809-14CED26CA744}" type="datetime1">
              <a:rPr lang="en-US" smtClean="0"/>
              <a:t>9/22/2025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138ED-5AEE-374B-DA65-577499A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144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86D25D0D-EF31-4530-9D89-AE3F619918A9}" type="datetime1">
              <a:rPr lang="en-US" smtClean="0"/>
              <a:t>9/22/2025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C6E3F1F6-F4B3-5413-F4E6-750406273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02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28699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80697"/>
            <a:ext cx="2057400" cy="365125"/>
          </a:xfrm>
          <a:prstGeom prst="rect">
            <a:avLst/>
          </a:prstGeom>
        </p:spPr>
        <p:txBody>
          <a:bodyPr/>
          <a:lstStyle/>
          <a:p>
            <a:fld id="{EF359388-46AA-4B0F-925D-677914BD9B15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5FB1CCC7-B864-78A0-9F73-303C670C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5043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987424"/>
            <a:ext cx="2949575" cy="1546987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552700"/>
            <a:ext cx="2949575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0" y="6469940"/>
            <a:ext cx="2057400" cy="365125"/>
          </a:xfrm>
          <a:prstGeom prst="rect">
            <a:avLst/>
          </a:prstGeom>
        </p:spPr>
        <p:txBody>
          <a:bodyPr/>
          <a:lstStyle/>
          <a:p>
            <a:fld id="{4DD8B233-E4CE-43C8-99C2-AFE9ED71A887}" type="datetime1">
              <a:rPr lang="en-US" smtClean="0"/>
              <a:t>9/22/2025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230D5446-F2F2-0154-0DE9-748F5C6A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1901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102790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2606039"/>
            <a:ext cx="7886700" cy="357092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68521"/>
            <a:ext cx="2057400" cy="365125"/>
          </a:xfrm>
          <a:prstGeom prst="rect">
            <a:avLst/>
          </a:prstGeom>
        </p:spPr>
        <p:txBody>
          <a:bodyPr/>
          <a:lstStyle/>
          <a:p>
            <a:fld id="{7F9AF166-A5E1-4829-A893-2E20E1862B05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CBE747CD-7B95-E158-1FF1-A9DC91184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1671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1152143"/>
            <a:ext cx="1971675" cy="5024820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1152143"/>
            <a:ext cx="5762625" cy="5024819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057400" cy="365125"/>
          </a:xfrm>
          <a:prstGeom prst="rect">
            <a:avLst/>
          </a:prstGeom>
        </p:spPr>
        <p:txBody>
          <a:bodyPr/>
          <a:lstStyle/>
          <a:p>
            <a:fld id="{6946CF6E-A483-4D0A-997D-D6DFBCCE0472}" type="datetime1">
              <a:rPr lang="en-US" smtClean="0"/>
              <a:t>9/22/2025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2BFF0C1-3C6E-5090-459F-707F4031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753326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892" y="1197276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0" y="6480698"/>
            <a:ext cx="2133600" cy="365125"/>
          </a:xfrm>
          <a:prstGeom prst="rect">
            <a:avLst/>
          </a:prstGeom>
        </p:spPr>
        <p:txBody>
          <a:bodyPr/>
          <a:lstStyle/>
          <a:p>
            <a:fld id="{8BAA42B7-A82E-48C9-B2B8-A78715E37E3C}" type="datetime1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37751" y="2693773"/>
            <a:ext cx="8349049" cy="343239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B918F5CA-B6E4-02FB-5091-E0C38EFFE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600" y="6480698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52259990-D040-4A93-9573-D8805257596F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14915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1868556" y="48476"/>
            <a:ext cx="54068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ru-RU" sz="1600" b="1" dirty="0">
                <a:solidFill>
                  <a:srgbClr val="0070C0"/>
                </a:solidFill>
                <a:latin typeface="PT Sans"/>
              </a:rPr>
              <a:t>МИРЭА - Российский технологический университет 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8158656" y="79253"/>
            <a:ext cx="889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  <a:latin typeface="PT Sans"/>
              </a:rPr>
              <a:t>mirea.ru</a:t>
            </a:r>
            <a:endParaRPr lang="ru-RU" sz="1400" b="1" dirty="0">
              <a:solidFill>
                <a:srgbClr val="0070C0"/>
              </a:solidFill>
              <a:latin typeface="PT Sans"/>
            </a:endParaRPr>
          </a:p>
        </p:txBody>
      </p:sp>
      <p:pic>
        <p:nvPicPr>
          <p:cNvPr id="2" name="Рисунок 1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5" y="56596"/>
            <a:ext cx="870333" cy="962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840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  <p:sldLayoutId id="2147483663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17D972-92EF-4EF6-BF83-B1D352536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8452735" cy="2852737"/>
          </a:xfrm>
        </p:spPr>
        <p:txBody>
          <a:bodyPr/>
          <a:lstStyle/>
          <a:p>
            <a:pPr algn="ctr"/>
            <a:r>
              <a:rPr lang="ru-RU" altLang="ru-RU" sz="7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Электротехника</a:t>
            </a:r>
            <a:r>
              <a:rPr lang="ru-RU" alt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alt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alt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2025-2026</a:t>
            </a:r>
            <a:br>
              <a:rPr lang="ru-RU" altLang="ru-RU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05CABD-092D-4CC1-B799-8089F630E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ФИО преподавателя</a:t>
            </a:r>
            <a:r>
              <a:rPr lang="en-US" dirty="0" smtClean="0"/>
              <a:t>: </a:t>
            </a:r>
            <a:r>
              <a:rPr lang="ru-RU" dirty="0" err="1" smtClean="0"/>
              <a:t>Микаева</a:t>
            </a:r>
            <a:r>
              <a:rPr lang="ru-RU" dirty="0" smtClean="0"/>
              <a:t> Светлана Анатольевна</a:t>
            </a:r>
            <a:r>
              <a:rPr lang="en-US" dirty="0" smtClean="0"/>
              <a:t> </a:t>
            </a:r>
            <a:endParaRPr lang="ru-RU" dirty="0"/>
          </a:p>
          <a:p>
            <a:r>
              <a:rPr lang="en-US" dirty="0"/>
              <a:t>e-mail: mikaeva_s@mirea.ru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8374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74000">
              <a:schemeClr val="bg2"/>
            </a:gs>
            <a:gs pos="83000">
              <a:schemeClr val="bg2">
                <a:lumMod val="45000"/>
                <a:lumOff val="55000"/>
              </a:schemeClr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Электрические цепи постоянного тока.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190ACFE-8886-0DB4-2BEB-A9EDDB973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D262070-2A5E-5642-84A2-C705DC40505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3</a:t>
            </a:fld>
            <a:endParaRPr lang="ru-RU" dirty="0"/>
          </a:p>
        </p:txBody>
      </p:sp>
      <p:sp>
        <p:nvSpPr>
          <p:cNvPr id="7" name="Объект 1"/>
          <p:cNvSpPr txBox="1">
            <a:spLocks/>
          </p:cNvSpPr>
          <p:nvPr/>
        </p:nvSpPr>
        <p:spPr>
          <a:xfrm>
            <a:off x="760413" y="836613"/>
            <a:ext cx="7745412" cy="237648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 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Потенциальная диаграмма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Потенциальной диаграммой называется графическая зависимость потенциала цепи от сопротивления 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ƒ(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Для её построения потенциал одной (любой) точки электрической цепи принимают равным нулю и рассчитывают потенциалы остальных точек контура или цепи.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Составим потенциальную диаграмму для электрической цепи, представленную на рис. 1.16.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8" name="Рисунок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3068638"/>
            <a:ext cx="3354387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2484438" y="5260975"/>
            <a:ext cx="48958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 1.16. Схема электрической цепи</a:t>
            </a: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89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4</a:t>
            </a:fld>
            <a:endParaRPr lang="ru-RU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1331913" y="836613"/>
            <a:ext cx="6624637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Примем потенциал точки А равным нулю: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Определим потенциалы всех точек электрической цепи: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VA + I R3,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VD = VC + I R2,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VE = VD  –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VF = VE + I R1,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VA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VF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= 0.                                      (1.38)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конце расчёта значение потенциала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должно получиться равным нулю, что свидетельствует о правильности расчёта.</a:t>
            </a:r>
          </a:p>
        </p:txBody>
      </p:sp>
    </p:spTree>
    <p:extLst>
      <p:ext uri="{BB962C8B-B14F-4D97-AF65-F5344CB8AC3E}">
        <p14:creationId xmlns:p14="http://schemas.microsoft.com/office/powerpoint/2010/main" val="1471332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5</a:t>
            </a:fld>
            <a:endParaRPr lang="ru-RU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1008063" y="798513"/>
            <a:ext cx="7488237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Строим зависимость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ƒ(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выбрав масштаб и откладывая по оси абсцисс значение сопротивлений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нарастающей суммой.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1468438"/>
            <a:ext cx="4119563" cy="204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5227638" y="2133600"/>
            <a:ext cx="3600450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1.17. Потенциальная диаграмма электрической цепи.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7" name="TextBox 7"/>
          <p:cNvSpPr txBox="1">
            <a:spLocks noChangeArrowheads="1"/>
          </p:cNvSpPr>
          <p:nvPr/>
        </p:nvSpPr>
        <p:spPr bwMode="auto">
          <a:xfrm>
            <a:off x="946150" y="3603625"/>
            <a:ext cx="77057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Скачки потенциалов между точками «ВС» и «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» соответствуют величинам э.д.с. источников Е2 и Е1, внутренние сопротивления которых принимаются равными нулю.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Угол наклона участков определяется величиной тока в цепи и для последовательной электрической цепи угол α наклона прямых  одинаков: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		tg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 = UAB / R3 = I = const.</a:t>
            </a:r>
            <a:endParaRPr lang="ru-RU" altLang="ru-RU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746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56896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1.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Баланс мощностей в электрической цепи постоянного тока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Составление уравнения баланса мощностей является методом проверки отсутствия ошибок при решении задач.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Источники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а также участки цепи с заданным напряжением могут быть источниками энергии, отдающими мощность в нагрузку, а могут сами быть потребителями энергии. Все сопротивления электрической цепи являются потребителями энергии. Стрелками в уравнении баланса мощностей указывают направление </a:t>
            </a:r>
            <a:r>
              <a:rPr lang="ru-RU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токов и напряжений на отдельных участках электрической цепи.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Тогда, записав в правую часть все возможные варианты источников энергии, а в левую часть все возможные варианты потребителей энергии, получим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(1.39)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800" dirty="0" smtClean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800" dirty="0">
              <a:cs typeface="Times New Roman" panose="02020603050405020304" pitchFamily="18" charset="0"/>
            </a:endParaRPr>
          </a:p>
        </p:txBody>
      </p:sp>
      <p:pic>
        <p:nvPicPr>
          <p:cNvPr id="5" name="Рисунок 8"/>
          <p:cNvPicPr>
            <a:picLocks noChangeAspect="1" noChangeArrowheads="1"/>
          </p:cNvPicPr>
          <p:nvPr/>
        </p:nvPicPr>
        <p:blipFill>
          <a:blip r:embed="rId2">
            <a:lum bright="-12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2138" y="4724400"/>
            <a:ext cx="3627437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9528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7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8" y="1196975"/>
            <a:ext cx="2735262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650875" y="3933825"/>
            <a:ext cx="2492375" cy="110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1.19. Схема участка электрической цепи с вольтметром.</a:t>
            </a:r>
            <a:endParaRPr lang="ru-RU" altLang="ru-RU" sz="16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09975" y="1052513"/>
            <a:ext cx="5113338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Показание ваттметра определим из уравнения: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Р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I UA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С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= I I (R1 + R4) = I</a:t>
            </a:r>
            <a:r>
              <a:rPr lang="en-US" altLang="ru-RU" sz="2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(R1 + R4)  [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Вт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Для определения показаний вольтметра выделим участок электрической цепи рис. 1.19, для которого запишем уравнение по 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 закону Кирхгофа: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1 = I (R1 + R2) + UDB,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UV = UDB = 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Е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1 – I (R1 + R2) [</a:t>
            </a:r>
            <a:r>
              <a:rPr lang="ru-RU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alt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endParaRPr lang="ru-RU" altLang="ru-RU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>
                <a:latin typeface="Arial" panose="020B0604020202020204" pitchFamily="34" charset="0"/>
              </a:rPr>
              <a:t> 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6070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851026" y="1077363"/>
            <a:ext cx="8084744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altLang="ru-RU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Электрические цепи однофазного переменного синусоидального тока</a:t>
            </a:r>
            <a:endParaRPr lang="ru-RU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0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6337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периодических синусоидальных, напряжений и ЭДС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Электрический ток называется переменным, если он периодически меняет величину и направление, то есть следует периодическому закону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изменения.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Синусоидальный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ток - это ток периодический, величина которого меняется по синусоидальному закону во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времени.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Периодом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 называется наименьший интервал времени, по истечению которого мгновенные значения периодической величины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повторяются.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Мгновенные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периодические значения напряжения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тока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записываются со строчной буквы и выражаются зависимостью: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u(t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Um sin(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                                        (2.1)</a:t>
            </a: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амплитудные значения соответственно напряжения и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тока,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(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– фаза соответственно напряжения и тока,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2π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2π/Т – угловая частота [1/с] =[рад/с], 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1/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период [с],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9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текущее время, </a:t>
            </a:r>
          </a:p>
          <a:p>
            <a:pPr marL="0" indent="0">
              <a:spcBef>
                <a:spcPts val="600"/>
              </a:spcBef>
              <a:buFont typeface="Arial" panose="020B0604020202020204" pitchFamily="34" charset="0"/>
              <a:buNone/>
              <a:defRPr/>
            </a:pPr>
            <a:r>
              <a:rPr lang="en-US" sz="19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sz="19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9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начальная фаза соответственно напряжения и тока,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2897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10</a:t>
            </a:fld>
            <a:endParaRPr lang="ru-RU" dirty="0"/>
          </a:p>
        </p:txBody>
      </p:sp>
      <p:pic>
        <p:nvPicPr>
          <p:cNvPr id="3" name="Рисунок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908050"/>
            <a:ext cx="7848600" cy="424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257300" y="5373688"/>
            <a:ext cx="68595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i="1">
                <a:latin typeface="Arial" panose="020B0604020202020204" pitchFamily="34" charset="0"/>
              </a:rPr>
              <a:t>Рис.2.1. График мгновенных значений напряжения и тока.</a:t>
            </a:r>
            <a:endParaRPr lang="ru-RU" altLang="ru-RU" sz="18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294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11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468313" y="981075"/>
            <a:ext cx="8207375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фазы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всегда отсчитывают от нулевого значения синусоидальной величины при переходе её от отрицательных значений  к положительным до начала координат (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0). Положительную начальную фазу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откладывают влево от начала координат (в сторону отрицательных значений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 отрицательную фазу  - вправо.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Если у двух синусоидальных величин, изменяющихся с одинаковой частотой начала синусоид не совпадают по времени, то они сдвинуты друг относительно друга  по фазе. Угол сдвига фаз между синусоидами напряжения и тока обозначают буквой φ: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 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                                              (2.2)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Когда для синусоидальных величин разность фаз φ = ± 180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они противоположны по фазе, если же  разность фаз φ = ± 90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говорят, что они находятся в квадратуре. Если φ = 0</a:t>
            </a:r>
            <a:r>
              <a:rPr lang="ru-RU" altLang="ru-RU" sz="1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 это означает, что синусоидальные величины совпадают по фазе.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16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9366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Генератор синусоидальной ЭДС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Рассмотрим процесс возникновения синусоидальной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1847850" cy="2066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07950" y="3832225"/>
            <a:ext cx="2519363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Рис.2.2. Схема генератора синусоидальной э.д.с.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843213" y="1773238"/>
            <a:ext cx="6192837" cy="313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рис.2.2 изображена схема простейшего генератора синусоидальной э.д.с, в котором прямоугольная катушка (рамка) равномерно вращается с угловой скоростью ω в однородном магнитном поле. Магнитный поток постоянного магнита, направленный от его северного полюса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к южному полюсу </a:t>
            </a:r>
            <a:r>
              <a:rPr lang="en-US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alt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наводит (индуцирует) во вращающейся катушке синусоидально изменяющуюся э.д.с. е согласно закону электромагнитной индукции, при этом максимальное значение э.д.с. е будет при вертикальном (см. рис 2.3) положении катушки.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71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13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827088" y="836613"/>
            <a:ext cx="8066087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 время катушка повернётся на угол 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пронизывающий катушку магнитный поток будет равен: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Ф(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Ф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cos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                                             (2.3)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где Ф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амплитудное значение магнитного потока.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Наведённая в катушке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- w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Ф(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/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w ω Ф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(2.4)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где w – число витков катушки,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амплитудное значение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Нагрузкой генератора является резистор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подключённый к щёткам, прижимающимся к двум контактным кольцам, к которым в свою очередь присоединены выводы катушки.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Величина синусоидального тока в резисторе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будет равна: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= (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R)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t,                                    (2.5)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амплитудное значение тока.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5118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14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614363" y="920750"/>
            <a:ext cx="853122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Кроме амплитудного значения тока,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 напряжения в цепях синусоидального тока используются среднее значение и действующее (эффективное или средне – квадратичное) значения.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 средним значением тока,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э.д.с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или напряжения понимают их средние значения за пол периода Т.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Среднее значение, например, синусоидального тока будет равно</a:t>
            </a:r>
            <a:r>
              <a:rPr lang="ru-RU" altLang="ru-RU" sz="1800" dirty="0">
                <a:latin typeface="Arial" panose="020B0604020202020204" pitchFamily="34" charset="0"/>
              </a:rPr>
              <a:t>:</a:t>
            </a: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(2.6)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Действующее значение синусоидального тока I может быть определено по формуле: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Arial" panose="020B0604020202020204" pitchFamily="34" charset="0"/>
              </a:rPr>
              <a:t> </a:t>
            </a: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(2.7)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6238" y="2852738"/>
            <a:ext cx="33115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4437063"/>
            <a:ext cx="3816350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4640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15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16573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Изображение синусоидально меняющихся величин с помощью векторов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анализе схем существенное упрощение может быть достигнуто представлением синусоидальных напряжений и токов в виде вращающихся векторов.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349500"/>
            <a:ext cx="7008812" cy="272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68313" y="5119688"/>
            <a:ext cx="81359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600" i="1">
                <a:latin typeface="Arial" panose="020B0604020202020204" pitchFamily="34" charset="0"/>
              </a:rPr>
              <a:t>Рис. 2.3. Изображение синусоидально меняющихся величин с помощью векторов.</a:t>
            </a:r>
            <a:endParaRPr lang="ru-RU" altLang="ru-RU" sz="16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98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16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900113" y="1414463"/>
            <a:ext cx="7775575" cy="347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рис.2.3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векторная величина, изображающая синусоидально меняющийся ток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с амплитудой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Спроектируем вектор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ось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тогда при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r>
              <a:rPr lang="ru-RU" altLang="ru-RU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проекция вектора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равна 0, при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20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ru-RU" altLang="ru-RU" sz="20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90</a:t>
            </a:r>
            <a:r>
              <a:rPr lang="ru-RU" altLang="ru-RU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проекция вектора </a:t>
            </a:r>
            <a:r>
              <a:rPr lang="en-US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будет равна </a:t>
            </a:r>
            <a:r>
              <a:rPr lang="en-US" alt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векторной диаграмме синусоидальная функция изображается вектором, длина которого равна максимальному значению функции, а направление – её начальной фазой.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часто векторные диаграммы строят для действующих значений величин, рассчитывая их согласно зависимости (2.7).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13"/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8525" y="1484313"/>
            <a:ext cx="287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14"/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2084388"/>
            <a:ext cx="287337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15"/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2420938"/>
            <a:ext cx="28892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16"/>
          <p:cNvPicPr>
            <a:picLocks noChangeAspect="1" noChangeArrowheads="1"/>
          </p:cNvPicPr>
          <p:nvPr/>
        </p:nvPicPr>
        <p:blipFill>
          <a:blip r:embed="rId2">
            <a:lum bright="-6000" contras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381250"/>
            <a:ext cx="287338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87399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17</a:t>
            </a:fld>
            <a:endParaRPr lang="ru-RU" dirty="0"/>
          </a:p>
        </p:txBody>
      </p:sp>
      <p:sp>
        <p:nvSpPr>
          <p:cNvPr id="3" name="Объект 1"/>
          <p:cNvSpPr txBox="1">
            <a:spLocks/>
          </p:cNvSpPr>
          <p:nvPr/>
        </p:nvSpPr>
        <p:spPr>
          <a:xfrm>
            <a:off x="755650" y="692150"/>
            <a:ext cx="8208963" cy="63373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  <a:defRPr/>
            </a:pP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2.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Применение метода комплексных чисел при расчете цепей переменного тока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основан на изображении векторов на комплексной плоскости и записи их при помощи комплексных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чисел. Комплексным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числом называется сумма вещественного числа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мнимого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числа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,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,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тогда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алгебраической форме записи комплексное число можно записать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(2.8)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ru-RU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ru-RU" sz="19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636838"/>
            <a:ext cx="1046163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475" y="3175000"/>
            <a:ext cx="2592388" cy="2244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2"/>
          <p:cNvSpPr txBox="1">
            <a:spLocks noChangeArrowheads="1"/>
          </p:cNvSpPr>
          <p:nvPr/>
        </p:nvSpPr>
        <p:spPr bwMode="auto">
          <a:xfrm>
            <a:off x="1279525" y="5443538"/>
            <a:ext cx="79835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400" i="1">
                <a:latin typeface="Arial" panose="020B0604020202020204" pitchFamily="34" charset="0"/>
              </a:rPr>
              <a:t>Рис.2.4. Изображение комплексного числа на комплексной плоскости.</a:t>
            </a:r>
            <a:endParaRPr lang="ru-RU" altLang="ru-RU" sz="1400">
              <a:latin typeface="Arial" panose="020B060402020202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6124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18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539750" y="863600"/>
            <a:ext cx="8280400" cy="757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Проекциями комплексного числа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действительную ось +1 будет вещественное число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а на мнимую ось соответственно мнимое число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комплексного числа определяется из соотношения: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(2.9)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аргумент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соотношения: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(2.10)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рис.2.4 видно, что комплексное число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выразить через аргумент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получив тригонометрическую запись комплексного числа: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(2.11)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 курса математики известно соотношение Эйлера: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(2.12)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(2.13)</a:t>
            </a: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откуда при      =</a:t>
            </a:r>
            <a:r>
              <a:rPr lang="ru-RU" altLang="ru-RU" sz="1800" dirty="0">
                <a:latin typeface="Arial" panose="020B0604020202020204" pitchFamily="34" charset="0"/>
              </a:rPr>
              <a:t> 0</a:t>
            </a:r>
            <a:r>
              <a:rPr lang="ru-RU" altLang="ru-RU" sz="1800" baseline="30000" dirty="0">
                <a:latin typeface="Arial" panose="020B0604020202020204" pitchFamily="34" charset="0"/>
              </a:rPr>
              <a:t>0</a:t>
            </a:r>
            <a:r>
              <a:rPr lang="ru-RU" altLang="ru-RU" sz="1800" dirty="0">
                <a:latin typeface="Arial" panose="020B0604020202020204" pitchFamily="34" charset="0"/>
              </a:rPr>
              <a:t>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получим</a:t>
            </a:r>
            <a:r>
              <a:rPr lang="ru-RU" altLang="ru-RU" sz="1800" dirty="0">
                <a:latin typeface="Arial" panose="020B0604020202020204" pitchFamily="34" charset="0"/>
              </a:rPr>
              <a:t>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 при      =</a:t>
            </a:r>
            <a:r>
              <a:rPr lang="ru-RU" altLang="ru-RU" sz="1800" dirty="0">
                <a:latin typeface="Arial" panose="020B0604020202020204" pitchFamily="34" charset="0"/>
              </a:rPr>
              <a:t> 90</a:t>
            </a:r>
            <a:r>
              <a:rPr lang="ru-RU" altLang="ru-RU" sz="1800" baseline="30000" dirty="0">
                <a:latin typeface="Arial" panose="020B0604020202020204" pitchFamily="34" charset="0"/>
              </a:rPr>
              <a:t>0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получим</a:t>
            </a:r>
            <a:r>
              <a:rPr lang="ru-RU" altLang="ru-RU" sz="1800" dirty="0">
                <a:latin typeface="Arial" panose="020B0604020202020204" pitchFamily="34" charset="0"/>
              </a:rPr>
              <a:t>           </a:t>
            </a:r>
            <a:r>
              <a:rPr lang="en-US" altLang="ru-RU" sz="1800" dirty="0">
                <a:latin typeface="Arial" panose="020B0604020202020204" pitchFamily="34" charset="0"/>
              </a:rPr>
              <a:t>.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863600"/>
            <a:ext cx="2635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7625" y="1141413"/>
            <a:ext cx="358775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0863" y="1844675"/>
            <a:ext cx="1363662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373313"/>
            <a:ext cx="192087" cy="10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2775" y="2428875"/>
            <a:ext cx="11779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9950" y="3087688"/>
            <a:ext cx="263525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Рисунок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3679825"/>
            <a:ext cx="2049463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Рисунок 1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4173538"/>
            <a:ext cx="1543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1925" y="4719638"/>
            <a:ext cx="19685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Рисунок 1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5373688"/>
            <a:ext cx="190500" cy="10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Рисунок 1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238" y="5175250"/>
            <a:ext cx="579437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Рисунок 1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5407025"/>
            <a:ext cx="192088" cy="109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Рисунок 1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7988" y="5175250"/>
            <a:ext cx="5508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2403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" name="TextBox 4"/>
          <p:cNvSpPr txBox="1">
            <a:spLocks noChangeArrowheads="1"/>
          </p:cNvSpPr>
          <p:nvPr/>
        </p:nvSpPr>
        <p:spPr bwMode="auto">
          <a:xfrm>
            <a:off x="468313" y="836613"/>
            <a:ext cx="8496300" cy="480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учётом соотношения (2.12) можно получить показательную  форму записи комплексного числа: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(2.14)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записи переход из области времени в область комплексных чисел осуществляется с помощью знака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читается «имеет своим изображением». Обратный переход из области комплексных чисел в область времени осуществляется с помощью этого же знака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,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который читается «имеет своим оригиналом». Тогда можно записать для синусоидального тока: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= </a:t>
            </a:r>
            <a:r>
              <a:rPr lang="en-US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 (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+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ψ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					(2.15)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                     –  комплексное амплитудное значение тока,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 поворотный множитель.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938" y="1341438"/>
            <a:ext cx="1125537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2309813"/>
            <a:ext cx="1936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852738"/>
            <a:ext cx="193675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Рисунок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613" y="3500438"/>
            <a:ext cx="2519362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Рисунок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063" y="4067175"/>
            <a:ext cx="1079500" cy="36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Рисунок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4595813"/>
            <a:ext cx="431800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40408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59990-D040-4A93-9573-D8805257596F}" type="slidenum">
              <a:rPr lang="ru-RU" smtClean="0"/>
              <a:pPr/>
              <a:t>20</a:t>
            </a:fld>
            <a:endParaRPr lang="ru-RU" dirty="0"/>
          </a:p>
        </p:txBody>
      </p:sp>
      <p:sp>
        <p:nvSpPr>
          <p:cNvPr id="3" name="TextBox 3"/>
          <p:cNvSpPr txBox="1">
            <a:spLocks noChangeArrowheads="1"/>
          </p:cNvSpPr>
          <p:nvPr/>
        </p:nvSpPr>
        <p:spPr bwMode="auto">
          <a:xfrm>
            <a:off x="611188" y="908050"/>
            <a:ext cx="7777162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Умножение комплексного числа на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соответствует повороту изображающего его вектора на комплексной плоскости на угол ω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без изменения его величины. </a:t>
            </a: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решении задач символическим методом поворотный множитель </a:t>
            </a: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учитывается и не записывается.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часто расчёт электрической цепи ведут в действующих значениях токов, </a:t>
            </a:r>
            <a:r>
              <a:rPr lang="ru-RU" alt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эдс</a:t>
            </a: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напряжений.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Комплексное действующее значение тока может быть записано в виде: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(2.16)</a:t>
            </a:r>
          </a:p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ru-RU" alt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836613"/>
            <a:ext cx="431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Рисунок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2050" y="1700213"/>
            <a:ext cx="430213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Рисунок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3716338"/>
            <a:ext cx="2087562" cy="717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5292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E26A0-0BD0-4F5C-8BB0-20379574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159761912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2739</TotalTime>
  <Words>977</Words>
  <Application>Microsoft Office PowerPoint</Application>
  <PresentationFormat>Экран (4:3)</PresentationFormat>
  <Paragraphs>204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PT Sans</vt:lpstr>
      <vt:lpstr>Times New Roman</vt:lpstr>
      <vt:lpstr>Специальное оформление</vt:lpstr>
      <vt:lpstr>Электротехника   Москва, 2025-2026 </vt:lpstr>
      <vt:lpstr>1. Электрические цепи постоянного тока.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Я</dc:creator>
  <cp:lastModifiedBy>User</cp:lastModifiedBy>
  <cp:revision>110</cp:revision>
  <dcterms:created xsi:type="dcterms:W3CDTF">2015-07-29T11:14:37Z</dcterms:created>
  <dcterms:modified xsi:type="dcterms:W3CDTF">2025-09-22T07:08:58Z</dcterms:modified>
</cp:coreProperties>
</file>