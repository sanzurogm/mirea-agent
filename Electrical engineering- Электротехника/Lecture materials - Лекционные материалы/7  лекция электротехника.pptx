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</p:sldMasterIdLst>
  <p:notesMasterIdLst>
    <p:notesMasterId r:id="rId21"/>
  </p:notesMasterIdLst>
  <p:sldIdLst>
    <p:sldId id="274" r:id="rId2"/>
    <p:sldId id="263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6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86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9/22/2025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9/22/2025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9/22/2025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92" y="119727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133600" cy="365125"/>
          </a:xfrm>
          <a:prstGeom prst="rect">
            <a:avLst/>
          </a:prstGeom>
        </p:spPr>
        <p:txBody>
          <a:bodyPr/>
          <a:lstStyle/>
          <a:p>
            <a:fld id="{8BAA42B7-A82E-48C9-B2B8-A78715E37E3C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7751" y="2693773"/>
            <a:ext cx="8349049" cy="343239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918F5CA-B6E4-02FB-5091-E0C38EFF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491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8452735" cy="2852737"/>
          </a:xfrm>
        </p:spPr>
        <p:txBody>
          <a:bodyPr/>
          <a:lstStyle/>
          <a:p>
            <a:pPr algn="ctr"/>
            <a:r>
              <a:rPr lang="ru-RU" alt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Электротехника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2025-2026</a:t>
            </a:r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 smtClean="0"/>
              <a:t>: </a:t>
            </a:r>
            <a:r>
              <a:rPr lang="ru-RU" dirty="0" err="1" smtClean="0"/>
              <a:t>Микаева</a:t>
            </a:r>
            <a:r>
              <a:rPr lang="ru-RU" dirty="0" smtClean="0"/>
              <a:t> Светлана Анатольевна</a:t>
            </a:r>
            <a:r>
              <a:rPr lang="en-US" dirty="0" smtClean="0"/>
              <a:t> </a:t>
            </a:r>
            <a:endParaRPr lang="ru-RU" dirty="0"/>
          </a:p>
          <a:p>
            <a:r>
              <a:rPr lang="en-US" dirty="0"/>
              <a:t>e-mail: mikaeva_s@mirea.ru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74000">
              <a:schemeClr val="bg2"/>
            </a:gs>
            <a:gs pos="83000">
              <a:schemeClr val="bg2">
                <a:lumMod val="45000"/>
                <a:lumOff val="55000"/>
              </a:schemeClr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Трехфазные электрические цепи</a:t>
            </a:r>
            <a:endParaRPr lang="ru-RU" sz="6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90ACFE-8886-0DB4-2BEB-A9EDDB9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62070-2A5E-5642-84A2-C705DC40505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трехфазной ЭДС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6"/>
          <p:cNvSpPr>
            <a:spLocks noChangeArrowheads="1"/>
          </p:cNvSpPr>
          <p:nvPr/>
        </p:nvSpPr>
        <p:spPr bwMode="auto">
          <a:xfrm>
            <a:off x="306388" y="1185863"/>
            <a:ext cx="8640762" cy="401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Трёхфазная цепь - это такая электрическая цепь, где действуют три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 одинаковой пульсацией, с одинаковым действующим значением, но сдвинутые по фазе друг от друга на 120°.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общем случае цепь называется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фазной, если число однофазных цепей равно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сдвиг фаз равен 360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Цепь называется симметричной, если сопротивления всех фаз равны по значению и характеру.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Многофазная цепь может быть несвязанной или связанной, если её фазы соединены электрически.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</a:t>
            </a: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 трёхфазного генератора. Когда постоянный магнит вращается с угловой скоростью ω, в трёх обмотках (фазах) наводятся три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- 120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+ 120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                      </a:t>
            </a: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(3.1)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9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784225"/>
            <a:ext cx="5473700" cy="4103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5"/>
          <p:cNvSpPr>
            <a:spLocks noChangeArrowheads="1"/>
          </p:cNvSpPr>
          <p:nvPr/>
        </p:nvSpPr>
        <p:spPr bwMode="auto">
          <a:xfrm>
            <a:off x="1763713" y="4924425"/>
            <a:ext cx="4572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3.1. Модель трёхфазного генератора.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406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755576" y="784225"/>
            <a:ext cx="8064500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 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комплексной форме  с действующими значениями можно записать в виде:</a:t>
            </a:r>
            <a:endParaRPr lang="en-US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(3.2)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838" y="2173288"/>
            <a:ext cx="14605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3257550"/>
            <a:ext cx="29289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4475163"/>
            <a:ext cx="3275012" cy="72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402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lum bright="-12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103313"/>
            <a:ext cx="4770438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089025" y="4941888"/>
            <a:ext cx="3455988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Рис.3.2. График мгновенных значений напряжений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трёхфазной системы.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5364163" y="2133600"/>
            <a:ext cx="3541712" cy="216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соотношение для трёхфазной системы может быть записано как в мгновенных значениях так и в комплексном виде: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+ e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+ e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= 0;</a:t>
            </a: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2000" u="sng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2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 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= 0. 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(3.3)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9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827088" y="908050"/>
            <a:ext cx="77057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рис. 3.3 представлена топографическая диаграмма трёхфазной системы э.д.с. на комплексной плоскости.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587500"/>
            <a:ext cx="401637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47813" y="4724400"/>
            <a:ext cx="63373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3.3.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Топографическая диаграмма трёхфазной системы э.д.с. на комплексной плоскости.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336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обмоток генератора по схеме «звезда»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1412875"/>
            <a:ext cx="6032500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4"/>
          <p:cNvSpPr>
            <a:spLocks noChangeArrowheads="1"/>
          </p:cNvSpPr>
          <p:nvPr/>
        </p:nvSpPr>
        <p:spPr bwMode="auto">
          <a:xfrm>
            <a:off x="2278063" y="5038725"/>
            <a:ext cx="4572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3.4. Соединение обмоток генератора по схеме «звезда».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285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755650" y="908050"/>
            <a:ext cx="7777163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Напряжения между нейтральной точкой и каждой фазой называются фазными: </a:t>
            </a: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(3.4)</a:t>
            </a: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6"/>
          <p:cNvSpPr>
            <a:spLocks noChangeArrowheads="1"/>
          </p:cNvSpPr>
          <p:nvPr/>
        </p:nvSpPr>
        <p:spPr bwMode="auto">
          <a:xfrm>
            <a:off x="739775" y="1851025"/>
            <a:ext cx="7704138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Напряжения между линейными проводами называются линейными: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         (3.5)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соотношения в комплексной форме согласно II закону Кирхгофа: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(3.6)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соотношениям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(3.6) на комплексной плоскости можно построить топографическую диаграмму напряжений трёхфазной системы.</a:t>
            </a:r>
            <a:endParaRPr lang="ru-RU" altLang="ru-RU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009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3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1359694"/>
            <a:ext cx="2808287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6"/>
          <p:cNvSpPr>
            <a:spLocks noChangeArrowheads="1"/>
          </p:cNvSpPr>
          <p:nvPr/>
        </p:nvSpPr>
        <p:spPr bwMode="auto">
          <a:xfrm>
            <a:off x="179388" y="3789363"/>
            <a:ext cx="3563937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3.5. Топографическая диаграмма напряжений трёхфазной системы.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7"/>
          <p:cNvSpPr>
            <a:spLocks noChangeArrowheads="1"/>
          </p:cNvSpPr>
          <p:nvPr/>
        </p:nvSpPr>
        <p:spPr bwMode="auto">
          <a:xfrm>
            <a:off x="3743325" y="1143000"/>
            <a:ext cx="4824413" cy="503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треугольник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ANB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рис. 3.5: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как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 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получим соотношение между линейными и фазными напряжениями и токами для трёхфазного источника соединённого звездой: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(3.7)</a:t>
            </a: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</a:t>
            </a:r>
            <a:r>
              <a:rPr lang="ru-RU" alt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 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endParaRPr lang="ru-RU" alt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1625600"/>
            <a:ext cx="475138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00" y="4724400"/>
            <a:ext cx="1223963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3706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</a:t>
            </a:r>
            <a:r>
              <a:rPr lang="en-US" sz="9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обмоток генератора по схеме «треугольник»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 smtClean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2339975" y="5229225"/>
            <a:ext cx="45720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3.4. Соединение обмоток генератора по схеме «треугольник».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2792413"/>
            <a:ext cx="438626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755650" y="1201738"/>
            <a:ext cx="8208963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соотношения для токов в комплексной форме согласно I закону Кирхгофа: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(3.8)   </a:t>
            </a:r>
            <a:endParaRPr lang="ru-RU" alt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фазные токи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линейные токи 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96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908050"/>
            <a:ext cx="306705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323850" y="4221163"/>
            <a:ext cx="37433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3.7. Топографическая и векторная диаграммы напряжений  и токов трёхфазной системы</a:t>
            </a: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4500563" y="1268413"/>
            <a:ext cx="446405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По соотношениям </a:t>
            </a: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(3.8) на комплексной плоскости можно построить топографическую и векторную диаграммы напряжений и токов трёхфазной системы (рис. 3.7), из которой получим:</a:t>
            </a:r>
            <a:endParaRPr lang="en-US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				(3.9)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en-US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622550"/>
            <a:ext cx="129540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1738" y="3500438"/>
            <a:ext cx="10985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4007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76263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3.4</a:t>
            </a:r>
            <a:r>
              <a:rPr lang="en-US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9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Соединение нагрузки по схеме «звезда»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9600" dirty="0" smtClean="0"/>
              <a:t> 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1298575"/>
            <a:ext cx="54102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7"/>
          <p:cNvSpPr>
            <a:spLocks noChangeArrowheads="1"/>
          </p:cNvSpPr>
          <p:nvPr/>
        </p:nvSpPr>
        <p:spPr bwMode="auto">
          <a:xfrm>
            <a:off x="976313" y="4108450"/>
            <a:ext cx="6985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3.8. Соединение генератора с нагрузкой по схеме «звезда».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11"/>
          <p:cNvSpPr>
            <a:spLocks noChangeArrowheads="1"/>
          </p:cNvSpPr>
          <p:nvPr/>
        </p:nvSpPr>
        <p:spPr bwMode="auto">
          <a:xfrm>
            <a:off x="539750" y="4614863"/>
            <a:ext cx="82089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симметричной нагрузке в системе с нулевым проводом выполняются условия: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R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R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R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X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(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3.10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3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1068388"/>
            <a:ext cx="3382962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07950" y="3789363"/>
            <a:ext cx="3779838" cy="124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3.9. Топографическая и векторная диаграммы напряжений  и токов при симметричной нагрузке, соединённой по схеме «звезда».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3581400" y="1169988"/>
            <a:ext cx="5383213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сопротивление провода между узлами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мало, то можно считать, что эти узлы имеют один и тот же потенциал.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можно записать: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 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ru-RU" sz="1800" u="sng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arc cos(R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),   φ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arc cos(R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),  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arc cos(R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/Z</a:t>
            </a:r>
            <a:r>
              <a:rPr lang="en-US" altLang="ru-RU" sz="1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).     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(3.11)</a:t>
            </a: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Из векторной диаграммы следует: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IA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IB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0.             (3.12)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При симметричной нагрузке можно разорвать провод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при этом режим схемы не изменится. 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44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179388" y="981075"/>
            <a:ext cx="8856662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Несимметричная нагрузка в системе без нулевого провода. 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этого случая можно записать соотношения в комплексной форме согласно II закону Кирхгофа: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		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(3.14)</a:t>
            </a: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143250"/>
            <a:ext cx="5111750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6732588" y="3789363"/>
            <a:ext cx="2303462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3.12. Соединение генератора с нагрузкой по схеме «звезда»</a:t>
            </a:r>
            <a:r>
              <a:rPr lang="ru-RU" alt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без нулевого провода.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823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323850" y="1700213"/>
            <a:ext cx="8640763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Запишем соотношение в комплексной форме согласно I закону Кирхгофа: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                                            (3.15)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пример решения задачи.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Пусть нагрузка соединена по схеме «звезда»</a:t>
            </a:r>
            <a:r>
              <a:rPr lang="ru-RU" alt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нулевого провода, для которой задано: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–10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Ом,  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 Ом,  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173 В.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найти фазные токи и построить топографическую диаграмму напряжений.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899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755650" y="800100"/>
            <a:ext cx="8137525" cy="734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Решение.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Найдём действующее фазное напряжение: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Используя метод двух узлов можно записать: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)/(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(100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ru-RU" sz="1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+100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120°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+100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-240°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)/(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0,1+0,2)=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– 20 + 60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фазные напряжения: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100 + 20 – 60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120 – 60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– 50 – 86,6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+ 20 – 60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– 30 – 146,6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– 50 + 86,6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+ 20 – 60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– 30 + 26,6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Найдём фазные токи: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6 + 12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– 3 – 14,66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ru-RU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ru-RU" sz="1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– 3 + 2,66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</a:t>
            </a: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1484313"/>
            <a:ext cx="18716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0197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Прямоугольник 3"/>
          <p:cNvSpPr>
            <a:spLocks noChangeArrowheads="1"/>
          </p:cNvSpPr>
          <p:nvPr/>
        </p:nvSpPr>
        <p:spPr bwMode="auto">
          <a:xfrm>
            <a:off x="1547813" y="981075"/>
            <a:ext cx="6389687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Построим топографическую диаграмму напряжений.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1503363"/>
            <a:ext cx="3960813" cy="299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2627313" y="4868863"/>
            <a:ext cx="4572000" cy="785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Рис. 3.13. Топографическая диаграмма напряжений  при несимметричной нагрузке в системе без нулевого провода.</a:t>
            </a:r>
            <a:endParaRPr lang="ru-RU" altLang="ru-RU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04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</TotalTime>
  <Words>512</Words>
  <Application>Microsoft Office PowerPoint</Application>
  <PresentationFormat>Экран (4:3)</PresentationFormat>
  <Paragraphs>213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PT Sans</vt:lpstr>
      <vt:lpstr>Times New Roman</vt:lpstr>
      <vt:lpstr>Специальное оформление</vt:lpstr>
      <vt:lpstr>Электротехника   Москва, 2025-2026 </vt:lpstr>
      <vt:lpstr>3. Трехфазные электрические цепи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User</cp:lastModifiedBy>
  <cp:revision>109</cp:revision>
  <dcterms:created xsi:type="dcterms:W3CDTF">2015-07-29T11:14:37Z</dcterms:created>
  <dcterms:modified xsi:type="dcterms:W3CDTF">2025-09-22T07:32:06Z</dcterms:modified>
</cp:coreProperties>
</file>