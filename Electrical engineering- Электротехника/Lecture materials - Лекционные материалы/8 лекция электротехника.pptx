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</p:sldMasterIdLst>
  <p:notesMasterIdLst>
    <p:notesMasterId r:id="rId19"/>
  </p:notes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90" r:id="rId14"/>
    <p:sldId id="286" r:id="rId15"/>
    <p:sldId id="287" r:id="rId16"/>
    <p:sldId id="288" r:id="rId17"/>
    <p:sldId id="26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83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9/22/2025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9/22/2025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9/22/2025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8452735" cy="2852737"/>
          </a:xfrm>
        </p:spPr>
        <p:txBody>
          <a:bodyPr/>
          <a:lstStyle/>
          <a:p>
            <a:pPr algn="ctr"/>
            <a:r>
              <a:rPr lang="ru-RU" altLang="ru-RU" sz="7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Электротехника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</a:t>
            </a: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2025-2026</a:t>
            </a:r>
            <a:b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 smtClean="0"/>
              <a:t>: </a:t>
            </a:r>
            <a:r>
              <a:rPr lang="ru-RU" dirty="0" err="1" smtClean="0"/>
              <a:t>Микаева</a:t>
            </a:r>
            <a:r>
              <a:rPr lang="ru-RU" dirty="0" smtClean="0"/>
              <a:t> Светлана Анатольевна</a:t>
            </a:r>
            <a:r>
              <a:rPr lang="en-US" dirty="0" smtClean="0"/>
              <a:t> </a:t>
            </a:r>
            <a:endParaRPr lang="ru-RU" dirty="0"/>
          </a:p>
          <a:p>
            <a:r>
              <a:rPr lang="en-US" dirty="0"/>
              <a:t>e-mail: mikaeva_s@mirea.ru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067116" y="1500674"/>
            <a:ext cx="7189644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Трехфазные электрические цепи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98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нагрузки по схеме «треугольник»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 smtClean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7950" y="1195388"/>
            <a:ext cx="10225088" cy="147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соединения можно записать следующие соотношения:</a:t>
            </a:r>
            <a:endParaRPr lang="ru-RU" alt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alt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95288" y="2952750"/>
            <a:ext cx="7416800" cy="203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Симметричная нагрузка.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случая можно записать соотношения в комплексной форме: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                  (3.16)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arc cos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φ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φ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φ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(3.17)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33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982663"/>
            <a:ext cx="4203700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2097088" y="3873500"/>
            <a:ext cx="45720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3.14. Соединение нагрузки по схеме «треугольник».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827088" y="4581525"/>
            <a:ext cx="7848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Топографическая и векторная диаграммы напряжений  и токов для этого случая изображены на рис. 3.9.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21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3850" y="836613"/>
            <a:ext cx="8424863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Несимметричная нагрузка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начале в соответствии с законом Ома находят фазные токи:</a:t>
            </a:r>
            <a:endParaRPr lang="ru-RU" altLang="ru-R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altLang="ru-R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затем определяют линейные токи:</a:t>
            </a:r>
            <a:endParaRPr lang="ru-RU" altLang="ru-R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2628900"/>
            <a:ext cx="3932237" cy="294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5148263" y="3479800"/>
            <a:ext cx="298608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3.15. Топографическая и векторная диаграммы напряжений  и токов при несимметричной нагрузке, соединённой по схеме «треугольник».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47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3.6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Мощность трехфазной цепи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 smtClean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1052513"/>
            <a:ext cx="3852862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4"/>
          <p:cNvSpPr>
            <a:spLocks noChangeArrowheads="1"/>
          </p:cNvSpPr>
          <p:nvPr/>
        </p:nvSpPr>
        <p:spPr bwMode="auto">
          <a:xfrm>
            <a:off x="2771775" y="4970463"/>
            <a:ext cx="45720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3.16. Электрическая схема измерения активной мощности в нагрузке, подключённой по схеме «звезда».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526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484313"/>
            <a:ext cx="9277350" cy="317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Трёхфазная мощность - это сумма фазных мощностей в мгновенных значениях:</a:t>
            </a:r>
            <a:endParaRPr lang="ru-RU" alt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 =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20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20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20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          	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(3.18)</a:t>
            </a:r>
            <a:endParaRPr lang="ru-RU" altLang="ru-R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активных, реактивных и полных мощностей можно записать следующие формулы:</a:t>
            </a:r>
            <a:endParaRPr lang="ru-RU" alt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 = U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U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U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(3.19)</a:t>
            </a:r>
            <a:endParaRPr lang="ru-RU" alt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ru-RU" alt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Q = U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U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U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(3.20)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 = U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U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U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altLang="ru-RU" sz="1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        		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(3.21)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234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3" name="Прямоугольник 3"/>
          <p:cNvSpPr>
            <a:spLocks noChangeArrowheads="1"/>
          </p:cNvSpPr>
          <p:nvPr/>
        </p:nvSpPr>
        <p:spPr bwMode="auto">
          <a:xfrm>
            <a:off x="684213" y="792163"/>
            <a:ext cx="8135937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имметричная нагрузка: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звезда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3 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(3.22)</a:t>
            </a:r>
            <a:r>
              <a:rPr lang="en-US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треугольник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(3.23)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Учитывая соотношения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звезды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ф.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треугольника	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окончательно получим более простые формулы расчета мощностей: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(3.24)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2663825"/>
            <a:ext cx="12255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3735388"/>
            <a:ext cx="12239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4343400"/>
            <a:ext cx="11255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5286375"/>
            <a:ext cx="4657725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3229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908050"/>
            <a:ext cx="5426075" cy="378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2816225" y="4816475"/>
            <a:ext cx="45720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3.17. Электрическая схема измерения активной мощности в нагрузке, подключённой по схеме «треугольник».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474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1125538"/>
            <a:ext cx="5545137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2514600" y="4772025"/>
            <a:ext cx="45720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3.18. Электрическая схема измерения активной мощности в нагрузке с помощью двух ваттметров.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57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Прямоугольник 5"/>
          <p:cNvSpPr>
            <a:spLocks noChangeArrowheads="1"/>
          </p:cNvSpPr>
          <p:nvPr/>
        </p:nvSpPr>
        <p:spPr bwMode="auto">
          <a:xfrm>
            <a:off x="900113" y="1125538"/>
            <a:ext cx="8243887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Несимметричная нагрузка:</a:t>
            </a:r>
            <a:endParaRPr lang="en-US" altLang="ru-RU" sz="1800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звезда </a:t>
            </a:r>
            <a:r>
              <a:rPr lang="ru-RU" alt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(Y):</a:t>
            </a:r>
            <a:endParaRPr lang="en-US" altLang="ru-RU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(3.24)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треугольник </a:t>
            </a:r>
            <a:r>
              <a:rPr lang="ru-RU" alt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altLang="ru-RU" sz="1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ru-RU" alt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altLang="ru-RU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    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(3.25) 			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1989138"/>
            <a:ext cx="572452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303588"/>
            <a:ext cx="5653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5610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266204" y="1464432"/>
            <a:ext cx="690002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sz="6600" dirty="0"/>
              <a:t>4. Переходные процессы в линейных 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171325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Прямоугольник 5"/>
          <p:cNvSpPr>
            <a:spLocks noChangeArrowheads="1"/>
          </p:cNvSpPr>
          <p:nvPr/>
        </p:nvSpPr>
        <p:spPr bwMode="auto">
          <a:xfrm>
            <a:off x="755650" y="1052513"/>
            <a:ext cx="7848600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Переходные процессы возникают в электрической цепи вследствие включения и отключения источников питания или при изменении постоянных параметров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цепи.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Любое переключение в электрической цепи называется коммутацией.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Процессы, происходящие в процессе коммутации, называются переходными.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Переходной процесс это переход от одного установившегося процесса к другому установившемуся процессу. Время, в течение которого он происходит называется временем переходного процесса (теоретически оно равно бесконечности).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Возникновение переходных процессов объясняется тем, что изменение энергии электрических и магнитных полей не может происходить мгновенно. Накопление энергии за счёт источников или отдача её в электрическую цепь происходит хотя и в очень малые, но конечные промежутки времени. Знание переходных процессов позволяет выявить возможные опасные для оборудования повышения напряжения и броски тока, величины которых могут в десятки раз превосходить их значения в установившемся режиме.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833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468313" y="765175"/>
            <a:ext cx="8207375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4.1 Законы коммутации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 smtClean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7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2"/>
          <p:cNvSpPr>
            <a:spLocks noChangeArrowheads="1"/>
          </p:cNvSpPr>
          <p:nvPr/>
        </p:nvSpPr>
        <p:spPr bwMode="auto">
          <a:xfrm>
            <a:off x="485775" y="1196975"/>
            <a:ext cx="8047038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осуществления коммутации в электрической цепи введём идеальный ключ, замыкающийся и размыкающийся без времени. 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замыкающий ключ,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размыкающий ключ.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закон коммутации.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имеется катушка индуктивности с известными параметрами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Составим уравнение по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закону Кирхгофа для электрической цепи после замыкания ключа (после момента коммутации):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(4.1)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852613"/>
            <a:ext cx="720725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395538"/>
            <a:ext cx="647700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4467225"/>
            <a:ext cx="15113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3187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3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44575"/>
            <a:ext cx="3671888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2"/>
          <p:cNvSpPr>
            <a:spLocks noChangeArrowheads="1"/>
          </p:cNvSpPr>
          <p:nvPr/>
        </p:nvSpPr>
        <p:spPr bwMode="auto">
          <a:xfrm>
            <a:off x="179388" y="4144963"/>
            <a:ext cx="37449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4.1. Электрическая схема подключения катушки индуктивности к источнику постоянного напряжения.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4"/>
          <p:cNvSpPr>
            <a:spLocks noChangeArrowheads="1"/>
          </p:cNvSpPr>
          <p:nvPr/>
        </p:nvSpPr>
        <p:spPr bwMode="auto">
          <a:xfrm>
            <a:off x="4211638" y="800100"/>
            <a:ext cx="4572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величины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конечны, то, предположив, что ток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меняется скачком, получим: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8" y="1384300"/>
            <a:ext cx="9826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6"/>
          <p:cNvSpPr>
            <a:spLocks noChangeArrowheads="1"/>
          </p:cNvSpPr>
          <p:nvPr/>
        </p:nvSpPr>
        <p:spPr bwMode="auto">
          <a:xfrm>
            <a:off x="4213225" y="1963738"/>
            <a:ext cx="45720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Такое изменение тока будет нарушать законы Кирхгофа, следовательно, предположение, что в данной цепи ток может меняться скачком не верно.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закон коммутации гласит: в ветви, содержащей индуктивность, ток не может изменяться скачком: 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i(0+) = i(0-)       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(4.2)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3970338"/>
            <a:ext cx="2106613" cy="146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Прямоугольник 7"/>
          <p:cNvSpPr>
            <a:spLocks noChangeArrowheads="1"/>
          </p:cNvSpPr>
          <p:nvPr/>
        </p:nvSpPr>
        <p:spPr bwMode="auto">
          <a:xfrm>
            <a:off x="4319588" y="5507038"/>
            <a:ext cx="4572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4.2. Изменение тока в электрической цепи с индуктивностью.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383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3" name="Прямоугольник 2"/>
          <p:cNvSpPr>
            <a:spLocks noChangeArrowheads="1"/>
          </p:cNvSpPr>
          <p:nvPr/>
        </p:nvSpPr>
        <p:spPr bwMode="auto">
          <a:xfrm>
            <a:off x="539750" y="765175"/>
            <a:ext cx="3449638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закон коммутации.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62050"/>
            <a:ext cx="316865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4"/>
          <p:cNvSpPr>
            <a:spLocks noChangeArrowheads="1"/>
          </p:cNvSpPr>
          <p:nvPr/>
        </p:nvSpPr>
        <p:spPr bwMode="auto">
          <a:xfrm>
            <a:off x="179388" y="3933825"/>
            <a:ext cx="324008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4.3. Электрическая схема подключения последовательно соединённых ёмкости и резистора к источнику постоянного напряжения.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5"/>
          <p:cNvSpPr>
            <a:spLocks noChangeArrowheads="1"/>
          </p:cNvSpPr>
          <p:nvPr/>
        </p:nvSpPr>
        <p:spPr bwMode="auto">
          <a:xfrm>
            <a:off x="3957638" y="1014413"/>
            <a:ext cx="490378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Энергия электрического поля, накопленная в ёмкости определяется зависимостью: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650" y="1595438"/>
            <a:ext cx="1166813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7"/>
          <p:cNvSpPr>
            <a:spLocks noChangeArrowheads="1"/>
          </p:cNvSpPr>
          <p:nvPr/>
        </p:nvSpPr>
        <p:spPr bwMode="auto">
          <a:xfrm>
            <a:off x="3876675" y="2174875"/>
            <a:ext cx="50403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предположить, что напряжение на ёмкости изменяется скачком, то выделяющаяся при этом мощность будет бесконечно велика, что не имеет физического смысла: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225" y="3221038"/>
            <a:ext cx="14398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2"/>
          <p:cNvSpPr>
            <a:spLocks noChangeArrowheads="1"/>
          </p:cNvSpPr>
          <p:nvPr/>
        </p:nvSpPr>
        <p:spPr bwMode="auto">
          <a:xfrm>
            <a:off x="4124325" y="3806825"/>
            <a:ext cx="45720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закон коммутации гласит: в ветви, содержащей ёмкость, напряжение на  ёмкости не может изменяться скачком: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649788"/>
            <a:ext cx="230346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4"/>
          <p:cNvSpPr>
            <a:spLocks noChangeArrowheads="1"/>
          </p:cNvSpPr>
          <p:nvPr/>
        </p:nvSpPr>
        <p:spPr bwMode="auto">
          <a:xfrm>
            <a:off x="6804025" y="4672013"/>
            <a:ext cx="20574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4.4. Изменение напряжения на ёмкости в электрической цепи с ёмкостью.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060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2737</TotalTime>
  <Words>568</Words>
  <Application>Microsoft Office PowerPoint</Application>
  <PresentationFormat>Экран (4:3)</PresentationFormat>
  <Paragraphs>147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PT Sans</vt:lpstr>
      <vt:lpstr>Symbol</vt:lpstr>
      <vt:lpstr>Times New Roman</vt:lpstr>
      <vt:lpstr>Специальное оформление</vt:lpstr>
      <vt:lpstr>Электротехника   Москва, 2025-2026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User</cp:lastModifiedBy>
  <cp:revision>108</cp:revision>
  <dcterms:created xsi:type="dcterms:W3CDTF">2015-07-29T11:14:37Z</dcterms:created>
  <dcterms:modified xsi:type="dcterms:W3CDTF">2025-09-22T07:39:43Z</dcterms:modified>
</cp:coreProperties>
</file>