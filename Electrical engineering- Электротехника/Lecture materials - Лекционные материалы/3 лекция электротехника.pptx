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</p:sldMasterIdLst>
  <p:notesMasterIdLst>
    <p:notesMasterId r:id="rId23"/>
  </p:notesMasterIdLst>
  <p:sldIdLst>
    <p:sldId id="274" r:id="rId2"/>
    <p:sldId id="263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92" r:id="rId17"/>
    <p:sldId id="293" r:id="rId18"/>
    <p:sldId id="294" r:id="rId19"/>
    <p:sldId id="295" r:id="rId20"/>
    <p:sldId id="296" r:id="rId21"/>
    <p:sldId id="26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68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9/22/2025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9/22/2025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9/22/2025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9/22/2025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9/22/2025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9/22/2025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892" y="1197276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133600" cy="365125"/>
          </a:xfrm>
          <a:prstGeom prst="rect">
            <a:avLst/>
          </a:prstGeom>
        </p:spPr>
        <p:txBody>
          <a:bodyPr/>
          <a:lstStyle/>
          <a:p>
            <a:fld id="{8BAA42B7-A82E-48C9-B2B8-A78715E37E3C}" type="datetime1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37751" y="2693773"/>
            <a:ext cx="8349049" cy="343239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B918F5CA-B6E4-02FB-5091-E0C38EFFE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4915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8452735" cy="2852737"/>
          </a:xfrm>
        </p:spPr>
        <p:txBody>
          <a:bodyPr/>
          <a:lstStyle/>
          <a:p>
            <a:pPr algn="ctr"/>
            <a:r>
              <a:rPr lang="ru-RU" altLang="ru-RU" sz="7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Электротехника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</a:t>
            </a:r>
            <a: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2025-2026</a:t>
            </a:r>
            <a:b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05CABD-092D-4CC1-B799-8089F630E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ФИО преподавателя</a:t>
            </a:r>
            <a:r>
              <a:rPr lang="en-US" dirty="0" smtClean="0"/>
              <a:t>: </a:t>
            </a:r>
            <a:r>
              <a:rPr lang="ru-RU" dirty="0" err="1" smtClean="0"/>
              <a:t>Микаева</a:t>
            </a:r>
            <a:r>
              <a:rPr lang="ru-RU" dirty="0" smtClean="0"/>
              <a:t> Светлана Анатольевна</a:t>
            </a:r>
            <a:r>
              <a:rPr lang="en-US" dirty="0" smtClean="0"/>
              <a:t> </a:t>
            </a:r>
            <a:endParaRPr lang="ru-RU" dirty="0"/>
          </a:p>
          <a:p>
            <a:r>
              <a:rPr lang="en-US" dirty="0"/>
              <a:t>e-mail: mikaeva_s@mirea.ru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83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74000">
              <a:schemeClr val="bg2"/>
            </a:gs>
            <a:gs pos="83000">
              <a:schemeClr val="bg2">
                <a:lumMod val="45000"/>
                <a:lumOff val="55000"/>
              </a:schemeClr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Электрические цепи постоянного тока.</a:t>
            </a:r>
            <a:endParaRPr lang="ru-RU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190ACFE-8886-0DB4-2BEB-A9EDDB97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D262070-2A5E-5642-84A2-C705DC40505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77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7" name="Объект 1"/>
          <p:cNvSpPr txBox="1">
            <a:spLocks/>
          </p:cNvSpPr>
          <p:nvPr/>
        </p:nvSpPr>
        <p:spPr>
          <a:xfrm>
            <a:off x="760413" y="836613"/>
            <a:ext cx="7745412" cy="19446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1.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етод преобразований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Последовательное соединение.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несколько элементов соединены один за другим и по ним проходит один и тот же ток, то они образуют одну ветвь, а соединение таких элементов называется последовательным.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800" dirty="0">
              <a:cs typeface="Times New Roman" panose="02020603050405020304" pitchFamily="18" charset="0"/>
            </a:endParaRPr>
          </a:p>
        </p:txBody>
      </p:sp>
      <p:pic>
        <p:nvPicPr>
          <p:cNvPr id="8" name="Рисунок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2781300"/>
            <a:ext cx="3951288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4932363" y="2924175"/>
            <a:ext cx="3024187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 i="1">
                <a:latin typeface="Arial" panose="020B0604020202020204" pitchFamily="34" charset="0"/>
              </a:rPr>
              <a:t>Рис. 1.7. Последовательное соединение резисторов.</a:t>
            </a:r>
            <a:endParaRPr lang="ru-RU" altLang="ru-RU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1042988" y="4445000"/>
            <a:ext cx="8353425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По закону Ома можно записать: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 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I R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2 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I R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3 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I R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тогда напряжения будут пропорциональны величинам сопротивлений: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U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 :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2 :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3 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 :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2 :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3                                 (1.21)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898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1006475" y="1341438"/>
            <a:ext cx="7704138" cy="375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Ряд последовательно соединённых сопротивлений можно заменить эквивалентным сопротивлением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э, не изменяющим ток в цепи при неизменном напряжении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второму закону Кирхгофа можно записать: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U1 / I + U2 / I + U3 / I = U / I,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R1 + R2 + R3 = 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				(1.22)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8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650" y="4025900"/>
            <a:ext cx="1792288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346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755650" y="1125538"/>
            <a:ext cx="7993063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Параллельное соединение.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Параллельным соединением называется такое, когда к одним и тем же узлам присоединены несколько элементов.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параллельном соединении ко всем резисторам приложено одинаковое напряжение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8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2876550"/>
            <a:ext cx="4464050" cy="199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2157413" y="5084763"/>
            <a:ext cx="662463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 i="1">
                <a:latin typeface="Arial" panose="020B0604020202020204" pitchFamily="34" charset="0"/>
              </a:rPr>
              <a:t>Рис. 1.8. Параллельное соединение резисторов.</a:t>
            </a:r>
            <a:endParaRPr lang="ru-RU" altLang="ru-RU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6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855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863600" y="1125538"/>
            <a:ext cx="7848600" cy="452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Введём    понятие    проводимости,    величины    обратной   сопротивлению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[1/Ом] = [См].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закону Ома можно записать: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I1 = U / R1 = U G1, I2 = U / R2 = U G2, I3 = U / R3 = U G3, 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токи будут пропорциональны величинам проводимостей параллельных цепей: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: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: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= 1 /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: 1 /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: 1 /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: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: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                            (1.23)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Ряд параллельно соединённых сопротивлений можно заменить эквивалентным сопротивлением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э, сила тока в котором равна сумме токов в отдельных параллельных ветвях: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/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 =  1 /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: 1 /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: 1 /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: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: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э,                   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(1.24)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Arial" panose="020B0604020202020204" pitchFamily="34" charset="0"/>
              </a:rPr>
              <a:t>							     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(1.25)</a:t>
            </a:r>
          </a:p>
        </p:txBody>
      </p:sp>
      <p:pic>
        <p:nvPicPr>
          <p:cNvPr id="8" name="Рисунок 4"/>
          <p:cNvPicPr>
            <a:picLocks noChangeAspect="1" noChangeArrowheads="1"/>
          </p:cNvPicPr>
          <p:nvPr/>
        </p:nvPicPr>
        <p:blipFill>
          <a:blip r:embed="rId2">
            <a:lum bright="-12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4924425"/>
            <a:ext cx="1295400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7250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971550" y="1196975"/>
            <a:ext cx="7777163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Частные случаи.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При параллельном соединении двух сопротивлений величина эквивалентного сопротивления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 будет равна: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 = (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/ (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+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2).                                       (1.26)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При параллельном соединении нескольких одинаковых сопротивлений величина эквивалентного сопротивления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 будет равна: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 =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                                     (1.27)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число параллельно включённых одинаковых сопротивлений.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642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468313" y="981075"/>
            <a:ext cx="82073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Преобразование схемы «звезда» в «треугольник» и обратно.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Электрическая цепь «звезда» с сопротивлениями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 может быть преобразована в эквивалентную электрическую цепь «треугольник» с сопротивлениями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12,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13,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ru-RU" alt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обратно.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8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343150"/>
            <a:ext cx="2808288" cy="267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Рисунок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2387600"/>
            <a:ext cx="3194050" cy="269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2192338" y="5283200"/>
            <a:ext cx="63261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Arial" panose="020B0604020202020204" pitchFamily="34" charset="0"/>
              </a:rPr>
              <a:t>Рис. 1.9. Схемы «звезда» и «треугольник».</a:t>
            </a:r>
            <a:endParaRPr lang="ru-RU" altLang="ru-RU" sz="18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759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1116013" y="1196975"/>
            <a:ext cx="6696075" cy="458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звезды в треугольник: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R12 = R1 + R2 + (R1 R2) / R3,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R13 = R1 + R3 + (R1 R3) / R2,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R23 = R2 + R3 + (R2 R3) / R1,                                         (1.28)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G12 = (G1 G2) / (G1 + G2 + G3),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G13 = (G1 G3) / (G1 + G2 + G3),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G23 = (G2 G3) / (G1 + G2 + G3).                                   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(1.29)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треугольника в звезду: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 = (R12 R13) / (R12 + R13 + R23),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 = (R12 R23) / (R12 + R13 + R23),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R3 = (R13 R23) / (R12 + R13 + R23).                               (1.30)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285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7" name="Объект 1"/>
          <p:cNvSpPr txBox="1">
            <a:spLocks/>
          </p:cNvSpPr>
          <p:nvPr/>
        </p:nvSpPr>
        <p:spPr>
          <a:xfrm>
            <a:off x="760413" y="836613"/>
            <a:ext cx="7745412" cy="295275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1.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расчета электрических цепей постоянного тока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Кирхгофа.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решении задач данным методом в качестве неизвестных величин выбираются токи в ветвях.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цепь содержит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ветвей,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узлов, все величины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эдс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напряжений и элементов цепи известны, а необходимо определить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токов ветвей, то по первому закону Кирхгофа составляется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 уравнений, а по второму закону Кирхгофа составляется остальные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1) уравнений.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800" dirty="0"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938" y="3611563"/>
            <a:ext cx="3544887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763713" y="4252913"/>
            <a:ext cx="3313112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 i="1">
                <a:latin typeface="Arial" panose="020B0604020202020204" pitchFamily="34" charset="0"/>
              </a:rPr>
              <a:t>Рис.1.10. Двухконтурная электрическая схема</a:t>
            </a:r>
            <a:r>
              <a:rPr lang="ru-RU" altLang="ru-RU" sz="1800" i="1">
                <a:latin typeface="Arial" panose="020B0604020202020204" pitchFamily="34" charset="0"/>
              </a:rPr>
              <a:t>.</a:t>
            </a: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752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827088" y="692150"/>
            <a:ext cx="78486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расчёте данной электрической схемы число узлов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 а число ветвей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3, поэтому необходимо составить одно уравнение по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закону Кирхгофа и два уравнения по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закону Кирхгофа.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Произвольно направляем токи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и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во всех ветвях и выбираем направление обхода ветвей (например, по часовой стрелке).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записи уравнений по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закону Кирхгофа со знаком «–» берут </a:t>
            </a:r>
            <a:r>
              <a:rPr lang="ru-RU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эдс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токи, направление которых не совпадает с выбранным.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закону Кирхгофа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		I1 = I2 + I3.                                             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(1.31)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По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закону Кирхгофа: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= I1 R1 + I3 R3,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		–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= I2 R2 –  I3 R3.                                      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(1.32)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Решая совместно уравнения (1.31) и (1.32), находим токи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и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во всех ветвях. В случае, если значение полученного тока в ветви окажется со знаком  «–», истинное направление тока в этой ветви будет противоположным первоначально выбранному.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323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971550" y="908050"/>
            <a:ext cx="792162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контурных токов.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решении задач данным методом в качестве неизвестных величин вводятся так называемые контурные токи, замыкающиеся на независимых контурах. Данный метод применяется в случае, когда число независимых контуров значительно меньше числа ветвей.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8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00" y="2781300"/>
            <a:ext cx="4005263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5508625" y="3573463"/>
            <a:ext cx="266382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 i="1">
                <a:latin typeface="Arial" panose="020B0604020202020204" pitchFamily="34" charset="0"/>
              </a:rPr>
              <a:t>Рис.1.11. Двухконтурная электрическая схема</a:t>
            </a:r>
            <a:r>
              <a:rPr lang="ru-RU" altLang="ru-RU" sz="1800" i="1">
                <a:latin typeface="Arial" panose="020B0604020202020204" pitchFamily="34" charset="0"/>
              </a:rPr>
              <a:t>.</a:t>
            </a:r>
            <a:endParaRPr lang="ru-RU" altLang="ru-RU" sz="18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912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900113" y="836613"/>
            <a:ext cx="7632700" cy="535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Выделяем контура и вводим произвольно (например, по часовой стрелке) направление контурных токов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Запишем уравнения для каждого контура согласно II закону Кирхгофа: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= II (R1 + R3) – III R3,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		–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= III (R2 + R3) – II R3.                                    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(1.33)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Решив известными методами полученную систему уравнений, найдём численные значения контурных токов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полученным значениям контурных токов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найдём искомые токи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и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в ветвях: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I1 = II,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		I2 = III,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		I3 = II – III.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Найденные численные значения  токов в ветвях можно проверить, составив уравнения по I закону Кирхгофа: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614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971550" y="836613"/>
            <a:ext cx="7704138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узловых напряжений.</a:t>
            </a:r>
            <a:endParaRPr lang="en-US" altLang="ru-RU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решении задач данным методом в качестве неизвестных величин находим напряжения узлов относительно одного узла, напряжение которого принимается за нуль.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8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492375"/>
            <a:ext cx="4392612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5622925" y="3644900"/>
            <a:ext cx="324167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 i="1">
                <a:latin typeface="Arial" panose="020B0604020202020204" pitchFamily="34" charset="0"/>
              </a:rPr>
              <a:t>Рис.1.12. Четырёхконтурная электрическая схема</a:t>
            </a:r>
            <a:r>
              <a:rPr lang="ru-RU" altLang="ru-RU" sz="1800" i="1">
                <a:latin typeface="Arial" panose="020B0604020202020204" pitchFamily="34" charset="0"/>
              </a:rPr>
              <a:t>.</a:t>
            </a:r>
            <a:endParaRPr lang="ru-RU" altLang="ru-RU" sz="18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335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468313" y="1052513"/>
            <a:ext cx="80645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узловых напряжений применяется в случае, когда число узлов в схеме значительно меньше числа ветвей и числа независимых контуров. При числе узлов «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составляется 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1) уравнение.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Выделим первую ветвь и замкнём её напряжением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UAB 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8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530475"/>
            <a:ext cx="1925637" cy="201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485775" y="4652963"/>
            <a:ext cx="2347913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Рис.1.13. Выделенная первая ветвь четырёхконтурной электрической схемы.</a:t>
            </a:r>
            <a:endParaRPr lang="ru-RU" altLang="ru-RU" sz="14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3203575" y="2781300"/>
            <a:ext cx="6148388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Запишем уравнение по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закону Кирхгофа: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 = I1 R1 + UAB,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откуда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I1 = (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 – UAB) / R1 = (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 – UAB) G1.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Учитывая, что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UAB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VB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получим: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I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 = [Е1 – 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VA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VB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)]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465079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1187450" y="981075"/>
            <a:ext cx="7345363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Направив токи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в узел «А» и аналогично составляя уравнения для всех остальных ветвей, получим: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I1 = [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– (VA – VB)] G1, 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I2 = [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– (VA – VB)] G2, 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I3 = [–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– (VA – VB)] G3,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I4 = [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– (VA – V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 G4,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= [– Е5 – 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С)]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По  закону Кирхгофа для узла «А» запишем: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= 0,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или подставляя значения токов в ветвях, окончательно для узла «А» получим: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Е1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1+Е2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2–Е3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3+Е4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4–Е5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5=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4+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5)–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VB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3)–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4+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5).                    (1.34)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Аналогично для узла «В» можно записать: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–Е1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1–Е2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2+Е3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3+Е6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=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6)–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3)–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V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(1.35)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900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1042988" y="1125538"/>
            <a:ext cx="7200900" cy="375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Методика составления уравнений для узла «А».</a:t>
            </a:r>
            <a:endParaRPr lang="en-US" altLang="ru-RU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левой части уравнения записывается алгебраическая сумма произведений проводимостей ветвей, сходящихся в узел «А» на 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э.д.с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этих ветвей (со знаком «+» берутся 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э.д.с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направленные в узел «А»).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правой части уравнения записывается произведение потенциала узла «А» на сумму проводимостей ветвей, сходящихся в этот узел, минус произведение потенциалов остальных узлов на сумму проводимостей ветвей, соединяющих эти узлы с выбранным узлом «А».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835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250825" y="981075"/>
            <a:ext cx="864235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двух узлов.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применяется для расчёта электрических цепей с двумя узлами, между которыми включены активные и пассивные ветви. При использовании данного метода по расчётной формуле определяют напряжение между узлами, называемое узловым напряжением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UAB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затем по закону Ома рассчитывают токи в ветвях.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8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2565400"/>
            <a:ext cx="4257675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5148263" y="3644900"/>
            <a:ext cx="360045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 i="1">
                <a:latin typeface="Arial" panose="020B0604020202020204" pitchFamily="34" charset="0"/>
              </a:rPr>
              <a:t>Рис.1.14. Электрическая цепь с двумя узлами.</a:t>
            </a:r>
            <a:endParaRPr lang="ru-RU" altLang="ru-RU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190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468313" y="1052513"/>
            <a:ext cx="8280400" cy="477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Найдём узловое напряжение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UAB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UAB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(Е1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 – Е3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3 + … – Е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n Gn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/ 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 +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2 +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3 + … +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Gn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).    (1.36)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После этого расчет токов по этому методу становится достаточно простым: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	I1 = (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 – UAB) G1,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			I2 = – UAB G2,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	I3 = (–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 – UAB) G3,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	…………………..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	In = (–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n – UAB) Gn.                             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(1.37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Правило составления уравнения (1.36).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1. Если э.д.с. Е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направлена к узлу «А», то произведение Е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n Gn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записывается со знаком «+».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2. В знаменателе выражения (1.36) суммируются проводимости всех ветвей, независимо от наличия в них эдс.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869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791964" y="701501"/>
            <a:ext cx="8208962" cy="160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суперпозиции (наложения) токов.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любой ветви с линейными сопротивлениями ток равен алгебраической сумме частичных токов, создаваемых в этой ветви всеми поочерёдно действующими </a:t>
            </a:r>
            <a:r>
              <a:rPr lang="ru-RU" alt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э.д.с</a:t>
            </a:r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Метод позволяет свести расчёт разветвленной цепи с несколькими источниками  к нескольким расчётам этой же цепи с одним источником в каждом расчёте.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8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14" y="2636664"/>
            <a:ext cx="4427537" cy="216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1042789" y="4941714"/>
            <a:ext cx="36004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500" i="1">
                <a:latin typeface="Arial" panose="020B0604020202020204" pitchFamily="34" charset="0"/>
              </a:rPr>
              <a:t>Рис.1.15. Расчёт электрической цепи методом суперпозиции токов</a:t>
            </a:r>
            <a:r>
              <a:rPr lang="ru-RU" altLang="ru-RU" sz="1500" u="sng">
                <a:latin typeface="Arial" panose="020B0604020202020204" pitchFamily="34" charset="0"/>
              </a:rPr>
              <a:t>.</a:t>
            </a:r>
            <a:endParaRPr lang="ru-RU" altLang="ru-RU" sz="15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5148064" y="2204864"/>
            <a:ext cx="3600450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 u="sng">
                <a:latin typeface="Times New Roman" panose="02020603050405020304" pitchFamily="18" charset="0"/>
                <a:cs typeface="Times New Roman" panose="02020603050405020304" pitchFamily="18" charset="0"/>
              </a:rPr>
              <a:t>Методика расчёта.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1. Поочерёдно рассматриваем действие одной э.д.с., при замыкании накоротко всех остальных э.д.с. и размыкании всех источников тока, при этом оставляя в электрической цепи внутренние сопротивления всех источников.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2. Рассчитываем токи в ветвях от действия этой э.д.с.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3. Действительные токи ветвей находим алгебраическим суммированием токов, вызываемых в ветви каждой из э.д.с. в отдельности.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6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502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2735</TotalTime>
  <Words>948</Words>
  <Application>Microsoft Office PowerPoint</Application>
  <PresentationFormat>Экран (4:3)</PresentationFormat>
  <Paragraphs>183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PT Sans</vt:lpstr>
      <vt:lpstr>Times New Roman</vt:lpstr>
      <vt:lpstr>Специальное оформление</vt:lpstr>
      <vt:lpstr>Электротехника   Москва, 2025-2026 </vt:lpstr>
      <vt:lpstr>1. Электрические цепи постоянного тока.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User</cp:lastModifiedBy>
  <cp:revision>109</cp:revision>
  <dcterms:created xsi:type="dcterms:W3CDTF">2015-07-29T11:14:37Z</dcterms:created>
  <dcterms:modified xsi:type="dcterms:W3CDTF">2025-09-22T06:58:01Z</dcterms:modified>
</cp:coreProperties>
</file>