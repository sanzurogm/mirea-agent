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</p:sldMasterIdLst>
  <p:notesMasterIdLst>
    <p:notesMasterId r:id="rId19"/>
  </p:notesMasterIdLst>
  <p:sldIdLst>
    <p:sldId id="274" r:id="rId2"/>
    <p:sldId id="263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9/22/2025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9/22/2025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9/22/2025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92" y="119727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133600" cy="365125"/>
          </a:xfrm>
          <a:prstGeom prst="rect">
            <a:avLst/>
          </a:prstGeom>
        </p:spPr>
        <p:txBody>
          <a:bodyPr/>
          <a:lstStyle/>
          <a:p>
            <a:fld id="{8BAA42B7-A82E-48C9-B2B8-A78715E37E3C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7751" y="2693773"/>
            <a:ext cx="8349049" cy="343239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918F5CA-B6E4-02FB-5091-E0C38EFF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491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8452735" cy="2852737"/>
          </a:xfrm>
        </p:spPr>
        <p:txBody>
          <a:bodyPr/>
          <a:lstStyle/>
          <a:p>
            <a:pPr algn="ctr"/>
            <a:r>
              <a:rPr lang="ru-RU" alt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Электротехника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2025-2026</a:t>
            </a:r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 smtClean="0"/>
              <a:t>: </a:t>
            </a:r>
            <a:r>
              <a:rPr lang="ru-RU" dirty="0" err="1" smtClean="0"/>
              <a:t>Микаева</a:t>
            </a:r>
            <a:r>
              <a:rPr lang="ru-RU" dirty="0" smtClean="0"/>
              <a:t> Светлана Анатольевна</a:t>
            </a:r>
            <a:r>
              <a:rPr lang="en-US" dirty="0" smtClean="0"/>
              <a:t> </a:t>
            </a:r>
            <a:endParaRPr lang="ru-RU" dirty="0"/>
          </a:p>
          <a:p>
            <a:r>
              <a:rPr lang="en-US" dirty="0"/>
              <a:t>e-mail: mikaeva_s@mirea.ru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74000">
              <a:schemeClr val="bg2"/>
            </a:gs>
            <a:gs pos="83000">
              <a:schemeClr val="bg2">
                <a:lumMod val="45000"/>
                <a:lumOff val="55000"/>
              </a:schemeClr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6600" dirty="0">
                <a:latin typeface="Arial" panose="020B0604020202020204" pitchFamily="34" charset="0"/>
              </a:rPr>
              <a:t>2.</a:t>
            </a:r>
            <a:r>
              <a:rPr lang="ru-RU" altLang="ru-RU" sz="6600" b="1" dirty="0">
                <a:latin typeface="Arial" panose="020B0604020202020204" pitchFamily="34" charset="0"/>
              </a:rPr>
              <a:t> </a:t>
            </a:r>
            <a:r>
              <a:rPr lang="ru-RU" altLang="ru-RU" sz="6600" dirty="0">
                <a:latin typeface="Arial" panose="020B0604020202020204" pitchFamily="34" charset="0"/>
              </a:rPr>
              <a:t>Электрические цепи однофазного переменного синусоидального тока.</a:t>
            </a:r>
            <a:br>
              <a:rPr lang="ru-RU" altLang="ru-RU" sz="6600" dirty="0">
                <a:latin typeface="Arial" panose="020B0604020202020204" pitchFamily="34" charset="0"/>
              </a:rPr>
            </a:br>
            <a:endParaRPr lang="ru-RU" sz="6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90ACFE-8886-0DB4-2BEB-A9EDDB9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62070-2A5E-5642-84A2-C705DC40505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Параллельное соединение 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R, L, C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элементов в цепи переменного тока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457325"/>
            <a:ext cx="3529013" cy="221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755650" y="3595688"/>
            <a:ext cx="8208963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Рис.2.22.</a:t>
            </a:r>
            <a:r>
              <a:rPr lang="ru-RU" altLang="ru-RU" sz="1400" b="1">
                <a:latin typeface="Arial" panose="020B0604020202020204" pitchFamily="34" charset="0"/>
              </a:rPr>
              <a:t> </a:t>
            </a:r>
            <a:r>
              <a:rPr lang="ru-RU" altLang="ru-RU" sz="1400" i="1">
                <a:latin typeface="Arial" panose="020B0604020202020204" pitchFamily="34" charset="0"/>
              </a:rPr>
              <a:t>Электрическая цепь переменного синусоидального тока с параллельным соединением </a:t>
            </a:r>
            <a:r>
              <a:rPr lang="en-US" altLang="ru-RU" sz="1400" i="1">
                <a:latin typeface="Arial" panose="020B0604020202020204" pitchFamily="34" charset="0"/>
              </a:rPr>
              <a:t>R</a:t>
            </a:r>
            <a:r>
              <a:rPr lang="ru-RU" altLang="ru-RU" sz="1400" i="1">
                <a:latin typeface="Arial" panose="020B0604020202020204" pitchFamily="34" charset="0"/>
              </a:rPr>
              <a:t>, </a:t>
            </a:r>
            <a:r>
              <a:rPr lang="en-US" altLang="ru-RU" sz="1400" i="1">
                <a:latin typeface="Arial" panose="020B0604020202020204" pitchFamily="34" charset="0"/>
              </a:rPr>
              <a:t>L</a:t>
            </a:r>
            <a:r>
              <a:rPr lang="ru-RU" altLang="ru-RU" sz="1400" i="1">
                <a:latin typeface="Arial" panose="020B0604020202020204" pitchFamily="34" charset="0"/>
              </a:rPr>
              <a:t>, </a:t>
            </a:r>
            <a:r>
              <a:rPr lang="en-US" altLang="ru-RU" sz="1400" i="1">
                <a:latin typeface="Arial" panose="020B0604020202020204" pitchFamily="34" charset="0"/>
              </a:rPr>
              <a:t>C</a:t>
            </a:r>
            <a:r>
              <a:rPr lang="ru-RU" altLang="ru-RU" sz="1400" i="1">
                <a:latin typeface="Arial" panose="020B0604020202020204" pitchFamily="34" charset="0"/>
              </a:rPr>
              <a:t> элементов.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755650" y="4181475"/>
            <a:ext cx="770413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уравнение по I закону Кирхгофа: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		</a:t>
            </a:r>
            <a:r>
              <a:rPr lang="en-US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+  </a:t>
            </a:r>
            <a:r>
              <a:rPr lang="en-US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(2.41)</a:t>
            </a: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9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3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1341438"/>
            <a:ext cx="3168650" cy="217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47688" y="3925888"/>
            <a:ext cx="30241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Рис.2.23. Векторная диаграмма электрической цепи с активно - индуктивным характером.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200">
              <a:latin typeface="Arial" panose="020B0604020202020204" pitchFamily="34" charset="0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4284663" y="1341438"/>
            <a:ext cx="4787900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Анализируя представленную на рис. 2.23 векторную диаграмму, можно констатировать, что характер цепи зависит от разности (|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|–|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|). В результате появляются три соотношения: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|&gt;|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endParaRPr lang="en-US" altLang="ru-RU" sz="1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ru-RU" sz="1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 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|&lt;|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С, </a:t>
            </a:r>
            <a:endParaRPr lang="en-US" altLang="ru-RU" sz="1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US" altLang="ru-RU" sz="1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 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|=|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С.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Arial" panose="020B0604020202020204" pitchFamily="34" charset="0"/>
              </a:rPr>
              <a:t>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77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674688" y="981075"/>
            <a:ext cx="74168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|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|&gt;|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угол φ &gt; 0, в электрической цепи напряжение будет опережать ток на угол φ, а сама цепь будет носить активно - индуктивный характер (см. рис. 2. 23). 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|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|&lt;|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угол φ &lt; 0, в электрической цепи напряжение будет отставать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тока на угол φ, а сама цепь будет носить активно - ёмкостной характер (см. рис. 2. 24).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3716338"/>
            <a:ext cx="2881313" cy="20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68538" y="4611688"/>
            <a:ext cx="3382962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 dirty="0">
                <a:latin typeface="Arial" panose="020B0604020202020204" pitchFamily="34" charset="0"/>
              </a:rPr>
              <a:t>Рис.2.24. Векторная диаграмма электрической цепи с активно - ёмкостным характером.</a:t>
            </a:r>
            <a:endParaRPr lang="ru-RU" alt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0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539750" y="1125538"/>
            <a:ext cx="8569325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|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|=|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– режим резонанса токов.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угол φ = 0, в электрической цепи наступает режим резонанса токов, при котором напряжение будет совпадать по фазе с током, а сама цепь будет носить активный характер (см. рис. 2. 25).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400" y="2636838"/>
            <a:ext cx="271938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203325" y="4941888"/>
            <a:ext cx="69119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Рис.2.25. Векторная диаграмма электрической цепи в режиме резонанса токов.</a:t>
            </a:r>
            <a:endParaRPr lang="ru-RU" altLang="ru-RU" sz="140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54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971550" y="981075"/>
            <a:ext cx="7704138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признаки, характеризующие появление в цепи резонанса токов.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а. Определим резонансную частоту.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Из соотношения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получим ω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1/ω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			(2.42)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б. При угле φ = 0,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φ = 1 –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электрическая цепь носит активный характер.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в.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ток при резонансе токов будет иметь минимальное значение.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Добротность параллельного контура определяется соотношением: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Q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                         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(2.43)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1857375"/>
            <a:ext cx="41052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53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971550" y="836613"/>
            <a:ext cx="74168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Введём обозначения: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реактивные проводимости соответственно цепи с индуктивностью и ёмкостью.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резонансе токов: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(2.44)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γ –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волновая проводимость электрической цепи.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065338"/>
            <a:ext cx="17287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38" y="2924175"/>
            <a:ext cx="33512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331913" y="4589463"/>
            <a:ext cx="3600450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 dirty="0">
                <a:latin typeface="Arial" panose="020B0604020202020204" pitchFamily="34" charset="0"/>
              </a:rPr>
              <a:t>Рис.2.26. Резонансные кривые зависимостей </a:t>
            </a:r>
            <a:r>
              <a:rPr lang="en-US" altLang="ru-RU" sz="1400" i="1" dirty="0">
                <a:latin typeface="Arial" panose="020B0604020202020204" pitchFamily="34" charset="0"/>
              </a:rPr>
              <a:t>I</a:t>
            </a:r>
            <a:r>
              <a:rPr lang="en-US" altLang="ru-RU" sz="1400" i="1" baseline="-25000" dirty="0">
                <a:latin typeface="Arial" panose="020B0604020202020204" pitchFamily="34" charset="0"/>
              </a:rPr>
              <a:t>L</a:t>
            </a:r>
            <a:r>
              <a:rPr lang="ru-RU" altLang="ru-RU" sz="1400" i="1" dirty="0">
                <a:latin typeface="Arial" panose="020B0604020202020204" pitchFamily="34" charset="0"/>
              </a:rPr>
              <a:t>,, </a:t>
            </a:r>
            <a:r>
              <a:rPr lang="en-US" altLang="ru-RU" sz="1400" i="1" dirty="0">
                <a:latin typeface="Arial" panose="020B0604020202020204" pitchFamily="34" charset="0"/>
              </a:rPr>
              <a:t>I</a:t>
            </a:r>
            <a:r>
              <a:rPr lang="en-US" altLang="ru-RU" sz="1400" i="1" baseline="-25000" dirty="0">
                <a:latin typeface="Arial" panose="020B0604020202020204" pitchFamily="34" charset="0"/>
              </a:rPr>
              <a:t>R</a:t>
            </a:r>
            <a:r>
              <a:rPr lang="ru-RU" altLang="ru-RU" sz="1400" i="1" dirty="0">
                <a:latin typeface="Arial" panose="020B0604020202020204" pitchFamily="34" charset="0"/>
              </a:rPr>
              <a:t>, </a:t>
            </a:r>
            <a:r>
              <a:rPr lang="en-US" altLang="ru-RU" sz="1400" i="1" dirty="0">
                <a:latin typeface="Arial" panose="020B0604020202020204" pitchFamily="34" charset="0"/>
              </a:rPr>
              <a:t>I</a:t>
            </a:r>
            <a:r>
              <a:rPr lang="ru-RU" altLang="ru-RU" sz="1400" i="1" baseline="-25000" dirty="0">
                <a:latin typeface="Arial" panose="020B0604020202020204" pitchFamily="34" charset="0"/>
              </a:rPr>
              <a:t>С</a:t>
            </a:r>
            <a:r>
              <a:rPr lang="ru-RU" altLang="ru-RU" sz="1400" i="1" dirty="0">
                <a:latin typeface="Arial" panose="020B0604020202020204" pitchFamily="34" charset="0"/>
              </a:rPr>
              <a:t> , </a:t>
            </a:r>
            <a:r>
              <a:rPr lang="en-US" altLang="ru-RU" sz="1400" i="1" dirty="0">
                <a:latin typeface="Arial" panose="020B0604020202020204" pitchFamily="34" charset="0"/>
              </a:rPr>
              <a:t>U</a:t>
            </a:r>
            <a:r>
              <a:rPr lang="ru-RU" altLang="ru-RU" sz="1400" i="1" dirty="0">
                <a:latin typeface="Arial" panose="020B0604020202020204" pitchFamily="34" charset="0"/>
              </a:rPr>
              <a:t> от частоты и </a:t>
            </a:r>
            <a:r>
              <a:rPr lang="ru-RU" altLang="ru-RU" sz="1400" i="1" dirty="0" err="1">
                <a:latin typeface="Arial" panose="020B0604020202020204" pitchFamily="34" charset="0"/>
              </a:rPr>
              <a:t>фазочастотная</a:t>
            </a:r>
            <a:r>
              <a:rPr lang="ru-RU" altLang="ru-RU" sz="1400" i="1" dirty="0">
                <a:latin typeface="Arial" panose="020B0604020202020204" pitchFamily="34" charset="0"/>
              </a:rPr>
              <a:t> характеристика φ(ω).</a:t>
            </a:r>
            <a:endParaRPr lang="ru-RU" altLang="ru-RU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51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79388" y="1341438"/>
            <a:ext cx="87137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цепи, изображённой на рис.2.17, модули активной, реактивной и полной мощности будут равны: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 = U I 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 Z I (R/Z) = I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[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Q = U I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 Z I [(X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)/Z] = I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 = U I = I Z I = I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 [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A],                                   (2.45)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коэффициент мощности, показывающий, какая часть электрической энергии расходуется на выполнение полезной работы,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активная составляющая тока, совпадающая по направлению с напряжением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модулей полной мощности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активной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реактивной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мощностями определяется зависимостью: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(2.46)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4221163"/>
            <a:ext cx="15319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439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539750" y="1052513"/>
            <a:ext cx="83534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полную мощность в комплексной форме: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				(2.47)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сопряжённое комплексное значение тока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484313"/>
            <a:ext cx="53276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3014663"/>
            <a:ext cx="2798762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930525" y="5253038"/>
            <a:ext cx="5976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Рис.2.27.Треугольник мощностей</a:t>
            </a: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70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Комплексное сопротивление и комплексная проводимость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393825"/>
            <a:ext cx="338455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395288" y="3095625"/>
            <a:ext cx="85693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Рис.2.28.</a:t>
            </a:r>
            <a:r>
              <a:rPr lang="ru-RU" altLang="ru-RU" sz="1400" b="1">
                <a:latin typeface="Arial" panose="020B0604020202020204" pitchFamily="34" charset="0"/>
              </a:rPr>
              <a:t> </a:t>
            </a:r>
            <a:r>
              <a:rPr lang="ru-RU" altLang="ru-RU" sz="1400" i="1">
                <a:latin typeface="Arial" panose="020B0604020202020204" pitchFamily="34" charset="0"/>
              </a:rPr>
              <a:t>Электрическая цепь с последовательным соединением </a:t>
            </a:r>
            <a:r>
              <a:rPr lang="en-US" altLang="ru-RU" sz="1400" i="1">
                <a:latin typeface="Arial" panose="020B0604020202020204" pitchFamily="34" charset="0"/>
              </a:rPr>
              <a:t>R</a:t>
            </a:r>
            <a:r>
              <a:rPr lang="ru-RU" altLang="ru-RU" sz="1400" i="1">
                <a:latin typeface="Arial" panose="020B0604020202020204" pitchFamily="34" charset="0"/>
              </a:rPr>
              <a:t>, </a:t>
            </a:r>
            <a:r>
              <a:rPr lang="en-US" altLang="ru-RU" sz="1400" i="1">
                <a:latin typeface="Arial" panose="020B0604020202020204" pitchFamily="34" charset="0"/>
              </a:rPr>
              <a:t>L</a:t>
            </a:r>
            <a:r>
              <a:rPr lang="ru-RU" altLang="ru-RU" sz="1400" i="1">
                <a:latin typeface="Arial" panose="020B0604020202020204" pitchFamily="34" charset="0"/>
              </a:rPr>
              <a:t>, </a:t>
            </a:r>
            <a:r>
              <a:rPr lang="en-US" altLang="ru-RU" sz="1400" i="1">
                <a:latin typeface="Arial" panose="020B0604020202020204" pitchFamily="34" charset="0"/>
              </a:rPr>
              <a:t>C</a:t>
            </a:r>
            <a:r>
              <a:rPr lang="ru-RU" altLang="ru-RU" sz="1400" i="1">
                <a:latin typeface="Arial" panose="020B0604020202020204" pitchFamily="34" charset="0"/>
              </a:rPr>
              <a:t> элементов.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395288" y="3500438"/>
            <a:ext cx="85693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Полное комплексное сопротивление цепи: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Ze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jφ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Zcosφ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jZsinφ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(2.48)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где модуль полного сопротивления: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							  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(2.49)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угол сдвига фаз: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(2.50)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4397375"/>
            <a:ext cx="208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5189538"/>
            <a:ext cx="1868488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6930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981075"/>
            <a:ext cx="244792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765425" y="2420938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Рис.2.29.</a:t>
            </a:r>
            <a:r>
              <a:rPr lang="ru-RU" altLang="ru-RU" sz="1400" b="1">
                <a:latin typeface="Arial" panose="020B0604020202020204" pitchFamily="34" charset="0"/>
              </a:rPr>
              <a:t> </a:t>
            </a:r>
            <a:r>
              <a:rPr lang="ru-RU" altLang="ru-RU" sz="1400" i="1">
                <a:latin typeface="Arial" panose="020B0604020202020204" pitchFamily="34" charset="0"/>
              </a:rPr>
              <a:t>Треугольник сопротивлений.</a:t>
            </a:r>
            <a:r>
              <a:rPr lang="ru-RU" altLang="ru-RU" sz="1400">
                <a:latin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9388" y="2924175"/>
            <a:ext cx="8785225" cy="286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комплексная проводимость цепи</a:t>
            </a:r>
            <a:r>
              <a:rPr lang="ru-RU" altLang="ru-RU" sz="1800">
                <a:latin typeface="Arial" panose="020B0604020202020204" pitchFamily="34" charset="0"/>
              </a:rPr>
              <a:t>:</a:t>
            </a:r>
            <a:endParaRPr lang="en-US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								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(2.51)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 активная проводимость цепи</a:t>
            </a:r>
            <a:r>
              <a:rPr lang="ru-RU" altLang="ru-RU" sz="1800">
                <a:latin typeface="Arial" panose="020B0604020202020204" pitchFamily="34" charset="0"/>
              </a:rPr>
              <a:t>:</a:t>
            </a:r>
            <a:r>
              <a:rPr lang="en-US" altLang="ru-RU" sz="1800">
                <a:latin typeface="Arial" panose="020B0604020202020204" pitchFamily="34" charset="0"/>
              </a:rPr>
              <a:t> 					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(2.52)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реактивная проводимость цепи: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	     (2.53)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индуктивная составляющая реактивной проводимости: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			     (2.54)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271838"/>
            <a:ext cx="5872163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8" y="3838575"/>
            <a:ext cx="12541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4402138"/>
            <a:ext cx="12874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Рисунок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5084763"/>
            <a:ext cx="115093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52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422275" y="908050"/>
            <a:ext cx="85423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емкостная составляющая реактивной проводимости: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(2.55)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полной комплексной проводимости: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(2.56)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комплексная проводимость цепи в показательной и тригонометрической формах имеет вид: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(2.57)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175" y="836613"/>
            <a:ext cx="12969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1484313"/>
            <a:ext cx="18462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2487613"/>
            <a:ext cx="288131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255963"/>
            <a:ext cx="31496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843213" y="5013325"/>
            <a:ext cx="54006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Рис.2.30.</a:t>
            </a:r>
            <a:r>
              <a:rPr lang="ru-RU" altLang="ru-RU" sz="1600" b="1">
                <a:latin typeface="Arial" panose="020B0604020202020204" pitchFamily="34" charset="0"/>
              </a:rPr>
              <a:t> </a:t>
            </a:r>
            <a:r>
              <a:rPr lang="ru-RU" altLang="ru-RU" sz="1600" i="1">
                <a:latin typeface="Arial" panose="020B0604020202020204" pitchFamily="34" charset="0"/>
              </a:rPr>
              <a:t>Треугольник проводимостей.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687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Потенциальная диаграмма электрической цепи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327025" y="1133475"/>
            <a:ext cx="8785225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Потенциальной диаграммой электрической цепи называется распределение комплексных потенциалов точек цепи на комплексной плоскости.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потенциальной диаграммы электрической цепи используется в качестве метода проверки правильности решения задачи после нахождения значений токов во всех ветвях.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электрическую цепь.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6" name="Рисунок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538" y="2852738"/>
            <a:ext cx="4319587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1619250" y="5157788"/>
            <a:ext cx="734536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Рис.2.31.</a:t>
            </a:r>
            <a:r>
              <a:rPr lang="ru-RU" altLang="ru-RU" sz="1600" b="1">
                <a:latin typeface="Arial" panose="020B0604020202020204" pitchFamily="34" charset="0"/>
              </a:rPr>
              <a:t> </a:t>
            </a:r>
            <a:r>
              <a:rPr lang="ru-RU" altLang="ru-RU" sz="1600" i="1">
                <a:latin typeface="Arial" panose="020B0604020202020204" pitchFamily="34" charset="0"/>
              </a:rPr>
              <a:t>Электрическая цепь переменного синусоидального тока.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919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900113" y="836613"/>
            <a:ext cx="7272337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Примем потенциал одной из точек равным нулю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потенциалы остальных точек электрической схемы  учитывая, что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jX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(–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jX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построения потенциальной диаграммы поместим точку «1» в начало координат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 Для нахождения потенциала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необходимо развернуть вектор комплексного тока на угол 90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часовой стрелке, что соответствует его умножению на «–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и затем умножить его на величину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При этом конец полученного вектора укажет на комплексной плоскости потенциал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Аналогичными построениями находим потенциалы остальных точек.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625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125538"/>
            <a:ext cx="4176713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92275" y="5013325"/>
            <a:ext cx="6119813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Рис.2.32. Потенциальная диаграмма электрической цепи.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b="1">
                <a:latin typeface="Arial" panose="020B0604020202020204" pitchFamily="34" charset="0"/>
              </a:rPr>
              <a:t> 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95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</TotalTime>
  <Words>514</Words>
  <Application>Microsoft Office PowerPoint</Application>
  <PresentationFormat>Экран (4:3)</PresentationFormat>
  <Paragraphs>153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PT Sans</vt:lpstr>
      <vt:lpstr>Times New Roman</vt:lpstr>
      <vt:lpstr>Специальное оформление</vt:lpstr>
      <vt:lpstr>Электротехника   Москва, 2025-2026 </vt:lpstr>
      <vt:lpstr>2. Электрические цепи однофазного переменного синусоидального тока.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User</cp:lastModifiedBy>
  <cp:revision>108</cp:revision>
  <dcterms:created xsi:type="dcterms:W3CDTF">2015-07-29T11:14:37Z</dcterms:created>
  <dcterms:modified xsi:type="dcterms:W3CDTF">2025-09-22T07:22:51Z</dcterms:modified>
</cp:coreProperties>
</file>