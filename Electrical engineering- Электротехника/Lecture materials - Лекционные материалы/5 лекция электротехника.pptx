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</p:sldMasterIdLst>
  <p:notesMasterIdLst>
    <p:notesMasterId r:id="rId26"/>
  </p:notesMasterIdLst>
  <p:sldIdLst>
    <p:sldId id="274" r:id="rId2"/>
    <p:sldId id="275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6" r:id="rId21"/>
    <p:sldId id="317" r:id="rId22"/>
    <p:sldId id="318" r:id="rId23"/>
    <p:sldId id="315" r:id="rId24"/>
    <p:sldId id="26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68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9/22/2025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9/22/2025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9/22/2025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8452735" cy="2852737"/>
          </a:xfrm>
        </p:spPr>
        <p:txBody>
          <a:bodyPr/>
          <a:lstStyle/>
          <a:p>
            <a:pPr algn="ctr"/>
            <a:r>
              <a:rPr lang="ru-RU" altLang="ru-RU" sz="7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Электротехника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</a:t>
            </a:r>
            <a: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2025-2026</a:t>
            </a:r>
            <a:b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5CABD-092D-4CC1-B799-8089F630E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ФИО преподавателя</a:t>
            </a:r>
            <a:r>
              <a:rPr lang="en-US" dirty="0" smtClean="0"/>
              <a:t>: </a:t>
            </a:r>
            <a:r>
              <a:rPr lang="ru-RU" dirty="0" err="1" smtClean="0"/>
              <a:t>Микаева</a:t>
            </a:r>
            <a:r>
              <a:rPr lang="ru-RU" dirty="0" smtClean="0"/>
              <a:t> Светлана Анатольевна</a:t>
            </a:r>
            <a:r>
              <a:rPr lang="en-US" dirty="0" smtClean="0"/>
              <a:t> </a:t>
            </a:r>
            <a:endParaRPr lang="ru-RU" dirty="0"/>
          </a:p>
          <a:p>
            <a:r>
              <a:rPr lang="en-US" dirty="0"/>
              <a:t>e-mail: mikaeva_s@mirea.ru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611108" y="1131684"/>
            <a:ext cx="843330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alt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ru-RU" altLang="ru-RU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Электрические цепи однофазного переменного синусоидального тока.</a:t>
            </a:r>
            <a:endParaRPr lang="ru-RU" altLang="ru-RU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98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63373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Операции дифференцирования и интегрирования при использовании символического метода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Дифференцированию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мгновенной функции времени соответствует умножение их комплексных изображений на коэффициент «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jω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»: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(2.17)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Интегрированию мгновенной функции времени соответствует деление их комплексных изображений на коэффициент «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jω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						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(2.18)</a:t>
            </a:r>
            <a:r>
              <a:rPr lang="ru-RU" sz="1800" dirty="0"/>
              <a:t>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2276475"/>
            <a:ext cx="28797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388" y="4483100"/>
            <a:ext cx="26924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2373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57626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Электрическая цепь переменного синусоидального тока с активным сопротивлением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9600" dirty="0"/>
              <a:t>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628775"/>
            <a:ext cx="2952750" cy="209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79388" y="4275138"/>
            <a:ext cx="3240087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Рис.2.5.</a:t>
            </a:r>
            <a:r>
              <a:rPr lang="ru-RU" altLang="ru-RU" sz="1400" b="1">
                <a:latin typeface="Arial" panose="020B0604020202020204" pitchFamily="34" charset="0"/>
              </a:rPr>
              <a:t> </a:t>
            </a:r>
            <a:r>
              <a:rPr lang="ru-RU" altLang="ru-RU" sz="1400" i="1">
                <a:latin typeface="Arial" panose="020B0604020202020204" pitchFamily="34" charset="0"/>
              </a:rPr>
              <a:t>Электрическая цепь переменного синусоидального тока с активным сопротивлением</a:t>
            </a:r>
            <a:endParaRPr lang="ru-RU" altLang="ru-RU" sz="1400">
              <a:latin typeface="Arial" panose="020B0604020202020204" pitchFamily="34" charset="0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3492500" y="1484313"/>
            <a:ext cx="5183188" cy="784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Определим по закону Ома величину переменного синусоидального тока:</a:t>
            </a: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  (2.19)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Um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– амплитудное значение тока,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– действующее значение тока.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Закон Ома в комплексной форме для данной цепи можно записать в виде: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(2.20)</a:t>
            </a:r>
            <a:r>
              <a:rPr lang="ru-RU" altLang="ru-RU" sz="1800">
                <a:latin typeface="Arial" panose="020B0604020202020204" pitchFamily="34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Как видно из зависимости (2.19), ток и напряжение находятся в одной фазе, а цепь имеет активный характер.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2232025"/>
            <a:ext cx="38163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Рисунок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4275138"/>
            <a:ext cx="1081088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4039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1116013" y="908050"/>
            <a:ext cx="7416800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На рис.2.6 представлены временные зависимости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), а на рис.2.7. векторные диаграммы электрической цепи переменного синусоидального тока с активным сопротивлением.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Определим мгновенное значение мощности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 электрической цепи:</a:t>
            </a: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				(2.21)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 действующих значениях мощность в электрической цепи будет равна: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				(2.22)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025" y="2636838"/>
            <a:ext cx="44227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050" y="3860800"/>
            <a:ext cx="19907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0637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3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225550"/>
            <a:ext cx="5953125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0" y="4941888"/>
            <a:ext cx="9144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500" i="1" dirty="0">
                <a:latin typeface="Arial" panose="020B0604020202020204" pitchFamily="34" charset="0"/>
              </a:rPr>
              <a:t>Рис.2.6. Временные зависимости </a:t>
            </a:r>
            <a:r>
              <a:rPr lang="en-US" altLang="ru-RU" sz="1500" i="1" dirty="0">
                <a:latin typeface="Arial" panose="020B0604020202020204" pitchFamily="34" charset="0"/>
              </a:rPr>
              <a:t>u</a:t>
            </a:r>
            <a:r>
              <a:rPr lang="ru-RU" altLang="ru-RU" sz="1500" i="1" dirty="0">
                <a:latin typeface="Arial" panose="020B0604020202020204" pitchFamily="34" charset="0"/>
              </a:rPr>
              <a:t>(</a:t>
            </a:r>
            <a:r>
              <a:rPr lang="en-US" altLang="ru-RU" sz="1500" i="1" dirty="0">
                <a:latin typeface="Arial" panose="020B0604020202020204" pitchFamily="34" charset="0"/>
              </a:rPr>
              <a:t>t</a:t>
            </a:r>
            <a:r>
              <a:rPr lang="ru-RU" altLang="ru-RU" sz="1500" i="1" dirty="0">
                <a:latin typeface="Arial" panose="020B0604020202020204" pitchFamily="34" charset="0"/>
              </a:rPr>
              <a:t>), </a:t>
            </a:r>
            <a:r>
              <a:rPr lang="en-US" altLang="ru-RU" sz="1500" i="1" dirty="0" err="1">
                <a:latin typeface="Arial" panose="020B0604020202020204" pitchFamily="34" charset="0"/>
              </a:rPr>
              <a:t>i</a:t>
            </a:r>
            <a:r>
              <a:rPr lang="ru-RU" altLang="ru-RU" sz="1500" i="1" dirty="0">
                <a:latin typeface="Arial" panose="020B0604020202020204" pitchFamily="34" charset="0"/>
              </a:rPr>
              <a:t>(</a:t>
            </a:r>
            <a:r>
              <a:rPr lang="en-US" altLang="ru-RU" sz="1500" i="1" dirty="0">
                <a:latin typeface="Arial" panose="020B0604020202020204" pitchFamily="34" charset="0"/>
              </a:rPr>
              <a:t>t</a:t>
            </a:r>
            <a:r>
              <a:rPr lang="ru-RU" altLang="ru-RU" sz="1500" i="1" dirty="0">
                <a:latin typeface="Arial" panose="020B0604020202020204" pitchFamily="34" charset="0"/>
              </a:rPr>
              <a:t>) и </a:t>
            </a:r>
            <a:r>
              <a:rPr lang="en-US" altLang="ru-RU" sz="1500" i="1" dirty="0">
                <a:latin typeface="Arial" panose="020B0604020202020204" pitchFamily="34" charset="0"/>
              </a:rPr>
              <a:t>p</a:t>
            </a:r>
            <a:r>
              <a:rPr lang="ru-RU" altLang="ru-RU" sz="1500" i="1" dirty="0">
                <a:latin typeface="Arial" panose="020B0604020202020204" pitchFamily="34" charset="0"/>
              </a:rPr>
              <a:t>(</a:t>
            </a:r>
            <a:r>
              <a:rPr lang="en-US" altLang="ru-RU" sz="1500" i="1" dirty="0">
                <a:latin typeface="Arial" panose="020B0604020202020204" pitchFamily="34" charset="0"/>
              </a:rPr>
              <a:t>t </a:t>
            </a:r>
            <a:r>
              <a:rPr lang="ru-RU" altLang="ru-RU" sz="1500" i="1" dirty="0">
                <a:latin typeface="Arial" panose="020B0604020202020204" pitchFamily="34" charset="0"/>
              </a:rPr>
              <a:t>) в электрической цепи</a:t>
            </a:r>
            <a:endParaRPr lang="ru-RU" altLang="ru-RU" sz="1500" dirty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500" i="1" dirty="0">
                <a:latin typeface="Arial" panose="020B0604020202020204" pitchFamily="34" charset="0"/>
              </a:rPr>
              <a:t>с активным сопротивлением.</a:t>
            </a:r>
            <a:endParaRPr lang="ru-RU" altLang="ru-RU" sz="1500" dirty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562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1196975"/>
            <a:ext cx="266541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39750" y="3284538"/>
            <a:ext cx="8424863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Среднее за период значение активной мощности, потребляемой резистором, будет равно: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		P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U I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[Вт].                                        (2.23)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619250" y="2276475"/>
            <a:ext cx="6265863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i="1">
                <a:latin typeface="Arial" panose="020B0604020202020204" pitchFamily="34" charset="0"/>
              </a:rPr>
              <a:t>Рис.2.7. Векторные диаграммы электрической цепи.</a:t>
            </a:r>
            <a:endParaRPr lang="ru-RU" altLang="ru-RU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208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427" y="692075"/>
            <a:ext cx="8208963" cy="57626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  <a:r>
              <a:rPr lang="ru-RU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Электрическая цепь переменного синусоидального тока с идеальной индуктивностью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9600" dirty="0"/>
              <a:t>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539527" y="1422325"/>
            <a:ext cx="8280400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Будем считать, что ток в цепи имеет нулевую фазу: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ωt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по II закону Кирхгофа можно записать: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Arial" panose="020B0604020202020204" pitchFamily="34" charset="0"/>
              </a:rPr>
              <a:t>								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(2.24)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ω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[Ом] – модуль индуктивного сопротивления. 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Определим комплексное индуктивное сопротивление цепи: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(2.25)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752" y="2987600"/>
            <a:ext cx="545465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Рисунок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221088"/>
            <a:ext cx="3960813" cy="95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9566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1484313"/>
            <a:ext cx="385127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39750" y="4025900"/>
            <a:ext cx="2843213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Рис.2.8.</a:t>
            </a:r>
            <a:r>
              <a:rPr lang="ru-RU" altLang="ru-RU" sz="1400" b="1">
                <a:latin typeface="Arial" panose="020B0604020202020204" pitchFamily="34" charset="0"/>
              </a:rPr>
              <a:t> </a:t>
            </a:r>
            <a:r>
              <a:rPr lang="ru-RU" altLang="ru-RU" sz="1400" i="1">
                <a:latin typeface="Arial" panose="020B0604020202020204" pitchFamily="34" charset="0"/>
              </a:rPr>
              <a:t>Электрическая цепь переменного синусоидального тока с идеальной индуктивностью.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4356100" y="4652963"/>
            <a:ext cx="45720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Из соотношения  (2.24) видно, что на участке с индуктивным сопротивлением напряжение опережает ток по фазе на π / 2  или в градусах на +90</a:t>
            </a:r>
            <a:r>
              <a:rPr lang="ru-RU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а цепь имеет идеально индуктивный характер.</a:t>
            </a: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692150"/>
            <a:ext cx="4681538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356100" y="4000500"/>
            <a:ext cx="52562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Рис.2.9. Временные зависимости </a:t>
            </a:r>
            <a:r>
              <a:rPr lang="en-US" altLang="ru-RU" sz="1400" i="1">
                <a:latin typeface="Arial" panose="020B0604020202020204" pitchFamily="34" charset="0"/>
              </a:rPr>
              <a:t>u</a:t>
            </a:r>
            <a:r>
              <a:rPr lang="ru-RU" altLang="ru-RU" sz="1400" i="1">
                <a:latin typeface="Arial" panose="020B0604020202020204" pitchFamily="34" charset="0"/>
              </a:rPr>
              <a:t>(</a:t>
            </a:r>
            <a:r>
              <a:rPr lang="en-US" altLang="ru-RU" sz="1400" i="1">
                <a:latin typeface="Arial" panose="020B0604020202020204" pitchFamily="34" charset="0"/>
              </a:rPr>
              <a:t>t</a:t>
            </a:r>
            <a:r>
              <a:rPr lang="ru-RU" altLang="ru-RU" sz="1400" i="1">
                <a:latin typeface="Arial" panose="020B0604020202020204" pitchFamily="34" charset="0"/>
              </a:rPr>
              <a:t>), </a:t>
            </a:r>
            <a:r>
              <a:rPr lang="en-US" altLang="ru-RU" sz="1400" i="1">
                <a:latin typeface="Arial" panose="020B0604020202020204" pitchFamily="34" charset="0"/>
              </a:rPr>
              <a:t>i</a:t>
            </a:r>
            <a:r>
              <a:rPr lang="ru-RU" altLang="ru-RU" sz="1400" i="1">
                <a:latin typeface="Arial" panose="020B0604020202020204" pitchFamily="34" charset="0"/>
              </a:rPr>
              <a:t>(</a:t>
            </a:r>
            <a:r>
              <a:rPr lang="en-US" altLang="ru-RU" sz="1400" i="1">
                <a:latin typeface="Arial" panose="020B0604020202020204" pitchFamily="34" charset="0"/>
              </a:rPr>
              <a:t>t</a:t>
            </a:r>
            <a:r>
              <a:rPr lang="ru-RU" altLang="ru-RU" sz="1400" i="1">
                <a:latin typeface="Arial" panose="020B0604020202020204" pitchFamily="34" charset="0"/>
              </a:rPr>
              <a:t>) и </a:t>
            </a:r>
            <a:r>
              <a:rPr lang="en-US" altLang="ru-RU" sz="1400" i="1">
                <a:latin typeface="Arial" panose="020B0604020202020204" pitchFamily="34" charset="0"/>
              </a:rPr>
              <a:t>p</a:t>
            </a:r>
            <a:r>
              <a:rPr lang="ru-RU" altLang="ru-RU" sz="1400" i="1">
                <a:latin typeface="Arial" panose="020B0604020202020204" pitchFamily="34" charset="0"/>
              </a:rPr>
              <a:t>(</a:t>
            </a:r>
            <a:r>
              <a:rPr lang="en-US" altLang="ru-RU" sz="1400" i="1">
                <a:latin typeface="Arial" panose="020B0604020202020204" pitchFamily="34" charset="0"/>
              </a:rPr>
              <a:t>t</a:t>
            </a:r>
            <a:r>
              <a:rPr lang="ru-RU" altLang="ru-RU" sz="1400" i="1">
                <a:latin typeface="Arial" panose="020B0604020202020204" pitchFamily="34" charset="0"/>
              </a:rPr>
              <a:t>) в электрической цепи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с идеальной индуктивностью.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72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1066800"/>
            <a:ext cx="3859213" cy="207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398713" y="3265488"/>
            <a:ext cx="7296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 dirty="0">
                <a:latin typeface="Arial" panose="020B0604020202020204" pitchFamily="34" charset="0"/>
              </a:rPr>
              <a:t>Рис.2.10. Векторные диаграммы электрической цепи.</a:t>
            </a:r>
            <a:endParaRPr lang="ru-RU" altLang="ru-RU" sz="14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400" dirty="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84213" y="3916363"/>
            <a:ext cx="8928100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Определим мгновенное значение мощности</a:t>
            </a:r>
            <a:r>
              <a:rPr lang="ru-RU" altLang="ru-RU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 электрической цепи:</a:t>
            </a:r>
            <a:endParaRPr lang="en-US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 				 (2.26)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Энергия только обменивается между сетью и идеальной индуктивностью.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475" y="4451350"/>
            <a:ext cx="3959225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2680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57626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Электрическая цепь переменного синусоидального тока с идеальной ёмкостью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9600" dirty="0"/>
              <a:t>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00213"/>
            <a:ext cx="3097212" cy="223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539750" y="4076700"/>
            <a:ext cx="2447925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Рис.2.11.</a:t>
            </a:r>
            <a:r>
              <a:rPr lang="ru-RU" altLang="ru-RU" sz="1400" b="1">
                <a:latin typeface="Arial" panose="020B0604020202020204" pitchFamily="34" charset="0"/>
              </a:rPr>
              <a:t> </a:t>
            </a:r>
            <a:r>
              <a:rPr lang="ru-RU" altLang="ru-RU" sz="1400" i="1">
                <a:latin typeface="Arial" panose="020B0604020202020204" pitchFamily="34" charset="0"/>
              </a:rPr>
              <a:t>Электрическая цепь переменного синусоидального тока с идеальной ёмкостью.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Arial" panose="020B0604020202020204" pitchFamily="34" charset="0"/>
              </a:rPr>
              <a:t> </a:t>
            </a:r>
          </a:p>
        </p:txBody>
      </p:sp>
      <p:pic>
        <p:nvPicPr>
          <p:cNvPr id="7" name="Рисунок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1393825"/>
            <a:ext cx="4752975" cy="329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041775" y="4813300"/>
            <a:ext cx="4510088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Рис.2.12. Временные зависимости </a:t>
            </a:r>
            <a:r>
              <a:rPr lang="en-US" altLang="ru-RU" sz="1400" i="1">
                <a:latin typeface="Arial" panose="020B0604020202020204" pitchFamily="34" charset="0"/>
              </a:rPr>
              <a:t>u</a:t>
            </a:r>
            <a:r>
              <a:rPr lang="ru-RU" altLang="ru-RU" sz="1400" i="1">
                <a:latin typeface="Arial" panose="020B0604020202020204" pitchFamily="34" charset="0"/>
              </a:rPr>
              <a:t>(</a:t>
            </a:r>
            <a:r>
              <a:rPr lang="en-US" altLang="ru-RU" sz="1400" i="1">
                <a:latin typeface="Arial" panose="020B0604020202020204" pitchFamily="34" charset="0"/>
              </a:rPr>
              <a:t>t</a:t>
            </a:r>
            <a:r>
              <a:rPr lang="ru-RU" altLang="ru-RU" sz="1400" i="1">
                <a:latin typeface="Arial" panose="020B0604020202020204" pitchFamily="34" charset="0"/>
              </a:rPr>
              <a:t>), </a:t>
            </a:r>
            <a:r>
              <a:rPr lang="en-US" altLang="ru-RU" sz="1400" i="1">
                <a:latin typeface="Arial" panose="020B0604020202020204" pitchFamily="34" charset="0"/>
              </a:rPr>
              <a:t>i</a:t>
            </a:r>
            <a:r>
              <a:rPr lang="ru-RU" altLang="ru-RU" sz="1400" i="1">
                <a:latin typeface="Arial" panose="020B0604020202020204" pitchFamily="34" charset="0"/>
              </a:rPr>
              <a:t>(</a:t>
            </a:r>
            <a:r>
              <a:rPr lang="en-US" altLang="ru-RU" sz="1400" i="1">
                <a:latin typeface="Arial" panose="020B0604020202020204" pitchFamily="34" charset="0"/>
              </a:rPr>
              <a:t>t</a:t>
            </a:r>
            <a:r>
              <a:rPr lang="ru-RU" altLang="ru-RU" sz="1400" i="1">
                <a:latin typeface="Arial" panose="020B0604020202020204" pitchFamily="34" charset="0"/>
              </a:rPr>
              <a:t>) и </a:t>
            </a:r>
            <a:r>
              <a:rPr lang="en-US" altLang="ru-RU" sz="1400" i="1">
                <a:latin typeface="Arial" panose="020B0604020202020204" pitchFamily="34" charset="0"/>
              </a:rPr>
              <a:t>p</a:t>
            </a:r>
            <a:r>
              <a:rPr lang="ru-RU" altLang="ru-RU" sz="1400" i="1">
                <a:latin typeface="Arial" panose="020B0604020202020204" pitchFamily="34" charset="0"/>
              </a:rPr>
              <a:t>(</a:t>
            </a:r>
            <a:r>
              <a:rPr lang="en-US" altLang="ru-RU" sz="1400" i="1">
                <a:latin typeface="Arial" panose="020B0604020202020204" pitchFamily="34" charset="0"/>
              </a:rPr>
              <a:t>t</a:t>
            </a:r>
            <a:r>
              <a:rPr lang="ru-RU" altLang="ru-RU" sz="1400" i="1">
                <a:latin typeface="Arial" panose="020B0604020202020204" pitchFamily="34" charset="0"/>
              </a:rPr>
              <a:t>) в электрической цепи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с идеальной ёмкостью</a:t>
            </a:r>
            <a:endParaRPr lang="ru-RU" altLang="ru-RU" sz="1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349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900113" y="908050"/>
            <a:ext cx="784860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Предположим, что напряжение на входе цепи имеет фазу – π / 2, тогда: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 sin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ωt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π/2).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Определим величину тока в цепи: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           (2.27)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1/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[Ом] – модуль ёмкостного сопротивления.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Определим комплексное ёмкостное сопротивление цепи: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           (2.28)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482850"/>
            <a:ext cx="58356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4221163"/>
            <a:ext cx="475297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0652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836613"/>
            <a:ext cx="223202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76375" y="2420938"/>
            <a:ext cx="7848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Рис.2.13. Векторные диаграммы электрической цепи.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40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07950" y="2944813"/>
            <a:ext cx="8856663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Из соотношения  (2.27) видно, что на участке с ёмкостным сопротивлением напряжение отстаёт от тока по фазе на – π/2  или в градусах на – 90</a:t>
            </a:r>
            <a:r>
              <a:rPr lang="ru-RU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а цепь имеет идеально ёмкостной характер.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Определим мгновенное значение мощности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 электрической цепи: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								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(2.29)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Энергия только обменивается между сетью и идеальной ёмкостью.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0" y="4184650"/>
            <a:ext cx="4271963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2602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57626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Электрическая цепь переменного синусоидального тока с реальной катушкой индуктивности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9600" dirty="0"/>
              <a:t>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268413"/>
            <a:ext cx="3467100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07950" y="3814763"/>
            <a:ext cx="3240088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Рис.2.14.</a:t>
            </a:r>
            <a:r>
              <a:rPr lang="ru-RU" altLang="ru-RU" sz="1400" b="1">
                <a:latin typeface="Arial" panose="020B0604020202020204" pitchFamily="34" charset="0"/>
              </a:rPr>
              <a:t> </a:t>
            </a:r>
            <a:r>
              <a:rPr lang="ru-RU" altLang="ru-RU" sz="1400" i="1">
                <a:latin typeface="Arial" panose="020B0604020202020204" pitchFamily="34" charset="0"/>
              </a:rPr>
              <a:t>Электрическая цепь переменного синусоидального тока с реальной катушкой индуктивности.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000">
              <a:latin typeface="Arial" panose="020B0604020202020204" pitchFamily="34" charset="0"/>
            </a:endParaRPr>
          </a:p>
        </p:txBody>
      </p:sp>
      <p:sp>
        <p:nvSpPr>
          <p:cNvPr id="7" name="TextBox 11"/>
          <p:cNvSpPr txBox="1">
            <a:spLocks noChangeArrowheads="1"/>
          </p:cNvSpPr>
          <p:nvPr/>
        </p:nvSpPr>
        <p:spPr bwMode="auto">
          <a:xfrm>
            <a:off x="3708400" y="1557338"/>
            <a:ext cx="5256213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Реальная катушка индуктивности имеет и индуктивное и активное сопротивления.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Запишем в комплексной форме уравнение для данной цепи по II закону Кирхгофа:</a:t>
            </a: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R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+ jX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(R + jX</a:t>
            </a:r>
            <a:r>
              <a:rPr lang="en-US" altLang="ru-RU" sz="1800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),          (2.30) 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полное комплексное сопротивление реальной катушки индуктивности можно определить как: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endParaRPr lang="en-US" altLang="ru-R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				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(2.31)</a:t>
            </a:r>
            <a:r>
              <a:rPr lang="en-US" altLang="ru-RU" sz="1800">
                <a:latin typeface="Arial" panose="020B0604020202020204" pitchFamily="34" charset="0"/>
              </a:rPr>
              <a:t>	</a:t>
            </a: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113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25538"/>
            <a:ext cx="2447925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84188" y="2828925"/>
            <a:ext cx="27368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Рис.2.15. Векторная диаграмма электрической цепи.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95288" y="3644900"/>
            <a:ext cx="4392612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Согласно (2.30) можно построить на комплексной плоскости векторную диаграмму напряжений и треугольник сопротивлений для данной электрической цепи.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1104900"/>
            <a:ext cx="2376488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364163" y="2781300"/>
            <a:ext cx="31686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Рис.2.16. Треугольник сопротивлений электрической цепи.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787900" y="3497263"/>
            <a:ext cx="4211638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Из треугольников на рис. 2.15 и рис. 2.16 по теореме Пифагора можно определить модули  напряжений и сопротивлений, а также угол φ: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= U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+ U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Z</a:t>
            </a:r>
            <a:r>
              <a:rPr lang="en-US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= R</a:t>
            </a:r>
            <a:r>
              <a:rPr lang="en-US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+ X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(2.32)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 (2.33)</a:t>
            </a:r>
          </a:p>
        </p:txBody>
      </p:sp>
      <p:pic>
        <p:nvPicPr>
          <p:cNvPr id="10" name="Рисунок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963" y="5184775"/>
            <a:ext cx="312102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5348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57626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Последовательное соединение 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R, L, C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элементов в цепи переменного тока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9600" dirty="0"/>
              <a:t>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323850" y="1268413"/>
            <a:ext cx="828040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Запишем уравнение по II закону Кирхгофа: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 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[R + j(X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X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)], 			(2.34)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 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Х – модуль реактивного сопротивления цепи,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[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[Ом] – полное комплексное сопротивления цепи</a:t>
            </a:r>
            <a:r>
              <a:rPr lang="ru-RU" altLang="ru-RU" sz="1800" dirty="0">
                <a:latin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6" name="Рисунок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2601913"/>
            <a:ext cx="2663825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306388" y="4516438"/>
            <a:ext cx="8442325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i="1">
                <a:latin typeface="Arial" panose="020B0604020202020204" pitchFamily="34" charset="0"/>
              </a:rPr>
              <a:t>Рис.2.17.</a:t>
            </a:r>
            <a:r>
              <a:rPr lang="ru-RU" altLang="ru-RU" sz="1600" b="1">
                <a:latin typeface="Arial" panose="020B0604020202020204" pitchFamily="34" charset="0"/>
              </a:rPr>
              <a:t> </a:t>
            </a:r>
            <a:r>
              <a:rPr lang="ru-RU" altLang="ru-RU" sz="1600" i="1">
                <a:latin typeface="Arial" panose="020B0604020202020204" pitchFamily="34" charset="0"/>
              </a:rPr>
              <a:t>Электрическая цепь переменного синусоидального тока с последовательным соединением </a:t>
            </a:r>
            <a:r>
              <a:rPr lang="en-US" altLang="ru-RU" sz="1600" i="1">
                <a:latin typeface="Arial" panose="020B0604020202020204" pitchFamily="34" charset="0"/>
              </a:rPr>
              <a:t>R</a:t>
            </a:r>
            <a:r>
              <a:rPr lang="ru-RU" altLang="ru-RU" sz="1600" i="1">
                <a:latin typeface="Arial" panose="020B0604020202020204" pitchFamily="34" charset="0"/>
              </a:rPr>
              <a:t>, </a:t>
            </a:r>
            <a:r>
              <a:rPr lang="en-US" altLang="ru-RU" sz="1600" i="1">
                <a:latin typeface="Arial" panose="020B0604020202020204" pitchFamily="34" charset="0"/>
              </a:rPr>
              <a:t>L</a:t>
            </a:r>
            <a:r>
              <a:rPr lang="ru-RU" altLang="ru-RU" sz="1600" i="1">
                <a:latin typeface="Arial" panose="020B0604020202020204" pitchFamily="34" charset="0"/>
              </a:rPr>
              <a:t>, </a:t>
            </a:r>
            <a:r>
              <a:rPr lang="en-US" altLang="ru-RU" sz="1600" i="1">
                <a:latin typeface="Arial" panose="020B0604020202020204" pitchFamily="34" charset="0"/>
              </a:rPr>
              <a:t>C</a:t>
            </a:r>
            <a:r>
              <a:rPr lang="ru-RU" altLang="ru-RU" sz="1600" i="1">
                <a:latin typeface="Arial" panose="020B0604020202020204" pitchFamily="34" charset="0"/>
              </a:rPr>
              <a:t> элементов.</a:t>
            </a:r>
            <a:endParaRPr lang="ru-RU" altLang="ru-RU" sz="160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962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323850" y="908050"/>
            <a:ext cx="8424863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векторной диаграммы на рис. 2.18 найдём модули напряжений и сопротивлений, а также угол φ: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 </a:t>
            </a:r>
            <a:endParaRPr lang="en-US" altLang="ru-RU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Arial" panose="020B0604020202020204" pitchFamily="34" charset="0"/>
              </a:rPr>
              <a:t>								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(2.35)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363" y="1557338"/>
            <a:ext cx="575945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975" y="2514600"/>
            <a:ext cx="2546350" cy="213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239838" y="4797425"/>
            <a:ext cx="7219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i="1">
                <a:latin typeface="Arial" panose="020B0604020202020204" pitchFamily="34" charset="0"/>
              </a:rPr>
              <a:t>Рис.2.18. Векторная диаграмма электрической цепи с активно - индуктивным характером</a:t>
            </a:r>
            <a:endParaRPr lang="ru-RU" altLang="ru-RU" sz="16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709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755650" y="981075"/>
            <a:ext cx="806450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Анализируя полученные формулы, можно констатировать, что все представленные величины зависят от разности 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В результате появляются три соотношения: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	1.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С,              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С,              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С.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эти три случая.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С.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случае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угол φ &gt; 0, в электрической цепи напряжение будет опережать ток на угол φ, а сама цепь будет носить активно - индуктивный характер (см. рис. 2. 18).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589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755650" y="1125538"/>
            <a:ext cx="838835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С.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случае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угол φ &lt; 0, в электрической цепи напряжение будет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отставать от тока на угол φ, а сама цепь будет носить активно - ёмкостной характер (см. рис. 2. 19).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2714625"/>
            <a:ext cx="2881313" cy="192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11188" y="4792663"/>
            <a:ext cx="8424862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Рис.2.19. Векторная диаграмма электрической цепи с активно - ёмкостным характером</a:t>
            </a:r>
            <a:r>
              <a:rPr lang="ru-RU" altLang="ru-RU" sz="1800" i="1">
                <a:latin typeface="Arial" panose="020B0604020202020204" pitchFamily="34" charset="0"/>
              </a:rPr>
              <a:t>.</a:t>
            </a:r>
            <a:endParaRPr lang="ru-RU" altLang="ru-RU" sz="18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766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827088" y="908050"/>
            <a:ext cx="7848600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С.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режим резонанса напряжений.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случае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угол φ = 0, в электрической цепи напряжение будет совпадать по фазе с током, а сама цепь будет носить активный характер (см. рис. 2. 20).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признаки, характеризующие появление в цепи резонанса напряжений.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а.   Определим   резонансную  частоту.  Из  соотношения 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получим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1/ω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тогда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Arial" panose="020B0604020202020204" pitchFamily="34" charset="0"/>
              </a:rPr>
              <a:t>							       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(2.36)</a:t>
            </a:r>
            <a:r>
              <a:rPr lang="en-US" altLang="ru-RU" sz="1800" dirty="0">
                <a:latin typeface="Arial" panose="020B0604020202020204" pitchFamily="34" charset="0"/>
              </a:rPr>
              <a:t>	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2905125"/>
            <a:ext cx="4105275" cy="58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3789363"/>
            <a:ext cx="3024187" cy="189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4751388" y="4738688"/>
            <a:ext cx="3673475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Рис.2.20. Векторная диаграмма электрической цепи в режиме резонанса напряжений.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286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900113" y="908050"/>
            <a:ext cx="7920037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б. При угле φ = 0,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 = 1,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[Ом] цепь имеет минимальное значение и носит активный характер.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в.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ток при резонансе напряжений будет иметь максимальное значение.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г.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cos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 =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sin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 = 0 – полная мощность равна активной мощности цепи.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д.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нельзя использовать на практике, так как приборами невозможно измерить составляющую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реальной катушки из-за наличия в ней сопротивления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539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22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752475"/>
            <a:ext cx="3744913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543050" y="4784725"/>
            <a:ext cx="3168650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Рис.2.21. Резонансные кривые зависимостей </a:t>
            </a:r>
            <a:r>
              <a:rPr lang="en-US" altLang="ru-RU" sz="1400" i="1">
                <a:latin typeface="Arial" panose="020B0604020202020204" pitchFamily="34" charset="0"/>
              </a:rPr>
              <a:t>I</a:t>
            </a:r>
            <a:r>
              <a:rPr lang="ru-RU" altLang="ru-RU" sz="1400" i="1">
                <a:latin typeface="Arial" panose="020B0604020202020204" pitchFamily="34" charset="0"/>
              </a:rPr>
              <a:t>, </a:t>
            </a:r>
            <a:r>
              <a:rPr lang="en-US" altLang="ru-RU" sz="1400" i="1">
                <a:latin typeface="Arial" panose="020B0604020202020204" pitchFamily="34" charset="0"/>
              </a:rPr>
              <a:t>U</a:t>
            </a:r>
            <a:r>
              <a:rPr lang="en-US" altLang="ru-RU" sz="1400" i="1" baseline="-25000">
                <a:latin typeface="Arial" panose="020B0604020202020204" pitchFamily="34" charset="0"/>
              </a:rPr>
              <a:t>L</a:t>
            </a:r>
            <a:r>
              <a:rPr lang="ru-RU" altLang="ru-RU" sz="1400" i="1">
                <a:latin typeface="Arial" panose="020B0604020202020204" pitchFamily="34" charset="0"/>
              </a:rPr>
              <a:t>,,</a:t>
            </a:r>
            <a:r>
              <a:rPr lang="ru-RU" altLang="ru-RU" sz="1400" i="1" baseline="-25000">
                <a:latin typeface="Arial" panose="020B0604020202020204" pitchFamily="34" charset="0"/>
              </a:rPr>
              <a:t> </a:t>
            </a:r>
            <a:r>
              <a:rPr lang="en-US" altLang="ru-RU" sz="1400" i="1">
                <a:latin typeface="Arial" panose="020B0604020202020204" pitchFamily="34" charset="0"/>
              </a:rPr>
              <a:t>U</a:t>
            </a:r>
            <a:r>
              <a:rPr lang="ru-RU" altLang="ru-RU" sz="1400" i="1" baseline="-25000">
                <a:latin typeface="Arial" panose="020B0604020202020204" pitchFamily="34" charset="0"/>
              </a:rPr>
              <a:t>С   </a:t>
            </a:r>
            <a:r>
              <a:rPr lang="ru-RU" altLang="ru-RU" sz="1400" i="1">
                <a:latin typeface="Arial" panose="020B0604020202020204" pitchFamily="34" charset="0"/>
              </a:rPr>
              <a:t>от частоты и фазочастотная характеристика φ(ω).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932363" y="981075"/>
            <a:ext cx="3816350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Превышение напряжения на реактивных элементах по отношению к напряжению источника имеет место при 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&lt; ω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1/ω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Сопротивление реактивного элемента при резонансной частоте называется характеристическим сопротивлением последовательного контура:</a:t>
            </a: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	   (2.37)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3860800"/>
            <a:ext cx="23050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1272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900113" y="1125538"/>
            <a:ext cx="7993062" cy="535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Отношение характеристического сопротивления к активному сопротивлению контура называется добротностью последовательного контура: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     	(2.38)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Обратная величина добротности называется затуханием цепи: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(2.39)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резонансе суммарная энергия, запасённая в полях цепи постоянна и равна максимальной энергии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элементов: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(2.40)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Колебания энергии в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элементах противоположны по фазе при полном обмене энергиями между ними.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1776413"/>
            <a:ext cx="2736850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2598738"/>
            <a:ext cx="11525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Рисунок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3644900"/>
            <a:ext cx="3673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501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2738</TotalTime>
  <Words>959</Words>
  <Application>Microsoft Office PowerPoint</Application>
  <PresentationFormat>Экран (4:3)</PresentationFormat>
  <Paragraphs>254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PT Sans</vt:lpstr>
      <vt:lpstr>Times New Roman</vt:lpstr>
      <vt:lpstr>Специальное оформление</vt:lpstr>
      <vt:lpstr>Электротехника   Москва, 2025-2026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User</cp:lastModifiedBy>
  <cp:revision>109</cp:revision>
  <dcterms:created xsi:type="dcterms:W3CDTF">2015-07-29T11:14:37Z</dcterms:created>
  <dcterms:modified xsi:type="dcterms:W3CDTF">2025-09-22T07:18:02Z</dcterms:modified>
</cp:coreProperties>
</file>