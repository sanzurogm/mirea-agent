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1" r:id="rId1"/>
    <p:sldMasterId id="2147483673" r:id="rId2"/>
  </p:sldMasterIdLst>
  <p:notesMasterIdLst>
    <p:notesMasterId r:id="rId14"/>
  </p:notesMasterIdLst>
  <p:sldIdLst>
    <p:sldId id="325" r:id="rId3"/>
    <p:sldId id="293" r:id="rId4"/>
    <p:sldId id="294" r:id="rId5"/>
    <p:sldId id="326" r:id="rId6"/>
    <p:sldId id="327" r:id="rId7"/>
    <p:sldId id="328" r:id="rId8"/>
    <p:sldId id="329" r:id="rId9"/>
    <p:sldId id="330" r:id="rId10"/>
    <p:sldId id="331" r:id="rId11"/>
    <p:sldId id="332" r:id="rId12"/>
    <p:sldId id="264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82C1"/>
    <a:srgbClr val="295CA8"/>
    <a:srgbClr val="C60A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inimized">
    <p:restoredLeft sz="5808" autoAdjust="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-195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1C9240-0B00-47F5-8315-EA25A5DD21D4}" type="datetimeFigureOut">
              <a:rPr lang="ru-RU" smtClean="0"/>
              <a:t>27.06.2026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FE969A-3B85-41F0-B329-9B9FD47284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5821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 (укажите корпоративную почту)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DCB871D2-25B0-448C-80C6-D62A08D94E97}" type="datetime1">
              <a:rPr lang="en-US" smtClean="0"/>
              <a:t>6/27/2026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450127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DA0D15EA-F46C-4827-B7EA-97593F313E8E}" type="datetime1">
              <a:rPr lang="en-US" smtClean="0"/>
              <a:t>6/27/2026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93D961C8-81F0-CCE5-93CC-B19775D0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5662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B4E48A99-5F05-4D77-81C7-5AA7E39ED88A}" type="datetime1">
              <a:rPr lang="en-US" smtClean="0"/>
              <a:t>6/27/2026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E1400F3A-7B5E-E986-3C8D-D7E3ED3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79360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40862930-79B4-4CB1-AFB3-68C345192A83}" type="datetime1">
              <a:rPr lang="en-US" smtClean="0"/>
              <a:t>6/27/2026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EF9E7562-4C64-9200-F7CF-81A74263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8025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3087BD15-8EC4-4859-8441-4B361B08C53D}" type="datetime1">
              <a:rPr lang="en-US" smtClean="0"/>
              <a:t>6/27/2026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xmlns="" id="{E5425750-DBEE-C9FA-18B0-C2B675CD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60551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0" y="6479279"/>
            <a:ext cx="2057400" cy="365125"/>
          </a:xfrm>
          <a:prstGeom prst="rect">
            <a:avLst/>
          </a:prstGeom>
        </p:spPr>
        <p:txBody>
          <a:bodyPr/>
          <a:lstStyle/>
          <a:p>
            <a:fld id="{DB9CD66F-39BB-4206-A809-14CED26CA744}" type="datetime1">
              <a:rPr lang="en-US" smtClean="0"/>
              <a:t>6/27/2026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793138ED-5AEE-374B-DA65-577499A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1443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86D25D0D-EF31-4530-9D89-AE3F619918A9}" type="datetime1">
              <a:rPr lang="en-US" smtClean="0"/>
              <a:t>6/27/2026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xmlns="" id="{C6E3F1F6-F4B3-5413-F4E6-75040627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002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EF359388-46AA-4B0F-925D-677914BD9B15}" type="datetime1">
              <a:rPr lang="en-US" smtClean="0"/>
              <a:t>6/27/2026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5FB1CCC7-B864-78A0-9F73-303C670C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5043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4DD8B233-E4CE-43C8-99C2-AFE9ED71A887}" type="datetime1">
              <a:rPr lang="en-US" smtClean="0"/>
              <a:t>6/27/2026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230D5446-F2F2-0154-0DE9-748F5C6A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1901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8521"/>
            <a:ext cx="2057400" cy="365125"/>
          </a:xfrm>
          <a:prstGeom prst="rect">
            <a:avLst/>
          </a:prstGeom>
        </p:spPr>
        <p:txBody>
          <a:bodyPr/>
          <a:lstStyle/>
          <a:p>
            <a:fld id="{7F9AF166-A5E1-4829-A893-2E20E1862B05}" type="datetime1">
              <a:rPr lang="en-US" smtClean="0"/>
              <a:t>6/27/2026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CBE747CD-7B95-E158-1FF1-A9DC911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1671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6946CF6E-A483-4D0A-997D-D6DFBCCE0472}" type="datetime1">
              <a:rPr lang="en-US" smtClean="0"/>
              <a:t>6/27/2026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02BFF0C1-3C6E-5090-459F-707F4031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53326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 (укажите корпоративную почту)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DCB871D2-25B0-448C-80C6-D62A08D94E97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61450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DA0D15EA-F46C-4827-B7EA-97593F313E8E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93D961C8-81F0-CCE5-93CC-B19775D0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00565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B4E48A99-5F05-4D77-81C7-5AA7E39ED88A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E1400F3A-7B5E-E986-3C8D-D7E3ED3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89861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40862930-79B4-4CB1-AFB3-68C345192A83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EF9E7562-4C64-9200-F7CF-81A74263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27468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3087BD15-8EC4-4859-8441-4B361B08C53D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xmlns="" id="{E5425750-DBEE-C9FA-18B0-C2B675CD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24176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0" y="6479279"/>
            <a:ext cx="2057400" cy="365125"/>
          </a:xfrm>
          <a:prstGeom prst="rect">
            <a:avLst/>
          </a:prstGeom>
        </p:spPr>
        <p:txBody>
          <a:bodyPr/>
          <a:lstStyle/>
          <a:p>
            <a:fld id="{DB9CD66F-39BB-4206-A809-14CED26CA744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793138ED-5AEE-374B-DA65-577499A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5831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86D25D0D-EF31-4530-9D89-AE3F619918A9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xmlns="" id="{C6E3F1F6-F4B3-5413-F4E6-75040627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40310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EF359388-46AA-4B0F-925D-677914BD9B15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5FB1CCC7-B864-78A0-9F73-303C670C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5698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4DD8B233-E4CE-43C8-99C2-AFE9ED71A887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230D5446-F2F2-0154-0DE9-748F5C6A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38815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8521"/>
            <a:ext cx="2057400" cy="365125"/>
          </a:xfrm>
          <a:prstGeom prst="rect">
            <a:avLst/>
          </a:prstGeom>
        </p:spPr>
        <p:txBody>
          <a:bodyPr/>
          <a:lstStyle/>
          <a:p>
            <a:fld id="{7F9AF166-A5E1-4829-A893-2E20E1862B05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CBE747CD-7B95-E158-1FF1-A9DC911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41906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6946CF6E-A483-4D0A-997D-D6DFBCCE0472}" type="datetime1">
              <a:rPr lang="en-US" smtClean="0">
                <a:solidFill>
                  <a:prstClr val="black"/>
                </a:solidFill>
              </a:rPr>
              <a:pPr/>
              <a:t>6/27/2026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02BFF0C1-3C6E-5090-459F-707F4031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6868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1868556" y="48476"/>
            <a:ext cx="54068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sz="1600" b="1" dirty="0">
                <a:solidFill>
                  <a:srgbClr val="0070C0"/>
                </a:solidFill>
                <a:latin typeface="PT Sans"/>
              </a:rPr>
              <a:t>МИРЭА - Российский технологический университет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158656" y="79253"/>
            <a:ext cx="889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PT Sans"/>
              </a:rPr>
              <a:t>mirea.ru</a:t>
            </a:r>
            <a:endParaRPr lang="ru-RU" sz="1400" b="1" dirty="0">
              <a:solidFill>
                <a:srgbClr val="0070C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" y="56596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840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2" r:id="rId2"/>
    <p:sldLayoutId id="2147483663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1868556" y="48476"/>
            <a:ext cx="54068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0070C0"/>
                </a:solidFill>
                <a:latin typeface="PT Sans"/>
              </a:rPr>
              <a:t>МИРЭА - Российский технологический университет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158656" y="79253"/>
            <a:ext cx="889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PT Sans"/>
              </a:rPr>
              <a:t>mirea.ru</a:t>
            </a:r>
            <a:endParaRPr lang="ru-RU" sz="1400" b="1" dirty="0">
              <a:solidFill>
                <a:srgbClr val="0070C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" y="56596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884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43000" y="2057399"/>
            <a:ext cx="6858000" cy="2708565"/>
          </a:xfrm>
        </p:spPr>
        <p:txBody>
          <a:bodyPr/>
          <a:lstStyle/>
          <a:p>
            <a:pPr algn="l"/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ДИСЦИЛИНА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Наземная инфраструктура как сложная техническая система</a:t>
            </a: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ИНСТИТУТ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ИПТИП</a:t>
            </a: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КАФЕДРА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индустриального программирования</a:t>
            </a: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ВИД УЧЕБНОГО МАТЕРИАЛА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Лекция</a:t>
            </a: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ПРЕПОДАВАТЕЛЬ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Ризаева Юлия Николаевна</a:t>
            </a: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СЕМЕСТР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3, 2026-2027 уч. г.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dirty="0">
                <a:latin typeface="Times New Roman" pitchFamily="18" charset="0"/>
                <a:cs typeface="Times New Roman" pitchFamily="18" charset="0"/>
              </a:rPr>
            </a:b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</a:t>
            </a:fld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2041237" y="855231"/>
            <a:ext cx="5562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prstClr val="black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Титульный лист материалов по дисциплине</a:t>
            </a:r>
            <a:br>
              <a:rPr lang="ru-RU" sz="2000" b="1" dirty="0">
                <a:solidFill>
                  <a:prstClr val="black"/>
                </a:solidFill>
                <a:latin typeface="Times New Roman" pitchFamily="18" charset="0"/>
                <a:ea typeface="+mj-ea"/>
                <a:cs typeface="Times New Roman" pitchFamily="18" charset="0"/>
              </a:rPr>
            </a:b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val="2263996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9">
            <a:extLst>
              <a:ext uri="{FF2B5EF4-FFF2-40B4-BE49-F238E27FC236}">
                <a16:creationId xmlns:a16="http://schemas.microsoft.com/office/drawing/2014/main" xmlns="" id="{4C6D146A-8A1D-466F-95B0-D4B5B952F6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3450118"/>
            <a:ext cx="7372350" cy="1452563"/>
          </a:xfrm>
        </p:spPr>
        <p:txBody>
          <a:bodyPr/>
          <a:lstStyle/>
          <a:p>
            <a:r>
              <a:rPr lang="ru-RU" sz="4400" b="0" dirty="0">
                <a:latin typeface="Times New Roman" pitchFamily="18" charset="0"/>
                <a:cs typeface="Times New Roman" pitchFamily="18" charset="0"/>
              </a:rPr>
              <a:t>Организация выделенных полос движения в городских и пригородных зонах наземной инфраструктуры. АСУДД, ИТС и ЕПУТС</a:t>
            </a:r>
          </a:p>
        </p:txBody>
      </p:sp>
      <p:sp>
        <p:nvSpPr>
          <p:cNvPr id="11" name="Подзаголовок 10">
            <a:extLst>
              <a:ext uri="{FF2B5EF4-FFF2-40B4-BE49-F238E27FC236}">
                <a16:creationId xmlns:a16="http://schemas.microsoft.com/office/drawing/2014/main" xmlns="" id="{C1B65F80-40E4-4163-81DA-43F424C0AE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Лекция 7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A172C6BE-6279-1472-C916-7648D9F11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0878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528128"/>
            <a:ext cx="7886700" cy="1325563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План лекции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730250" y="1305438"/>
            <a:ext cx="7886700" cy="4608461"/>
          </a:xfrm>
        </p:spPr>
        <p:txBody>
          <a:bodyPr/>
          <a:lstStyle/>
          <a:p>
            <a:pPr marL="514350" indent="-51435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dirty="0">
                <a:latin typeface="Times New Roman"/>
                <a:ea typeface="Times New Roman"/>
              </a:rPr>
              <a:t>Определение ВПД. </a:t>
            </a:r>
            <a:endParaRPr lang="ru-RU" dirty="0" smtClean="0">
              <a:latin typeface="Times New Roman"/>
              <a:ea typeface="Times New Roman"/>
            </a:endParaRPr>
          </a:p>
          <a:p>
            <a:pPr marL="514350" indent="-51435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dirty="0" smtClean="0">
                <a:latin typeface="Times New Roman"/>
                <a:ea typeface="Times New Roman"/>
              </a:rPr>
              <a:t>Политика </a:t>
            </a:r>
            <a:r>
              <a:rPr lang="ru-RU" dirty="0">
                <a:latin typeface="Times New Roman"/>
                <a:ea typeface="Times New Roman"/>
              </a:rPr>
              <a:t>поощрения. </a:t>
            </a:r>
            <a:endParaRPr lang="ru-RU" dirty="0" smtClean="0">
              <a:latin typeface="Times New Roman"/>
              <a:ea typeface="Times New Roman"/>
            </a:endParaRPr>
          </a:p>
          <a:p>
            <a:pPr marL="514350" indent="-51435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dirty="0" smtClean="0">
                <a:latin typeface="Times New Roman"/>
                <a:ea typeface="Times New Roman"/>
              </a:rPr>
              <a:t>Достоинства </a:t>
            </a:r>
            <a:r>
              <a:rPr lang="ru-RU" dirty="0">
                <a:latin typeface="Times New Roman"/>
                <a:ea typeface="Times New Roman"/>
              </a:rPr>
              <a:t>и недостатки ВПД. </a:t>
            </a:r>
            <a:endParaRPr lang="ru-RU" dirty="0" smtClean="0">
              <a:latin typeface="Times New Roman"/>
              <a:ea typeface="Times New Roman"/>
            </a:endParaRPr>
          </a:p>
          <a:p>
            <a:pPr marL="514350" indent="-51435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dirty="0" smtClean="0">
                <a:latin typeface="Times New Roman"/>
                <a:ea typeface="Times New Roman"/>
              </a:rPr>
              <a:t>Конструкция </a:t>
            </a:r>
            <a:r>
              <a:rPr lang="ru-RU" dirty="0">
                <a:latin typeface="Times New Roman"/>
                <a:ea typeface="Times New Roman"/>
              </a:rPr>
              <a:t>ВПД. </a:t>
            </a:r>
            <a:endParaRPr lang="ru-RU" dirty="0" smtClean="0">
              <a:latin typeface="Times New Roman"/>
              <a:ea typeface="Times New Roman"/>
            </a:endParaRPr>
          </a:p>
          <a:p>
            <a:pPr marL="514350" indent="-51435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dirty="0" smtClean="0">
                <a:latin typeface="Times New Roman"/>
                <a:ea typeface="Times New Roman"/>
              </a:rPr>
              <a:t>Определение </a:t>
            </a:r>
            <a:r>
              <a:rPr lang="ru-RU" dirty="0">
                <a:latin typeface="Times New Roman"/>
                <a:ea typeface="Times New Roman"/>
              </a:rPr>
              <a:t>АСУДД, ИТС, ЕПУТС и их ключевые различия. </a:t>
            </a:r>
            <a:endParaRPr lang="ru-RU" dirty="0" smtClean="0">
              <a:latin typeface="Times New Roman"/>
              <a:ea typeface="Times New Roman"/>
            </a:endParaRPr>
          </a:p>
          <a:p>
            <a:pPr marL="514350" indent="-51435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dirty="0" smtClean="0">
                <a:latin typeface="Times New Roman"/>
                <a:ea typeface="Times New Roman"/>
              </a:rPr>
              <a:t>Цели</a:t>
            </a:r>
            <a:r>
              <a:rPr lang="ru-RU" dirty="0">
                <a:latin typeface="Times New Roman"/>
                <a:ea typeface="Times New Roman"/>
              </a:rPr>
              <a:t>, задачи и польза АСУДД. </a:t>
            </a:r>
            <a:endParaRPr lang="ru-RU" dirty="0" smtClean="0">
              <a:latin typeface="Times New Roman"/>
              <a:ea typeface="Times New Roman"/>
            </a:endParaRPr>
          </a:p>
          <a:p>
            <a:pPr marL="514350" indent="-51435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dirty="0" smtClean="0">
                <a:latin typeface="Times New Roman"/>
                <a:ea typeface="Times New Roman"/>
              </a:rPr>
              <a:t>Типичные </a:t>
            </a:r>
            <a:r>
              <a:rPr lang="ru-RU" dirty="0">
                <a:latin typeface="Times New Roman"/>
                <a:ea typeface="Times New Roman"/>
              </a:rPr>
              <a:t>проблемы организации, мониторинга и управления движением, которые призвана решить АСУДД. АСУДД. </a:t>
            </a:r>
            <a:endParaRPr lang="ru-RU" dirty="0" smtClean="0">
              <a:latin typeface="Times New Roman"/>
              <a:ea typeface="Times New Roman"/>
            </a:endParaRPr>
          </a:p>
          <a:p>
            <a:pPr marL="514350" indent="-51435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dirty="0" smtClean="0">
                <a:latin typeface="Times New Roman"/>
                <a:ea typeface="Times New Roman"/>
              </a:rPr>
              <a:t>Российский </a:t>
            </a:r>
            <a:r>
              <a:rPr lang="ru-RU" dirty="0">
                <a:latin typeface="Times New Roman"/>
                <a:ea typeface="Times New Roman"/>
              </a:rPr>
              <a:t>и мировой опыт.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0065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8141" y="373347"/>
            <a:ext cx="7886700" cy="748872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Определение ВПД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18655" y="999745"/>
            <a:ext cx="8626186" cy="2519310"/>
          </a:xfrm>
        </p:spPr>
        <p:txBody>
          <a:bodyPr/>
          <a:lstStyle/>
          <a:p>
            <a:pPr marL="0" indent="0" algn="just">
              <a:buNone/>
            </a:pPr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Выделенная платная полоса (НОV-полоса или экспресс, «горячая» полоса)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- это тип полос движения или проезжей части, которая предназначена для автомобилей с большим числом пассажиров для движения на бесплатной основе (включая школьные автобусы и транзитные автобусы).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Другие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транспортные средства обязаны уплачивать переменную плату, которая корректируется в зависимости от спроса.</a:t>
            </a:r>
          </a:p>
          <a:p>
            <a:pPr marL="0" indent="0" algn="just">
              <a:buNone/>
            </a:pP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4</a:t>
            </a:fld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318655" y="3616037"/>
            <a:ext cx="4170218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High Occupancy Toll (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НОТ)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-</a:t>
            </a:r>
          </a:p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плата за пользование НО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V-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полосой</a:t>
            </a:r>
          </a:p>
          <a:p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High-occupancy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vehicle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lan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(HOV)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- автомобильные полосы движения с высокой занятостью</a:t>
            </a:r>
          </a:p>
        </p:txBody>
      </p:sp>
      <p:sp>
        <p:nvSpPr>
          <p:cNvPr id="6" name="AutoShape 2" descr="https://yandex-images.clstorage.net/iNMW98357/dc3a69BPwK/jS3FcaWGjxcSrrkC5T_XSD0N2kqc9k-Df_l1qGSse_OajIWpthVsBfRqkkM9RHcK7ginuRx3gaG7EhAtNRznWM56gj3hw5FCROmhVu080kogUJlbgKxL3mW7KfF3oHCsm4y-x5U2S26KDbo1R25rCbMN9PACPZCb1AI_AVZCvgWVFtRFgJr0Djez9hLtFdZEPWb1fo28Suxb1B3SUPxy4sXPg8y_PUx-ohygIUxMXgC8A8XqTx-QoedoNAVvXYYbqijdXrC46CAsvN0c4BLFazFn4GmurE_aXc0v2H7pcMLuy6r1tgN8dZULixF0b0A8mwPC_XUXnIbFTAQfammKO7gU1Em0tPMzJqfRN-8X60IcSeJchrRz9FfEAdlTyF3o-_aq0Zo8Q1aELpgkSWtZDIgs1-ltAZWXwFEQNUdEowWqIf9YurbjDh6y3gPPJflMBmnFXLyNXtlz0iPfU9RS9sHoj9euIGVTjh6_FkFHZyqUOvTsaDeuhvF3ECRTe6UNnRnkSbijzBEluuUQ_hTwWAFu906ZsU7UQOQ-3kbded_D-JbvvwB7fYcYvyFgT0Mcvi_i3V8lg5XMRT8ceXOABoIH9VSmjecABLX_I88j4XcVRdVtuYBS5HnvKsZGzkvV_e-S3J8yXmW_K7UeQ0xYD5Ug_upUG72u_Wo_OGRHmx6aBdxYlZ_VORe77jDOEPxGBkbZYKGXRd95-wbbdsFu9uL6ouCxAmJngDuQE1ZwRDikJ8LCRR2wlfJBJB93SKc6uATjYJiM0TggvuYL5xLRRR1rx3aGrnTRXdgY10vyXP3P_rvomRBQZY8-hD1DSl8ikzrj5EMOpKLoZBAbRWC6JL8F4GCkpsQDGYzQP_w2-XQxQPpYj7dUzVXfIfBN-Gzk392Y0JgAR363Hbg-aHhjMJAZw8xuOoqA-nUDCmtHnzOXLstznLPVKiyW4iHPE_ZXCGbDVaegYuR4yCfybd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487612"/>
            <a:ext cx="3726873" cy="25537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Прямоугольник 6"/>
          <p:cNvSpPr/>
          <p:nvPr/>
        </p:nvSpPr>
        <p:spPr>
          <a:xfrm>
            <a:off x="4572000" y="5986445"/>
            <a:ext cx="4572000" cy="80021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HOV 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3+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Полосы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для водителей с пассажирами на американских шоссе</a:t>
            </a:r>
          </a:p>
        </p:txBody>
      </p:sp>
    </p:spTree>
    <p:extLst>
      <p:ext uri="{BB962C8B-B14F-4D97-AF65-F5344CB8AC3E}">
        <p14:creationId xmlns:p14="http://schemas.microsoft.com/office/powerpoint/2010/main" val="734300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02722" y="373346"/>
            <a:ext cx="7886700" cy="721163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Политика поощрения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4580019"/>
              </p:ext>
            </p:extLst>
          </p:nvPr>
        </p:nvGraphicFramePr>
        <p:xfrm>
          <a:off x="564573" y="1291070"/>
          <a:ext cx="813608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36082"/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>
                          <a:latin typeface="Times New Roman" pitchFamily="18" charset="0"/>
                          <a:cs typeface="Times New Roman" pitchFamily="18" charset="0"/>
                        </a:rPr>
                        <a:t>Выделение отдельных полос , куда можно въезжать,</a:t>
                      </a:r>
                      <a:r>
                        <a:rPr lang="ru-RU" sz="24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 если в машине есть еще пассажиры, либо есть возможность оплаты</a:t>
                      </a:r>
                      <a:endParaRPr lang="ru-RU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0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НОV-полосы зарезервированы для </a:t>
                      </a:r>
                      <a:r>
                        <a:rPr lang="ru-RU" sz="2400" b="1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общественного транспорта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0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НОV-полосы зарезервированы для </a:t>
                      </a:r>
                      <a:r>
                        <a:rPr lang="ru-RU" sz="2400" b="1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автомобилей с большим количеством пассажиров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1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Мотоциклы </a:t>
                      </a:r>
                      <a:r>
                        <a:rPr lang="ru-RU" sz="2400" b="0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(иногда такси и велосипеды) могут также использовать эти полосы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0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Стимулирование </a:t>
                      </a:r>
                      <a:r>
                        <a:rPr lang="ru-RU" sz="2400" b="1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экологического транспорта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16595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02723" y="373346"/>
            <a:ext cx="7886700" cy="707309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Достоинства ВПД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6</a:t>
            </a:fld>
            <a:endParaRPr lang="ru-RU" dirty="0"/>
          </a:p>
        </p:txBody>
      </p:sp>
      <p:graphicFrame>
        <p:nvGraphicFramePr>
          <p:cNvPr id="6" name="Объект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4745327"/>
              </p:ext>
            </p:extLst>
          </p:nvPr>
        </p:nvGraphicFramePr>
        <p:xfrm>
          <a:off x="145143" y="1066958"/>
          <a:ext cx="8882743" cy="57788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82743"/>
              </a:tblGrid>
              <a:tr h="96524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dirty="0" smtClean="0">
                          <a:latin typeface="Times New Roman" pitchFamily="18" charset="0"/>
                          <a:cs typeface="Times New Roman" pitchFamily="18" charset="0"/>
                        </a:rPr>
                        <a:t>все автомобилисты выиграют от ВПД, </a:t>
                      </a:r>
                      <a:r>
                        <a:rPr lang="ru-RU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даже те, кто предпочитает не использовать их (этот аргумент применяется только к проектам, которые увеличивают общее количество полос движения)</a:t>
                      </a:r>
                    </a:p>
                  </a:txBody>
                  <a:tcPr/>
                </a:tc>
              </a:tr>
              <a:tr h="38272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dirty="0" smtClean="0">
                          <a:latin typeface="Times New Roman" pitchFamily="18" charset="0"/>
                          <a:cs typeface="Times New Roman" pitchFamily="18" charset="0"/>
                        </a:rPr>
                        <a:t>ВПД создают стимул к использованию </a:t>
                      </a:r>
                      <a:r>
                        <a:rPr lang="ru-RU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транзита</a:t>
                      </a:r>
                    </a:p>
                  </a:txBody>
                  <a:tcPr/>
                </a:tc>
              </a:tr>
              <a:tr h="59768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существует </a:t>
                      </a:r>
                      <a:r>
                        <a:rPr lang="ru-RU" sz="1800" b="1" dirty="0" smtClean="0">
                          <a:latin typeface="Times New Roman" pitchFamily="18" charset="0"/>
                          <a:cs typeface="Times New Roman" pitchFamily="18" charset="0"/>
                        </a:rPr>
                        <a:t>значительная экономия времени </a:t>
                      </a:r>
                      <a:r>
                        <a:rPr lang="ru-RU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в сравнении с движением по полосе общего назначения</a:t>
                      </a:r>
                    </a:p>
                  </a:txBody>
                  <a:tcPr/>
                </a:tc>
              </a:tr>
              <a:tr h="38272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НОV-полосы </a:t>
                      </a:r>
                      <a:r>
                        <a:rPr lang="ru-RU" sz="1800" b="1" dirty="0" smtClean="0">
                          <a:latin typeface="Times New Roman" pitchFamily="18" charset="0"/>
                          <a:cs typeface="Times New Roman" pitchFamily="18" charset="0"/>
                        </a:rPr>
                        <a:t>работают намного надежнее, </a:t>
                      </a:r>
                      <a:r>
                        <a:rPr lang="ru-RU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чем обычные полосы движения</a:t>
                      </a:r>
                    </a:p>
                  </a:txBody>
                  <a:tcPr/>
                </a:tc>
              </a:tr>
              <a:tr h="59768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НОV-полосы успешно </a:t>
                      </a:r>
                      <a:r>
                        <a:rPr lang="ru-RU" sz="1800" b="1" dirty="0" smtClean="0">
                          <a:latin typeface="Times New Roman" pitchFamily="18" charset="0"/>
                          <a:cs typeface="Times New Roman" pitchFamily="18" charset="0"/>
                        </a:rPr>
                        <a:t>обеспечивают перевозку большого количества людей, особенно в пиковые периоды, </a:t>
                      </a:r>
                      <a:r>
                        <a:rPr lang="ru-RU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когда обычные полосы сильнее всего перегружены движением</a:t>
                      </a:r>
                    </a:p>
                  </a:txBody>
                  <a:tcPr/>
                </a:tc>
              </a:tr>
              <a:tr h="66489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dirty="0" smtClean="0">
                          <a:latin typeface="Times New Roman" pitchFamily="18" charset="0"/>
                          <a:cs typeface="Times New Roman" pitchFamily="18" charset="0"/>
                        </a:rPr>
                        <a:t>в пиковый период существенно возрастает количество людей, перевезенных НОV-автомобилями, </a:t>
                      </a:r>
                      <a:r>
                        <a:rPr lang="ru-RU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и интенсивность движения таких транспортных средств</a:t>
                      </a:r>
                    </a:p>
                  </a:txBody>
                  <a:tcPr/>
                </a:tc>
              </a:tr>
              <a:tr h="84933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все больший процент людей, совершающих поездки в пиковый период, использует транспорт коллективного пользования (общественный транспорт и совместно используемые легковые автомобили)</a:t>
                      </a:r>
                    </a:p>
                  </a:txBody>
                  <a:tcPr/>
                </a:tc>
              </a:tr>
              <a:tr h="84933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несмотря на то что не все НОV-объекты одинаково успешны, в целом система НОV-полос с успехом </a:t>
                      </a:r>
                      <a:r>
                        <a:rPr lang="ru-RU" sz="1800" b="1" dirty="0" smtClean="0">
                          <a:latin typeface="Times New Roman" pitchFamily="18" charset="0"/>
                          <a:cs typeface="Times New Roman" pitchFamily="18" charset="0"/>
                        </a:rPr>
                        <a:t>обеспечивает достижение целей общей политики по обеспечению мобильности в границах существующей полосы отвода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Объект 2"/>
          <p:cNvSpPr txBox="1">
            <a:spLocks/>
          </p:cNvSpPr>
          <p:nvPr/>
        </p:nvSpPr>
        <p:spPr>
          <a:xfrm>
            <a:off x="8188037" y="3241964"/>
            <a:ext cx="8653896" cy="465273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ru-RU" sz="11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ru-RU" sz="11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ru-RU" sz="11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ru-RU" sz="11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5380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02723" y="373346"/>
            <a:ext cx="7886700" cy="707309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Недостатки ВПД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7</a:t>
            </a:fld>
            <a:endParaRPr lang="ru-RU" dirty="0"/>
          </a:p>
        </p:txBody>
      </p:sp>
      <p:graphicFrame>
        <p:nvGraphicFramePr>
          <p:cNvPr id="6" name="Объект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7479145"/>
              </p:ext>
            </p:extLst>
          </p:nvPr>
        </p:nvGraphicFramePr>
        <p:xfrm>
          <a:off x="145143" y="1284672"/>
          <a:ext cx="8882743" cy="54458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82743"/>
              </a:tblGrid>
              <a:tr h="96524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i="0" u="none" strike="noStrike" kern="1200" baseline="0" dirty="0" smtClean="0">
                          <a:solidFill>
                            <a:schemeClr val="lt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ВПД </a:t>
                      </a:r>
                      <a:r>
                        <a:rPr lang="ru-RU" sz="1800" b="0" i="0" u="none" strike="noStrike" kern="1200" baseline="0" dirty="0" smtClean="0">
                          <a:solidFill>
                            <a:schemeClr val="lt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иногда не </a:t>
                      </a:r>
                      <a:r>
                        <a:rPr lang="ru-RU" sz="1800" b="0" i="0" u="none" strike="noStrike" kern="1200" baseline="0" dirty="0" err="1" smtClean="0">
                          <a:solidFill>
                            <a:schemeClr val="lt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доиспользуются</a:t>
                      </a:r>
                      <a:r>
                        <a:rPr lang="ru-RU" sz="1800" b="0" i="0" u="none" strike="noStrike" kern="1200" baseline="0" dirty="0" smtClean="0">
                          <a:solidFill>
                            <a:schemeClr val="lt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, они недостаточно применяются для компенсации задержек на других полосах движения (бесплатных многофункциональных полосах общего пользования)</a:t>
                      </a:r>
                    </a:p>
                  </a:txBody>
                  <a:tcPr/>
                </a:tc>
              </a:tr>
              <a:tr h="38272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внедрение любой новой платной услуги - сложный социальный вопрос: если стоимость проезда по такой полосе будет слишком высокой, она будет простаивать, что вызовет недовольство водителей, если цена окажется низкой, ей будут пользоваться все подряд, и никакого эффекта такая полоса не даст, будет забита, как остальные</a:t>
                      </a:r>
                    </a:p>
                  </a:txBody>
                  <a:tcPr/>
                </a:tc>
              </a:tr>
              <a:tr h="59768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ВПД </a:t>
                      </a:r>
                      <a:r>
                        <a:rPr lang="ru-RU" sz="1800" b="0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рассматривается как элемент социального неравенства, привилегия для богатых; многие операторы сообщают о постоянном общественно-политическом давлении для преобразования потенциала выделенных полос движения в полосы общего пользования, несмотря на результаты, свидетельствующие о положительной эффективности НОV-полос</a:t>
                      </a:r>
                    </a:p>
                  </a:txBody>
                  <a:tcPr/>
                </a:tc>
              </a:tr>
              <a:tr h="382726">
                <a:tc>
                  <a:txBody>
                    <a:bodyPr/>
                    <a:lstStyle/>
                    <a:p>
                      <a:r>
                        <a:rPr lang="ru-RU" sz="1800" b="0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появляются социальные проблемы с появлением людей, которые зарабатывают себе на жизнь, предлагая водителям свои услуги в виде дополнительных пассажиров</a:t>
                      </a:r>
                    </a:p>
                  </a:txBody>
                  <a:tcPr/>
                </a:tc>
              </a:tr>
              <a:tr h="59768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есть опасение, что платные выделенные полосы будут реализованы путем изъятия из общего пользования одной из полос, в результате заторы увеличатся, автомобилисты будут еще больше сегрегированы, вырастет количество нарушителей, заклеивающих номера своих те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Объект 2"/>
          <p:cNvSpPr txBox="1">
            <a:spLocks/>
          </p:cNvSpPr>
          <p:nvPr/>
        </p:nvSpPr>
        <p:spPr>
          <a:xfrm>
            <a:off x="8188037" y="3241964"/>
            <a:ext cx="8653896" cy="465273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ru-RU" sz="11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ru-RU" sz="11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ru-RU" sz="11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ru-RU" sz="11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29836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5014" y="261072"/>
            <a:ext cx="7886700" cy="1325563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Определение АСУДД, ИТС, ЕПУТС и их ключевые различия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7793415"/>
              </p:ext>
            </p:extLst>
          </p:nvPr>
        </p:nvGraphicFramePr>
        <p:xfrm>
          <a:off x="143741" y="2183018"/>
          <a:ext cx="8894619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2065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98252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99144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r>
                        <a:rPr lang="ru-RU" sz="2400" b="0" i="0" u="none" strike="noStrike" kern="1200" baseline="0" dirty="0" smtClean="0">
                          <a:solidFill>
                            <a:schemeClr val="lt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Автоматизированная система управления дорожным движением (АСУДД)</a:t>
                      </a:r>
                      <a:endParaRPr lang="ru-RU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b="0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Технический комплекс для </a:t>
                      </a:r>
                      <a:r>
                        <a:rPr lang="ru-RU" sz="2400" b="1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автоматического управления </a:t>
                      </a:r>
                      <a:r>
                        <a:rPr lang="ru-RU" sz="2400" b="0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светофорными объектами и координации транспортных потоков</a:t>
                      </a:r>
                    </a:p>
                    <a:p>
                      <a:r>
                        <a:rPr lang="ru-RU" sz="2400" b="0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на перекрестках и перегонах. </a:t>
                      </a:r>
                    </a:p>
                    <a:p>
                      <a:r>
                        <a:rPr lang="ru-RU" sz="2400" b="0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Основная задача — оптимизация</a:t>
                      </a:r>
                    </a:p>
                    <a:p>
                      <a:r>
                        <a:rPr lang="ru-RU" sz="2400" b="0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движения на локальном уровне (отдельные перекрестки / группы).</a:t>
                      </a:r>
                      <a:endParaRPr lang="ru-RU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1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Примеры функций</a:t>
                      </a:r>
                    </a:p>
                    <a:p>
                      <a:r>
                        <a:rPr lang="ru-RU" sz="2400" b="0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Статическое и адаптивное</a:t>
                      </a:r>
                    </a:p>
                    <a:p>
                      <a:r>
                        <a:rPr lang="ru-RU" sz="2400" b="0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управление светофорами,</a:t>
                      </a:r>
                    </a:p>
                    <a:p>
                      <a:r>
                        <a:rPr lang="ru-RU" sz="2400" b="0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≪зеленая волна≫.</a:t>
                      </a:r>
                      <a:endParaRPr lang="ru-RU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1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Отличие</a:t>
                      </a:r>
                    </a:p>
                    <a:p>
                      <a:r>
                        <a:rPr lang="ru-RU" sz="2400" b="0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Фокус на локальном</a:t>
                      </a:r>
                    </a:p>
                    <a:p>
                      <a:r>
                        <a:rPr lang="ru-RU" sz="2400" b="0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управлении движением</a:t>
                      </a:r>
                    </a:p>
                    <a:p>
                      <a:r>
                        <a:rPr lang="ru-RU" sz="2400" b="0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(светофоры, перекрестки).</a:t>
                      </a:r>
                      <a:endParaRPr lang="ru-RU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20803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5014" y="159472"/>
            <a:ext cx="7886700" cy="1325563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Определение АСУДД, ИТС, ЕПУТС и их ключевые различия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3794137"/>
              </p:ext>
            </p:extLst>
          </p:nvPr>
        </p:nvGraphicFramePr>
        <p:xfrm>
          <a:off x="143741" y="2183018"/>
          <a:ext cx="8894619" cy="414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7284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47996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04181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ru-RU" sz="2000" b="0" i="0" u="none" strike="noStrike" kern="1200" baseline="0" dirty="0" smtClean="0">
                          <a:solidFill>
                            <a:schemeClr val="lt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Интеллектуальная транспортная система (ИТС)</a:t>
                      </a:r>
                      <a:endParaRPr lang="ru-RU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000" b="0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Комплекс аппаратных и программных решений, обеспечивающих автоматический анализ транспортной системы и реализацию</a:t>
                      </a:r>
                    </a:p>
                    <a:p>
                      <a:r>
                        <a:rPr lang="ru-RU" sz="2000" b="0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эффективных сценариев управления. Включает не только управление движением, но и </a:t>
                      </a:r>
                      <a:r>
                        <a:rPr lang="ru-RU" sz="2000" b="1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сбор, обработку данных, прогнозирование и интеграцию с другими системами</a:t>
                      </a:r>
                    </a:p>
                    <a:p>
                      <a:r>
                        <a:rPr lang="ru-RU" sz="2000" b="0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(мониторинг общественного транспорта, экологический контроль и пр.).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b="1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Ключевые аспекты</a:t>
                      </a:r>
                    </a:p>
                    <a:p>
                      <a:r>
                        <a:rPr lang="ru-RU" sz="2000" b="0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Широкий охват данных</a:t>
                      </a:r>
                    </a:p>
                    <a:p>
                      <a:r>
                        <a:rPr lang="ru-RU" sz="2000" b="0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(транспортные потоки,</a:t>
                      </a:r>
                    </a:p>
                    <a:p>
                      <a:r>
                        <a:rPr lang="ru-RU" sz="2000" b="0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метеоусловия, инциденты),</a:t>
                      </a:r>
                    </a:p>
                    <a:p>
                      <a:r>
                        <a:rPr lang="ru-RU" sz="2000" b="0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современные технологий</a:t>
                      </a:r>
                    </a:p>
                    <a:p>
                      <a:r>
                        <a:rPr lang="ru-RU" sz="2000" b="0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(ИИ, </a:t>
                      </a:r>
                      <a:r>
                        <a:rPr lang="ru-RU" sz="2000" b="0" i="0" u="none" strike="noStrike" kern="1200" baseline="0" dirty="0" err="1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видеоаналитика</a:t>
                      </a:r>
                      <a:r>
                        <a:rPr lang="ru-RU" sz="2000" b="0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, </a:t>
                      </a:r>
                      <a:r>
                        <a:rPr lang="en-US" sz="2000" b="0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V2X).</a:t>
                      </a:r>
                      <a:endParaRPr lang="ru-RU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b="1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Отличие</a:t>
                      </a:r>
                    </a:p>
                    <a:p>
                      <a:r>
                        <a:rPr lang="ru-RU" sz="2000" b="0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Более широкий комплекс,</a:t>
                      </a:r>
                    </a:p>
                    <a:p>
                      <a:r>
                        <a:rPr lang="ru-RU" sz="2000" b="0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включающий аналитику,</a:t>
                      </a:r>
                    </a:p>
                    <a:p>
                      <a:r>
                        <a:rPr lang="ru-RU" sz="2000" b="0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прогнозирование и</a:t>
                      </a:r>
                    </a:p>
                    <a:p>
                      <a:r>
                        <a:rPr lang="ru-RU" sz="2000" b="0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интеграцию с другими</a:t>
                      </a:r>
                    </a:p>
                    <a:p>
                      <a:r>
                        <a:rPr lang="ru-RU" sz="2000" b="0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системами.</a:t>
                      </a:r>
                      <a:endParaRPr lang="ru-RU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532158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5014" y="159472"/>
            <a:ext cx="7886700" cy="1325563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Единая платформа управления транспортной системой (ЕПУТС)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9171668"/>
              </p:ext>
            </p:extLst>
          </p:nvPr>
        </p:nvGraphicFramePr>
        <p:xfrm>
          <a:off x="143741" y="2183018"/>
          <a:ext cx="8894619" cy="377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7284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47996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04181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ru-RU" sz="2000" b="0" i="0" u="none" strike="noStrike" kern="1200" baseline="0" dirty="0" smtClean="0">
                          <a:solidFill>
                            <a:schemeClr val="lt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ЕПУТС</a:t>
                      </a:r>
                      <a:endParaRPr lang="ru-RU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0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Программный комплекс для интеграции и </a:t>
                      </a:r>
                      <a:r>
                        <a:rPr lang="ru-RU" sz="1800" b="1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управления всеми</a:t>
                      </a:r>
                    </a:p>
                    <a:p>
                      <a:r>
                        <a:rPr lang="ru-RU" sz="1800" b="1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компонентами ИТС. </a:t>
                      </a:r>
                      <a:r>
                        <a:rPr lang="ru-RU" sz="1800" b="0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Обеспечивает межведомственное</a:t>
                      </a:r>
                    </a:p>
                    <a:p>
                      <a:r>
                        <a:rPr lang="ru-RU" sz="1800" b="0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взаимодействие, оперативный мониторинг и управление в</a:t>
                      </a:r>
                    </a:p>
                    <a:p>
                      <a:r>
                        <a:rPr lang="ru-RU" sz="1800" b="0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режиме реального времени, включая кризисные ситуации.</a:t>
                      </a:r>
                      <a:endParaRPr lang="ru-RU" sz="2000" b="0" i="0" u="none" strike="noStrike" kern="1200" baseline="0" dirty="0" smtClean="0">
                        <a:solidFill>
                          <a:schemeClr val="dk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1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Пример</a:t>
                      </a:r>
                    </a:p>
                    <a:p>
                      <a:r>
                        <a:rPr lang="ru-RU" sz="1800" b="0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ЕПУТС ≪Шелковый путь≫</a:t>
                      </a:r>
                    </a:p>
                    <a:p>
                      <a:r>
                        <a:rPr lang="ru-RU" sz="1800" b="0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включает подсистемы</a:t>
                      </a:r>
                    </a:p>
                    <a:p>
                      <a:r>
                        <a:rPr lang="ru-RU" sz="1800" b="0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светофорного управления,</a:t>
                      </a:r>
                    </a:p>
                    <a:p>
                      <a:r>
                        <a:rPr lang="ru-RU" sz="1800" b="0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мониторинга транспорта,</a:t>
                      </a:r>
                    </a:p>
                    <a:p>
                      <a:r>
                        <a:rPr lang="ru-RU" sz="1800" b="0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видеонаблюдения и другие.</a:t>
                      </a:r>
                      <a:endParaRPr lang="ru-RU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1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Отличие</a:t>
                      </a:r>
                    </a:p>
                    <a:p>
                      <a:r>
                        <a:rPr lang="ru-RU" sz="1800" b="0" i="0" u="none" strike="noStrike" kern="1200" baseline="0" dirty="0" err="1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Верхнеуровневая</a:t>
                      </a:r>
                      <a:r>
                        <a:rPr lang="ru-RU" sz="1800" b="0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платформа</a:t>
                      </a:r>
                    </a:p>
                    <a:p>
                      <a:r>
                        <a:rPr lang="ru-RU" sz="1800" b="0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для объединения и</a:t>
                      </a:r>
                    </a:p>
                    <a:p>
                      <a:r>
                        <a:rPr lang="ru-RU" sz="1800" b="0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координации всех элементов</a:t>
                      </a:r>
                    </a:p>
                    <a:p>
                      <a:r>
                        <a:rPr lang="ru-RU" sz="1800" b="0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ИТС, межведомственное</a:t>
                      </a:r>
                    </a:p>
                    <a:p>
                      <a:r>
                        <a:rPr lang="ru-RU" sz="1800" b="0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взаимодействие и управление</a:t>
                      </a:r>
                    </a:p>
                    <a:p>
                      <a:r>
                        <a:rPr lang="ru-RU" sz="1800" b="0" i="0" u="none" strike="noStrike" kern="1200" baseline="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в масштабах города/региона.</a:t>
                      </a:r>
                      <a:endParaRPr lang="ru-RU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915232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5BE26A0-0BD0-4F5C-8BB0-203795747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832284"/>
            <a:ext cx="7886700" cy="2852737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159761912"/>
      </p:ext>
    </p:extLst>
  </p:cSld>
  <p:clrMapOvr>
    <a:masterClrMapping/>
  </p:clrMapOvr>
</p:sld>
</file>

<file path=ppt/theme/theme1.xml><?xml version="1.0" encoding="utf-8"?>
<a:theme xmlns:a="http://schemas.openxmlformats.org/drawingml/2006/main" name="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5981</TotalTime>
  <Words>811</Words>
  <Application>Microsoft Office PowerPoint</Application>
  <PresentationFormat>Экран (4:3)</PresentationFormat>
  <Paragraphs>107</Paragraphs>
  <Slides>11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11</vt:i4>
      </vt:variant>
    </vt:vector>
  </HeadingPairs>
  <TitlesOfParts>
    <vt:vector size="13" baseType="lpstr">
      <vt:lpstr>Специальное оформление</vt:lpstr>
      <vt:lpstr>1_Специальное оформление</vt:lpstr>
      <vt:lpstr>ДИСЦИЛИНА Наземная инфраструктура как сложная техническая система  ИНСТИТУТ ИПТИП  КАФЕДРА индустриального программирования  ВИД УЧЕБНОГО МАТЕРИАЛА Лекция  ПРЕПОДАВАТЕЛЬ Ризаева Юлия Николаевна  СЕМЕСТР 3, 2026-2027 уч. г. </vt:lpstr>
      <vt:lpstr>Организация выделенных полос движения в городских и пригородных зонах наземной инфраструктуры. АСУДД, ИТС и ЕПУТС</vt:lpstr>
      <vt:lpstr>План лекции</vt:lpstr>
      <vt:lpstr>Определение ВПД</vt:lpstr>
      <vt:lpstr>Политика поощрения</vt:lpstr>
      <vt:lpstr>Достоинства ВПД</vt:lpstr>
      <vt:lpstr>Недостатки ВПД</vt:lpstr>
      <vt:lpstr>Определение АСУДД, ИТС, ЕПУТС и их ключевые различия</vt:lpstr>
      <vt:lpstr>Определение АСУДД, ИТС, ЕПУТС и их ключевые различия</vt:lpstr>
      <vt:lpstr>Единая платформа управления транспортной системой (ЕПУТС)</vt:lpstr>
      <vt:lpstr>Спасибо за внимание!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Я</dc:creator>
  <cp:lastModifiedBy>Аня</cp:lastModifiedBy>
  <cp:revision>345</cp:revision>
  <dcterms:created xsi:type="dcterms:W3CDTF">2015-07-29T11:14:37Z</dcterms:created>
  <dcterms:modified xsi:type="dcterms:W3CDTF">2026-06-26T22:17:17Z</dcterms:modified>
</cp:coreProperties>
</file>