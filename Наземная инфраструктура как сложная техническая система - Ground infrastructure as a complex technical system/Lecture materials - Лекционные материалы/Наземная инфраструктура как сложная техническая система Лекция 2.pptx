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25"/>
  </p:notesMasterIdLst>
  <p:sldIdLst>
    <p:sldId id="325" r:id="rId3"/>
    <p:sldId id="293" r:id="rId4"/>
    <p:sldId id="294" r:id="rId5"/>
    <p:sldId id="330" r:id="rId6"/>
    <p:sldId id="331" r:id="rId7"/>
    <p:sldId id="332" r:id="rId8"/>
    <p:sldId id="333" r:id="rId9"/>
    <p:sldId id="334" r:id="rId10"/>
    <p:sldId id="335" r:id="rId11"/>
    <p:sldId id="336" r:id="rId12"/>
    <p:sldId id="337" r:id="rId13"/>
    <p:sldId id="338" r:id="rId14"/>
    <p:sldId id="339" r:id="rId15"/>
    <p:sldId id="340" r:id="rId16"/>
    <p:sldId id="341" r:id="rId17"/>
    <p:sldId id="342" r:id="rId18"/>
    <p:sldId id="343" r:id="rId19"/>
    <p:sldId id="344" r:id="rId20"/>
    <p:sldId id="345" r:id="rId21"/>
    <p:sldId id="346" r:id="rId22"/>
    <p:sldId id="347" r:id="rId23"/>
    <p:sldId id="264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08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9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68639A-41AB-4E0B-AB12-D83FD2D8D8DA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95388FB-3895-4699-A771-66CF76A14EBC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Функциональная (по функциям/услугам): сенсоры, обработка сигналов, планирование, исполнительные механизмы.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7DB04658-A4E4-409F-A004-5776529E1742}" type="parTrans" cxnId="{10A81283-76AB-4921-B01A-AE2E73E819A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A020C3E-7FFF-45DE-950A-95E69592EC36}" type="sibTrans" cxnId="{10A81283-76AB-4921-B01A-AE2E73E819A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B70B9EE-F34D-459C-8266-AC822EDAE925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Структурная/модульная (по аппаратному/программному размещению).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46A6CC9-C11B-41B5-AB2A-7E3D8985ED2E}" type="parTrans" cxnId="{A219B3FB-026F-4020-BA58-D8324A1B3B5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932D758-FBA5-4EA5-91C7-F1F134F9704D}" type="sibTrans" cxnId="{A219B3FB-026F-4020-BA58-D8324A1B3B5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8704F7E-6C3B-4366-9699-B3CC41C559E2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Иерархическая (уровни: стратегический → тактический → оперативный).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35F1FC7C-01B4-4DA9-BA8C-4E7DBBB73C9F}" type="parTrans" cxnId="{FE3539E5-AC76-45FB-85F1-488A8847864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0753C56-280E-4CC4-912C-789C39997B82}" type="sibTrans" cxnId="{FE3539E5-AC76-45FB-85F1-488A8847864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6F1A59A-61D4-44AE-8F4F-6FF6982AABAB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Временная/разделение по частотам (разделение «медленных» и «быстрых» контуров управления).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8717569-FFF0-471A-AA2D-B8AE75F14CD3}" type="parTrans" cxnId="{E2950D00-6D8E-44E2-9752-E92BF087D20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30E93B0-C86F-464E-9450-5E66534CA26E}" type="sibTrans" cxnId="{E2950D00-6D8E-44E2-9752-E92BF087D20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D39EF91-D857-4110-AF0C-2E86D89DD991}" type="pres">
      <dgm:prSet presAssocID="{AC68639A-41AB-4E0B-AB12-D83FD2D8D8DA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226F8451-BE38-45D2-8356-BD3E2AA7F9E4}" type="pres">
      <dgm:prSet presAssocID="{D95388FB-3895-4699-A771-66CF76A14EBC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F687832-F380-4A5F-B4AA-9F471936734C}" type="pres">
      <dgm:prSet presAssocID="{EA020C3E-7FFF-45DE-950A-95E69592EC36}" presName="sibTrans" presStyleCnt="0"/>
      <dgm:spPr/>
    </dgm:pt>
    <dgm:pt modelId="{E7498889-E6B4-44AB-BC54-9B40C6F4AC52}" type="pres">
      <dgm:prSet presAssocID="{3B70B9EE-F34D-459C-8266-AC822EDAE925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813D6D0-DFBB-4250-BEE2-528E86811E77}" type="pres">
      <dgm:prSet presAssocID="{2932D758-FBA5-4EA5-91C7-F1F134F9704D}" presName="sibTrans" presStyleCnt="0"/>
      <dgm:spPr/>
    </dgm:pt>
    <dgm:pt modelId="{64ADC541-1498-49C1-94D3-1D16D1588E00}" type="pres">
      <dgm:prSet presAssocID="{38704F7E-6C3B-4366-9699-B3CC41C559E2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D6F4E69-99AA-4076-BAF6-20C4DF1B1225}" type="pres">
      <dgm:prSet presAssocID="{70753C56-280E-4CC4-912C-789C39997B82}" presName="sibTrans" presStyleCnt="0"/>
      <dgm:spPr/>
    </dgm:pt>
    <dgm:pt modelId="{62EEB0A2-BC2B-4638-AFCD-4605D72351B4}" type="pres">
      <dgm:prSet presAssocID="{B6F1A59A-61D4-44AE-8F4F-6FF6982AABAB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B96BCDD7-A103-4337-9153-A1B2EE8FBBBD}" type="presOf" srcId="{38704F7E-6C3B-4366-9699-B3CC41C559E2}" destId="{64ADC541-1498-49C1-94D3-1D16D1588E00}" srcOrd="0" destOrd="0" presId="urn:microsoft.com/office/officeart/2005/8/layout/default"/>
    <dgm:cxn modelId="{E2950D00-6D8E-44E2-9752-E92BF087D206}" srcId="{AC68639A-41AB-4E0B-AB12-D83FD2D8D8DA}" destId="{B6F1A59A-61D4-44AE-8F4F-6FF6982AABAB}" srcOrd="3" destOrd="0" parTransId="{F8717569-FFF0-471A-AA2D-B8AE75F14CD3}" sibTransId="{530E93B0-C86F-464E-9450-5E66534CA26E}"/>
    <dgm:cxn modelId="{8B104173-7862-47A3-ABF9-D5D5AB4BFC00}" type="presOf" srcId="{AC68639A-41AB-4E0B-AB12-D83FD2D8D8DA}" destId="{5D39EF91-D857-4110-AF0C-2E86D89DD991}" srcOrd="0" destOrd="0" presId="urn:microsoft.com/office/officeart/2005/8/layout/default"/>
    <dgm:cxn modelId="{FE3539E5-AC76-45FB-85F1-488A88478646}" srcId="{AC68639A-41AB-4E0B-AB12-D83FD2D8D8DA}" destId="{38704F7E-6C3B-4366-9699-B3CC41C559E2}" srcOrd="2" destOrd="0" parTransId="{35F1FC7C-01B4-4DA9-BA8C-4E7DBBB73C9F}" sibTransId="{70753C56-280E-4CC4-912C-789C39997B82}"/>
    <dgm:cxn modelId="{A219B3FB-026F-4020-BA58-D8324A1B3B59}" srcId="{AC68639A-41AB-4E0B-AB12-D83FD2D8D8DA}" destId="{3B70B9EE-F34D-459C-8266-AC822EDAE925}" srcOrd="1" destOrd="0" parTransId="{646A6CC9-C11B-41B5-AB2A-7E3D8985ED2E}" sibTransId="{2932D758-FBA5-4EA5-91C7-F1F134F9704D}"/>
    <dgm:cxn modelId="{2262A46D-A5FF-42AD-AF36-04D8378DE771}" type="presOf" srcId="{B6F1A59A-61D4-44AE-8F4F-6FF6982AABAB}" destId="{62EEB0A2-BC2B-4638-AFCD-4605D72351B4}" srcOrd="0" destOrd="0" presId="urn:microsoft.com/office/officeart/2005/8/layout/default"/>
    <dgm:cxn modelId="{082D02DF-4B72-4CBE-A8B0-27A95D8C7699}" type="presOf" srcId="{D95388FB-3895-4699-A771-66CF76A14EBC}" destId="{226F8451-BE38-45D2-8356-BD3E2AA7F9E4}" srcOrd="0" destOrd="0" presId="urn:microsoft.com/office/officeart/2005/8/layout/default"/>
    <dgm:cxn modelId="{10A81283-76AB-4921-B01A-AE2E73E819A0}" srcId="{AC68639A-41AB-4E0B-AB12-D83FD2D8D8DA}" destId="{D95388FB-3895-4699-A771-66CF76A14EBC}" srcOrd="0" destOrd="0" parTransId="{7DB04658-A4E4-409F-A004-5776529E1742}" sibTransId="{EA020C3E-7FFF-45DE-950A-95E69592EC36}"/>
    <dgm:cxn modelId="{328881C6-9D5A-4581-862E-8CE5DB24B91B}" type="presOf" srcId="{3B70B9EE-F34D-459C-8266-AC822EDAE925}" destId="{E7498889-E6B4-44AB-BC54-9B40C6F4AC52}" srcOrd="0" destOrd="0" presId="urn:microsoft.com/office/officeart/2005/8/layout/default"/>
    <dgm:cxn modelId="{115E96F8-40C3-4C7D-B002-E14F771200ED}" type="presParOf" srcId="{5D39EF91-D857-4110-AF0C-2E86D89DD991}" destId="{226F8451-BE38-45D2-8356-BD3E2AA7F9E4}" srcOrd="0" destOrd="0" presId="urn:microsoft.com/office/officeart/2005/8/layout/default"/>
    <dgm:cxn modelId="{6F5614CE-2AC8-42FA-B3EB-B4799787EBF9}" type="presParOf" srcId="{5D39EF91-D857-4110-AF0C-2E86D89DD991}" destId="{9F687832-F380-4A5F-B4AA-9F471936734C}" srcOrd="1" destOrd="0" presId="urn:microsoft.com/office/officeart/2005/8/layout/default"/>
    <dgm:cxn modelId="{35C8064A-676C-4CF8-B6DC-89E42B61F325}" type="presParOf" srcId="{5D39EF91-D857-4110-AF0C-2E86D89DD991}" destId="{E7498889-E6B4-44AB-BC54-9B40C6F4AC52}" srcOrd="2" destOrd="0" presId="urn:microsoft.com/office/officeart/2005/8/layout/default"/>
    <dgm:cxn modelId="{E0D72BD7-EC1F-4AB5-90A4-51C63BF7E16B}" type="presParOf" srcId="{5D39EF91-D857-4110-AF0C-2E86D89DD991}" destId="{D813D6D0-DFBB-4250-BEE2-528E86811E77}" srcOrd="3" destOrd="0" presId="urn:microsoft.com/office/officeart/2005/8/layout/default"/>
    <dgm:cxn modelId="{B4049DB7-08B5-4AD7-BF3C-C447B6E716AA}" type="presParOf" srcId="{5D39EF91-D857-4110-AF0C-2E86D89DD991}" destId="{64ADC541-1498-49C1-94D3-1D16D1588E00}" srcOrd="4" destOrd="0" presId="urn:microsoft.com/office/officeart/2005/8/layout/default"/>
    <dgm:cxn modelId="{41501CF6-8029-4D64-86C8-1481DE68E4CD}" type="presParOf" srcId="{5D39EF91-D857-4110-AF0C-2E86D89DD991}" destId="{6D6F4E69-99AA-4076-BAF6-20C4DF1B1225}" srcOrd="5" destOrd="0" presId="urn:microsoft.com/office/officeart/2005/8/layout/default"/>
    <dgm:cxn modelId="{C1324EE3-7FD7-4B5B-9A6C-68383C357E06}" type="presParOf" srcId="{5D39EF91-D857-4110-AF0C-2E86D89DD991}" destId="{62EEB0A2-BC2B-4638-AFCD-4605D72351B4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C68639A-41AB-4E0B-AB12-D83FD2D8D8DA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0A39E74-6EE4-4B57-A668-40E502633B37}">
      <dgm:prSet/>
      <dgm:spPr/>
      <dgm:t>
        <a:bodyPr/>
        <a:lstStyle/>
        <a:p>
          <a:r>
            <a:rPr lang="ru-RU" dirty="0" smtClean="0"/>
            <a:t>Четкие интерфейсы и контракты (API, протоколы, модели обмена информацией).</a:t>
          </a:r>
          <a:endParaRPr lang="ru-RU" dirty="0"/>
        </a:p>
      </dgm:t>
    </dgm:pt>
    <dgm:pt modelId="{EE15A4DE-8BE6-4EA8-9F29-EF48950967C4}" type="parTrans" cxnId="{6DA9ED03-7545-4F02-BFFC-0B157EB4CB7A}">
      <dgm:prSet/>
      <dgm:spPr/>
      <dgm:t>
        <a:bodyPr/>
        <a:lstStyle/>
        <a:p>
          <a:endParaRPr lang="ru-RU"/>
        </a:p>
      </dgm:t>
    </dgm:pt>
    <dgm:pt modelId="{BF1B0F9C-69C9-4391-A9CC-B9357678C7C8}" type="sibTrans" cxnId="{6DA9ED03-7545-4F02-BFFC-0B157EB4CB7A}">
      <dgm:prSet/>
      <dgm:spPr/>
      <dgm:t>
        <a:bodyPr/>
        <a:lstStyle/>
        <a:p>
          <a:endParaRPr lang="ru-RU"/>
        </a:p>
      </dgm:t>
    </dgm:pt>
    <dgm:pt modelId="{B8EA629F-D588-422E-8461-E71122C49EA1}">
      <dgm:prSet/>
      <dgm:spPr/>
      <dgm:t>
        <a:bodyPr/>
        <a:lstStyle/>
        <a:p>
          <a:r>
            <a:rPr lang="ru-RU" dirty="0" smtClean="0"/>
            <a:t>Инкапсуляция: скрытие внутренней реализации, только явно заданный набор данных/событий.</a:t>
          </a:r>
          <a:endParaRPr lang="ru-RU" dirty="0"/>
        </a:p>
      </dgm:t>
    </dgm:pt>
    <dgm:pt modelId="{FF011119-C486-4436-9F0C-3B79FBA48CAB}" type="parTrans" cxnId="{3E9CFADC-5503-49FD-969B-1257FFA6D9AA}">
      <dgm:prSet/>
      <dgm:spPr/>
      <dgm:t>
        <a:bodyPr/>
        <a:lstStyle/>
        <a:p>
          <a:endParaRPr lang="ru-RU"/>
        </a:p>
      </dgm:t>
    </dgm:pt>
    <dgm:pt modelId="{02561F02-1A2A-4B5C-A8CB-C2FDF2997F94}" type="sibTrans" cxnId="{3E9CFADC-5503-49FD-969B-1257FFA6D9AA}">
      <dgm:prSet/>
      <dgm:spPr/>
      <dgm:t>
        <a:bodyPr/>
        <a:lstStyle/>
        <a:p>
          <a:endParaRPr lang="ru-RU"/>
        </a:p>
      </dgm:t>
    </dgm:pt>
    <dgm:pt modelId="{293FB8C4-944C-4300-BE40-C64EA895E030}">
      <dgm:prSet/>
      <dgm:spPr/>
      <dgm:t>
        <a:bodyPr/>
        <a:lstStyle/>
        <a:p>
          <a:r>
            <a:rPr lang="ru-RU" dirty="0" smtClean="0"/>
            <a:t>Разделение ответственности (</a:t>
          </a:r>
          <a:r>
            <a:rPr lang="en-US" dirty="0" smtClean="0"/>
            <a:t>single responsibility).</a:t>
          </a:r>
          <a:endParaRPr lang="ru-RU" dirty="0"/>
        </a:p>
      </dgm:t>
    </dgm:pt>
    <dgm:pt modelId="{34712D7D-F853-4FB5-8016-F8E782B4161B}" type="parTrans" cxnId="{C9BE1645-E59A-401D-904A-FB63BA477F88}">
      <dgm:prSet/>
      <dgm:spPr/>
      <dgm:t>
        <a:bodyPr/>
        <a:lstStyle/>
        <a:p>
          <a:endParaRPr lang="ru-RU"/>
        </a:p>
      </dgm:t>
    </dgm:pt>
    <dgm:pt modelId="{AF6DA275-085D-45A9-AACE-79F8C8D4F130}" type="sibTrans" cxnId="{C9BE1645-E59A-401D-904A-FB63BA477F88}">
      <dgm:prSet/>
      <dgm:spPr/>
      <dgm:t>
        <a:bodyPr/>
        <a:lstStyle/>
        <a:p>
          <a:endParaRPr lang="ru-RU"/>
        </a:p>
      </dgm:t>
    </dgm:pt>
    <dgm:pt modelId="{7ECE1828-C423-43DC-B1ED-544C5FD0C560}">
      <dgm:prSet/>
      <dgm:spPr/>
      <dgm:t>
        <a:bodyPr/>
        <a:lstStyle/>
        <a:p>
          <a:r>
            <a:rPr lang="ru-RU" dirty="0" smtClean="0"/>
            <a:t>Согласованные инварианты и протоколы отказа.</a:t>
          </a:r>
          <a:endParaRPr lang="ru-RU" dirty="0"/>
        </a:p>
      </dgm:t>
    </dgm:pt>
    <dgm:pt modelId="{B683D97C-5FCD-486E-894C-3B28D0E87A24}" type="parTrans" cxnId="{444BA7C1-EEEC-4D5A-A2C8-8B7B539FC29D}">
      <dgm:prSet/>
      <dgm:spPr/>
      <dgm:t>
        <a:bodyPr/>
        <a:lstStyle/>
        <a:p>
          <a:endParaRPr lang="ru-RU"/>
        </a:p>
      </dgm:t>
    </dgm:pt>
    <dgm:pt modelId="{A906A67D-D8AE-4DFB-AC0C-4D57F90FDE80}" type="sibTrans" cxnId="{444BA7C1-EEEC-4D5A-A2C8-8B7B539FC29D}">
      <dgm:prSet/>
      <dgm:spPr/>
      <dgm:t>
        <a:bodyPr/>
        <a:lstStyle/>
        <a:p>
          <a:endParaRPr lang="ru-RU"/>
        </a:p>
      </dgm:t>
    </dgm:pt>
    <dgm:pt modelId="{5D39EF91-D857-4110-AF0C-2E86D89DD991}" type="pres">
      <dgm:prSet presAssocID="{AC68639A-41AB-4E0B-AB12-D83FD2D8D8DA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9E75D3B4-D7D6-41B3-82A3-AFD77043D914}" type="pres">
      <dgm:prSet presAssocID="{D0A39E74-6EE4-4B57-A668-40E502633B37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73C8203-E8C2-461C-99A2-9380D51D8FEB}" type="pres">
      <dgm:prSet presAssocID="{BF1B0F9C-69C9-4391-A9CC-B9357678C7C8}" presName="sibTrans" presStyleCnt="0"/>
      <dgm:spPr/>
    </dgm:pt>
    <dgm:pt modelId="{5F2590BF-E209-4F3E-BB57-6367279378A8}" type="pres">
      <dgm:prSet presAssocID="{B8EA629F-D588-422E-8461-E71122C49EA1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2FEB858-ADAC-45AF-96FD-B51159D4B5EE}" type="pres">
      <dgm:prSet presAssocID="{02561F02-1A2A-4B5C-A8CB-C2FDF2997F94}" presName="sibTrans" presStyleCnt="0"/>
      <dgm:spPr/>
    </dgm:pt>
    <dgm:pt modelId="{DCF6C0A4-FEB9-44A4-BFDE-25DF6FB81433}" type="pres">
      <dgm:prSet presAssocID="{293FB8C4-944C-4300-BE40-C64EA895E030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BC14671-3C51-4C9F-9E8E-A6FA8664D972}" type="pres">
      <dgm:prSet presAssocID="{AF6DA275-085D-45A9-AACE-79F8C8D4F130}" presName="sibTrans" presStyleCnt="0"/>
      <dgm:spPr/>
    </dgm:pt>
    <dgm:pt modelId="{FC161A02-86C2-40E6-99B5-FDDB1F1036EA}" type="pres">
      <dgm:prSet presAssocID="{7ECE1828-C423-43DC-B1ED-544C5FD0C560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C9BE1645-E59A-401D-904A-FB63BA477F88}" srcId="{AC68639A-41AB-4E0B-AB12-D83FD2D8D8DA}" destId="{293FB8C4-944C-4300-BE40-C64EA895E030}" srcOrd="2" destOrd="0" parTransId="{34712D7D-F853-4FB5-8016-F8E782B4161B}" sibTransId="{AF6DA275-085D-45A9-AACE-79F8C8D4F130}"/>
    <dgm:cxn modelId="{1CD03CC5-5C36-413A-B551-08312F3719D6}" type="presOf" srcId="{D0A39E74-6EE4-4B57-A668-40E502633B37}" destId="{9E75D3B4-D7D6-41B3-82A3-AFD77043D914}" srcOrd="0" destOrd="0" presId="urn:microsoft.com/office/officeart/2005/8/layout/default"/>
    <dgm:cxn modelId="{6DA9ED03-7545-4F02-BFFC-0B157EB4CB7A}" srcId="{AC68639A-41AB-4E0B-AB12-D83FD2D8D8DA}" destId="{D0A39E74-6EE4-4B57-A668-40E502633B37}" srcOrd="0" destOrd="0" parTransId="{EE15A4DE-8BE6-4EA8-9F29-EF48950967C4}" sibTransId="{BF1B0F9C-69C9-4391-A9CC-B9357678C7C8}"/>
    <dgm:cxn modelId="{A280C164-6BB0-4F27-9F74-994476F39F95}" type="presOf" srcId="{AC68639A-41AB-4E0B-AB12-D83FD2D8D8DA}" destId="{5D39EF91-D857-4110-AF0C-2E86D89DD991}" srcOrd="0" destOrd="0" presId="urn:microsoft.com/office/officeart/2005/8/layout/default"/>
    <dgm:cxn modelId="{93E61BB6-28A9-44DC-8EAB-886C00A63871}" type="presOf" srcId="{7ECE1828-C423-43DC-B1ED-544C5FD0C560}" destId="{FC161A02-86C2-40E6-99B5-FDDB1F1036EA}" srcOrd="0" destOrd="0" presId="urn:microsoft.com/office/officeart/2005/8/layout/default"/>
    <dgm:cxn modelId="{444BA7C1-EEEC-4D5A-A2C8-8B7B539FC29D}" srcId="{AC68639A-41AB-4E0B-AB12-D83FD2D8D8DA}" destId="{7ECE1828-C423-43DC-B1ED-544C5FD0C560}" srcOrd="3" destOrd="0" parTransId="{B683D97C-5FCD-486E-894C-3B28D0E87A24}" sibTransId="{A906A67D-D8AE-4DFB-AC0C-4D57F90FDE80}"/>
    <dgm:cxn modelId="{3E9CFADC-5503-49FD-969B-1257FFA6D9AA}" srcId="{AC68639A-41AB-4E0B-AB12-D83FD2D8D8DA}" destId="{B8EA629F-D588-422E-8461-E71122C49EA1}" srcOrd="1" destOrd="0" parTransId="{FF011119-C486-4436-9F0C-3B79FBA48CAB}" sibTransId="{02561F02-1A2A-4B5C-A8CB-C2FDF2997F94}"/>
    <dgm:cxn modelId="{BBF824B6-274C-491B-A330-695B9D02F7CD}" type="presOf" srcId="{B8EA629F-D588-422E-8461-E71122C49EA1}" destId="{5F2590BF-E209-4F3E-BB57-6367279378A8}" srcOrd="0" destOrd="0" presId="urn:microsoft.com/office/officeart/2005/8/layout/default"/>
    <dgm:cxn modelId="{FECFC973-973A-4A6B-85C3-5AC75A3C4ACB}" type="presOf" srcId="{293FB8C4-944C-4300-BE40-C64EA895E030}" destId="{DCF6C0A4-FEB9-44A4-BFDE-25DF6FB81433}" srcOrd="0" destOrd="0" presId="urn:microsoft.com/office/officeart/2005/8/layout/default"/>
    <dgm:cxn modelId="{CBE49ECA-A889-4E2A-BFFE-AC4FA47EBD34}" type="presParOf" srcId="{5D39EF91-D857-4110-AF0C-2E86D89DD991}" destId="{9E75D3B4-D7D6-41B3-82A3-AFD77043D914}" srcOrd="0" destOrd="0" presId="urn:microsoft.com/office/officeart/2005/8/layout/default"/>
    <dgm:cxn modelId="{83364F16-5265-4D0B-B7AA-D6D6FECEEA32}" type="presParOf" srcId="{5D39EF91-D857-4110-AF0C-2E86D89DD991}" destId="{273C8203-E8C2-461C-99A2-9380D51D8FEB}" srcOrd="1" destOrd="0" presId="urn:microsoft.com/office/officeart/2005/8/layout/default"/>
    <dgm:cxn modelId="{61A9D514-9DC4-42BB-9474-B53629C66B3A}" type="presParOf" srcId="{5D39EF91-D857-4110-AF0C-2E86D89DD991}" destId="{5F2590BF-E209-4F3E-BB57-6367279378A8}" srcOrd="2" destOrd="0" presId="urn:microsoft.com/office/officeart/2005/8/layout/default"/>
    <dgm:cxn modelId="{D0BE7A7F-9C2C-4F40-9E78-92C16499969C}" type="presParOf" srcId="{5D39EF91-D857-4110-AF0C-2E86D89DD991}" destId="{C2FEB858-ADAC-45AF-96FD-B51159D4B5EE}" srcOrd="3" destOrd="0" presId="urn:microsoft.com/office/officeart/2005/8/layout/default"/>
    <dgm:cxn modelId="{4E3C580D-A455-4375-A393-3167F10637CA}" type="presParOf" srcId="{5D39EF91-D857-4110-AF0C-2E86D89DD991}" destId="{DCF6C0A4-FEB9-44A4-BFDE-25DF6FB81433}" srcOrd="4" destOrd="0" presId="urn:microsoft.com/office/officeart/2005/8/layout/default"/>
    <dgm:cxn modelId="{828E9E70-DA57-4784-9EDF-8062F2599AB9}" type="presParOf" srcId="{5D39EF91-D857-4110-AF0C-2E86D89DD991}" destId="{CBC14671-3C51-4C9F-9E8E-A6FA8664D972}" srcOrd="5" destOrd="0" presId="urn:microsoft.com/office/officeart/2005/8/layout/default"/>
    <dgm:cxn modelId="{5B47279A-4446-4F2E-B41F-3B523CEB2047}" type="presParOf" srcId="{5D39EF91-D857-4110-AF0C-2E86D89DD991}" destId="{FC161A02-86C2-40E6-99B5-FDDB1F1036EA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C68639A-41AB-4E0B-AB12-D83FD2D8D8DA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0A39E74-6EE4-4B57-A668-40E502633B37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Слишком мелкая декомпозиция → сложность интеграции.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EE15A4DE-8BE6-4EA8-9F29-EF48950967C4}" type="parTrans" cxnId="{6DA9ED03-7545-4F02-BFFC-0B157EB4CB7A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F1B0F9C-69C9-4391-A9CC-B9357678C7C8}" type="sibTrans" cxnId="{6DA9ED03-7545-4F02-BFFC-0B157EB4CB7A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645537E-CA27-4F33-95ED-B34A6D6F9D0D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Слишком грубая → модули становятся неуправляемыми.</a:t>
          </a:r>
        </a:p>
      </dgm:t>
    </dgm:pt>
    <dgm:pt modelId="{09D3D806-35F4-4252-960D-E2A0FE68C0A9}" type="parTrans" cxnId="{4B38A40D-D6F5-4216-9C35-19A9049B7F5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284DCFF-A372-403E-90AD-CE14EFA97441}" type="sibTrans" cxnId="{4B38A40D-D6F5-4216-9C35-19A9049B7F5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53DE8D7-0C4F-492D-8633-0585DED730D7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Неопределённые интерфейсы → расхождения при интеграции.</a:t>
          </a:r>
        </a:p>
      </dgm:t>
    </dgm:pt>
    <dgm:pt modelId="{A7FEABF3-0680-430E-9E14-0E9E4CBD3E67}" type="parTrans" cxnId="{DA82733C-9D87-41E6-A441-97565F9D999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2533CAE-50DE-4068-9CBD-7682CA39A990}" type="sibTrans" cxnId="{DA82733C-9D87-41E6-A441-97565F9D999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D39EF91-D857-4110-AF0C-2E86D89DD991}" type="pres">
      <dgm:prSet presAssocID="{AC68639A-41AB-4E0B-AB12-D83FD2D8D8DA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9E75D3B4-D7D6-41B3-82A3-AFD77043D914}" type="pres">
      <dgm:prSet presAssocID="{D0A39E74-6EE4-4B57-A668-40E502633B37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73C8203-E8C2-461C-99A2-9380D51D8FEB}" type="pres">
      <dgm:prSet presAssocID="{BF1B0F9C-69C9-4391-A9CC-B9357678C7C8}" presName="sibTrans" presStyleCnt="0"/>
      <dgm:spPr/>
    </dgm:pt>
    <dgm:pt modelId="{E1947DD4-3781-4EE8-A423-1D5BD43A5EEB}" type="pres">
      <dgm:prSet presAssocID="{9645537E-CA27-4F33-95ED-B34A6D6F9D0D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C5E8520-39C9-49A9-B95C-4CA81B0F9D5E}" type="pres">
      <dgm:prSet presAssocID="{D284DCFF-A372-403E-90AD-CE14EFA97441}" presName="sibTrans" presStyleCnt="0"/>
      <dgm:spPr/>
    </dgm:pt>
    <dgm:pt modelId="{D5DDC7B1-4D23-4C3B-AC41-DDDF81E12F89}" type="pres">
      <dgm:prSet presAssocID="{E53DE8D7-0C4F-492D-8633-0585DED730D7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5AC9C75-C887-419E-A272-1B9F9B8CCFAF}" type="presOf" srcId="{E53DE8D7-0C4F-492D-8633-0585DED730D7}" destId="{D5DDC7B1-4D23-4C3B-AC41-DDDF81E12F89}" srcOrd="0" destOrd="0" presId="urn:microsoft.com/office/officeart/2005/8/layout/default"/>
    <dgm:cxn modelId="{4B38A40D-D6F5-4216-9C35-19A9049B7F59}" srcId="{AC68639A-41AB-4E0B-AB12-D83FD2D8D8DA}" destId="{9645537E-CA27-4F33-95ED-B34A6D6F9D0D}" srcOrd="1" destOrd="0" parTransId="{09D3D806-35F4-4252-960D-E2A0FE68C0A9}" sibTransId="{D284DCFF-A372-403E-90AD-CE14EFA97441}"/>
    <dgm:cxn modelId="{59629F44-1FAB-421E-BE2F-5BC4C67EBC7B}" type="presOf" srcId="{AC68639A-41AB-4E0B-AB12-D83FD2D8D8DA}" destId="{5D39EF91-D857-4110-AF0C-2E86D89DD991}" srcOrd="0" destOrd="0" presId="urn:microsoft.com/office/officeart/2005/8/layout/default"/>
    <dgm:cxn modelId="{87DF9A11-12E9-4116-BD96-EAD44E4F4A4C}" type="presOf" srcId="{9645537E-CA27-4F33-95ED-B34A6D6F9D0D}" destId="{E1947DD4-3781-4EE8-A423-1D5BD43A5EEB}" srcOrd="0" destOrd="0" presId="urn:microsoft.com/office/officeart/2005/8/layout/default"/>
    <dgm:cxn modelId="{3CC7D79C-7DBF-4976-8A87-4D8FD9B37442}" type="presOf" srcId="{D0A39E74-6EE4-4B57-A668-40E502633B37}" destId="{9E75D3B4-D7D6-41B3-82A3-AFD77043D914}" srcOrd="0" destOrd="0" presId="urn:microsoft.com/office/officeart/2005/8/layout/default"/>
    <dgm:cxn modelId="{DA82733C-9D87-41E6-A441-97565F9D9999}" srcId="{AC68639A-41AB-4E0B-AB12-D83FD2D8D8DA}" destId="{E53DE8D7-0C4F-492D-8633-0585DED730D7}" srcOrd="2" destOrd="0" parTransId="{A7FEABF3-0680-430E-9E14-0E9E4CBD3E67}" sibTransId="{32533CAE-50DE-4068-9CBD-7682CA39A990}"/>
    <dgm:cxn modelId="{6DA9ED03-7545-4F02-BFFC-0B157EB4CB7A}" srcId="{AC68639A-41AB-4E0B-AB12-D83FD2D8D8DA}" destId="{D0A39E74-6EE4-4B57-A668-40E502633B37}" srcOrd="0" destOrd="0" parTransId="{EE15A4DE-8BE6-4EA8-9F29-EF48950967C4}" sibTransId="{BF1B0F9C-69C9-4391-A9CC-B9357678C7C8}"/>
    <dgm:cxn modelId="{DBC4B3AE-FB4E-4918-94FE-C58810C27129}" type="presParOf" srcId="{5D39EF91-D857-4110-AF0C-2E86D89DD991}" destId="{9E75D3B4-D7D6-41B3-82A3-AFD77043D914}" srcOrd="0" destOrd="0" presId="urn:microsoft.com/office/officeart/2005/8/layout/default"/>
    <dgm:cxn modelId="{55650F67-803B-4AE0-83BF-FCD0DCFB09DC}" type="presParOf" srcId="{5D39EF91-D857-4110-AF0C-2E86D89DD991}" destId="{273C8203-E8C2-461C-99A2-9380D51D8FEB}" srcOrd="1" destOrd="0" presId="urn:microsoft.com/office/officeart/2005/8/layout/default"/>
    <dgm:cxn modelId="{2D7DB6D0-1572-40B2-988E-D5A5C74BC7D4}" type="presParOf" srcId="{5D39EF91-D857-4110-AF0C-2E86D89DD991}" destId="{E1947DD4-3781-4EE8-A423-1D5BD43A5EEB}" srcOrd="2" destOrd="0" presId="urn:microsoft.com/office/officeart/2005/8/layout/default"/>
    <dgm:cxn modelId="{B8502C67-913F-4D80-867F-72CD6F5E0275}" type="presParOf" srcId="{5D39EF91-D857-4110-AF0C-2E86D89DD991}" destId="{BC5E8520-39C9-49A9-B95C-4CA81B0F9D5E}" srcOrd="3" destOrd="0" presId="urn:microsoft.com/office/officeart/2005/8/layout/default"/>
    <dgm:cxn modelId="{7F2E14AF-4333-482C-9234-A419E7C0B9C8}" type="presParOf" srcId="{5D39EF91-D857-4110-AF0C-2E86D89DD991}" destId="{D5DDC7B1-4D23-4C3B-AC41-DDDF81E12F89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69693FA-8311-4C3B-8F73-CF414F7BDAB2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33FA021-3671-418F-A4A0-C53AEE64DAD4}">
      <dgm:prSet phldrT="[Текст]"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Математические (дифференциальные уравнения, </a:t>
          </a:r>
          <a:r>
            <a:rPr lang="en-US" sz="1800" dirty="0" smtClean="0">
              <a:latin typeface="Times New Roman" pitchFamily="18" charset="0"/>
              <a:cs typeface="Times New Roman" pitchFamily="18" charset="0"/>
            </a:rPr>
            <a:t>state‑space).</a:t>
          </a:r>
          <a:endParaRPr lang="ru-RU" sz="1800" dirty="0">
            <a:latin typeface="Times New Roman" pitchFamily="18" charset="0"/>
            <a:cs typeface="Times New Roman" pitchFamily="18" charset="0"/>
          </a:endParaRPr>
        </a:p>
      </dgm:t>
    </dgm:pt>
    <dgm:pt modelId="{B432B1F7-813F-4B02-B60E-E5D814521F40}" type="parTrans" cxnId="{DD8C5A39-4752-495E-BAE1-6F5D1BFCF812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9D357B85-FC76-4AD9-BE44-BE466E33D605}" type="sibTrans" cxnId="{DD8C5A39-4752-495E-BAE1-6F5D1BFCF812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75F11123-18AE-4572-B3A2-298B156A7142}">
      <dgm:prSet custT="1"/>
      <dgm:spPr/>
      <dgm:t>
        <a:bodyPr/>
        <a:lstStyle/>
        <a:p>
          <a:r>
            <a:rPr lang="ru-RU" sz="1800" smtClean="0">
              <a:latin typeface="Times New Roman" pitchFamily="18" charset="0"/>
              <a:cs typeface="Times New Roman" pitchFamily="18" charset="0"/>
            </a:rPr>
            <a:t>Стохастические и вероятностные (Markov, HMM, стохастические дифференциальные уравнения).</a:t>
          </a:r>
          <a:endParaRPr lang="ru-RU" sz="1800">
            <a:latin typeface="Times New Roman" pitchFamily="18" charset="0"/>
            <a:cs typeface="Times New Roman" pitchFamily="18" charset="0"/>
          </a:endParaRPr>
        </a:p>
      </dgm:t>
    </dgm:pt>
    <dgm:pt modelId="{090A65A1-22E3-4D4C-875E-8660785E3A50}" type="parTrans" cxnId="{AF20903B-7208-4917-BA9D-96D1215EBB31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166ACCBF-6896-4C8E-B038-019BEA1747ED}" type="sibTrans" cxnId="{AF20903B-7208-4917-BA9D-96D1215EBB31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1CD170FC-A1E0-4675-AE85-E3C7F827D640}">
      <dgm:prSet custT="1"/>
      <dgm:spPr/>
      <dgm:t>
        <a:bodyPr/>
        <a:lstStyle/>
        <a:p>
          <a:r>
            <a:rPr lang="ru-RU" sz="1800" smtClean="0">
              <a:latin typeface="Times New Roman" pitchFamily="18" charset="0"/>
              <a:cs typeface="Times New Roman" pitchFamily="18" charset="0"/>
            </a:rPr>
            <a:t>Дискретно‑событийные (для сетей, очередей, логистики).</a:t>
          </a:r>
          <a:endParaRPr lang="ru-RU" sz="1800">
            <a:latin typeface="Times New Roman" pitchFamily="18" charset="0"/>
            <a:cs typeface="Times New Roman" pitchFamily="18" charset="0"/>
          </a:endParaRPr>
        </a:p>
      </dgm:t>
    </dgm:pt>
    <dgm:pt modelId="{014DBD18-E430-4135-B6DA-A9796A2DAE71}" type="parTrans" cxnId="{6C29F7C1-5DC5-430D-A30E-F95AC5D57870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329DBFAE-10BF-455C-A6BD-6BD1FBC6372F}" type="sibTrans" cxnId="{6C29F7C1-5DC5-430D-A30E-F95AC5D57870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1F3B5C89-D433-4272-9C4F-3CAC1ECAEF8C}">
      <dgm:prSet custT="1"/>
      <dgm:spPr/>
      <dgm:t>
        <a:bodyPr/>
        <a:lstStyle/>
        <a:p>
          <a:r>
            <a:rPr lang="ru-RU" sz="1800" smtClean="0">
              <a:latin typeface="Times New Roman" pitchFamily="18" charset="0"/>
              <a:cs typeface="Times New Roman" pitchFamily="18" charset="0"/>
            </a:rPr>
            <a:t>Гибридные и мультимодальные (сочетают непрерывную динамику и дискретные события).</a:t>
          </a:r>
          <a:endParaRPr lang="ru-RU" sz="1800">
            <a:latin typeface="Times New Roman" pitchFamily="18" charset="0"/>
            <a:cs typeface="Times New Roman" pitchFamily="18" charset="0"/>
          </a:endParaRPr>
        </a:p>
      </dgm:t>
    </dgm:pt>
    <dgm:pt modelId="{AEADAA4E-A7C4-4BE5-9381-E6BF9AD2FE64}" type="parTrans" cxnId="{D9528E80-86FE-4866-82EF-B987B571CCA0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E6F11545-AF4B-4CD6-95A7-A77508181FCC}" type="sibTrans" cxnId="{D9528E80-86FE-4866-82EF-B987B571CCA0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44BAA0FC-3CEA-43B8-9738-FF1CEF3DF077}">
      <dgm:prSet custT="1"/>
      <dgm:spPr/>
      <dgm:t>
        <a:bodyPr/>
        <a:lstStyle/>
        <a:p>
          <a:r>
            <a:rPr lang="ru-RU" sz="1800" smtClean="0">
              <a:latin typeface="Times New Roman" pitchFamily="18" charset="0"/>
              <a:cs typeface="Times New Roman" pitchFamily="18" charset="0"/>
            </a:rPr>
            <a:t>Эмпирические/черного‑ящика (ML‑модели, нейросети) и белого/смешанные (физически обоснованные + ML-составляющая).</a:t>
          </a:r>
          <a:endParaRPr lang="ru-RU" sz="1800">
            <a:latin typeface="Times New Roman" pitchFamily="18" charset="0"/>
            <a:cs typeface="Times New Roman" pitchFamily="18" charset="0"/>
          </a:endParaRPr>
        </a:p>
      </dgm:t>
    </dgm:pt>
    <dgm:pt modelId="{75D6F02E-BB19-45E4-A878-CC3B7BB733F0}" type="parTrans" cxnId="{EDDAB3A7-8070-4670-88D4-A0B3E13FC77B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8EDFBB8D-5B83-4818-89C9-795AED2F0BBF}" type="sibTrans" cxnId="{EDDAB3A7-8070-4670-88D4-A0B3E13FC77B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6F43ABB0-76B9-4A43-813C-4BC413B333CC}">
      <dgm:prSet custT="1"/>
      <dgm:spPr/>
      <dgm:t>
        <a:bodyPr/>
        <a:lstStyle/>
        <a:p>
          <a:r>
            <a:rPr lang="ru-RU" sz="1800" dirty="0" err="1" smtClean="0">
              <a:latin typeface="Times New Roman" pitchFamily="18" charset="0"/>
              <a:cs typeface="Times New Roman" pitchFamily="18" charset="0"/>
            </a:rPr>
            <a:t>Digital</a:t>
          </a:r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800" dirty="0" err="1" smtClean="0">
              <a:latin typeface="Times New Roman" pitchFamily="18" charset="0"/>
              <a:cs typeface="Times New Roman" pitchFamily="18" charset="0"/>
            </a:rPr>
            <a:t>twin</a:t>
          </a:r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 (цифровой двойник) - полноценная инженерная копия в ПО.</a:t>
          </a:r>
          <a:endParaRPr lang="ru-RU" sz="1800" dirty="0">
            <a:latin typeface="Times New Roman" pitchFamily="18" charset="0"/>
            <a:cs typeface="Times New Roman" pitchFamily="18" charset="0"/>
          </a:endParaRPr>
        </a:p>
      </dgm:t>
    </dgm:pt>
    <dgm:pt modelId="{AC5F7D22-193C-4C01-B588-AA593199E380}" type="parTrans" cxnId="{4B8368FB-243F-4139-8DA3-9C881C4253A9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159FB6F9-B32C-4354-8FC9-C0BE5076EE0E}" type="sibTrans" cxnId="{4B8368FB-243F-4139-8DA3-9C881C4253A9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51654690-B8BC-41DD-BE90-00ECBA9DAF33}" type="pres">
      <dgm:prSet presAssocID="{569693FA-8311-4C3B-8F73-CF414F7BDAB2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B28EAC54-A5B4-47D3-BC89-AE4FDC9B14F9}" type="pres">
      <dgm:prSet presAssocID="{F33FA021-3671-418F-A4A0-C53AEE64DAD4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867A817-A017-4D64-9E4C-1156C92068FF}" type="pres">
      <dgm:prSet presAssocID="{9D357B85-FC76-4AD9-BE44-BE466E33D605}" presName="sibTrans" presStyleCnt="0"/>
      <dgm:spPr/>
    </dgm:pt>
    <dgm:pt modelId="{D0A56F30-8A8B-4671-9268-9AC9ED7AA1F6}" type="pres">
      <dgm:prSet presAssocID="{75F11123-18AE-4572-B3A2-298B156A7142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0CE3F63-A80F-449D-8C95-5AF4F6961D09}" type="pres">
      <dgm:prSet presAssocID="{166ACCBF-6896-4C8E-B038-019BEA1747ED}" presName="sibTrans" presStyleCnt="0"/>
      <dgm:spPr/>
    </dgm:pt>
    <dgm:pt modelId="{1A74E9FB-9D86-460F-BED8-48CA795CF619}" type="pres">
      <dgm:prSet presAssocID="{1CD170FC-A1E0-4675-AE85-E3C7F827D640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3D784FC-5016-4F26-BB8C-CBFF789130C1}" type="pres">
      <dgm:prSet presAssocID="{329DBFAE-10BF-455C-A6BD-6BD1FBC6372F}" presName="sibTrans" presStyleCnt="0"/>
      <dgm:spPr/>
    </dgm:pt>
    <dgm:pt modelId="{02DBEF2E-20C3-4C26-8523-B6A155E9B0A4}" type="pres">
      <dgm:prSet presAssocID="{1F3B5C89-D433-4272-9C4F-3CAC1ECAEF8C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EB892EA-F5A6-415E-98DB-A71B3D5580A6}" type="pres">
      <dgm:prSet presAssocID="{E6F11545-AF4B-4CD6-95A7-A77508181FCC}" presName="sibTrans" presStyleCnt="0"/>
      <dgm:spPr/>
    </dgm:pt>
    <dgm:pt modelId="{DEF1207E-F2D7-423A-9CBE-E4320EB79760}" type="pres">
      <dgm:prSet presAssocID="{44BAA0FC-3CEA-43B8-9738-FF1CEF3DF077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DADB0F4-EBAD-43DA-A43C-B87CDD70B2C4}" type="pres">
      <dgm:prSet presAssocID="{8EDFBB8D-5B83-4818-89C9-795AED2F0BBF}" presName="sibTrans" presStyleCnt="0"/>
      <dgm:spPr/>
    </dgm:pt>
    <dgm:pt modelId="{6CF722EC-E908-4D37-B46A-78C0688A06D0}" type="pres">
      <dgm:prSet presAssocID="{6F43ABB0-76B9-4A43-813C-4BC413B333CC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DD8C5A39-4752-495E-BAE1-6F5D1BFCF812}" srcId="{569693FA-8311-4C3B-8F73-CF414F7BDAB2}" destId="{F33FA021-3671-418F-A4A0-C53AEE64DAD4}" srcOrd="0" destOrd="0" parTransId="{B432B1F7-813F-4B02-B60E-E5D814521F40}" sibTransId="{9D357B85-FC76-4AD9-BE44-BE466E33D605}"/>
    <dgm:cxn modelId="{767BFC8E-5E97-46D7-9E26-0C8059840481}" type="presOf" srcId="{F33FA021-3671-418F-A4A0-C53AEE64DAD4}" destId="{B28EAC54-A5B4-47D3-BC89-AE4FDC9B14F9}" srcOrd="0" destOrd="0" presId="urn:microsoft.com/office/officeart/2005/8/layout/default"/>
    <dgm:cxn modelId="{AF20903B-7208-4917-BA9D-96D1215EBB31}" srcId="{569693FA-8311-4C3B-8F73-CF414F7BDAB2}" destId="{75F11123-18AE-4572-B3A2-298B156A7142}" srcOrd="1" destOrd="0" parTransId="{090A65A1-22E3-4D4C-875E-8660785E3A50}" sibTransId="{166ACCBF-6896-4C8E-B038-019BEA1747ED}"/>
    <dgm:cxn modelId="{FFA4000E-27B9-4BB4-962F-AFC8B977B2EF}" type="presOf" srcId="{569693FA-8311-4C3B-8F73-CF414F7BDAB2}" destId="{51654690-B8BC-41DD-BE90-00ECBA9DAF33}" srcOrd="0" destOrd="0" presId="urn:microsoft.com/office/officeart/2005/8/layout/default"/>
    <dgm:cxn modelId="{B9A58B1D-C6F1-4F18-9F5E-A46DB5479126}" type="presOf" srcId="{75F11123-18AE-4572-B3A2-298B156A7142}" destId="{D0A56F30-8A8B-4671-9268-9AC9ED7AA1F6}" srcOrd="0" destOrd="0" presId="urn:microsoft.com/office/officeart/2005/8/layout/default"/>
    <dgm:cxn modelId="{1023C6B1-D43E-4CA3-B532-5D17EC986508}" type="presOf" srcId="{6F43ABB0-76B9-4A43-813C-4BC413B333CC}" destId="{6CF722EC-E908-4D37-B46A-78C0688A06D0}" srcOrd="0" destOrd="0" presId="urn:microsoft.com/office/officeart/2005/8/layout/default"/>
    <dgm:cxn modelId="{4B8368FB-243F-4139-8DA3-9C881C4253A9}" srcId="{569693FA-8311-4C3B-8F73-CF414F7BDAB2}" destId="{6F43ABB0-76B9-4A43-813C-4BC413B333CC}" srcOrd="5" destOrd="0" parTransId="{AC5F7D22-193C-4C01-B588-AA593199E380}" sibTransId="{159FB6F9-B32C-4354-8FC9-C0BE5076EE0E}"/>
    <dgm:cxn modelId="{687FC17D-43B9-4DF8-BD64-47EDFEF1B3C1}" type="presOf" srcId="{44BAA0FC-3CEA-43B8-9738-FF1CEF3DF077}" destId="{DEF1207E-F2D7-423A-9CBE-E4320EB79760}" srcOrd="0" destOrd="0" presId="urn:microsoft.com/office/officeart/2005/8/layout/default"/>
    <dgm:cxn modelId="{D9528E80-86FE-4866-82EF-B987B571CCA0}" srcId="{569693FA-8311-4C3B-8F73-CF414F7BDAB2}" destId="{1F3B5C89-D433-4272-9C4F-3CAC1ECAEF8C}" srcOrd="3" destOrd="0" parTransId="{AEADAA4E-A7C4-4BE5-9381-E6BF9AD2FE64}" sibTransId="{E6F11545-AF4B-4CD6-95A7-A77508181FCC}"/>
    <dgm:cxn modelId="{18EB1158-EDCB-43A7-8638-1ACC588861C5}" type="presOf" srcId="{1F3B5C89-D433-4272-9C4F-3CAC1ECAEF8C}" destId="{02DBEF2E-20C3-4C26-8523-B6A155E9B0A4}" srcOrd="0" destOrd="0" presId="urn:microsoft.com/office/officeart/2005/8/layout/default"/>
    <dgm:cxn modelId="{6C29F7C1-5DC5-430D-A30E-F95AC5D57870}" srcId="{569693FA-8311-4C3B-8F73-CF414F7BDAB2}" destId="{1CD170FC-A1E0-4675-AE85-E3C7F827D640}" srcOrd="2" destOrd="0" parTransId="{014DBD18-E430-4135-B6DA-A9796A2DAE71}" sibTransId="{329DBFAE-10BF-455C-A6BD-6BD1FBC6372F}"/>
    <dgm:cxn modelId="{EDDAB3A7-8070-4670-88D4-A0B3E13FC77B}" srcId="{569693FA-8311-4C3B-8F73-CF414F7BDAB2}" destId="{44BAA0FC-3CEA-43B8-9738-FF1CEF3DF077}" srcOrd="4" destOrd="0" parTransId="{75D6F02E-BB19-45E4-A878-CC3B7BB733F0}" sibTransId="{8EDFBB8D-5B83-4818-89C9-795AED2F0BBF}"/>
    <dgm:cxn modelId="{399BF491-41FD-4022-9CC0-7FEBFFB31A91}" type="presOf" srcId="{1CD170FC-A1E0-4675-AE85-E3C7F827D640}" destId="{1A74E9FB-9D86-460F-BED8-48CA795CF619}" srcOrd="0" destOrd="0" presId="urn:microsoft.com/office/officeart/2005/8/layout/default"/>
    <dgm:cxn modelId="{EE890C12-D4CD-4A9A-918A-AA544CB7D1B3}" type="presParOf" srcId="{51654690-B8BC-41DD-BE90-00ECBA9DAF33}" destId="{B28EAC54-A5B4-47D3-BC89-AE4FDC9B14F9}" srcOrd="0" destOrd="0" presId="urn:microsoft.com/office/officeart/2005/8/layout/default"/>
    <dgm:cxn modelId="{CE99B6C0-D764-4312-B478-8864B36C51AC}" type="presParOf" srcId="{51654690-B8BC-41DD-BE90-00ECBA9DAF33}" destId="{F867A817-A017-4D64-9E4C-1156C92068FF}" srcOrd="1" destOrd="0" presId="urn:microsoft.com/office/officeart/2005/8/layout/default"/>
    <dgm:cxn modelId="{173ED95B-88FF-4FE6-B9EA-D6CD02FA691B}" type="presParOf" srcId="{51654690-B8BC-41DD-BE90-00ECBA9DAF33}" destId="{D0A56F30-8A8B-4671-9268-9AC9ED7AA1F6}" srcOrd="2" destOrd="0" presId="urn:microsoft.com/office/officeart/2005/8/layout/default"/>
    <dgm:cxn modelId="{28FA8B90-4A61-4D64-9BBA-61C920C8900A}" type="presParOf" srcId="{51654690-B8BC-41DD-BE90-00ECBA9DAF33}" destId="{70CE3F63-A80F-449D-8C95-5AF4F6961D09}" srcOrd="3" destOrd="0" presId="urn:microsoft.com/office/officeart/2005/8/layout/default"/>
    <dgm:cxn modelId="{0FFCA72F-AD5C-494F-990F-CAB83D1742DE}" type="presParOf" srcId="{51654690-B8BC-41DD-BE90-00ECBA9DAF33}" destId="{1A74E9FB-9D86-460F-BED8-48CA795CF619}" srcOrd="4" destOrd="0" presId="urn:microsoft.com/office/officeart/2005/8/layout/default"/>
    <dgm:cxn modelId="{145E6B97-FCED-4660-A852-942289BE9B57}" type="presParOf" srcId="{51654690-B8BC-41DD-BE90-00ECBA9DAF33}" destId="{03D784FC-5016-4F26-BB8C-CBFF789130C1}" srcOrd="5" destOrd="0" presId="urn:microsoft.com/office/officeart/2005/8/layout/default"/>
    <dgm:cxn modelId="{B95E76D2-BC39-4B86-8E52-B030D03A210D}" type="presParOf" srcId="{51654690-B8BC-41DD-BE90-00ECBA9DAF33}" destId="{02DBEF2E-20C3-4C26-8523-B6A155E9B0A4}" srcOrd="6" destOrd="0" presId="urn:microsoft.com/office/officeart/2005/8/layout/default"/>
    <dgm:cxn modelId="{2AD4EBE9-E8FD-4EC5-8E13-1E5B59C21ED2}" type="presParOf" srcId="{51654690-B8BC-41DD-BE90-00ECBA9DAF33}" destId="{1EB892EA-F5A6-415E-98DB-A71B3D5580A6}" srcOrd="7" destOrd="0" presId="urn:microsoft.com/office/officeart/2005/8/layout/default"/>
    <dgm:cxn modelId="{5C581CD9-4C10-43B9-B4DE-88A78B335A65}" type="presParOf" srcId="{51654690-B8BC-41DD-BE90-00ECBA9DAF33}" destId="{DEF1207E-F2D7-423A-9CBE-E4320EB79760}" srcOrd="8" destOrd="0" presId="urn:microsoft.com/office/officeart/2005/8/layout/default"/>
    <dgm:cxn modelId="{03C251B9-FEF6-47B2-BCB8-3966DAF05483}" type="presParOf" srcId="{51654690-B8BC-41DD-BE90-00ECBA9DAF33}" destId="{9DADB0F4-EBAD-43DA-A43C-B87CDD70B2C4}" srcOrd="9" destOrd="0" presId="urn:microsoft.com/office/officeart/2005/8/layout/default"/>
    <dgm:cxn modelId="{90B53212-9976-4BA4-A28C-4902C7DAAF31}" type="presParOf" srcId="{51654690-B8BC-41DD-BE90-00ECBA9DAF33}" destId="{6CF722EC-E908-4D37-B46A-78C0688A06D0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84F7A58-7F61-40C3-A7FF-C9487E8FA5A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5D44581-3486-489D-9A94-C9B2C6F09B17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Однокритериальная </a:t>
          </a:r>
          <a:r>
            <a:rPr lang="ru-RU" dirty="0" err="1" smtClean="0">
              <a:latin typeface="Times New Roman" pitchFamily="18" charset="0"/>
              <a:cs typeface="Times New Roman" pitchFamily="18" charset="0"/>
            </a:rPr>
            <a:t>vs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многокритериальная (например, производительность </a:t>
          </a:r>
          <a:r>
            <a:rPr lang="ru-RU" dirty="0" err="1" smtClean="0">
              <a:latin typeface="Times New Roman" pitchFamily="18" charset="0"/>
              <a:cs typeface="Times New Roman" pitchFamily="18" charset="0"/>
            </a:rPr>
            <a:t>vs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потребление).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0D681199-BC77-48E8-BC88-3C4C3664F1E7}" type="parTrans" cxnId="{B0A6849B-E4FA-409F-8D2F-91623246713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32C928A-7E26-44C4-90FF-AEF9043F4168}" type="sibTrans" cxnId="{B0A6849B-E4FA-409F-8D2F-91623246713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ED2236C-CB57-4E2B-8E65-4BBA5F1E55D2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Выпуклая </a:t>
          </a:r>
          <a:r>
            <a:rPr lang="en-US" smtClean="0">
              <a:latin typeface="Times New Roman" pitchFamily="18" charset="0"/>
              <a:cs typeface="Times New Roman" pitchFamily="18" charset="0"/>
            </a:rPr>
            <a:t>vs </a:t>
          </a:r>
          <a:r>
            <a:rPr lang="ru-RU" smtClean="0">
              <a:latin typeface="Times New Roman" pitchFamily="18" charset="0"/>
              <a:cs typeface="Times New Roman" pitchFamily="18" charset="0"/>
            </a:rPr>
            <a:t>невыпуклая; дифференцируемая </a:t>
          </a:r>
          <a:r>
            <a:rPr lang="en-US" smtClean="0">
              <a:latin typeface="Times New Roman" pitchFamily="18" charset="0"/>
              <a:cs typeface="Times New Roman" pitchFamily="18" charset="0"/>
            </a:rPr>
            <a:t>vs nondifferentiable; </a:t>
          </a:r>
          <a:r>
            <a:rPr lang="ru-RU" smtClean="0">
              <a:latin typeface="Times New Roman" pitchFamily="18" charset="0"/>
              <a:cs typeface="Times New Roman" pitchFamily="18" charset="0"/>
            </a:rPr>
            <a:t>непрерывная </a:t>
          </a:r>
          <a:r>
            <a:rPr lang="en-US" smtClean="0">
              <a:latin typeface="Times New Roman" pitchFamily="18" charset="0"/>
              <a:cs typeface="Times New Roman" pitchFamily="18" charset="0"/>
            </a:rPr>
            <a:t>vs </a:t>
          </a:r>
          <a:r>
            <a:rPr lang="ru-RU" smtClean="0">
              <a:latin typeface="Times New Roman" pitchFamily="18" charset="0"/>
              <a:cs typeface="Times New Roman" pitchFamily="18" charset="0"/>
            </a:rPr>
            <a:t>целочисленная.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F07889F-B9D5-46E9-B6B7-7A000D603305}" type="parTrans" cxnId="{422A4339-3130-441B-832C-515F0F147F6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D064599-C02E-4984-BB05-42427895A56F}" type="sibTrans" cxnId="{422A4339-3130-441B-832C-515F0F147F6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7861FE5-C657-4892-8D2B-BF1A1A0B9837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Стационарная vs стохастическая оптимизация; оптимизация в реальном времени.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2EF2E6B-489D-48A0-B1F9-0DB66B958980}" type="parTrans" cxnId="{AA8DD252-41AA-4156-BEFF-DBED2143E65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19B3AD8-10E8-495A-92BE-E7555248A33B}" type="sibTrans" cxnId="{AA8DD252-41AA-4156-BEFF-DBED2143E65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55C0A5F-F484-4F31-904F-9B4B631CC09D}" type="pres">
      <dgm:prSet presAssocID="{A84F7A58-7F61-40C3-A7FF-C9487E8FA5A1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22792C6-1DF4-443E-AD5E-E8D8EA672FA8}" type="pres">
      <dgm:prSet presAssocID="{15D44581-3486-489D-9A94-C9B2C6F09B17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DBFAE99-E8BE-487E-A351-18E7126EFC83}" type="pres">
      <dgm:prSet presAssocID="{E32C928A-7E26-44C4-90FF-AEF9043F4168}" presName="sibTrans" presStyleCnt="0"/>
      <dgm:spPr/>
    </dgm:pt>
    <dgm:pt modelId="{C6F2AAAA-EE72-4E43-8981-EFC2EDE17B04}" type="pres">
      <dgm:prSet presAssocID="{2ED2236C-CB57-4E2B-8E65-4BBA5F1E55D2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EEA76A2-814D-4C44-B97E-06ACBF837A14}" type="pres">
      <dgm:prSet presAssocID="{5D064599-C02E-4984-BB05-42427895A56F}" presName="sibTrans" presStyleCnt="0"/>
      <dgm:spPr/>
    </dgm:pt>
    <dgm:pt modelId="{39357091-77B0-4D39-AF46-3340F362EE68}" type="pres">
      <dgm:prSet presAssocID="{D7861FE5-C657-4892-8D2B-BF1A1A0B9837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B0A6849B-E4FA-409F-8D2F-916232467135}" srcId="{A84F7A58-7F61-40C3-A7FF-C9487E8FA5A1}" destId="{15D44581-3486-489D-9A94-C9B2C6F09B17}" srcOrd="0" destOrd="0" parTransId="{0D681199-BC77-48E8-BC88-3C4C3664F1E7}" sibTransId="{E32C928A-7E26-44C4-90FF-AEF9043F4168}"/>
    <dgm:cxn modelId="{F38AC770-E53F-4462-9585-F095D640A21A}" type="presOf" srcId="{D7861FE5-C657-4892-8D2B-BF1A1A0B9837}" destId="{39357091-77B0-4D39-AF46-3340F362EE68}" srcOrd="0" destOrd="0" presId="urn:microsoft.com/office/officeart/2005/8/layout/default"/>
    <dgm:cxn modelId="{422A4339-3130-441B-832C-515F0F147F6D}" srcId="{A84F7A58-7F61-40C3-A7FF-C9487E8FA5A1}" destId="{2ED2236C-CB57-4E2B-8E65-4BBA5F1E55D2}" srcOrd="1" destOrd="0" parTransId="{7F07889F-B9D5-46E9-B6B7-7A000D603305}" sibTransId="{5D064599-C02E-4984-BB05-42427895A56F}"/>
    <dgm:cxn modelId="{AA8DD252-41AA-4156-BEFF-DBED2143E653}" srcId="{A84F7A58-7F61-40C3-A7FF-C9487E8FA5A1}" destId="{D7861FE5-C657-4892-8D2B-BF1A1A0B9837}" srcOrd="2" destOrd="0" parTransId="{92EF2E6B-489D-48A0-B1F9-0DB66B958980}" sibTransId="{919B3AD8-10E8-495A-92BE-E7555248A33B}"/>
    <dgm:cxn modelId="{ADD11999-7FD0-4ED1-ACEC-4E937C5B8780}" type="presOf" srcId="{15D44581-3486-489D-9A94-C9B2C6F09B17}" destId="{D22792C6-1DF4-443E-AD5E-E8D8EA672FA8}" srcOrd="0" destOrd="0" presId="urn:microsoft.com/office/officeart/2005/8/layout/default"/>
    <dgm:cxn modelId="{A1463A5C-2D51-49C0-8CF0-8316433F8C79}" type="presOf" srcId="{2ED2236C-CB57-4E2B-8E65-4BBA5F1E55D2}" destId="{C6F2AAAA-EE72-4E43-8981-EFC2EDE17B04}" srcOrd="0" destOrd="0" presId="urn:microsoft.com/office/officeart/2005/8/layout/default"/>
    <dgm:cxn modelId="{0668A4EF-C619-41CA-A9E8-47CD5D251FD3}" type="presOf" srcId="{A84F7A58-7F61-40C3-A7FF-C9487E8FA5A1}" destId="{455C0A5F-F484-4F31-904F-9B4B631CC09D}" srcOrd="0" destOrd="0" presId="urn:microsoft.com/office/officeart/2005/8/layout/default"/>
    <dgm:cxn modelId="{102A3BF6-BE80-4780-85BD-1C6C0354BD6C}" type="presParOf" srcId="{455C0A5F-F484-4F31-904F-9B4B631CC09D}" destId="{D22792C6-1DF4-443E-AD5E-E8D8EA672FA8}" srcOrd="0" destOrd="0" presId="urn:microsoft.com/office/officeart/2005/8/layout/default"/>
    <dgm:cxn modelId="{A9FE031D-0B2C-4497-B1DA-9761ACD0E7F3}" type="presParOf" srcId="{455C0A5F-F484-4F31-904F-9B4B631CC09D}" destId="{4DBFAE99-E8BE-487E-A351-18E7126EFC83}" srcOrd="1" destOrd="0" presId="urn:microsoft.com/office/officeart/2005/8/layout/default"/>
    <dgm:cxn modelId="{02E63391-60D3-4BCA-BF2E-458BB143F6CC}" type="presParOf" srcId="{455C0A5F-F484-4F31-904F-9B4B631CC09D}" destId="{C6F2AAAA-EE72-4E43-8981-EFC2EDE17B04}" srcOrd="2" destOrd="0" presId="urn:microsoft.com/office/officeart/2005/8/layout/default"/>
    <dgm:cxn modelId="{78A23306-2F67-4418-B130-B454CFC19827}" type="presParOf" srcId="{455C0A5F-F484-4F31-904F-9B4B631CC09D}" destId="{3EEA76A2-814D-4C44-B97E-06ACBF837A14}" srcOrd="3" destOrd="0" presId="urn:microsoft.com/office/officeart/2005/8/layout/default"/>
    <dgm:cxn modelId="{02345EE6-1DCF-4866-968F-310DDEBA824D}" type="presParOf" srcId="{455C0A5F-F484-4F31-904F-9B4B631CC09D}" destId="{39357091-77B0-4D39-AF46-3340F362EE68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82173D7-E943-4846-8301-C7B88D9E4C0A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C2618C9-751E-470B-8D44-6CB9EBF0C1D9}">
      <dgm:prSet phldrT="[Текст]"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Активный/горячий (</a:t>
          </a:r>
          <a:r>
            <a:rPr lang="ru-RU" sz="2000" dirty="0" err="1" smtClean="0">
              <a:latin typeface="Times New Roman" pitchFamily="18" charset="0"/>
              <a:cs typeface="Times New Roman" pitchFamily="18" charset="0"/>
            </a:rPr>
            <a:t>hot‑standby</a:t>
          </a:r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): резервные узлы работают и синхронизированы.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C8E30458-2A62-4213-BD5B-0116C382A77B}" type="parTrans" cxnId="{34476FA0-FF0E-4B2D-AFE8-8B9F45C44DF3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51F2A411-E72D-4F43-89A5-E679BC52CDD9}" type="sibTrans" cxnId="{34476FA0-FF0E-4B2D-AFE8-8B9F45C44DF3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C4E04D30-EF2F-4688-9E55-832D0D21C8AC}">
      <dgm:prSet custT="1"/>
      <dgm:spPr/>
      <dgm:t>
        <a:bodyPr/>
        <a:lstStyle/>
        <a:p>
          <a:r>
            <a:rPr lang="ru-RU" sz="2000" smtClean="0">
              <a:latin typeface="Times New Roman" pitchFamily="18" charset="0"/>
              <a:cs typeface="Times New Roman" pitchFamily="18" charset="0"/>
            </a:rPr>
            <a:t>Пассивный/холодный (cold‑standby): резерв готовится при отказе.</a:t>
          </a:r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F9B167D0-0F85-421A-A67E-EB7329F54B8F}" type="parTrans" cxnId="{C6A77837-ED76-4DCA-9258-CA0BA000C1A2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49E9465E-129F-4ED4-B11D-AFB62C377B96}" type="sibTrans" cxnId="{C6A77837-ED76-4DCA-9258-CA0BA000C1A2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CCAA55D3-2887-46B5-8187-82F2FD4675A9}">
      <dgm:prSet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Дистрибутивное резервирование: распределение нагрузки и функций по нескольким узлам.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41531D1F-C969-4099-A942-90E76F17F3E5}" type="parTrans" cxnId="{6AF36FF8-A362-4139-8D9B-2F12712CB518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85E7649C-34A7-4AE8-B2FA-F5F7FD83D9BE}" type="sibTrans" cxnId="{6AF36FF8-A362-4139-8D9B-2F12712CB518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17D46DE0-ED57-4973-B7CF-5EC44207B537}">
      <dgm:prSet custT="1"/>
      <dgm:spPr/>
      <dgm:t>
        <a:bodyPr/>
        <a:lstStyle/>
        <a:p>
          <a:r>
            <a:rPr lang="ru-RU" sz="2000" smtClean="0">
              <a:latin typeface="Times New Roman" pitchFamily="18" charset="0"/>
              <a:cs typeface="Times New Roman" pitchFamily="18" charset="0"/>
            </a:rPr>
            <a:t>Резервирование по времени/паттерну: checkpointing и восстановление.</a:t>
          </a:r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75E974C2-F617-4E51-99DE-1ACE420AC212}" type="parTrans" cxnId="{AAE33FBF-846E-43A2-999E-F99FC2169690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7B6BDDA0-F944-4E02-8C8A-CD299C7E9A5A}" type="sibTrans" cxnId="{AAE33FBF-846E-43A2-999E-F99FC2169690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BCB9541D-2D20-4AED-9947-DFB0120306F9}" type="pres">
      <dgm:prSet presAssocID="{B82173D7-E943-4846-8301-C7B88D9E4C0A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515F0861-71B3-4AB9-BE69-4761E929C8B1}" type="pres">
      <dgm:prSet presAssocID="{CC2618C9-751E-470B-8D44-6CB9EBF0C1D9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42E16D7-4E76-4341-9EAD-AE2D2E13251E}" type="pres">
      <dgm:prSet presAssocID="{51F2A411-E72D-4F43-89A5-E679BC52CDD9}" presName="sibTrans" presStyleCnt="0"/>
      <dgm:spPr/>
    </dgm:pt>
    <dgm:pt modelId="{52B997BE-4DCA-45ED-B7CF-74A9BE7C2A54}" type="pres">
      <dgm:prSet presAssocID="{C4E04D30-EF2F-4688-9E55-832D0D21C8AC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D9272CD-775C-4BC2-A268-8EF1D6BD15E1}" type="pres">
      <dgm:prSet presAssocID="{49E9465E-129F-4ED4-B11D-AFB62C377B96}" presName="sibTrans" presStyleCnt="0"/>
      <dgm:spPr/>
    </dgm:pt>
    <dgm:pt modelId="{07BC00DD-8DD9-4AFF-A096-6E964B40C422}" type="pres">
      <dgm:prSet presAssocID="{CCAA55D3-2887-46B5-8187-82F2FD4675A9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AEA4E36-BCFB-45F8-A3D4-CD0F7ED3B0CF}" type="pres">
      <dgm:prSet presAssocID="{85E7649C-34A7-4AE8-B2FA-F5F7FD83D9BE}" presName="sibTrans" presStyleCnt="0"/>
      <dgm:spPr/>
    </dgm:pt>
    <dgm:pt modelId="{65915157-E00A-48BE-BE2B-BCE6ABF2B3EF}" type="pres">
      <dgm:prSet presAssocID="{17D46DE0-ED57-4973-B7CF-5EC44207B537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AF36FF8-A362-4139-8D9B-2F12712CB518}" srcId="{B82173D7-E943-4846-8301-C7B88D9E4C0A}" destId="{CCAA55D3-2887-46B5-8187-82F2FD4675A9}" srcOrd="2" destOrd="0" parTransId="{41531D1F-C969-4099-A942-90E76F17F3E5}" sibTransId="{85E7649C-34A7-4AE8-B2FA-F5F7FD83D9BE}"/>
    <dgm:cxn modelId="{A45EADA6-5562-47FA-8F51-3EAD88362A34}" type="presOf" srcId="{C4E04D30-EF2F-4688-9E55-832D0D21C8AC}" destId="{52B997BE-4DCA-45ED-B7CF-74A9BE7C2A54}" srcOrd="0" destOrd="0" presId="urn:microsoft.com/office/officeart/2005/8/layout/default"/>
    <dgm:cxn modelId="{7ECD4B82-B3DA-4361-9D42-EF41E14179BC}" type="presOf" srcId="{B82173D7-E943-4846-8301-C7B88D9E4C0A}" destId="{BCB9541D-2D20-4AED-9947-DFB0120306F9}" srcOrd="0" destOrd="0" presId="urn:microsoft.com/office/officeart/2005/8/layout/default"/>
    <dgm:cxn modelId="{4E710B8E-D20E-4243-A9C5-2DA580437B40}" type="presOf" srcId="{CC2618C9-751E-470B-8D44-6CB9EBF0C1D9}" destId="{515F0861-71B3-4AB9-BE69-4761E929C8B1}" srcOrd="0" destOrd="0" presId="urn:microsoft.com/office/officeart/2005/8/layout/default"/>
    <dgm:cxn modelId="{EE001600-2CFA-47D5-A0D3-2CA7DCCF1F3F}" type="presOf" srcId="{17D46DE0-ED57-4973-B7CF-5EC44207B537}" destId="{65915157-E00A-48BE-BE2B-BCE6ABF2B3EF}" srcOrd="0" destOrd="0" presId="urn:microsoft.com/office/officeart/2005/8/layout/default"/>
    <dgm:cxn modelId="{34476FA0-FF0E-4B2D-AFE8-8B9F45C44DF3}" srcId="{B82173D7-E943-4846-8301-C7B88D9E4C0A}" destId="{CC2618C9-751E-470B-8D44-6CB9EBF0C1D9}" srcOrd="0" destOrd="0" parTransId="{C8E30458-2A62-4213-BD5B-0116C382A77B}" sibTransId="{51F2A411-E72D-4F43-89A5-E679BC52CDD9}"/>
    <dgm:cxn modelId="{AAE33FBF-846E-43A2-999E-F99FC2169690}" srcId="{B82173D7-E943-4846-8301-C7B88D9E4C0A}" destId="{17D46DE0-ED57-4973-B7CF-5EC44207B537}" srcOrd="3" destOrd="0" parTransId="{75E974C2-F617-4E51-99DE-1ACE420AC212}" sibTransId="{7B6BDDA0-F944-4E02-8C8A-CD299C7E9A5A}"/>
    <dgm:cxn modelId="{7690BA99-7E0C-4A19-8AAC-6A70F7C511AE}" type="presOf" srcId="{CCAA55D3-2887-46B5-8187-82F2FD4675A9}" destId="{07BC00DD-8DD9-4AFF-A096-6E964B40C422}" srcOrd="0" destOrd="0" presId="urn:microsoft.com/office/officeart/2005/8/layout/default"/>
    <dgm:cxn modelId="{C6A77837-ED76-4DCA-9258-CA0BA000C1A2}" srcId="{B82173D7-E943-4846-8301-C7B88D9E4C0A}" destId="{C4E04D30-EF2F-4688-9E55-832D0D21C8AC}" srcOrd="1" destOrd="0" parTransId="{F9B167D0-0F85-421A-A67E-EB7329F54B8F}" sibTransId="{49E9465E-129F-4ED4-B11D-AFB62C377B96}"/>
    <dgm:cxn modelId="{DF9A13B3-3FC3-4A23-A5C2-94E804A4C362}" type="presParOf" srcId="{BCB9541D-2D20-4AED-9947-DFB0120306F9}" destId="{515F0861-71B3-4AB9-BE69-4761E929C8B1}" srcOrd="0" destOrd="0" presId="urn:microsoft.com/office/officeart/2005/8/layout/default"/>
    <dgm:cxn modelId="{904A20F1-F05B-4F9D-92D8-5D0E5A4599DA}" type="presParOf" srcId="{BCB9541D-2D20-4AED-9947-DFB0120306F9}" destId="{C42E16D7-4E76-4341-9EAD-AE2D2E13251E}" srcOrd="1" destOrd="0" presId="urn:microsoft.com/office/officeart/2005/8/layout/default"/>
    <dgm:cxn modelId="{793F4265-022A-4628-931A-EDEC9B1324C7}" type="presParOf" srcId="{BCB9541D-2D20-4AED-9947-DFB0120306F9}" destId="{52B997BE-4DCA-45ED-B7CF-74A9BE7C2A54}" srcOrd="2" destOrd="0" presId="urn:microsoft.com/office/officeart/2005/8/layout/default"/>
    <dgm:cxn modelId="{2C9D9A0C-67EC-4A51-B33A-1C9E2160581E}" type="presParOf" srcId="{BCB9541D-2D20-4AED-9947-DFB0120306F9}" destId="{CD9272CD-775C-4BC2-A268-8EF1D6BD15E1}" srcOrd="3" destOrd="0" presId="urn:microsoft.com/office/officeart/2005/8/layout/default"/>
    <dgm:cxn modelId="{1E640CC8-4899-4016-AAD9-37FF9CF999E3}" type="presParOf" srcId="{BCB9541D-2D20-4AED-9947-DFB0120306F9}" destId="{07BC00DD-8DD9-4AFF-A096-6E964B40C422}" srcOrd="4" destOrd="0" presId="urn:microsoft.com/office/officeart/2005/8/layout/default"/>
    <dgm:cxn modelId="{A4BE3989-6EA3-445A-B91B-B281518E8AF7}" type="presParOf" srcId="{BCB9541D-2D20-4AED-9947-DFB0120306F9}" destId="{8AEA4E36-BCFB-45F8-A3D4-CD0F7ED3B0CF}" srcOrd="5" destOrd="0" presId="urn:microsoft.com/office/officeart/2005/8/layout/default"/>
    <dgm:cxn modelId="{48A336BD-B0F4-4882-A2C3-17DECD302046}" type="presParOf" srcId="{BCB9541D-2D20-4AED-9947-DFB0120306F9}" destId="{65915157-E00A-48BE-BE2B-BCE6ABF2B3EF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6F8451-BE38-45D2-8356-BD3E2AA7F9E4}">
      <dsp:nvSpPr>
        <dsp:cNvPr id="0" name=""/>
        <dsp:cNvSpPr/>
      </dsp:nvSpPr>
      <dsp:spPr>
        <a:xfrm>
          <a:off x="954" y="12184"/>
          <a:ext cx="3724149" cy="22344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dirty="0" smtClean="0">
              <a:latin typeface="Times New Roman" pitchFamily="18" charset="0"/>
              <a:cs typeface="Times New Roman" pitchFamily="18" charset="0"/>
            </a:rPr>
            <a:t>Функциональная (по функциям/услугам): сенсоры, обработка сигналов, планирование, исполнительные механизмы.</a:t>
          </a:r>
          <a:endParaRPr lang="ru-RU" sz="23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954" y="12184"/>
        <a:ext cx="3724149" cy="2234489"/>
      </dsp:txXfrm>
    </dsp:sp>
    <dsp:sp modelId="{E7498889-E6B4-44AB-BC54-9B40C6F4AC52}">
      <dsp:nvSpPr>
        <dsp:cNvPr id="0" name=""/>
        <dsp:cNvSpPr/>
      </dsp:nvSpPr>
      <dsp:spPr>
        <a:xfrm>
          <a:off x="4097518" y="12184"/>
          <a:ext cx="3724149" cy="22344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smtClean="0">
              <a:latin typeface="Times New Roman" pitchFamily="18" charset="0"/>
              <a:cs typeface="Times New Roman" pitchFamily="18" charset="0"/>
            </a:rPr>
            <a:t>Структурная/модульная (по аппаратному/программному размещению).</a:t>
          </a:r>
          <a:endParaRPr lang="ru-RU" sz="2300" kern="1200">
            <a:latin typeface="Times New Roman" pitchFamily="18" charset="0"/>
            <a:cs typeface="Times New Roman" pitchFamily="18" charset="0"/>
          </a:endParaRPr>
        </a:p>
      </dsp:txBody>
      <dsp:txXfrm>
        <a:off x="4097518" y="12184"/>
        <a:ext cx="3724149" cy="2234489"/>
      </dsp:txXfrm>
    </dsp:sp>
    <dsp:sp modelId="{64ADC541-1498-49C1-94D3-1D16D1588E00}">
      <dsp:nvSpPr>
        <dsp:cNvPr id="0" name=""/>
        <dsp:cNvSpPr/>
      </dsp:nvSpPr>
      <dsp:spPr>
        <a:xfrm>
          <a:off x="954" y="2619088"/>
          <a:ext cx="3724149" cy="22344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dirty="0" smtClean="0">
              <a:latin typeface="Times New Roman" pitchFamily="18" charset="0"/>
              <a:cs typeface="Times New Roman" pitchFamily="18" charset="0"/>
            </a:rPr>
            <a:t>Иерархическая (уровни: стратегический → тактический → оперативный).</a:t>
          </a:r>
          <a:endParaRPr lang="ru-RU" sz="23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954" y="2619088"/>
        <a:ext cx="3724149" cy="2234489"/>
      </dsp:txXfrm>
    </dsp:sp>
    <dsp:sp modelId="{62EEB0A2-BC2B-4638-AFCD-4605D72351B4}">
      <dsp:nvSpPr>
        <dsp:cNvPr id="0" name=""/>
        <dsp:cNvSpPr/>
      </dsp:nvSpPr>
      <dsp:spPr>
        <a:xfrm>
          <a:off x="4097518" y="2619088"/>
          <a:ext cx="3724149" cy="22344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smtClean="0">
              <a:latin typeface="Times New Roman" pitchFamily="18" charset="0"/>
              <a:cs typeface="Times New Roman" pitchFamily="18" charset="0"/>
            </a:rPr>
            <a:t>Временная/разделение по частотам (разделение «медленных» и «быстрых» контуров управления).</a:t>
          </a:r>
          <a:endParaRPr lang="ru-RU" sz="2300" kern="1200">
            <a:latin typeface="Times New Roman" pitchFamily="18" charset="0"/>
            <a:cs typeface="Times New Roman" pitchFamily="18" charset="0"/>
          </a:endParaRPr>
        </a:p>
      </dsp:txBody>
      <dsp:txXfrm>
        <a:off x="4097518" y="2619088"/>
        <a:ext cx="3724149" cy="22344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75D3B4-D7D6-41B3-82A3-AFD77043D914}">
      <dsp:nvSpPr>
        <dsp:cNvPr id="0" name=""/>
        <dsp:cNvSpPr/>
      </dsp:nvSpPr>
      <dsp:spPr>
        <a:xfrm>
          <a:off x="744" y="145603"/>
          <a:ext cx="2902148" cy="1741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/>
            <a:t>Четкие интерфейсы и контракты (API, протоколы, модели обмена информацией).</a:t>
          </a:r>
          <a:endParaRPr lang="ru-RU" sz="2200" kern="1200" dirty="0"/>
        </a:p>
      </dsp:txBody>
      <dsp:txXfrm>
        <a:off x="744" y="145603"/>
        <a:ext cx="2902148" cy="1741289"/>
      </dsp:txXfrm>
    </dsp:sp>
    <dsp:sp modelId="{5F2590BF-E209-4F3E-BB57-6367279378A8}">
      <dsp:nvSpPr>
        <dsp:cNvPr id="0" name=""/>
        <dsp:cNvSpPr/>
      </dsp:nvSpPr>
      <dsp:spPr>
        <a:xfrm>
          <a:off x="3193107" y="145603"/>
          <a:ext cx="2902148" cy="1741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/>
            <a:t>Инкапсуляция: скрытие внутренней реализации, только явно заданный набор данных/событий.</a:t>
          </a:r>
          <a:endParaRPr lang="ru-RU" sz="2200" kern="1200" dirty="0"/>
        </a:p>
      </dsp:txBody>
      <dsp:txXfrm>
        <a:off x="3193107" y="145603"/>
        <a:ext cx="2902148" cy="1741289"/>
      </dsp:txXfrm>
    </dsp:sp>
    <dsp:sp modelId="{DCF6C0A4-FEB9-44A4-BFDE-25DF6FB81433}">
      <dsp:nvSpPr>
        <dsp:cNvPr id="0" name=""/>
        <dsp:cNvSpPr/>
      </dsp:nvSpPr>
      <dsp:spPr>
        <a:xfrm>
          <a:off x="744" y="2177107"/>
          <a:ext cx="2902148" cy="1741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/>
            <a:t>Разделение ответственности (</a:t>
          </a:r>
          <a:r>
            <a:rPr lang="en-US" sz="2200" kern="1200" dirty="0" smtClean="0"/>
            <a:t>single responsibility).</a:t>
          </a:r>
          <a:endParaRPr lang="ru-RU" sz="2200" kern="1200" dirty="0"/>
        </a:p>
      </dsp:txBody>
      <dsp:txXfrm>
        <a:off x="744" y="2177107"/>
        <a:ext cx="2902148" cy="1741289"/>
      </dsp:txXfrm>
    </dsp:sp>
    <dsp:sp modelId="{FC161A02-86C2-40E6-99B5-FDDB1F1036EA}">
      <dsp:nvSpPr>
        <dsp:cNvPr id="0" name=""/>
        <dsp:cNvSpPr/>
      </dsp:nvSpPr>
      <dsp:spPr>
        <a:xfrm>
          <a:off x="3193107" y="2177107"/>
          <a:ext cx="2902148" cy="1741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/>
            <a:t>Согласованные инварианты и протоколы отказа.</a:t>
          </a:r>
          <a:endParaRPr lang="ru-RU" sz="2200" kern="1200" dirty="0"/>
        </a:p>
      </dsp:txBody>
      <dsp:txXfrm>
        <a:off x="3193107" y="2177107"/>
        <a:ext cx="2902148" cy="17412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75D3B4-D7D6-41B3-82A3-AFD77043D914}">
      <dsp:nvSpPr>
        <dsp:cNvPr id="0" name=""/>
        <dsp:cNvSpPr/>
      </dsp:nvSpPr>
      <dsp:spPr>
        <a:xfrm>
          <a:off x="744" y="145603"/>
          <a:ext cx="2902148" cy="1741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kern="1200" smtClean="0">
              <a:latin typeface="Times New Roman" pitchFamily="18" charset="0"/>
              <a:cs typeface="Times New Roman" pitchFamily="18" charset="0"/>
            </a:rPr>
            <a:t>Слишком мелкая декомпозиция → сложность интеграции.</a:t>
          </a:r>
          <a:endParaRPr lang="ru-RU" sz="2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744" y="145603"/>
        <a:ext cx="2902148" cy="1741289"/>
      </dsp:txXfrm>
    </dsp:sp>
    <dsp:sp modelId="{E1947DD4-3781-4EE8-A423-1D5BD43A5EEB}">
      <dsp:nvSpPr>
        <dsp:cNvPr id="0" name=""/>
        <dsp:cNvSpPr/>
      </dsp:nvSpPr>
      <dsp:spPr>
        <a:xfrm>
          <a:off x="3193107" y="145603"/>
          <a:ext cx="2902148" cy="1741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kern="1200" dirty="0" smtClean="0">
              <a:latin typeface="Times New Roman" pitchFamily="18" charset="0"/>
              <a:cs typeface="Times New Roman" pitchFamily="18" charset="0"/>
            </a:rPr>
            <a:t>Слишком грубая → модули становятся неуправляемыми.</a:t>
          </a:r>
        </a:p>
      </dsp:txBody>
      <dsp:txXfrm>
        <a:off x="3193107" y="145603"/>
        <a:ext cx="2902148" cy="1741289"/>
      </dsp:txXfrm>
    </dsp:sp>
    <dsp:sp modelId="{D5DDC7B1-4D23-4C3B-AC41-DDDF81E12F89}">
      <dsp:nvSpPr>
        <dsp:cNvPr id="0" name=""/>
        <dsp:cNvSpPr/>
      </dsp:nvSpPr>
      <dsp:spPr>
        <a:xfrm>
          <a:off x="1596925" y="2177107"/>
          <a:ext cx="2902148" cy="1741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kern="1200" dirty="0" smtClean="0">
              <a:latin typeface="Times New Roman" pitchFamily="18" charset="0"/>
              <a:cs typeface="Times New Roman" pitchFamily="18" charset="0"/>
            </a:rPr>
            <a:t>Неопределённые интерфейсы → расхождения при интеграции.</a:t>
          </a:r>
        </a:p>
      </dsp:txBody>
      <dsp:txXfrm>
        <a:off x="1596925" y="2177107"/>
        <a:ext cx="2902148" cy="17412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8EAC54-A5B4-47D3-BC89-AE4FDC9B14F9}">
      <dsp:nvSpPr>
        <dsp:cNvPr id="0" name=""/>
        <dsp:cNvSpPr/>
      </dsp:nvSpPr>
      <dsp:spPr>
        <a:xfrm>
          <a:off x="0" y="665819"/>
          <a:ext cx="2630740" cy="15784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Математические (дифференциальные уравнения, </a:t>
          </a:r>
          <a:r>
            <a:rPr lang="en-US" sz="1800" kern="1200" dirty="0" smtClean="0">
              <a:latin typeface="Times New Roman" pitchFamily="18" charset="0"/>
              <a:cs typeface="Times New Roman" pitchFamily="18" charset="0"/>
            </a:rPr>
            <a:t>state‑space).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665819"/>
        <a:ext cx="2630740" cy="1578443"/>
      </dsp:txXfrm>
    </dsp:sp>
    <dsp:sp modelId="{D0A56F30-8A8B-4671-9268-9AC9ED7AA1F6}">
      <dsp:nvSpPr>
        <dsp:cNvPr id="0" name=""/>
        <dsp:cNvSpPr/>
      </dsp:nvSpPr>
      <dsp:spPr>
        <a:xfrm>
          <a:off x="2893814" y="665819"/>
          <a:ext cx="2630740" cy="15784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smtClean="0">
              <a:latin typeface="Times New Roman" pitchFamily="18" charset="0"/>
              <a:cs typeface="Times New Roman" pitchFamily="18" charset="0"/>
            </a:rPr>
            <a:t>Стохастические и вероятностные (Markov, HMM, стохастические дифференциальные уравнения).</a:t>
          </a:r>
          <a:endParaRPr lang="ru-RU" sz="1800" kern="1200">
            <a:latin typeface="Times New Roman" pitchFamily="18" charset="0"/>
            <a:cs typeface="Times New Roman" pitchFamily="18" charset="0"/>
          </a:endParaRPr>
        </a:p>
      </dsp:txBody>
      <dsp:txXfrm>
        <a:off x="2893814" y="665819"/>
        <a:ext cx="2630740" cy="1578443"/>
      </dsp:txXfrm>
    </dsp:sp>
    <dsp:sp modelId="{1A74E9FB-9D86-460F-BED8-48CA795CF619}">
      <dsp:nvSpPr>
        <dsp:cNvPr id="0" name=""/>
        <dsp:cNvSpPr/>
      </dsp:nvSpPr>
      <dsp:spPr>
        <a:xfrm>
          <a:off x="5787628" y="665819"/>
          <a:ext cx="2630740" cy="15784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smtClean="0">
              <a:latin typeface="Times New Roman" pitchFamily="18" charset="0"/>
              <a:cs typeface="Times New Roman" pitchFamily="18" charset="0"/>
            </a:rPr>
            <a:t>Дискретно‑событийные (для сетей, очередей, логистики).</a:t>
          </a:r>
          <a:endParaRPr lang="ru-RU" sz="1800" kern="1200">
            <a:latin typeface="Times New Roman" pitchFamily="18" charset="0"/>
            <a:cs typeface="Times New Roman" pitchFamily="18" charset="0"/>
          </a:endParaRPr>
        </a:p>
      </dsp:txBody>
      <dsp:txXfrm>
        <a:off x="5787628" y="665819"/>
        <a:ext cx="2630740" cy="1578443"/>
      </dsp:txXfrm>
    </dsp:sp>
    <dsp:sp modelId="{02DBEF2E-20C3-4C26-8523-B6A155E9B0A4}">
      <dsp:nvSpPr>
        <dsp:cNvPr id="0" name=""/>
        <dsp:cNvSpPr/>
      </dsp:nvSpPr>
      <dsp:spPr>
        <a:xfrm>
          <a:off x="0" y="2507336"/>
          <a:ext cx="2630740" cy="15784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smtClean="0">
              <a:latin typeface="Times New Roman" pitchFamily="18" charset="0"/>
              <a:cs typeface="Times New Roman" pitchFamily="18" charset="0"/>
            </a:rPr>
            <a:t>Гибридные и мультимодальные (сочетают непрерывную динамику и дискретные события).</a:t>
          </a:r>
          <a:endParaRPr lang="ru-RU" sz="1800" kern="1200">
            <a:latin typeface="Times New Roman" pitchFamily="18" charset="0"/>
            <a:cs typeface="Times New Roman" pitchFamily="18" charset="0"/>
          </a:endParaRPr>
        </a:p>
      </dsp:txBody>
      <dsp:txXfrm>
        <a:off x="0" y="2507336"/>
        <a:ext cx="2630740" cy="1578443"/>
      </dsp:txXfrm>
    </dsp:sp>
    <dsp:sp modelId="{DEF1207E-F2D7-423A-9CBE-E4320EB79760}">
      <dsp:nvSpPr>
        <dsp:cNvPr id="0" name=""/>
        <dsp:cNvSpPr/>
      </dsp:nvSpPr>
      <dsp:spPr>
        <a:xfrm>
          <a:off x="2893814" y="2507336"/>
          <a:ext cx="2630740" cy="15784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smtClean="0">
              <a:latin typeface="Times New Roman" pitchFamily="18" charset="0"/>
              <a:cs typeface="Times New Roman" pitchFamily="18" charset="0"/>
            </a:rPr>
            <a:t>Эмпирические/черного‑ящика (ML‑модели, нейросети) и белого/смешанные (физически обоснованные + ML-составляющая).</a:t>
          </a:r>
          <a:endParaRPr lang="ru-RU" sz="1800" kern="1200">
            <a:latin typeface="Times New Roman" pitchFamily="18" charset="0"/>
            <a:cs typeface="Times New Roman" pitchFamily="18" charset="0"/>
          </a:endParaRPr>
        </a:p>
      </dsp:txBody>
      <dsp:txXfrm>
        <a:off x="2893814" y="2507336"/>
        <a:ext cx="2630740" cy="1578443"/>
      </dsp:txXfrm>
    </dsp:sp>
    <dsp:sp modelId="{6CF722EC-E908-4D37-B46A-78C0688A06D0}">
      <dsp:nvSpPr>
        <dsp:cNvPr id="0" name=""/>
        <dsp:cNvSpPr/>
      </dsp:nvSpPr>
      <dsp:spPr>
        <a:xfrm>
          <a:off x="5787628" y="2507336"/>
          <a:ext cx="2630740" cy="15784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err="1" smtClean="0">
              <a:latin typeface="Times New Roman" pitchFamily="18" charset="0"/>
              <a:cs typeface="Times New Roman" pitchFamily="18" charset="0"/>
            </a:rPr>
            <a:t>Digital</a:t>
          </a: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800" kern="1200" dirty="0" err="1" smtClean="0">
              <a:latin typeface="Times New Roman" pitchFamily="18" charset="0"/>
              <a:cs typeface="Times New Roman" pitchFamily="18" charset="0"/>
            </a:rPr>
            <a:t>twin</a:t>
          </a: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 (цифровой двойник) - полноценная инженерная копия в ПО.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5787628" y="2507336"/>
        <a:ext cx="2630740" cy="157844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2792C6-1DF4-443E-AD5E-E8D8EA672FA8}">
      <dsp:nvSpPr>
        <dsp:cNvPr id="0" name=""/>
        <dsp:cNvSpPr/>
      </dsp:nvSpPr>
      <dsp:spPr>
        <a:xfrm>
          <a:off x="117885" y="1924"/>
          <a:ext cx="3632578" cy="21795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 dirty="0" smtClean="0">
              <a:latin typeface="Times New Roman" pitchFamily="18" charset="0"/>
              <a:cs typeface="Times New Roman" pitchFamily="18" charset="0"/>
            </a:rPr>
            <a:t>Однокритериальная </a:t>
          </a:r>
          <a:r>
            <a:rPr lang="ru-RU" sz="2500" kern="1200" dirty="0" err="1" smtClean="0">
              <a:latin typeface="Times New Roman" pitchFamily="18" charset="0"/>
              <a:cs typeface="Times New Roman" pitchFamily="18" charset="0"/>
            </a:rPr>
            <a:t>vs</a:t>
          </a:r>
          <a:r>
            <a:rPr lang="ru-RU" sz="2500" kern="1200" dirty="0" smtClean="0">
              <a:latin typeface="Times New Roman" pitchFamily="18" charset="0"/>
              <a:cs typeface="Times New Roman" pitchFamily="18" charset="0"/>
            </a:rPr>
            <a:t> многокритериальная (например, производительность </a:t>
          </a:r>
          <a:r>
            <a:rPr lang="ru-RU" sz="2500" kern="1200" dirty="0" err="1" smtClean="0">
              <a:latin typeface="Times New Roman" pitchFamily="18" charset="0"/>
              <a:cs typeface="Times New Roman" pitchFamily="18" charset="0"/>
            </a:rPr>
            <a:t>vs</a:t>
          </a:r>
          <a:r>
            <a:rPr lang="ru-RU" sz="2500" kern="1200" dirty="0" smtClean="0">
              <a:latin typeface="Times New Roman" pitchFamily="18" charset="0"/>
              <a:cs typeface="Times New Roman" pitchFamily="18" charset="0"/>
            </a:rPr>
            <a:t> потребление).</a:t>
          </a:r>
          <a:endParaRPr lang="ru-RU" sz="25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17885" y="1924"/>
        <a:ext cx="3632578" cy="2179546"/>
      </dsp:txXfrm>
    </dsp:sp>
    <dsp:sp modelId="{C6F2AAAA-EE72-4E43-8981-EFC2EDE17B04}">
      <dsp:nvSpPr>
        <dsp:cNvPr id="0" name=""/>
        <dsp:cNvSpPr/>
      </dsp:nvSpPr>
      <dsp:spPr>
        <a:xfrm>
          <a:off x="4113721" y="1924"/>
          <a:ext cx="3632578" cy="21795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 smtClean="0">
              <a:latin typeface="Times New Roman" pitchFamily="18" charset="0"/>
              <a:cs typeface="Times New Roman" pitchFamily="18" charset="0"/>
            </a:rPr>
            <a:t>Выпуклая </a:t>
          </a:r>
          <a:r>
            <a:rPr lang="en-US" sz="2500" kern="1200" smtClean="0">
              <a:latin typeface="Times New Roman" pitchFamily="18" charset="0"/>
              <a:cs typeface="Times New Roman" pitchFamily="18" charset="0"/>
            </a:rPr>
            <a:t>vs </a:t>
          </a:r>
          <a:r>
            <a:rPr lang="ru-RU" sz="2500" kern="1200" smtClean="0">
              <a:latin typeface="Times New Roman" pitchFamily="18" charset="0"/>
              <a:cs typeface="Times New Roman" pitchFamily="18" charset="0"/>
            </a:rPr>
            <a:t>невыпуклая; дифференцируемая </a:t>
          </a:r>
          <a:r>
            <a:rPr lang="en-US" sz="2500" kern="1200" smtClean="0">
              <a:latin typeface="Times New Roman" pitchFamily="18" charset="0"/>
              <a:cs typeface="Times New Roman" pitchFamily="18" charset="0"/>
            </a:rPr>
            <a:t>vs nondifferentiable; </a:t>
          </a:r>
          <a:r>
            <a:rPr lang="ru-RU" sz="2500" kern="1200" smtClean="0">
              <a:latin typeface="Times New Roman" pitchFamily="18" charset="0"/>
              <a:cs typeface="Times New Roman" pitchFamily="18" charset="0"/>
            </a:rPr>
            <a:t>непрерывная </a:t>
          </a:r>
          <a:r>
            <a:rPr lang="en-US" sz="2500" kern="1200" smtClean="0">
              <a:latin typeface="Times New Roman" pitchFamily="18" charset="0"/>
              <a:cs typeface="Times New Roman" pitchFamily="18" charset="0"/>
            </a:rPr>
            <a:t>vs </a:t>
          </a:r>
          <a:r>
            <a:rPr lang="ru-RU" sz="2500" kern="1200" smtClean="0">
              <a:latin typeface="Times New Roman" pitchFamily="18" charset="0"/>
              <a:cs typeface="Times New Roman" pitchFamily="18" charset="0"/>
            </a:rPr>
            <a:t>целочисленная.</a:t>
          </a:r>
          <a:endParaRPr lang="ru-RU" sz="2500" kern="1200">
            <a:latin typeface="Times New Roman" pitchFamily="18" charset="0"/>
            <a:cs typeface="Times New Roman" pitchFamily="18" charset="0"/>
          </a:endParaRPr>
        </a:p>
      </dsp:txBody>
      <dsp:txXfrm>
        <a:off x="4113721" y="1924"/>
        <a:ext cx="3632578" cy="2179546"/>
      </dsp:txXfrm>
    </dsp:sp>
    <dsp:sp modelId="{39357091-77B0-4D39-AF46-3340F362EE68}">
      <dsp:nvSpPr>
        <dsp:cNvPr id="0" name=""/>
        <dsp:cNvSpPr/>
      </dsp:nvSpPr>
      <dsp:spPr>
        <a:xfrm>
          <a:off x="2115803" y="2544728"/>
          <a:ext cx="3632578" cy="21795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 smtClean="0">
              <a:latin typeface="Times New Roman" pitchFamily="18" charset="0"/>
              <a:cs typeface="Times New Roman" pitchFamily="18" charset="0"/>
            </a:rPr>
            <a:t>Стационарная vs стохастическая оптимизация; оптимизация в реальном времени.</a:t>
          </a:r>
          <a:endParaRPr lang="ru-RU" sz="2500" kern="1200">
            <a:latin typeface="Times New Roman" pitchFamily="18" charset="0"/>
            <a:cs typeface="Times New Roman" pitchFamily="18" charset="0"/>
          </a:endParaRPr>
        </a:p>
      </dsp:txBody>
      <dsp:txXfrm>
        <a:off x="2115803" y="2544728"/>
        <a:ext cx="3632578" cy="217954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5F0861-71B3-4AB9-BE69-4761E929C8B1}">
      <dsp:nvSpPr>
        <dsp:cNvPr id="0" name=""/>
        <dsp:cNvSpPr/>
      </dsp:nvSpPr>
      <dsp:spPr>
        <a:xfrm>
          <a:off x="349834" y="657"/>
          <a:ext cx="3666499" cy="21998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Активный/горячий (</a:t>
          </a:r>
          <a:r>
            <a:rPr lang="ru-RU" sz="2000" kern="1200" dirty="0" err="1" smtClean="0">
              <a:latin typeface="Times New Roman" pitchFamily="18" charset="0"/>
              <a:cs typeface="Times New Roman" pitchFamily="18" charset="0"/>
            </a:rPr>
            <a:t>hot‑standby</a:t>
          </a: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): резервные узлы работают и синхронизированы.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49834" y="657"/>
        <a:ext cx="3666499" cy="2199899"/>
      </dsp:txXfrm>
    </dsp:sp>
    <dsp:sp modelId="{52B997BE-4DCA-45ED-B7CF-74A9BE7C2A54}">
      <dsp:nvSpPr>
        <dsp:cNvPr id="0" name=""/>
        <dsp:cNvSpPr/>
      </dsp:nvSpPr>
      <dsp:spPr>
        <a:xfrm>
          <a:off x="4382983" y="657"/>
          <a:ext cx="3666499" cy="21998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smtClean="0">
              <a:latin typeface="Times New Roman" pitchFamily="18" charset="0"/>
              <a:cs typeface="Times New Roman" pitchFamily="18" charset="0"/>
            </a:rPr>
            <a:t>Пассивный/холодный (cold‑standby): резерв готовится при отказе.</a:t>
          </a:r>
          <a:endParaRPr lang="ru-RU" sz="2000" kern="1200">
            <a:latin typeface="Times New Roman" pitchFamily="18" charset="0"/>
            <a:cs typeface="Times New Roman" pitchFamily="18" charset="0"/>
          </a:endParaRPr>
        </a:p>
      </dsp:txBody>
      <dsp:txXfrm>
        <a:off x="4382983" y="657"/>
        <a:ext cx="3666499" cy="2199899"/>
      </dsp:txXfrm>
    </dsp:sp>
    <dsp:sp modelId="{07BC00DD-8DD9-4AFF-A096-6E964B40C422}">
      <dsp:nvSpPr>
        <dsp:cNvPr id="0" name=""/>
        <dsp:cNvSpPr/>
      </dsp:nvSpPr>
      <dsp:spPr>
        <a:xfrm>
          <a:off x="349834" y="2567206"/>
          <a:ext cx="3666499" cy="21998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Дистрибутивное резервирование: распределение нагрузки и функций по нескольким узлам.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49834" y="2567206"/>
        <a:ext cx="3666499" cy="2199899"/>
      </dsp:txXfrm>
    </dsp:sp>
    <dsp:sp modelId="{65915157-E00A-48BE-BE2B-BCE6ABF2B3EF}">
      <dsp:nvSpPr>
        <dsp:cNvPr id="0" name=""/>
        <dsp:cNvSpPr/>
      </dsp:nvSpPr>
      <dsp:spPr>
        <a:xfrm>
          <a:off x="4382983" y="2567206"/>
          <a:ext cx="3666499" cy="21998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smtClean="0">
              <a:latin typeface="Times New Roman" pitchFamily="18" charset="0"/>
              <a:cs typeface="Times New Roman" pitchFamily="18" charset="0"/>
            </a:rPr>
            <a:t>Резервирование по времени/паттерну: checkpointing и восстановление.</a:t>
          </a:r>
          <a:endParaRPr lang="ru-RU" sz="2000" kern="1200">
            <a:latin typeface="Times New Roman" pitchFamily="18" charset="0"/>
            <a:cs typeface="Times New Roman" pitchFamily="18" charset="0"/>
          </a:endParaRPr>
        </a:p>
      </dsp:txBody>
      <dsp:txXfrm>
        <a:off x="4382983" y="2567206"/>
        <a:ext cx="3666499" cy="21998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6/27/2026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6/27/2026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6/27/2026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2057399"/>
            <a:ext cx="6858000" cy="2708565"/>
          </a:xfrm>
        </p:spPr>
        <p:txBody>
          <a:bodyPr/>
          <a:lstStyle/>
          <a:p>
            <a:pPr algn="l"/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Наземная инфраструктура как сложная техническая система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Лекция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sz="18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800" smtClean="0">
                <a:latin typeface="Times New Roman" pitchFamily="18" charset="0"/>
                <a:cs typeface="Times New Roman" pitchFamily="18" charset="0"/>
              </a:rPr>
              <a:t>2026-2027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уч. г.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dirty="0">
                <a:latin typeface="Times New Roman" pitchFamily="18" charset="0"/>
                <a:cs typeface="Times New Roman" pitchFamily="18" charset="0"/>
              </a:rPr>
            </a:b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="" xmlns:a16="http://schemas.microsoft.com/office/drawing/2014/main" id="{4C6D146A-8A1D-466F-95B0-D4B5B952F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2055" y="2305553"/>
            <a:ext cx="7372350" cy="1452563"/>
          </a:xfrm>
        </p:spPr>
        <p:txBody>
          <a:bodyPr/>
          <a:lstStyle/>
          <a:p>
            <a:r>
              <a:rPr lang="ru-RU" sz="4400" b="0" dirty="0">
                <a:latin typeface="Times New Roman" pitchFamily="18" charset="0"/>
                <a:cs typeface="Times New Roman" pitchFamily="18" charset="0"/>
              </a:rPr>
              <a:t>Методы управления сложными техническими системами</a:t>
            </a:r>
          </a:p>
        </p:txBody>
      </p:sp>
      <p:sp>
        <p:nvSpPr>
          <p:cNvPr id="11" name="Подзаголовок 10">
            <a:extLst>
              <a:ext uri="{FF2B5EF4-FFF2-40B4-BE49-F238E27FC236}">
                <a16:creationId xmlns="" xmlns:a16="http://schemas.microsoft.com/office/drawing/2014/main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Лекция 2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528128"/>
            <a:ext cx="7886700" cy="1325563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План лекции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730250" y="1747889"/>
            <a:ext cx="7886700" cy="3653219"/>
          </a:xfrm>
        </p:spPr>
        <p:txBody>
          <a:bodyPr/>
          <a:lstStyle/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 smtClean="0">
                <a:latin typeface="Times New Roman"/>
                <a:ea typeface="Times New Roman"/>
              </a:rPr>
              <a:t>Декомпозиция.</a:t>
            </a:r>
            <a:endParaRPr lang="ru-RU" dirty="0">
              <a:latin typeface="Times New Roman"/>
              <a:ea typeface="Times New Roman"/>
            </a:endParaRP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 smtClean="0">
                <a:latin typeface="Times New Roman"/>
                <a:ea typeface="Times New Roman"/>
              </a:rPr>
              <a:t>Моделирование.</a:t>
            </a:r>
            <a:endParaRPr lang="ru-RU" dirty="0">
              <a:latin typeface="Times New Roman"/>
              <a:ea typeface="Times New Roman"/>
            </a:endParaRP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 smtClean="0">
                <a:latin typeface="Times New Roman"/>
                <a:ea typeface="Times New Roman"/>
              </a:rPr>
              <a:t>Оптимизация.</a:t>
            </a:r>
            <a:endParaRPr lang="ru-RU" dirty="0">
              <a:latin typeface="Times New Roman"/>
              <a:ea typeface="Times New Roman"/>
            </a:endParaRP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 smtClean="0">
                <a:latin typeface="Times New Roman"/>
                <a:ea typeface="Times New Roman"/>
              </a:rPr>
              <a:t>Резервирование.</a:t>
            </a:r>
            <a:endParaRPr lang="ru-RU" dirty="0">
              <a:latin typeface="Times New Roman"/>
              <a:ea typeface="Times New Roman"/>
            </a:endParaRP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 smtClean="0">
                <a:latin typeface="Times New Roman"/>
                <a:ea typeface="Times New Roman"/>
              </a:rPr>
              <a:t>Диагностика.</a:t>
            </a:r>
            <a:endParaRPr lang="ru-RU" dirty="0">
              <a:latin typeface="Times New Roman"/>
              <a:ea typeface="Times New Roman"/>
            </a:endParaRP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 smtClean="0">
                <a:latin typeface="Times New Roman"/>
                <a:ea typeface="Times New Roman"/>
              </a:rPr>
              <a:t>Обучение.</a:t>
            </a:r>
            <a:endParaRPr lang="ru-RU" dirty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06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19"/>
            <a:ext cx="7886700" cy="1325563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Методы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управления сложными техническими системами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1365964"/>
            <a:ext cx="8418368" cy="3653219"/>
          </a:xfrm>
        </p:spPr>
        <p:txBody>
          <a:bodyPr/>
          <a:lstStyle/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/>
                <a:ea typeface="Times New Roman"/>
              </a:rPr>
              <a:t>Декомпозиция:  Разбиение СТС на более мелкие и управляемые подсистемы.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/>
                <a:ea typeface="Times New Roman"/>
              </a:rPr>
              <a:t>Иерархическое управление:  Создание многоуровневой системы управления, в которой каждый уровень отвечает за управление определенной подсистемой.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/>
                <a:ea typeface="Times New Roman"/>
              </a:rPr>
              <a:t>Моделирование:  Использование математических моделей для анализа и прогнозирования поведения СТС.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/>
                <a:ea typeface="Times New Roman"/>
              </a:rPr>
              <a:t>Оптимизация:  Поиск оптимальных параметров управления СТС с использованием методов математического программирования.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/>
                <a:ea typeface="Times New Roman"/>
              </a:rPr>
              <a:t>Резервирование:  Дублирование важных элементов СТС для повышения надежности.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/>
                <a:ea typeface="Times New Roman"/>
              </a:rPr>
              <a:t>Диагностика:  Регулярная проверка состояния элементов СТС для выявления потенциальных проблем.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/>
                <a:ea typeface="Times New Roman"/>
              </a:rPr>
              <a:t>Обучение:  Повышение квалификации персонала, работающего с СТС.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8100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19"/>
            <a:ext cx="7886700" cy="1325563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Декомпозиция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1365964"/>
            <a:ext cx="8418368" cy="4660763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dirty="0" smtClean="0">
                <a:latin typeface="Times New Roman"/>
                <a:ea typeface="Times New Roman"/>
              </a:rPr>
              <a:t>Декомпозиция - разбиение </a:t>
            </a:r>
            <a:r>
              <a:rPr lang="ru-RU" sz="3200" dirty="0">
                <a:latin typeface="Times New Roman"/>
                <a:ea typeface="Times New Roman"/>
              </a:rPr>
              <a:t>СТС на более мелкие и управляемые </a:t>
            </a:r>
            <a:r>
              <a:rPr lang="ru-RU" sz="3200" dirty="0" smtClean="0">
                <a:latin typeface="Times New Roman"/>
                <a:ea typeface="Times New Roman"/>
              </a:rPr>
              <a:t>подсистемы.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3200" dirty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dirty="0">
                <a:latin typeface="Times New Roman"/>
                <a:ea typeface="Times New Roman"/>
              </a:rPr>
              <a:t>Разделение системы на подсистемы/модули по функциональному, структурному или временно‑поведенческому признаку.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813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19"/>
            <a:ext cx="7886700" cy="1325563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Декомпозиция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1365964"/>
            <a:ext cx="8418368" cy="4660763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dirty="0">
                <a:latin typeface="Times New Roman"/>
                <a:ea typeface="Times New Roman"/>
              </a:rPr>
              <a:t>Цель: снизить сложность, выделить управляемые части, упростить проектирование и верификацию.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7537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19"/>
            <a:ext cx="7886700" cy="1325563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Декомпозиция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692727" y="1044491"/>
            <a:ext cx="8418368" cy="642945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dirty="0" smtClean="0">
                <a:latin typeface="Times New Roman"/>
                <a:ea typeface="Times New Roman"/>
              </a:rPr>
              <a:t>Типы</a:t>
            </a:r>
            <a:endParaRPr lang="ru-RU" sz="3200" dirty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7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1269957812"/>
              </p:ext>
            </p:extLst>
          </p:nvPr>
        </p:nvGraphicFramePr>
        <p:xfrm>
          <a:off x="692727" y="1687436"/>
          <a:ext cx="7822623" cy="486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5309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19"/>
            <a:ext cx="7886700" cy="1325563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Декомпозиция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1365964"/>
            <a:ext cx="8418368" cy="642945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dirty="0" smtClean="0">
                <a:latin typeface="Times New Roman"/>
                <a:ea typeface="Times New Roman"/>
              </a:rPr>
              <a:t>Принципы и правила</a:t>
            </a:r>
            <a:endParaRPr lang="ru-RU" sz="3200" dirty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8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3580944410"/>
              </p:ext>
            </p:extLst>
          </p:nvPr>
        </p:nvGraphicFramePr>
        <p:xfrm>
          <a:off x="1524000" y="2058691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5863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19"/>
            <a:ext cx="7886700" cy="1325563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Декомпозиция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1365964"/>
            <a:ext cx="8418368" cy="642945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dirty="0">
                <a:latin typeface="Times New Roman"/>
                <a:ea typeface="Times New Roman"/>
              </a:rPr>
              <a:t>Потенциальные ошибки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9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1301151243"/>
              </p:ext>
            </p:extLst>
          </p:nvPr>
        </p:nvGraphicFramePr>
        <p:xfrm>
          <a:off x="1524000" y="2058691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81397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19"/>
            <a:ext cx="7886700" cy="1325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Моделирование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1365964"/>
            <a:ext cx="8418368" cy="642945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dirty="0" smtClean="0">
                <a:latin typeface="Times New Roman"/>
                <a:ea typeface="Times New Roman"/>
              </a:rPr>
              <a:t>Моделирование - использование </a:t>
            </a:r>
            <a:r>
              <a:rPr lang="ru-RU" sz="3200" dirty="0">
                <a:latin typeface="Times New Roman"/>
                <a:ea typeface="Times New Roman"/>
              </a:rPr>
              <a:t>математических моделей для анализа и прогнозирования поведения СТС.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0411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19"/>
            <a:ext cx="7886700" cy="1325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Моделирование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1365964"/>
            <a:ext cx="8418368" cy="642945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dirty="0" smtClean="0">
                <a:latin typeface="Times New Roman"/>
                <a:ea typeface="Times New Roman"/>
              </a:rPr>
              <a:t>Цель</a:t>
            </a:r>
            <a:r>
              <a:rPr lang="ru-RU" sz="3200" dirty="0">
                <a:latin typeface="Times New Roman"/>
                <a:ea typeface="Times New Roman"/>
              </a:rPr>
              <a:t>: формализовать поведение системы/подсистем, предсказывать отклик, поддерживать проектирование и верификацию.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7366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19"/>
            <a:ext cx="7886700" cy="1325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Моделирование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1075527"/>
            <a:ext cx="8418368" cy="642945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dirty="0">
                <a:latin typeface="Times New Roman"/>
                <a:ea typeface="Times New Roman"/>
              </a:rPr>
              <a:t>Виды моделей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3200" dirty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12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53214226"/>
              </p:ext>
            </p:extLst>
          </p:nvPr>
        </p:nvGraphicFramePr>
        <p:xfrm>
          <a:off x="420832" y="1718473"/>
          <a:ext cx="8418368" cy="475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6560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19"/>
            <a:ext cx="7886700" cy="1325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Оптимизация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1610218"/>
            <a:ext cx="8418368" cy="642945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dirty="0" smtClean="0">
                <a:latin typeface="Times New Roman"/>
                <a:ea typeface="Times New Roman"/>
              </a:rPr>
              <a:t>Оптимизация - поиск </a:t>
            </a:r>
            <a:r>
              <a:rPr lang="ru-RU" sz="3200" dirty="0">
                <a:latin typeface="Times New Roman"/>
                <a:ea typeface="Times New Roman"/>
              </a:rPr>
              <a:t>оптимальных параметров управления СТС с использованием методов математического программирования.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3873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19"/>
            <a:ext cx="7886700" cy="1325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Оптимизация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1075527"/>
            <a:ext cx="8418368" cy="642945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dirty="0" smtClean="0">
                <a:latin typeface="Times New Roman"/>
                <a:ea typeface="Times New Roman"/>
              </a:rPr>
              <a:t>Цель</a:t>
            </a:r>
            <a:r>
              <a:rPr lang="ru-RU" sz="3200" dirty="0">
                <a:latin typeface="Times New Roman"/>
                <a:ea typeface="Times New Roman"/>
              </a:rPr>
              <a:t>: найти наилучший режим работы с учётом целевых функций (производительность, </a:t>
            </a:r>
            <a:r>
              <a:rPr lang="ru-RU" sz="3200" dirty="0" err="1">
                <a:latin typeface="Times New Roman"/>
                <a:ea typeface="Times New Roman"/>
              </a:rPr>
              <a:t>энергоэффективность</a:t>
            </a:r>
            <a:r>
              <a:rPr lang="ru-RU" sz="3200" dirty="0">
                <a:latin typeface="Times New Roman"/>
                <a:ea typeface="Times New Roman"/>
              </a:rPr>
              <a:t>, безопасность) и ограничений.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9036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19"/>
            <a:ext cx="7886700" cy="1325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Оптимизация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1075527"/>
            <a:ext cx="8418368" cy="642945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dirty="0" smtClean="0">
                <a:latin typeface="Times New Roman"/>
                <a:ea typeface="Times New Roman"/>
              </a:rPr>
              <a:t>Типы </a:t>
            </a:r>
            <a:r>
              <a:rPr lang="ru-RU" sz="3200" dirty="0">
                <a:latin typeface="Times New Roman"/>
                <a:ea typeface="Times New Roman"/>
              </a:rPr>
              <a:t>задач оптимизации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3200" dirty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15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1851868324"/>
              </p:ext>
            </p:extLst>
          </p:nvPr>
        </p:nvGraphicFramePr>
        <p:xfrm>
          <a:off x="651164" y="1785436"/>
          <a:ext cx="7864186" cy="4726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5201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19"/>
            <a:ext cx="7886700" cy="1325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Резервирование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1075527"/>
            <a:ext cx="8418368" cy="642945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dirty="0" smtClean="0">
                <a:latin typeface="Times New Roman"/>
                <a:ea typeface="Times New Roman"/>
              </a:rPr>
              <a:t>Резервирование - дублирование </a:t>
            </a:r>
            <a:r>
              <a:rPr lang="ru-RU" sz="3200" dirty="0">
                <a:latin typeface="Times New Roman"/>
                <a:ea typeface="Times New Roman"/>
              </a:rPr>
              <a:t>важных элементов СТС для повышения надежности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2476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19"/>
            <a:ext cx="7886700" cy="1325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Резервирование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1075527"/>
            <a:ext cx="8418368" cy="642945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dirty="0">
                <a:latin typeface="Times New Roman"/>
                <a:ea typeface="Times New Roman"/>
              </a:rPr>
              <a:t>Резервирование </a:t>
            </a:r>
            <a:endParaRPr lang="ru-RU" sz="3200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dirty="0" smtClean="0">
                <a:latin typeface="Times New Roman"/>
                <a:ea typeface="Times New Roman"/>
              </a:rPr>
              <a:t>Цель</a:t>
            </a:r>
            <a:r>
              <a:rPr lang="ru-RU" sz="3200" dirty="0">
                <a:latin typeface="Times New Roman"/>
                <a:ea typeface="Times New Roman"/>
              </a:rPr>
              <a:t>: обеспечить надежность, доступность и отказоустойчивость при сбоях компонентов.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2545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19"/>
            <a:ext cx="7886700" cy="1325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Резервирование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36468" y="930837"/>
            <a:ext cx="5786005" cy="642945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dirty="0" smtClean="0">
                <a:latin typeface="Times New Roman"/>
                <a:ea typeface="Times New Roman"/>
              </a:rPr>
              <a:t>Типы </a:t>
            </a:r>
            <a:r>
              <a:rPr lang="ru-RU" sz="3200" dirty="0">
                <a:latin typeface="Times New Roman"/>
                <a:ea typeface="Times New Roman"/>
              </a:rPr>
              <a:t>резервирования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18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4283141480"/>
              </p:ext>
            </p:extLst>
          </p:nvPr>
        </p:nvGraphicFramePr>
        <p:xfrm>
          <a:off x="420832" y="1785436"/>
          <a:ext cx="8399318" cy="4767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0905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19"/>
            <a:ext cx="7886700" cy="1325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Диагностика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933450" y="1429601"/>
            <a:ext cx="7545532" cy="642945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dirty="0" smtClean="0">
                <a:latin typeface="Times New Roman"/>
                <a:ea typeface="Times New Roman"/>
              </a:rPr>
              <a:t>Диагностика - регулярная </a:t>
            </a:r>
            <a:r>
              <a:rPr lang="ru-RU" sz="3200" dirty="0">
                <a:latin typeface="Times New Roman"/>
                <a:ea typeface="Times New Roman"/>
              </a:rPr>
              <a:t>проверка состояния элементов СТС для выявления потенциальных проблем.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288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19"/>
            <a:ext cx="7886700" cy="1325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Диагностика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933450" y="1429601"/>
            <a:ext cx="7545532" cy="642945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dirty="0">
                <a:latin typeface="Times New Roman"/>
                <a:ea typeface="Times New Roman"/>
              </a:rPr>
              <a:t>Диагностика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dirty="0">
                <a:latin typeface="Times New Roman"/>
                <a:ea typeface="Times New Roman"/>
              </a:rPr>
              <a:t>Цель: быстро и точно обнаруживать, изолировать и определять причины сбоев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9145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19"/>
            <a:ext cx="7886700" cy="1325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Диагностика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933450" y="1429601"/>
            <a:ext cx="7545532" cy="642945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dirty="0">
                <a:latin typeface="Times New Roman"/>
                <a:ea typeface="Times New Roman"/>
              </a:rPr>
              <a:t>Диагностика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dirty="0">
                <a:latin typeface="Times New Roman"/>
                <a:ea typeface="Times New Roman"/>
              </a:rPr>
              <a:t>Цель: быстро и точно обнаруживать, изолировать и определять причины сбоев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8012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5992</TotalTime>
  <Words>575</Words>
  <Application>Microsoft Office PowerPoint</Application>
  <PresentationFormat>Экран (4:3)</PresentationFormat>
  <Paragraphs>104</Paragraphs>
  <Slides>22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22</vt:i4>
      </vt:variant>
    </vt:vector>
  </HeadingPairs>
  <TitlesOfParts>
    <vt:vector size="24" baseType="lpstr">
      <vt:lpstr>Специальное оформление</vt:lpstr>
      <vt:lpstr>1_Специальное оформление</vt:lpstr>
      <vt:lpstr>ДИСЦИЛИНА Наземная инфраструктура как сложная техническая система  ИНСТИТУТ ИПТИП  КАФЕДРА индустриального программирования  ВИД УЧЕБНОГО МАТЕРИАЛА Лекция  ПРЕПОДАВАТЕЛЬ Ризаева Юлия Николаевна  СЕМЕСТР 3, 2026-2027 уч. г. </vt:lpstr>
      <vt:lpstr>Методы управления сложными техническими системами</vt:lpstr>
      <vt:lpstr>План лекции</vt:lpstr>
      <vt:lpstr>Методы управления сложными техническими системами</vt:lpstr>
      <vt:lpstr>Декомпозиция</vt:lpstr>
      <vt:lpstr>Декомпозиция</vt:lpstr>
      <vt:lpstr>Декомпозиция</vt:lpstr>
      <vt:lpstr>Декомпозиция</vt:lpstr>
      <vt:lpstr>Декомпозиция</vt:lpstr>
      <vt:lpstr>Моделирование</vt:lpstr>
      <vt:lpstr>Моделирование</vt:lpstr>
      <vt:lpstr>Моделирование</vt:lpstr>
      <vt:lpstr>Оптимизация</vt:lpstr>
      <vt:lpstr>Оптимизация</vt:lpstr>
      <vt:lpstr>Оптимизация</vt:lpstr>
      <vt:lpstr>Резервирование</vt:lpstr>
      <vt:lpstr>Резервирование</vt:lpstr>
      <vt:lpstr>Резервирование</vt:lpstr>
      <vt:lpstr>Диагностика</vt:lpstr>
      <vt:lpstr>Диагностика</vt:lpstr>
      <vt:lpstr>Диагностика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341</cp:revision>
  <dcterms:created xsi:type="dcterms:W3CDTF">2015-07-29T11:14:37Z</dcterms:created>
  <dcterms:modified xsi:type="dcterms:W3CDTF">2026-06-26T21:50:16Z</dcterms:modified>
</cp:coreProperties>
</file>