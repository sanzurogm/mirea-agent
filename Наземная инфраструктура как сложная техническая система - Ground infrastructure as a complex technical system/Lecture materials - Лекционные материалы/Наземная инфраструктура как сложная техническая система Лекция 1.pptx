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1" r:id="rId1"/>
    <p:sldMasterId id="2147483673" r:id="rId2"/>
  </p:sldMasterIdLst>
  <p:notesMasterIdLst>
    <p:notesMasterId r:id="rId39"/>
  </p:notesMasterIdLst>
  <p:sldIdLst>
    <p:sldId id="325" r:id="rId3"/>
    <p:sldId id="293" r:id="rId4"/>
    <p:sldId id="294" r:id="rId5"/>
    <p:sldId id="331" r:id="rId6"/>
    <p:sldId id="326" r:id="rId7"/>
    <p:sldId id="351" r:id="rId8"/>
    <p:sldId id="332" r:id="rId9"/>
    <p:sldId id="333" r:id="rId10"/>
    <p:sldId id="334" r:id="rId11"/>
    <p:sldId id="335" r:id="rId12"/>
    <p:sldId id="336" r:id="rId13"/>
    <p:sldId id="337" r:id="rId14"/>
    <p:sldId id="338" r:id="rId15"/>
    <p:sldId id="327" r:id="rId16"/>
    <p:sldId id="340" r:id="rId17"/>
    <p:sldId id="341" r:id="rId18"/>
    <p:sldId id="342" r:id="rId19"/>
    <p:sldId id="343" r:id="rId20"/>
    <p:sldId id="344" r:id="rId21"/>
    <p:sldId id="352" r:id="rId22"/>
    <p:sldId id="353" r:id="rId23"/>
    <p:sldId id="354" r:id="rId24"/>
    <p:sldId id="355" r:id="rId25"/>
    <p:sldId id="356" r:id="rId26"/>
    <p:sldId id="357" r:id="rId27"/>
    <p:sldId id="358" r:id="rId28"/>
    <p:sldId id="345" r:id="rId29"/>
    <p:sldId id="346" r:id="rId30"/>
    <p:sldId id="347" r:id="rId31"/>
    <p:sldId id="348" r:id="rId32"/>
    <p:sldId id="349" r:id="rId33"/>
    <p:sldId id="350" r:id="rId34"/>
    <p:sldId id="328" r:id="rId35"/>
    <p:sldId id="329" r:id="rId36"/>
    <p:sldId id="330" r:id="rId37"/>
    <p:sldId id="264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2C1"/>
    <a:srgbClr val="295CA8"/>
    <a:srgbClr val="C60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808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190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9BB791-5FB6-4560-B5C6-D9D94F357AA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87E87C81-248F-4B7E-BE48-CA45CB2C8D83}">
      <dgm:prSet phldrT="[Текст]"/>
      <dgm:spPr/>
      <dgm:t>
        <a:bodyPr/>
        <a:lstStyle/>
        <a:p>
          <a:r>
            <a:rPr lang="ru-RU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Большое количество элементов: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 СТС содержит множество элементов, взаимодействующих друг с другом.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031AC649-C90B-45D7-8600-EA4424E3DF34}" type="parTrans" cxnId="{115B4D13-FE15-46A5-A1E8-FE3B5EA91D38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8A5C02EF-EFC7-4CEC-B5CC-BFE5AB1F3507}" type="sibTrans" cxnId="{115B4D13-FE15-46A5-A1E8-FE3B5EA91D38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8127F7C-3B6C-4173-9186-1B9BFA028C7E}">
      <dgm:prSet/>
      <dgm:spPr/>
      <dgm:t>
        <a:bodyPr/>
        <a:lstStyle/>
        <a:p>
          <a:r>
            <a:rPr lang="ru-RU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Сложные взаимосвязи: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 Элементы связаны между собой большим количеством сложных иерархических связей.  Эти связи могут быть нелинейными, с обратными связями, и зависеть от многих факторов.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D03E8F03-4C23-4298-B7A4-02F1DED0C000}" type="parTrans" cxnId="{DE1E2D07-2A15-4B21-B58E-582D1F8896D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AD83A0BF-8862-4BA5-AA59-CD538C483AB3}" type="sibTrans" cxnId="{DE1E2D07-2A15-4B21-B58E-582D1F8896D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5CF44F7-4EBE-4C72-AABD-C7994A7CDC52}">
      <dgm:prSet/>
      <dgm:spPr/>
      <dgm:t>
        <a:bodyPr/>
        <a:lstStyle/>
        <a:p>
          <a:r>
            <a:rPr lang="ru-RU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Иерархичность: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 СТС обычно имеют иерархическую структуру, состоящую из уровней или подсистем, каждая из которых выполняет определенную функцию.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4F0E7079-E811-48D1-9715-6FAE7587C054}" type="parTrans" cxnId="{9AF018B2-D97D-42FC-B8C1-BC6E4942533E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19C04AC-C0C9-4B3F-B95C-596D735DBAF7}" type="sibTrans" cxnId="{9AF018B2-D97D-42FC-B8C1-BC6E4942533E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99F7F70-113B-4EFA-9DA6-0CABD88C9927}">
      <dgm:prSet/>
      <dgm:spPr/>
      <dgm:t>
        <a:bodyPr/>
        <a:lstStyle/>
        <a:p>
          <a:r>
            <a:rPr lang="ru-RU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Самоорганизация: 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СТС могут демонстрировать свойства самоорганизации, то есть способности адаптироваться к изменяющимся условиям без прямого внешнего управления.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1DF19F3D-E9FF-4A91-AF0B-08134A3CCEEF}" type="parTrans" cxnId="{76BE1C69-9911-49A1-A061-A8673DF98FD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B2C68DCA-1D5E-4858-8193-AB85CFBB9AFE}" type="sibTrans" cxnId="{76BE1C69-9911-49A1-A061-A8673DF98FD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EC16818-5B19-4C13-A035-3ADA7F105F50}">
      <dgm:prSet/>
      <dgm:spPr/>
      <dgm:t>
        <a:bodyPr/>
        <a:lstStyle/>
        <a:p>
          <a:r>
            <a:rPr lang="ru-RU" b="1" dirty="0" err="1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Эмерджентность</a:t>
          </a:r>
          <a:r>
            <a:rPr lang="ru-RU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: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  В СТС возникают эмерджентные свойства, то есть свойства, которые не присущи отдельным элементам, но возникают в результате их взаимодействия.  Например, устойчивость системы в целом.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32730647-C82D-4D88-9C6F-84C4E6094678}" type="parTrans" cxnId="{D13A4DBD-3440-4153-942F-96A5048DAD1F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AAA11CB1-1431-4F1E-BAA6-1FFEAC06066C}" type="sibTrans" cxnId="{D13A4DBD-3440-4153-942F-96A5048DAD1F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B3E7DE57-DC92-49B2-92E0-13C401902468}">
      <dgm:prSet/>
      <dgm:spPr/>
      <dgm:t>
        <a:bodyPr/>
        <a:lstStyle/>
        <a:p>
          <a:r>
            <a:rPr lang="ru-RU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Нелинейность: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  Малые изменения входных параметров могут приводить к непропорционально большим изменениям выходных параметров.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DD85D64F-70A7-4A41-8B44-D0F1DF3AE2ED}" type="parTrans" cxnId="{0CFED306-8716-4AD0-8E92-CBD2145D0C0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5DACCA4-903A-4865-9668-04B0B974A4AB}" type="sibTrans" cxnId="{0CFED306-8716-4AD0-8E92-CBD2145D0C0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3D81CA49-6DFE-48AC-8E83-C8B8C34EBE35}">
      <dgm:prSet/>
      <dgm:spPr/>
      <dgm:t>
        <a:bodyPr/>
        <a:lstStyle/>
        <a:p>
          <a:r>
            <a:rPr lang="ru-RU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Динамичность: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  СТС постоянно изменяются во времени, как в результате внешних воздействий, так и внутренних процессов.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E38FEDF4-0F4F-40EF-B478-5BC0C068CE72}" type="parTrans" cxnId="{841F1298-5074-4AFF-8ADD-221406653698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2474269-68FC-4867-B6C1-D065DD359822}" type="sibTrans" cxnId="{841F1298-5074-4AFF-8ADD-221406653698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F33E6753-02F0-43B5-AC5A-7CFCB9C2E2CB}">
      <dgm:prSet/>
      <dgm:spPr/>
      <dgm:t>
        <a:bodyPr/>
        <a:lstStyle/>
        <a:p>
          <a:r>
            <a:rPr lang="ru-RU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Неопределенность: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  Поведение СТС сложно предсказать из-за большого количества факторов, влияющих на её работу.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EBA8C7C7-D5BD-4788-95F7-4F61AE897F1B}" type="parTrans" cxnId="{D5D504A8-2C75-4EA5-A529-E87EF1B958F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6D208768-6B1E-4E5E-8286-4D890A76763D}" type="sibTrans" cxnId="{D5D504A8-2C75-4EA5-A529-E87EF1B958F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9F08DA8-C9BB-4A72-995A-DB1BAF42071F}">
      <dgm:prSet/>
      <dgm:spPr/>
      <dgm:t>
        <a:bodyPr/>
        <a:lstStyle/>
        <a:p>
          <a:r>
            <a:rPr lang="ru-RU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Рассеянность:  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Это понятие относится к большому количеству элементов, которые разнесены в пространстве.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A50FE200-721F-4341-8D66-27AFFF4D1901}" type="parTrans" cxnId="{9D6E6C25-82CA-4831-A2F2-B5B9AB139C6C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AACBC47-C56F-412C-A511-707E848E21A1}" type="sibTrans" cxnId="{9D6E6C25-82CA-4831-A2F2-B5B9AB139C6C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BF37A94C-512F-4BFB-B22D-22AB6C71DF7B}" type="pres">
      <dgm:prSet presAssocID="{949BB791-5FB6-4560-B5C6-D9D94F357AA8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3D42FDD8-DF69-44FC-9AB9-FFADE094DDAA}" type="pres">
      <dgm:prSet presAssocID="{87E87C81-248F-4B7E-BE48-CA45CB2C8D83}" presName="node" presStyleLbl="node1" presStyleIdx="0" presStyleCnt="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B485A1E-16FD-4E3C-8D0D-069023E16407}" type="pres">
      <dgm:prSet presAssocID="{8A5C02EF-EFC7-4CEC-B5CC-BFE5AB1F3507}" presName="sibTrans" presStyleCnt="0"/>
      <dgm:spPr/>
    </dgm:pt>
    <dgm:pt modelId="{DBFBE599-7D1E-4E8D-B162-A8B4DB1FEEC6}" type="pres">
      <dgm:prSet presAssocID="{98127F7C-3B6C-4173-9186-1B9BFA028C7E}" presName="node" presStyleLbl="node1" presStyleIdx="1" presStyleCnt="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BEBBF26-281A-43EE-B6E8-C58812550364}" type="pres">
      <dgm:prSet presAssocID="{AD83A0BF-8862-4BA5-AA59-CD538C483AB3}" presName="sibTrans" presStyleCnt="0"/>
      <dgm:spPr/>
    </dgm:pt>
    <dgm:pt modelId="{C651C23E-2251-470C-94FB-348316243DD6}" type="pres">
      <dgm:prSet presAssocID="{75CF44F7-4EBE-4C72-AABD-C7994A7CDC52}" presName="node" presStyleLbl="node1" presStyleIdx="2" presStyleCnt="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AA67FF6-071C-4342-AF4F-FF0F14E98AEF}" type="pres">
      <dgm:prSet presAssocID="{219C04AC-C0C9-4B3F-B95C-596D735DBAF7}" presName="sibTrans" presStyleCnt="0"/>
      <dgm:spPr/>
    </dgm:pt>
    <dgm:pt modelId="{4C54D870-D9F9-455A-9B59-7902C8854D91}" type="pres">
      <dgm:prSet presAssocID="{299F7F70-113B-4EFA-9DA6-0CABD88C9927}" presName="node" presStyleLbl="node1" presStyleIdx="3" presStyleCnt="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5A8074A-05A5-491D-887C-A697BCCCEB0E}" type="pres">
      <dgm:prSet presAssocID="{B2C68DCA-1D5E-4858-8193-AB85CFBB9AFE}" presName="sibTrans" presStyleCnt="0"/>
      <dgm:spPr/>
    </dgm:pt>
    <dgm:pt modelId="{FE8ED2AB-BCFD-4CDF-8741-FDD9EDDEBB72}" type="pres">
      <dgm:prSet presAssocID="{CEC16818-5B19-4C13-A035-3ADA7F105F50}" presName="node" presStyleLbl="node1" presStyleIdx="4" presStyleCnt="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CACF5C0-D417-49DD-87FC-6A7EDD8D1F2F}" type="pres">
      <dgm:prSet presAssocID="{AAA11CB1-1431-4F1E-BAA6-1FFEAC06066C}" presName="sibTrans" presStyleCnt="0"/>
      <dgm:spPr/>
    </dgm:pt>
    <dgm:pt modelId="{F2F41380-FE70-4108-A7B3-426E0364AE37}" type="pres">
      <dgm:prSet presAssocID="{B3E7DE57-DC92-49B2-92E0-13C401902468}" presName="node" presStyleLbl="node1" presStyleIdx="5" presStyleCnt="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006F8F3-0D21-4263-9601-6A8C327EBE80}" type="pres">
      <dgm:prSet presAssocID="{75DACCA4-903A-4865-9668-04B0B974A4AB}" presName="sibTrans" presStyleCnt="0"/>
      <dgm:spPr/>
    </dgm:pt>
    <dgm:pt modelId="{4B751099-8CBB-4295-A4A8-B7741B0DA049}" type="pres">
      <dgm:prSet presAssocID="{3D81CA49-6DFE-48AC-8E83-C8B8C34EBE35}" presName="node" presStyleLbl="node1" presStyleIdx="6" presStyleCnt="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531F0F4-1604-49A2-8829-41F1AEBEDB66}" type="pres">
      <dgm:prSet presAssocID="{92474269-68FC-4867-B6C1-D065DD359822}" presName="sibTrans" presStyleCnt="0"/>
      <dgm:spPr/>
    </dgm:pt>
    <dgm:pt modelId="{F9CB280F-2BD4-4F85-9DC9-494893C07730}" type="pres">
      <dgm:prSet presAssocID="{F33E6753-02F0-43B5-AC5A-7CFCB9C2E2CB}" presName="node" presStyleLbl="node1" presStyleIdx="7" presStyleCnt="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663533E-7481-4B36-AE3E-DE20EAB44D06}" type="pres">
      <dgm:prSet presAssocID="{6D208768-6B1E-4E5E-8286-4D890A76763D}" presName="sibTrans" presStyleCnt="0"/>
      <dgm:spPr/>
    </dgm:pt>
    <dgm:pt modelId="{F03BD48C-D516-404E-9DDC-9F5527E22339}" type="pres">
      <dgm:prSet presAssocID="{99F08DA8-C9BB-4A72-995A-DB1BAF42071F}" presName="node" presStyleLbl="node1" presStyleIdx="8" presStyleCnt="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841F1298-5074-4AFF-8ADD-221406653698}" srcId="{949BB791-5FB6-4560-B5C6-D9D94F357AA8}" destId="{3D81CA49-6DFE-48AC-8E83-C8B8C34EBE35}" srcOrd="6" destOrd="0" parTransId="{E38FEDF4-0F4F-40EF-B478-5BC0C068CE72}" sibTransId="{92474269-68FC-4867-B6C1-D065DD359822}"/>
    <dgm:cxn modelId="{84792383-5C91-41DC-B6B3-B8DAA85CFF3D}" type="presOf" srcId="{3D81CA49-6DFE-48AC-8E83-C8B8C34EBE35}" destId="{4B751099-8CBB-4295-A4A8-B7741B0DA049}" srcOrd="0" destOrd="0" presId="urn:microsoft.com/office/officeart/2005/8/layout/default"/>
    <dgm:cxn modelId="{115B4D13-FE15-46A5-A1E8-FE3B5EA91D38}" srcId="{949BB791-5FB6-4560-B5C6-D9D94F357AA8}" destId="{87E87C81-248F-4B7E-BE48-CA45CB2C8D83}" srcOrd="0" destOrd="0" parTransId="{031AC649-C90B-45D7-8600-EA4424E3DF34}" sibTransId="{8A5C02EF-EFC7-4CEC-B5CC-BFE5AB1F3507}"/>
    <dgm:cxn modelId="{833FAFFF-14BA-46B3-B782-B4878375CAEF}" type="presOf" srcId="{CEC16818-5B19-4C13-A035-3ADA7F105F50}" destId="{FE8ED2AB-BCFD-4CDF-8741-FDD9EDDEBB72}" srcOrd="0" destOrd="0" presId="urn:microsoft.com/office/officeart/2005/8/layout/default"/>
    <dgm:cxn modelId="{26A43110-F298-4C70-91F0-E43368A89B67}" type="presOf" srcId="{75CF44F7-4EBE-4C72-AABD-C7994A7CDC52}" destId="{C651C23E-2251-470C-94FB-348316243DD6}" srcOrd="0" destOrd="0" presId="urn:microsoft.com/office/officeart/2005/8/layout/default"/>
    <dgm:cxn modelId="{D13A4DBD-3440-4153-942F-96A5048DAD1F}" srcId="{949BB791-5FB6-4560-B5C6-D9D94F357AA8}" destId="{CEC16818-5B19-4C13-A035-3ADA7F105F50}" srcOrd="4" destOrd="0" parTransId="{32730647-C82D-4D88-9C6F-84C4E6094678}" sibTransId="{AAA11CB1-1431-4F1E-BAA6-1FFEAC06066C}"/>
    <dgm:cxn modelId="{DE1E2D07-2A15-4B21-B58E-582D1F8896D1}" srcId="{949BB791-5FB6-4560-B5C6-D9D94F357AA8}" destId="{98127F7C-3B6C-4173-9186-1B9BFA028C7E}" srcOrd="1" destOrd="0" parTransId="{D03E8F03-4C23-4298-B7A4-02F1DED0C000}" sibTransId="{AD83A0BF-8862-4BA5-AA59-CD538C483AB3}"/>
    <dgm:cxn modelId="{CF141203-AA8C-48AF-847A-9CB3B1B2EF42}" type="presOf" srcId="{87E87C81-248F-4B7E-BE48-CA45CB2C8D83}" destId="{3D42FDD8-DF69-44FC-9AB9-FFADE094DDAA}" srcOrd="0" destOrd="0" presId="urn:microsoft.com/office/officeart/2005/8/layout/default"/>
    <dgm:cxn modelId="{D321817C-624E-49F6-8365-7AE78D2C466D}" type="presOf" srcId="{98127F7C-3B6C-4173-9186-1B9BFA028C7E}" destId="{DBFBE599-7D1E-4E8D-B162-A8B4DB1FEEC6}" srcOrd="0" destOrd="0" presId="urn:microsoft.com/office/officeart/2005/8/layout/default"/>
    <dgm:cxn modelId="{9AF018B2-D97D-42FC-B8C1-BC6E4942533E}" srcId="{949BB791-5FB6-4560-B5C6-D9D94F357AA8}" destId="{75CF44F7-4EBE-4C72-AABD-C7994A7CDC52}" srcOrd="2" destOrd="0" parTransId="{4F0E7079-E811-48D1-9715-6FAE7587C054}" sibTransId="{219C04AC-C0C9-4B3F-B95C-596D735DBAF7}"/>
    <dgm:cxn modelId="{0CFED306-8716-4AD0-8E92-CBD2145D0C07}" srcId="{949BB791-5FB6-4560-B5C6-D9D94F357AA8}" destId="{B3E7DE57-DC92-49B2-92E0-13C401902468}" srcOrd="5" destOrd="0" parTransId="{DD85D64F-70A7-4A41-8B44-D0F1DF3AE2ED}" sibTransId="{75DACCA4-903A-4865-9668-04B0B974A4AB}"/>
    <dgm:cxn modelId="{2FA62C2E-6415-46BD-83DD-5975D45595D8}" type="presOf" srcId="{299F7F70-113B-4EFA-9DA6-0CABD88C9927}" destId="{4C54D870-D9F9-455A-9B59-7902C8854D91}" srcOrd="0" destOrd="0" presId="urn:microsoft.com/office/officeart/2005/8/layout/default"/>
    <dgm:cxn modelId="{9454C5F2-2E6E-46EC-89EE-7C1C136878E3}" type="presOf" srcId="{F33E6753-02F0-43B5-AC5A-7CFCB9C2E2CB}" destId="{F9CB280F-2BD4-4F85-9DC9-494893C07730}" srcOrd="0" destOrd="0" presId="urn:microsoft.com/office/officeart/2005/8/layout/default"/>
    <dgm:cxn modelId="{D4E6BB6D-F76A-4FF7-A548-E1620AECD1D6}" type="presOf" srcId="{949BB791-5FB6-4560-B5C6-D9D94F357AA8}" destId="{BF37A94C-512F-4BFB-B22D-22AB6C71DF7B}" srcOrd="0" destOrd="0" presId="urn:microsoft.com/office/officeart/2005/8/layout/default"/>
    <dgm:cxn modelId="{9D6E6C25-82CA-4831-A2F2-B5B9AB139C6C}" srcId="{949BB791-5FB6-4560-B5C6-D9D94F357AA8}" destId="{99F08DA8-C9BB-4A72-995A-DB1BAF42071F}" srcOrd="8" destOrd="0" parTransId="{A50FE200-721F-4341-8D66-27AFFF4D1901}" sibTransId="{DAACBC47-C56F-412C-A511-707E848E21A1}"/>
    <dgm:cxn modelId="{76BE1C69-9911-49A1-A061-A8673DF98FD1}" srcId="{949BB791-5FB6-4560-B5C6-D9D94F357AA8}" destId="{299F7F70-113B-4EFA-9DA6-0CABD88C9927}" srcOrd="3" destOrd="0" parTransId="{1DF19F3D-E9FF-4A91-AF0B-08134A3CCEEF}" sibTransId="{B2C68DCA-1D5E-4858-8193-AB85CFBB9AFE}"/>
    <dgm:cxn modelId="{D5D504A8-2C75-4EA5-A529-E87EF1B958F7}" srcId="{949BB791-5FB6-4560-B5C6-D9D94F357AA8}" destId="{F33E6753-02F0-43B5-AC5A-7CFCB9C2E2CB}" srcOrd="7" destOrd="0" parTransId="{EBA8C7C7-D5BD-4788-95F7-4F61AE897F1B}" sibTransId="{6D208768-6B1E-4E5E-8286-4D890A76763D}"/>
    <dgm:cxn modelId="{8E4B82BD-9C1F-4C1A-9CE0-F9CC9F8D34EE}" type="presOf" srcId="{B3E7DE57-DC92-49B2-92E0-13C401902468}" destId="{F2F41380-FE70-4108-A7B3-426E0364AE37}" srcOrd="0" destOrd="0" presId="urn:microsoft.com/office/officeart/2005/8/layout/default"/>
    <dgm:cxn modelId="{28CBEB6A-20C1-48D2-9135-2207F86CB313}" type="presOf" srcId="{99F08DA8-C9BB-4A72-995A-DB1BAF42071F}" destId="{F03BD48C-D516-404E-9DDC-9F5527E22339}" srcOrd="0" destOrd="0" presId="urn:microsoft.com/office/officeart/2005/8/layout/default"/>
    <dgm:cxn modelId="{AD86C478-2305-4CCC-A195-7597017531C9}" type="presParOf" srcId="{BF37A94C-512F-4BFB-B22D-22AB6C71DF7B}" destId="{3D42FDD8-DF69-44FC-9AB9-FFADE094DDAA}" srcOrd="0" destOrd="0" presId="urn:microsoft.com/office/officeart/2005/8/layout/default"/>
    <dgm:cxn modelId="{47FA9E0E-DE6C-4D2D-93F8-1BE31EE64426}" type="presParOf" srcId="{BF37A94C-512F-4BFB-B22D-22AB6C71DF7B}" destId="{6B485A1E-16FD-4E3C-8D0D-069023E16407}" srcOrd="1" destOrd="0" presId="urn:microsoft.com/office/officeart/2005/8/layout/default"/>
    <dgm:cxn modelId="{37274C50-4F4D-4FA2-AB3D-E57CE0A4625F}" type="presParOf" srcId="{BF37A94C-512F-4BFB-B22D-22AB6C71DF7B}" destId="{DBFBE599-7D1E-4E8D-B162-A8B4DB1FEEC6}" srcOrd="2" destOrd="0" presId="urn:microsoft.com/office/officeart/2005/8/layout/default"/>
    <dgm:cxn modelId="{E8E6E217-EB61-4880-94FD-53882A1C99D9}" type="presParOf" srcId="{BF37A94C-512F-4BFB-B22D-22AB6C71DF7B}" destId="{0BEBBF26-281A-43EE-B6E8-C58812550364}" srcOrd="3" destOrd="0" presId="urn:microsoft.com/office/officeart/2005/8/layout/default"/>
    <dgm:cxn modelId="{2A0CE89D-21CD-43EE-B157-6B64C8BBEAD9}" type="presParOf" srcId="{BF37A94C-512F-4BFB-B22D-22AB6C71DF7B}" destId="{C651C23E-2251-470C-94FB-348316243DD6}" srcOrd="4" destOrd="0" presId="urn:microsoft.com/office/officeart/2005/8/layout/default"/>
    <dgm:cxn modelId="{F9B3AFB3-CC63-44B4-B688-B2A5CC8FF460}" type="presParOf" srcId="{BF37A94C-512F-4BFB-B22D-22AB6C71DF7B}" destId="{4AA67FF6-071C-4342-AF4F-FF0F14E98AEF}" srcOrd="5" destOrd="0" presId="urn:microsoft.com/office/officeart/2005/8/layout/default"/>
    <dgm:cxn modelId="{95102AB8-F504-4F4F-A017-97EA515D1802}" type="presParOf" srcId="{BF37A94C-512F-4BFB-B22D-22AB6C71DF7B}" destId="{4C54D870-D9F9-455A-9B59-7902C8854D91}" srcOrd="6" destOrd="0" presId="urn:microsoft.com/office/officeart/2005/8/layout/default"/>
    <dgm:cxn modelId="{88947224-4F7E-4683-B442-27FD339EB204}" type="presParOf" srcId="{BF37A94C-512F-4BFB-B22D-22AB6C71DF7B}" destId="{D5A8074A-05A5-491D-887C-A697BCCCEB0E}" srcOrd="7" destOrd="0" presId="urn:microsoft.com/office/officeart/2005/8/layout/default"/>
    <dgm:cxn modelId="{381818BE-9129-4C16-BD32-ACD92B2B1802}" type="presParOf" srcId="{BF37A94C-512F-4BFB-B22D-22AB6C71DF7B}" destId="{FE8ED2AB-BCFD-4CDF-8741-FDD9EDDEBB72}" srcOrd="8" destOrd="0" presId="urn:microsoft.com/office/officeart/2005/8/layout/default"/>
    <dgm:cxn modelId="{EC1290AF-1B2A-4BFE-962B-66DC8348FA9F}" type="presParOf" srcId="{BF37A94C-512F-4BFB-B22D-22AB6C71DF7B}" destId="{DCACF5C0-D417-49DD-87FC-6A7EDD8D1F2F}" srcOrd="9" destOrd="0" presId="urn:microsoft.com/office/officeart/2005/8/layout/default"/>
    <dgm:cxn modelId="{1A3AC48B-2542-4E61-B0AF-229D500DEAB2}" type="presParOf" srcId="{BF37A94C-512F-4BFB-B22D-22AB6C71DF7B}" destId="{F2F41380-FE70-4108-A7B3-426E0364AE37}" srcOrd="10" destOrd="0" presId="urn:microsoft.com/office/officeart/2005/8/layout/default"/>
    <dgm:cxn modelId="{963ABD06-E624-47FF-9643-9CA0AEF947CB}" type="presParOf" srcId="{BF37A94C-512F-4BFB-B22D-22AB6C71DF7B}" destId="{B006F8F3-0D21-4263-9601-6A8C327EBE80}" srcOrd="11" destOrd="0" presId="urn:microsoft.com/office/officeart/2005/8/layout/default"/>
    <dgm:cxn modelId="{412EAC8A-6EB4-4575-8309-D834CC4002FD}" type="presParOf" srcId="{BF37A94C-512F-4BFB-B22D-22AB6C71DF7B}" destId="{4B751099-8CBB-4295-A4A8-B7741B0DA049}" srcOrd="12" destOrd="0" presId="urn:microsoft.com/office/officeart/2005/8/layout/default"/>
    <dgm:cxn modelId="{A1E77418-0CE9-438E-B1D0-E5194DCE895E}" type="presParOf" srcId="{BF37A94C-512F-4BFB-B22D-22AB6C71DF7B}" destId="{3531F0F4-1604-49A2-8829-41F1AEBEDB66}" srcOrd="13" destOrd="0" presId="urn:microsoft.com/office/officeart/2005/8/layout/default"/>
    <dgm:cxn modelId="{A404FAB3-5B80-4F0E-8D79-AF36C5116BFA}" type="presParOf" srcId="{BF37A94C-512F-4BFB-B22D-22AB6C71DF7B}" destId="{F9CB280F-2BD4-4F85-9DC9-494893C07730}" srcOrd="14" destOrd="0" presId="urn:microsoft.com/office/officeart/2005/8/layout/default"/>
    <dgm:cxn modelId="{1E28A2E6-180A-4D68-B9A1-B135A5896F8C}" type="presParOf" srcId="{BF37A94C-512F-4BFB-B22D-22AB6C71DF7B}" destId="{A663533E-7481-4B36-AE3E-DE20EAB44D06}" srcOrd="15" destOrd="0" presId="urn:microsoft.com/office/officeart/2005/8/layout/default"/>
    <dgm:cxn modelId="{DBFC1D1B-6586-411F-8665-EBC83C380868}" type="presParOf" srcId="{BF37A94C-512F-4BFB-B22D-22AB6C71DF7B}" destId="{F03BD48C-D516-404E-9DDC-9F5527E22339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DF373B8-01ED-43A8-819A-829A64AEBEB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8609AF4D-A847-47CB-95A3-3932F71189C2}">
      <dgm:prSet phldrT="[Текст]" custT="1"/>
      <dgm:spPr/>
      <dgm:t>
        <a:bodyPr/>
        <a:lstStyle/>
        <a:p>
          <a:r>
            <a:rPr lang="ru-RU" sz="1600" b="1" dirty="0" smtClean="0">
              <a:solidFill>
                <a:srgbClr val="FF0000"/>
              </a:solidFill>
              <a:latin typeface="Times New Roman"/>
              <a:ea typeface="Times New Roman"/>
            </a:rPr>
            <a:t>Целостность</a:t>
          </a:r>
          <a:r>
            <a:rPr lang="ru-RU" sz="1600" dirty="0" smtClean="0">
              <a:latin typeface="Times New Roman"/>
              <a:ea typeface="Times New Roman"/>
            </a:rPr>
            <a:t> – появление нового качества в объединении именно этого набора элементов. При исключении любого из выделенных элементов системы ее свойства изменяются. Это свойства интегративные, т.е. присущие системе в целом, но не свойственные ни одному из ее элементов в отдельности.</a:t>
          </a:r>
          <a:endParaRPr lang="ru-RU" sz="1600" dirty="0"/>
        </a:p>
      </dgm:t>
    </dgm:pt>
    <dgm:pt modelId="{38C41182-D4B0-4535-B993-4FA17CC6C111}" type="parTrans" cxnId="{E09FA3FF-AD0C-47A9-99BA-48E5B31AE1BF}">
      <dgm:prSet/>
      <dgm:spPr/>
      <dgm:t>
        <a:bodyPr/>
        <a:lstStyle/>
        <a:p>
          <a:endParaRPr lang="ru-RU" sz="4000"/>
        </a:p>
      </dgm:t>
    </dgm:pt>
    <dgm:pt modelId="{E1D33C7E-DE48-484F-B503-1141F1F1EC91}" type="sibTrans" cxnId="{E09FA3FF-AD0C-47A9-99BA-48E5B31AE1BF}">
      <dgm:prSet/>
      <dgm:spPr/>
      <dgm:t>
        <a:bodyPr/>
        <a:lstStyle/>
        <a:p>
          <a:endParaRPr lang="ru-RU" sz="4000"/>
        </a:p>
      </dgm:t>
    </dgm:pt>
    <dgm:pt modelId="{365055D7-3397-4A63-982D-5845FA60C748}">
      <dgm:prSet custT="1"/>
      <dgm:spPr/>
      <dgm:t>
        <a:bodyPr/>
        <a:lstStyle/>
        <a:p>
          <a:r>
            <a:rPr lang="ru-RU" sz="1600" b="1" smtClean="0">
              <a:solidFill>
                <a:srgbClr val="FF0000"/>
              </a:solidFill>
              <a:latin typeface="Times New Roman"/>
              <a:ea typeface="Times New Roman"/>
            </a:rPr>
            <a:t>Разнообразие</a:t>
          </a:r>
          <a:r>
            <a:rPr lang="ru-RU" sz="1600" smtClean="0">
              <a:latin typeface="Times New Roman"/>
              <a:ea typeface="Times New Roman"/>
            </a:rPr>
            <a:t> – наличие качественно различных элементов системы, выполняющих различные функции.</a:t>
          </a:r>
          <a:endParaRPr lang="ru-RU" sz="1600" dirty="0">
            <a:latin typeface="Times New Roman"/>
            <a:ea typeface="Times New Roman"/>
          </a:endParaRPr>
        </a:p>
      </dgm:t>
    </dgm:pt>
    <dgm:pt modelId="{3161EB9E-6D42-4847-B248-FD7925D411C5}" type="parTrans" cxnId="{D84E761B-EBBC-4EF7-9914-E62031798DEA}">
      <dgm:prSet/>
      <dgm:spPr/>
      <dgm:t>
        <a:bodyPr/>
        <a:lstStyle/>
        <a:p>
          <a:endParaRPr lang="ru-RU" sz="4000"/>
        </a:p>
      </dgm:t>
    </dgm:pt>
    <dgm:pt modelId="{5F7AD182-0E8C-4485-976C-71D68F058719}" type="sibTrans" cxnId="{D84E761B-EBBC-4EF7-9914-E62031798DEA}">
      <dgm:prSet/>
      <dgm:spPr/>
      <dgm:t>
        <a:bodyPr/>
        <a:lstStyle/>
        <a:p>
          <a:endParaRPr lang="ru-RU" sz="4000"/>
        </a:p>
      </dgm:t>
    </dgm:pt>
    <dgm:pt modelId="{1AD54869-524F-4563-9D5E-D39E4DBE9FB6}">
      <dgm:prSet custT="1"/>
      <dgm:spPr/>
      <dgm:t>
        <a:bodyPr/>
        <a:lstStyle/>
        <a:p>
          <a:r>
            <a:rPr lang="ru-RU" sz="1600" b="1" dirty="0" smtClean="0">
              <a:solidFill>
                <a:srgbClr val="FF0000"/>
              </a:solidFill>
              <a:latin typeface="Times New Roman"/>
              <a:ea typeface="Times New Roman"/>
            </a:rPr>
            <a:t>Связность</a:t>
          </a:r>
          <a:r>
            <a:rPr lang="ru-RU" sz="1600" dirty="0" smtClean="0">
              <a:latin typeface="Times New Roman"/>
              <a:ea typeface="Times New Roman"/>
            </a:rPr>
            <a:t> – обмен информацией между элементами системы и невозможность включения в систему элементов без информационного обмена. Между элементами имеются существенные связи, которые с необходимостью определяют ее интегративные качества. Связи могут быть вещественными, информационными, прямыми, обратными и т.д. </a:t>
          </a:r>
          <a:endParaRPr lang="ru-RU" sz="1600" dirty="0">
            <a:latin typeface="Times New Roman"/>
            <a:ea typeface="Times New Roman"/>
          </a:endParaRPr>
        </a:p>
      </dgm:t>
    </dgm:pt>
    <dgm:pt modelId="{D7B98D35-BD14-4539-B1AC-EF5F44CB7B0D}" type="parTrans" cxnId="{F91D82EE-D96F-4D87-ABC3-FBF9EAE070B3}">
      <dgm:prSet/>
      <dgm:spPr/>
      <dgm:t>
        <a:bodyPr/>
        <a:lstStyle/>
        <a:p>
          <a:endParaRPr lang="ru-RU" sz="4000"/>
        </a:p>
      </dgm:t>
    </dgm:pt>
    <dgm:pt modelId="{B006B0A9-7374-402B-A1F8-45F14E07DA65}" type="sibTrans" cxnId="{F91D82EE-D96F-4D87-ABC3-FBF9EAE070B3}">
      <dgm:prSet/>
      <dgm:spPr/>
      <dgm:t>
        <a:bodyPr/>
        <a:lstStyle/>
        <a:p>
          <a:endParaRPr lang="ru-RU" sz="4000"/>
        </a:p>
      </dgm:t>
    </dgm:pt>
    <dgm:pt modelId="{E74DAD3B-49BC-44FE-B0E3-144114A72792}">
      <dgm:prSet custT="1"/>
      <dgm:spPr/>
      <dgm:t>
        <a:bodyPr/>
        <a:lstStyle/>
        <a:p>
          <a:r>
            <a:rPr lang="ru-RU" sz="1600" b="1" smtClean="0">
              <a:solidFill>
                <a:srgbClr val="FF0000"/>
              </a:solidFill>
              <a:latin typeface="Times New Roman"/>
              <a:ea typeface="Times New Roman"/>
            </a:rPr>
            <a:t>Целенаправленность</a:t>
          </a:r>
          <a:r>
            <a:rPr lang="ru-RU" sz="1600" smtClean="0">
              <a:latin typeface="Times New Roman"/>
              <a:ea typeface="Times New Roman"/>
            </a:rPr>
            <a:t> – возможность управления системой путем изменения параметров в одном элементе для преобразования состояния других.</a:t>
          </a:r>
          <a:endParaRPr lang="ru-RU" sz="1600" dirty="0">
            <a:latin typeface="Times New Roman"/>
            <a:ea typeface="Times New Roman"/>
          </a:endParaRPr>
        </a:p>
      </dgm:t>
    </dgm:pt>
    <dgm:pt modelId="{B499A612-0014-4452-8A9F-E2E5412DFC49}" type="parTrans" cxnId="{6A5BACFB-7E11-4497-A881-E3707680E793}">
      <dgm:prSet/>
      <dgm:spPr/>
      <dgm:t>
        <a:bodyPr/>
        <a:lstStyle/>
        <a:p>
          <a:endParaRPr lang="ru-RU" sz="4000"/>
        </a:p>
      </dgm:t>
    </dgm:pt>
    <dgm:pt modelId="{74C740A2-621B-4717-8A1C-7032C2E03D9B}" type="sibTrans" cxnId="{6A5BACFB-7E11-4497-A881-E3707680E793}">
      <dgm:prSet/>
      <dgm:spPr/>
      <dgm:t>
        <a:bodyPr/>
        <a:lstStyle/>
        <a:p>
          <a:endParaRPr lang="ru-RU" sz="4000"/>
        </a:p>
      </dgm:t>
    </dgm:pt>
    <dgm:pt modelId="{36C8BE99-8E93-4B73-B43E-2CB6F26E1080}">
      <dgm:prSet custT="1"/>
      <dgm:spPr/>
      <dgm:t>
        <a:bodyPr/>
        <a:lstStyle/>
        <a:p>
          <a:r>
            <a:rPr lang="ru-RU" sz="1600" b="1" dirty="0" smtClean="0">
              <a:solidFill>
                <a:srgbClr val="FF0000"/>
              </a:solidFill>
              <a:latin typeface="Times New Roman"/>
              <a:ea typeface="Times New Roman"/>
            </a:rPr>
            <a:t>Устойчивость (гомеостаз) </a:t>
          </a:r>
          <a:r>
            <a:rPr lang="ru-RU" sz="1600" dirty="0" smtClean="0">
              <a:latin typeface="Times New Roman"/>
              <a:ea typeface="Times New Roman"/>
            </a:rPr>
            <a:t>– способность сохранения перечисленных свойств при достаточно широком изменении параметров среды.</a:t>
          </a:r>
          <a:endParaRPr lang="ru-RU" sz="1600" dirty="0">
            <a:latin typeface="Times New Roman"/>
            <a:ea typeface="Times New Roman"/>
          </a:endParaRPr>
        </a:p>
      </dgm:t>
    </dgm:pt>
    <dgm:pt modelId="{D1C83294-76CC-45FF-9A76-82BEB1A5EF17}" type="parTrans" cxnId="{CB778927-BC8C-4545-AD57-647BBA9AEB3E}">
      <dgm:prSet/>
      <dgm:spPr/>
      <dgm:t>
        <a:bodyPr/>
        <a:lstStyle/>
        <a:p>
          <a:endParaRPr lang="ru-RU" sz="4000"/>
        </a:p>
      </dgm:t>
    </dgm:pt>
    <dgm:pt modelId="{98195E8F-5793-4F3D-AACC-D4B0A7AEC929}" type="sibTrans" cxnId="{CB778927-BC8C-4545-AD57-647BBA9AEB3E}">
      <dgm:prSet/>
      <dgm:spPr/>
      <dgm:t>
        <a:bodyPr/>
        <a:lstStyle/>
        <a:p>
          <a:endParaRPr lang="ru-RU" sz="4000"/>
        </a:p>
      </dgm:t>
    </dgm:pt>
    <dgm:pt modelId="{691135BD-7F25-4B55-9F95-7FE71E022840}" type="pres">
      <dgm:prSet presAssocID="{3DF373B8-01ED-43A8-819A-829A64AEBEB8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C3ED5D20-78D7-4213-9349-9ABC02604059}" type="pres">
      <dgm:prSet presAssocID="{8609AF4D-A847-47CB-95A3-3932F71189C2}" presName="node" presStyleLbl="node1" presStyleIdx="0" presStyleCnt="5" custScaleY="19702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BD0A1EC-E785-4FC8-BFB6-A989ADD59224}" type="pres">
      <dgm:prSet presAssocID="{E1D33C7E-DE48-484F-B503-1141F1F1EC91}" presName="sibTrans" presStyleCnt="0"/>
      <dgm:spPr/>
    </dgm:pt>
    <dgm:pt modelId="{9C385B03-32D3-4DE1-B4D8-7210BF8ABAC6}" type="pres">
      <dgm:prSet presAssocID="{365055D7-3397-4A63-982D-5845FA60C748}" presName="node" presStyleLbl="node1" presStyleIdx="1" presStyleCnt="5" custScaleY="19530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2B65F4F-602A-4D44-8694-9932F9DA2828}" type="pres">
      <dgm:prSet presAssocID="{5F7AD182-0E8C-4485-976C-71D68F058719}" presName="sibTrans" presStyleCnt="0"/>
      <dgm:spPr/>
    </dgm:pt>
    <dgm:pt modelId="{26C6AAF2-5769-4C51-B9C4-A165D46F1FE2}" type="pres">
      <dgm:prSet presAssocID="{1AD54869-524F-4563-9D5E-D39E4DBE9FB6}" presName="node" presStyleLbl="node1" presStyleIdx="2" presStyleCnt="5" custScaleY="19702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7EC2CF4-3177-47BA-9482-57A9705EA152}" type="pres">
      <dgm:prSet presAssocID="{B006B0A9-7374-402B-A1F8-45F14E07DA65}" presName="sibTrans" presStyleCnt="0"/>
      <dgm:spPr/>
    </dgm:pt>
    <dgm:pt modelId="{8FD6322C-0977-4193-8370-F50B71347C0E}" type="pres">
      <dgm:prSet presAssocID="{E74DAD3B-49BC-44FE-B0E3-144114A72792}" presName="node" presStyleLbl="node1" presStyleIdx="3" presStyleCnt="5" custScaleX="12516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40AD3C2-26E7-4A1D-B17F-8D3643CEC2DC}" type="pres">
      <dgm:prSet presAssocID="{74C740A2-621B-4717-8A1C-7032C2E03D9B}" presName="sibTrans" presStyleCnt="0"/>
      <dgm:spPr/>
    </dgm:pt>
    <dgm:pt modelId="{BF50931D-EA42-4DBB-A0EF-0192C1310CF7}" type="pres">
      <dgm:prSet presAssocID="{36C8BE99-8E93-4B73-B43E-2CB6F26E1080}" presName="node" presStyleLbl="node1" presStyleIdx="4" presStyleCnt="5" custScaleX="11590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D84E761B-EBBC-4EF7-9914-E62031798DEA}" srcId="{3DF373B8-01ED-43A8-819A-829A64AEBEB8}" destId="{365055D7-3397-4A63-982D-5845FA60C748}" srcOrd="1" destOrd="0" parTransId="{3161EB9E-6D42-4847-B248-FD7925D411C5}" sibTransId="{5F7AD182-0E8C-4485-976C-71D68F058719}"/>
    <dgm:cxn modelId="{9033AB67-078C-456C-BC2B-DC793C12923E}" type="presOf" srcId="{E74DAD3B-49BC-44FE-B0E3-144114A72792}" destId="{8FD6322C-0977-4193-8370-F50B71347C0E}" srcOrd="0" destOrd="0" presId="urn:microsoft.com/office/officeart/2005/8/layout/default"/>
    <dgm:cxn modelId="{E09FA3FF-AD0C-47A9-99BA-48E5B31AE1BF}" srcId="{3DF373B8-01ED-43A8-819A-829A64AEBEB8}" destId="{8609AF4D-A847-47CB-95A3-3932F71189C2}" srcOrd="0" destOrd="0" parTransId="{38C41182-D4B0-4535-B993-4FA17CC6C111}" sibTransId="{E1D33C7E-DE48-484F-B503-1141F1F1EC91}"/>
    <dgm:cxn modelId="{44CCE7A8-BC9B-4AFC-8CE7-953313E00646}" type="presOf" srcId="{3DF373B8-01ED-43A8-819A-829A64AEBEB8}" destId="{691135BD-7F25-4B55-9F95-7FE71E022840}" srcOrd="0" destOrd="0" presId="urn:microsoft.com/office/officeart/2005/8/layout/default"/>
    <dgm:cxn modelId="{6A5BACFB-7E11-4497-A881-E3707680E793}" srcId="{3DF373B8-01ED-43A8-819A-829A64AEBEB8}" destId="{E74DAD3B-49BC-44FE-B0E3-144114A72792}" srcOrd="3" destOrd="0" parTransId="{B499A612-0014-4452-8A9F-E2E5412DFC49}" sibTransId="{74C740A2-621B-4717-8A1C-7032C2E03D9B}"/>
    <dgm:cxn modelId="{AC3A1995-A209-44FF-B025-D4D4752DF859}" type="presOf" srcId="{1AD54869-524F-4563-9D5E-D39E4DBE9FB6}" destId="{26C6AAF2-5769-4C51-B9C4-A165D46F1FE2}" srcOrd="0" destOrd="0" presId="urn:microsoft.com/office/officeart/2005/8/layout/default"/>
    <dgm:cxn modelId="{D702AE1A-8CD4-4775-853B-F3D65E51C347}" type="presOf" srcId="{8609AF4D-A847-47CB-95A3-3932F71189C2}" destId="{C3ED5D20-78D7-4213-9349-9ABC02604059}" srcOrd="0" destOrd="0" presId="urn:microsoft.com/office/officeart/2005/8/layout/default"/>
    <dgm:cxn modelId="{97F5FF54-1D0C-49E2-88CB-8ADC15388F67}" type="presOf" srcId="{365055D7-3397-4A63-982D-5845FA60C748}" destId="{9C385B03-32D3-4DE1-B4D8-7210BF8ABAC6}" srcOrd="0" destOrd="0" presId="urn:microsoft.com/office/officeart/2005/8/layout/default"/>
    <dgm:cxn modelId="{CB778927-BC8C-4545-AD57-647BBA9AEB3E}" srcId="{3DF373B8-01ED-43A8-819A-829A64AEBEB8}" destId="{36C8BE99-8E93-4B73-B43E-2CB6F26E1080}" srcOrd="4" destOrd="0" parTransId="{D1C83294-76CC-45FF-9A76-82BEB1A5EF17}" sibTransId="{98195E8F-5793-4F3D-AACC-D4B0A7AEC929}"/>
    <dgm:cxn modelId="{F91D82EE-D96F-4D87-ABC3-FBF9EAE070B3}" srcId="{3DF373B8-01ED-43A8-819A-829A64AEBEB8}" destId="{1AD54869-524F-4563-9D5E-D39E4DBE9FB6}" srcOrd="2" destOrd="0" parTransId="{D7B98D35-BD14-4539-B1AC-EF5F44CB7B0D}" sibTransId="{B006B0A9-7374-402B-A1F8-45F14E07DA65}"/>
    <dgm:cxn modelId="{55E69F75-CC9C-4849-8D7D-26813E714651}" type="presOf" srcId="{36C8BE99-8E93-4B73-B43E-2CB6F26E1080}" destId="{BF50931D-EA42-4DBB-A0EF-0192C1310CF7}" srcOrd="0" destOrd="0" presId="urn:microsoft.com/office/officeart/2005/8/layout/default"/>
    <dgm:cxn modelId="{AEF26391-A35B-457B-BA2F-E65A1C32B072}" type="presParOf" srcId="{691135BD-7F25-4B55-9F95-7FE71E022840}" destId="{C3ED5D20-78D7-4213-9349-9ABC02604059}" srcOrd="0" destOrd="0" presId="urn:microsoft.com/office/officeart/2005/8/layout/default"/>
    <dgm:cxn modelId="{F78213BF-4DEB-4FB3-AA2F-F25BB0E1F1D3}" type="presParOf" srcId="{691135BD-7F25-4B55-9F95-7FE71E022840}" destId="{DBD0A1EC-E785-4FC8-BFB6-A989ADD59224}" srcOrd="1" destOrd="0" presId="urn:microsoft.com/office/officeart/2005/8/layout/default"/>
    <dgm:cxn modelId="{E1AF23EF-9920-4061-A59B-B42ADE6B4CD3}" type="presParOf" srcId="{691135BD-7F25-4B55-9F95-7FE71E022840}" destId="{9C385B03-32D3-4DE1-B4D8-7210BF8ABAC6}" srcOrd="2" destOrd="0" presId="urn:microsoft.com/office/officeart/2005/8/layout/default"/>
    <dgm:cxn modelId="{12BE87B5-660C-4837-905F-B56B2E939EC4}" type="presParOf" srcId="{691135BD-7F25-4B55-9F95-7FE71E022840}" destId="{D2B65F4F-602A-4D44-8694-9932F9DA2828}" srcOrd="3" destOrd="0" presId="urn:microsoft.com/office/officeart/2005/8/layout/default"/>
    <dgm:cxn modelId="{DB878F38-94A1-4374-82A4-9E8E7C26E1CF}" type="presParOf" srcId="{691135BD-7F25-4B55-9F95-7FE71E022840}" destId="{26C6AAF2-5769-4C51-B9C4-A165D46F1FE2}" srcOrd="4" destOrd="0" presId="urn:microsoft.com/office/officeart/2005/8/layout/default"/>
    <dgm:cxn modelId="{4DB5675B-066E-4014-8351-6FC8425B1EC8}" type="presParOf" srcId="{691135BD-7F25-4B55-9F95-7FE71E022840}" destId="{57EC2CF4-3177-47BA-9482-57A9705EA152}" srcOrd="5" destOrd="0" presId="urn:microsoft.com/office/officeart/2005/8/layout/default"/>
    <dgm:cxn modelId="{44664B50-934A-43F1-BE87-F4FC17515EF7}" type="presParOf" srcId="{691135BD-7F25-4B55-9F95-7FE71E022840}" destId="{8FD6322C-0977-4193-8370-F50B71347C0E}" srcOrd="6" destOrd="0" presId="urn:microsoft.com/office/officeart/2005/8/layout/default"/>
    <dgm:cxn modelId="{C7DFB4F8-A3B4-434E-A621-2332FAF2A93F}" type="presParOf" srcId="{691135BD-7F25-4B55-9F95-7FE71E022840}" destId="{B40AD3C2-26E7-4A1D-B17F-8D3643CEC2DC}" srcOrd="7" destOrd="0" presId="urn:microsoft.com/office/officeart/2005/8/layout/default"/>
    <dgm:cxn modelId="{7A364E2B-9E1B-4739-A593-92DD0D546F4C}" type="presParOf" srcId="{691135BD-7F25-4B55-9F95-7FE71E022840}" destId="{BF50931D-EA42-4DBB-A0EF-0192C1310CF7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0BFA49E-0170-4B21-9457-DA69B799BF4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C1615C8-CD7D-4078-91D0-2AAE38710C5C}">
      <dgm:prSet phldrT="[Текст]" custT="1"/>
      <dgm:spPr/>
      <dgm:t>
        <a:bodyPr/>
        <a:lstStyle/>
        <a:p>
          <a:r>
            <a:rPr lang="ru-RU" sz="1300" dirty="0" smtClean="0">
              <a:latin typeface="Times New Roman" pitchFamily="18" charset="0"/>
              <a:cs typeface="Times New Roman" pitchFamily="18" charset="0"/>
            </a:rPr>
            <a:t>Сенсорная инфраструктура: Это может включать в себя камеры, </a:t>
          </a:r>
          <a:r>
            <a:rPr lang="ru-RU" sz="1300" dirty="0" err="1" smtClean="0">
              <a:latin typeface="Times New Roman" pitchFamily="18" charset="0"/>
              <a:cs typeface="Times New Roman" pitchFamily="18" charset="0"/>
            </a:rPr>
            <a:t>лидары</a:t>
          </a:r>
          <a:r>
            <a:rPr lang="ru-RU" sz="1300" dirty="0" smtClean="0">
              <a:latin typeface="Times New Roman" pitchFamily="18" charset="0"/>
              <a:cs typeface="Times New Roman" pitchFamily="18" charset="0"/>
            </a:rPr>
            <a:t>, радары и другие сенсоры, расположенные вдоль дорог,  для предоставления беспилотным автомобилям более полной информации об окружающей обстановке, чем они могут получить самостоятельно.  Особенно важно в сложных условиях (плохая погода, ограниченная видимость).  Эта информация должна интегрироваться с собственной сенсорной системой автомобиля.</a:t>
          </a:r>
          <a:endParaRPr lang="ru-RU" sz="1300" dirty="0">
            <a:latin typeface="Times New Roman" pitchFamily="18" charset="0"/>
            <a:cs typeface="Times New Roman" pitchFamily="18" charset="0"/>
          </a:endParaRPr>
        </a:p>
      </dgm:t>
    </dgm:pt>
    <dgm:pt modelId="{2F0158BD-6D32-406C-8F82-D3721EB032E8}" type="parTrans" cxnId="{9E3D06A1-FE3B-449F-937D-BF11428CB670}">
      <dgm:prSet/>
      <dgm:spPr/>
      <dgm:t>
        <a:bodyPr/>
        <a:lstStyle/>
        <a:p>
          <a:endParaRPr lang="ru-RU" sz="1300">
            <a:latin typeface="Times New Roman" pitchFamily="18" charset="0"/>
            <a:cs typeface="Times New Roman" pitchFamily="18" charset="0"/>
          </a:endParaRPr>
        </a:p>
      </dgm:t>
    </dgm:pt>
    <dgm:pt modelId="{0D389B8B-0AF2-4057-973A-233C57822AB9}" type="sibTrans" cxnId="{9E3D06A1-FE3B-449F-937D-BF11428CB670}">
      <dgm:prSet/>
      <dgm:spPr/>
      <dgm:t>
        <a:bodyPr/>
        <a:lstStyle/>
        <a:p>
          <a:endParaRPr lang="ru-RU" sz="1300">
            <a:latin typeface="Times New Roman" pitchFamily="18" charset="0"/>
            <a:cs typeface="Times New Roman" pitchFamily="18" charset="0"/>
          </a:endParaRPr>
        </a:p>
      </dgm:t>
    </dgm:pt>
    <dgm:pt modelId="{24CE4131-D474-44AC-9103-9DF9A61F6479}">
      <dgm:prSet custT="1"/>
      <dgm:spPr/>
      <dgm:t>
        <a:bodyPr/>
        <a:lstStyle/>
        <a:p>
          <a:r>
            <a:rPr lang="ru-RU" sz="1300" dirty="0" smtClean="0">
              <a:latin typeface="Times New Roman" pitchFamily="18" charset="0"/>
              <a:cs typeface="Times New Roman" pitchFamily="18" charset="0"/>
            </a:rPr>
            <a:t>Коммуникационная инфраструктура (V2X – </a:t>
          </a:r>
          <a:r>
            <a:rPr lang="ru-RU" sz="1300" dirty="0" err="1" smtClean="0">
              <a:latin typeface="Times New Roman" pitchFamily="18" charset="0"/>
              <a:cs typeface="Times New Roman" pitchFamily="18" charset="0"/>
            </a:rPr>
            <a:t>Vehicle-to-Everything</a:t>
          </a:r>
          <a:r>
            <a:rPr lang="ru-RU" sz="1300" dirty="0" smtClean="0">
              <a:latin typeface="Times New Roman" pitchFamily="18" charset="0"/>
              <a:cs typeface="Times New Roman" pitchFamily="18" charset="0"/>
            </a:rPr>
            <a:t>): Обеспечение связи между автомобилями (V2V), автомобилями и дорожной инфраструктурой (V2I), автомобилями и другими участниками дорожного движения (V2P - </a:t>
          </a:r>
          <a:r>
            <a:rPr lang="ru-RU" sz="1300" dirty="0" err="1" smtClean="0">
              <a:latin typeface="Times New Roman" pitchFamily="18" charset="0"/>
              <a:cs typeface="Times New Roman" pitchFamily="18" charset="0"/>
            </a:rPr>
            <a:t>pedestrians</a:t>
          </a:r>
          <a:r>
            <a:rPr lang="ru-RU" sz="1300" dirty="0" smtClean="0">
              <a:latin typeface="Times New Roman" pitchFamily="18" charset="0"/>
              <a:cs typeface="Times New Roman" pitchFamily="18" charset="0"/>
            </a:rPr>
            <a:t>).  Это позволяет автомобилям обмениваться информацией о местоположении, скорости, намерениях, дорожных условиях, и предупреждениях об опасностях.  Требует надежной и высокоскоростной связи (например, 5G).</a:t>
          </a:r>
          <a:endParaRPr lang="ru-RU" sz="1300" dirty="0">
            <a:latin typeface="Times New Roman" pitchFamily="18" charset="0"/>
            <a:cs typeface="Times New Roman" pitchFamily="18" charset="0"/>
          </a:endParaRPr>
        </a:p>
      </dgm:t>
    </dgm:pt>
    <dgm:pt modelId="{E7ECA44D-8120-434E-B2A1-3BFE4E06D4A1}" type="parTrans" cxnId="{437516F1-3992-48EB-B719-6E19B266DA75}">
      <dgm:prSet/>
      <dgm:spPr/>
      <dgm:t>
        <a:bodyPr/>
        <a:lstStyle/>
        <a:p>
          <a:endParaRPr lang="ru-RU" sz="1300">
            <a:latin typeface="Times New Roman" pitchFamily="18" charset="0"/>
            <a:cs typeface="Times New Roman" pitchFamily="18" charset="0"/>
          </a:endParaRPr>
        </a:p>
      </dgm:t>
    </dgm:pt>
    <dgm:pt modelId="{976884E3-AB80-46AA-9295-0569567CE147}" type="sibTrans" cxnId="{437516F1-3992-48EB-B719-6E19B266DA75}">
      <dgm:prSet/>
      <dgm:spPr/>
      <dgm:t>
        <a:bodyPr/>
        <a:lstStyle/>
        <a:p>
          <a:endParaRPr lang="ru-RU" sz="1300">
            <a:latin typeface="Times New Roman" pitchFamily="18" charset="0"/>
            <a:cs typeface="Times New Roman" pitchFamily="18" charset="0"/>
          </a:endParaRPr>
        </a:p>
      </dgm:t>
    </dgm:pt>
    <dgm:pt modelId="{083F74A7-5978-4101-A60D-21C50A51D6E6}">
      <dgm:prSet custT="1"/>
      <dgm:spPr/>
      <dgm:t>
        <a:bodyPr/>
        <a:lstStyle/>
        <a:p>
          <a:r>
            <a:rPr lang="ru-RU" sz="1300" dirty="0" smtClean="0">
              <a:latin typeface="Times New Roman" pitchFamily="18" charset="0"/>
              <a:cs typeface="Times New Roman" pitchFamily="18" charset="0"/>
            </a:rPr>
            <a:t>Навигационная инфраструктура (расширенная): Помимо стандартных GPS/ГЛОНАСС, требуется создание карт высокого разрешения (HD </a:t>
          </a:r>
          <a:r>
            <a:rPr lang="ru-RU" sz="1300" dirty="0" err="1" smtClean="0">
              <a:latin typeface="Times New Roman" pitchFamily="18" charset="0"/>
              <a:cs typeface="Times New Roman" pitchFamily="18" charset="0"/>
            </a:rPr>
            <a:t>maps</a:t>
          </a:r>
          <a:r>
            <a:rPr lang="ru-RU" sz="1300" dirty="0" smtClean="0">
              <a:latin typeface="Times New Roman" pitchFamily="18" charset="0"/>
              <a:cs typeface="Times New Roman" pitchFamily="18" charset="0"/>
            </a:rPr>
            <a:t>) с детальной информацией о дорожной разметке, знаках, светофорах, бордюрах, и других объектах.  Эти карты должны постоянно обновляться с учетом изменений на дороге.  Могут использоваться системы локального позиционирования (например, на основе маяков).</a:t>
          </a:r>
          <a:endParaRPr lang="ru-RU" sz="1300" dirty="0">
            <a:latin typeface="Times New Roman" pitchFamily="18" charset="0"/>
            <a:cs typeface="Times New Roman" pitchFamily="18" charset="0"/>
          </a:endParaRPr>
        </a:p>
      </dgm:t>
    </dgm:pt>
    <dgm:pt modelId="{362F7C60-D6F4-4AC6-9581-719D06A82C27}" type="parTrans" cxnId="{C71B48D6-E8F7-4A5F-8E28-CFAE345DA838}">
      <dgm:prSet/>
      <dgm:spPr/>
      <dgm:t>
        <a:bodyPr/>
        <a:lstStyle/>
        <a:p>
          <a:endParaRPr lang="ru-RU" sz="1300">
            <a:latin typeface="Times New Roman" pitchFamily="18" charset="0"/>
            <a:cs typeface="Times New Roman" pitchFamily="18" charset="0"/>
          </a:endParaRPr>
        </a:p>
      </dgm:t>
    </dgm:pt>
    <dgm:pt modelId="{D965CA87-CC61-4B4A-A7C5-2A80B62BB478}" type="sibTrans" cxnId="{C71B48D6-E8F7-4A5F-8E28-CFAE345DA838}">
      <dgm:prSet/>
      <dgm:spPr/>
      <dgm:t>
        <a:bodyPr/>
        <a:lstStyle/>
        <a:p>
          <a:endParaRPr lang="ru-RU" sz="1300">
            <a:latin typeface="Times New Roman" pitchFamily="18" charset="0"/>
            <a:cs typeface="Times New Roman" pitchFamily="18" charset="0"/>
          </a:endParaRPr>
        </a:p>
      </dgm:t>
    </dgm:pt>
    <dgm:pt modelId="{E6519810-A3B8-4EE8-8C1D-DD7CB482B208}">
      <dgm:prSet custT="1"/>
      <dgm:spPr/>
      <dgm:t>
        <a:bodyPr/>
        <a:lstStyle/>
        <a:p>
          <a:r>
            <a:rPr lang="ru-RU" sz="1300" dirty="0" smtClean="0">
              <a:latin typeface="Times New Roman" pitchFamily="18" charset="0"/>
              <a:cs typeface="Times New Roman" pitchFamily="18" charset="0"/>
            </a:rPr>
            <a:t>Интеллектуальная дорожная инфраструктура: Светофоры и дорожные знаки, способные "разговаривать" с автомобилями, передавая им информацию о своем состоянии и управляя потоком движения.  Это включает в себя интеллектуальные перекрестки, системы адаптивного управления движением, и электронные информационные табло.</a:t>
          </a:r>
          <a:endParaRPr lang="ru-RU" sz="1300" dirty="0">
            <a:latin typeface="Times New Roman" pitchFamily="18" charset="0"/>
            <a:cs typeface="Times New Roman" pitchFamily="18" charset="0"/>
          </a:endParaRPr>
        </a:p>
      </dgm:t>
    </dgm:pt>
    <dgm:pt modelId="{DC1ECD3F-FD89-438D-99DD-2E16AC77E751}" type="parTrans" cxnId="{EBF452ED-A535-480F-A12B-BE3354E54FDD}">
      <dgm:prSet/>
      <dgm:spPr/>
      <dgm:t>
        <a:bodyPr/>
        <a:lstStyle/>
        <a:p>
          <a:endParaRPr lang="ru-RU" sz="1300">
            <a:latin typeface="Times New Roman" pitchFamily="18" charset="0"/>
            <a:cs typeface="Times New Roman" pitchFamily="18" charset="0"/>
          </a:endParaRPr>
        </a:p>
      </dgm:t>
    </dgm:pt>
    <dgm:pt modelId="{DB5142FF-55C1-4AF6-B81F-1DD60531922F}" type="sibTrans" cxnId="{EBF452ED-A535-480F-A12B-BE3354E54FDD}">
      <dgm:prSet/>
      <dgm:spPr/>
      <dgm:t>
        <a:bodyPr/>
        <a:lstStyle/>
        <a:p>
          <a:endParaRPr lang="ru-RU" sz="1300">
            <a:latin typeface="Times New Roman" pitchFamily="18" charset="0"/>
            <a:cs typeface="Times New Roman" pitchFamily="18" charset="0"/>
          </a:endParaRPr>
        </a:p>
      </dgm:t>
    </dgm:pt>
    <dgm:pt modelId="{51493E8E-5214-4E11-9ED9-0E27201F6888}">
      <dgm:prSet custT="1"/>
      <dgm:spPr/>
      <dgm:t>
        <a:bodyPr/>
        <a:lstStyle/>
        <a:p>
          <a:r>
            <a:rPr lang="ru-RU" sz="1300" dirty="0" smtClean="0">
              <a:latin typeface="Times New Roman" pitchFamily="18" charset="0"/>
              <a:cs typeface="Times New Roman" pitchFamily="18" charset="0"/>
            </a:rPr>
            <a:t>Централизованная система управления и мониторинга:  Комплексная система для мониторинга дорожной обстановки, управления трафиком, реагирования на аварии и оказания помощи беспилотным автомобилям в сложных ситуациях.  Может включать в себя диспетчерские центры и операторов, готовых взять управление автомобилем на себя в экстренных случаях (удаленное управление).</a:t>
          </a:r>
          <a:endParaRPr lang="ru-RU" sz="1300" dirty="0">
            <a:latin typeface="Times New Roman" pitchFamily="18" charset="0"/>
            <a:cs typeface="Times New Roman" pitchFamily="18" charset="0"/>
          </a:endParaRPr>
        </a:p>
      </dgm:t>
    </dgm:pt>
    <dgm:pt modelId="{7034870A-B812-4722-B967-84CE23E7F9BF}" type="parTrans" cxnId="{F4B5E109-ADBC-4EE4-964D-C264E8159A81}">
      <dgm:prSet/>
      <dgm:spPr/>
      <dgm:t>
        <a:bodyPr/>
        <a:lstStyle/>
        <a:p>
          <a:endParaRPr lang="ru-RU" sz="1300">
            <a:latin typeface="Times New Roman" pitchFamily="18" charset="0"/>
            <a:cs typeface="Times New Roman" pitchFamily="18" charset="0"/>
          </a:endParaRPr>
        </a:p>
      </dgm:t>
    </dgm:pt>
    <dgm:pt modelId="{C59212F0-894D-4D11-AB3F-880311C1A27F}" type="sibTrans" cxnId="{F4B5E109-ADBC-4EE4-964D-C264E8159A81}">
      <dgm:prSet/>
      <dgm:spPr/>
      <dgm:t>
        <a:bodyPr/>
        <a:lstStyle/>
        <a:p>
          <a:endParaRPr lang="ru-RU" sz="1300">
            <a:latin typeface="Times New Roman" pitchFamily="18" charset="0"/>
            <a:cs typeface="Times New Roman" pitchFamily="18" charset="0"/>
          </a:endParaRPr>
        </a:p>
      </dgm:t>
    </dgm:pt>
    <dgm:pt modelId="{AB11FB56-1DCA-4465-8C6D-F603CB329D7F}">
      <dgm:prSet custT="1"/>
      <dgm:spPr/>
      <dgm:t>
        <a:bodyPr/>
        <a:lstStyle/>
        <a:p>
          <a:r>
            <a:rPr lang="ru-RU" sz="1300" dirty="0" smtClean="0">
              <a:latin typeface="Times New Roman" pitchFamily="18" charset="0"/>
              <a:cs typeface="Times New Roman" pitchFamily="18" charset="0"/>
            </a:rPr>
            <a:t>Инфраструктура зарядки (для электромобилей):  Сеть станций зарядки, доступных и удобных для беспилотных электромобилей.  Важна поддержка автоматической зарядки без участия человека.</a:t>
          </a:r>
          <a:endParaRPr lang="ru-RU" sz="1300" dirty="0">
            <a:latin typeface="Times New Roman" pitchFamily="18" charset="0"/>
            <a:cs typeface="Times New Roman" pitchFamily="18" charset="0"/>
          </a:endParaRPr>
        </a:p>
      </dgm:t>
    </dgm:pt>
    <dgm:pt modelId="{B17B60EA-E838-4ACB-9CE5-3987DAA87B73}" type="parTrans" cxnId="{99E8DC5B-31C5-4F7E-8FB9-71EE6FFA44A0}">
      <dgm:prSet/>
      <dgm:spPr/>
      <dgm:t>
        <a:bodyPr/>
        <a:lstStyle/>
        <a:p>
          <a:endParaRPr lang="ru-RU" sz="1300">
            <a:latin typeface="Times New Roman" pitchFamily="18" charset="0"/>
            <a:cs typeface="Times New Roman" pitchFamily="18" charset="0"/>
          </a:endParaRPr>
        </a:p>
      </dgm:t>
    </dgm:pt>
    <dgm:pt modelId="{3D0B88D4-9F03-4717-A979-5C20FB697E28}" type="sibTrans" cxnId="{99E8DC5B-31C5-4F7E-8FB9-71EE6FFA44A0}">
      <dgm:prSet/>
      <dgm:spPr/>
      <dgm:t>
        <a:bodyPr/>
        <a:lstStyle/>
        <a:p>
          <a:endParaRPr lang="ru-RU" sz="1300">
            <a:latin typeface="Times New Roman" pitchFamily="18" charset="0"/>
            <a:cs typeface="Times New Roman" pitchFamily="18" charset="0"/>
          </a:endParaRPr>
        </a:p>
      </dgm:t>
    </dgm:pt>
    <dgm:pt modelId="{15D32AA7-525A-4EBA-A23F-69FEE7F00DCD}" type="pres">
      <dgm:prSet presAssocID="{B0BFA49E-0170-4B21-9457-DA69B799BF4D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CCA4FD46-5146-489F-8DAF-9CF4A1492356}" type="pres">
      <dgm:prSet presAssocID="{CC1615C8-CD7D-4078-91D0-2AAE38710C5C}" presName="node" presStyleLbl="node1" presStyleIdx="0" presStyleCnt="6" custScaleY="17936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071A00A-1B4C-4151-81B5-8B304BCC949F}" type="pres">
      <dgm:prSet presAssocID="{0D389B8B-0AF2-4057-973A-233C57822AB9}" presName="sibTrans" presStyleCnt="0"/>
      <dgm:spPr/>
    </dgm:pt>
    <dgm:pt modelId="{B520F404-4A0C-4F6B-861C-AB838DC5AFAC}" type="pres">
      <dgm:prSet presAssocID="{24CE4131-D474-44AC-9103-9DF9A61F6479}" presName="node" presStyleLbl="node1" presStyleIdx="1" presStyleCnt="6" custScaleY="17439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4DDACD1-8724-4865-87B8-394A21D7A02A}" type="pres">
      <dgm:prSet presAssocID="{976884E3-AB80-46AA-9295-0569567CE147}" presName="sibTrans" presStyleCnt="0"/>
      <dgm:spPr/>
    </dgm:pt>
    <dgm:pt modelId="{7EE6B10E-1BBE-46D8-9E61-92AA84815BE1}" type="pres">
      <dgm:prSet presAssocID="{083F74A7-5978-4101-A60D-21C50A51D6E6}" presName="node" presStyleLbl="node1" presStyleIdx="2" presStyleCnt="6" custScaleY="17439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08B213F-B184-4624-8F84-D7653ECAAA58}" type="pres">
      <dgm:prSet presAssocID="{D965CA87-CC61-4B4A-A7C5-2A80B62BB478}" presName="sibTrans" presStyleCnt="0"/>
      <dgm:spPr/>
    </dgm:pt>
    <dgm:pt modelId="{7CF7E455-CF7B-424A-A71F-0A1CF8A40518}" type="pres">
      <dgm:prSet presAssocID="{E6519810-A3B8-4EE8-8C1D-DD7CB482B208}" presName="node" presStyleLbl="node1" presStyleIdx="3" presStyleCnt="6" custScaleY="13630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DEAD980-381E-48F9-A755-8A742E649314}" type="pres">
      <dgm:prSet presAssocID="{DB5142FF-55C1-4AF6-B81F-1DD60531922F}" presName="sibTrans" presStyleCnt="0"/>
      <dgm:spPr/>
    </dgm:pt>
    <dgm:pt modelId="{C301C1B7-ACF6-4207-A00D-CDF3FF63CFF3}" type="pres">
      <dgm:prSet presAssocID="{51493E8E-5214-4E11-9ED9-0E27201F6888}" presName="node" presStyleLbl="node1" presStyleIdx="4" presStyleCnt="6" custScaleY="13425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D86661F-5BD4-4FD9-9461-53AE14F8C4C6}" type="pres">
      <dgm:prSet presAssocID="{C59212F0-894D-4D11-AB3F-880311C1A27F}" presName="sibTrans" presStyleCnt="0"/>
      <dgm:spPr/>
    </dgm:pt>
    <dgm:pt modelId="{F6EB917F-2862-4773-AD73-B5F32B0A5438}" type="pres">
      <dgm:prSet presAssocID="{AB11FB56-1DCA-4465-8C6D-F603CB329D7F}" presName="node" presStyleLbl="node1" presStyleIdx="5" presStyleCnt="6" custScaleY="13256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37516F1-3992-48EB-B719-6E19B266DA75}" srcId="{B0BFA49E-0170-4B21-9457-DA69B799BF4D}" destId="{24CE4131-D474-44AC-9103-9DF9A61F6479}" srcOrd="1" destOrd="0" parTransId="{E7ECA44D-8120-434E-B2A1-3BFE4E06D4A1}" sibTransId="{976884E3-AB80-46AA-9295-0569567CE147}"/>
    <dgm:cxn modelId="{99E8DC5B-31C5-4F7E-8FB9-71EE6FFA44A0}" srcId="{B0BFA49E-0170-4B21-9457-DA69B799BF4D}" destId="{AB11FB56-1DCA-4465-8C6D-F603CB329D7F}" srcOrd="5" destOrd="0" parTransId="{B17B60EA-E838-4ACB-9CE5-3987DAA87B73}" sibTransId="{3D0B88D4-9F03-4717-A979-5C20FB697E28}"/>
    <dgm:cxn modelId="{03E4F19A-8B26-46AC-8DD2-BC6DC22F33CD}" type="presOf" srcId="{B0BFA49E-0170-4B21-9457-DA69B799BF4D}" destId="{15D32AA7-525A-4EBA-A23F-69FEE7F00DCD}" srcOrd="0" destOrd="0" presId="urn:microsoft.com/office/officeart/2005/8/layout/default"/>
    <dgm:cxn modelId="{C71B48D6-E8F7-4A5F-8E28-CFAE345DA838}" srcId="{B0BFA49E-0170-4B21-9457-DA69B799BF4D}" destId="{083F74A7-5978-4101-A60D-21C50A51D6E6}" srcOrd="2" destOrd="0" parTransId="{362F7C60-D6F4-4AC6-9581-719D06A82C27}" sibTransId="{D965CA87-CC61-4B4A-A7C5-2A80B62BB478}"/>
    <dgm:cxn modelId="{F4B5E109-ADBC-4EE4-964D-C264E8159A81}" srcId="{B0BFA49E-0170-4B21-9457-DA69B799BF4D}" destId="{51493E8E-5214-4E11-9ED9-0E27201F6888}" srcOrd="4" destOrd="0" parTransId="{7034870A-B812-4722-B967-84CE23E7F9BF}" sibTransId="{C59212F0-894D-4D11-AB3F-880311C1A27F}"/>
    <dgm:cxn modelId="{649C91AF-51BD-44B2-BE60-16B0CDB55AF5}" type="presOf" srcId="{E6519810-A3B8-4EE8-8C1D-DD7CB482B208}" destId="{7CF7E455-CF7B-424A-A71F-0A1CF8A40518}" srcOrd="0" destOrd="0" presId="urn:microsoft.com/office/officeart/2005/8/layout/default"/>
    <dgm:cxn modelId="{7D136F5D-9EE7-46A4-8330-35397B326CDD}" type="presOf" srcId="{AB11FB56-1DCA-4465-8C6D-F603CB329D7F}" destId="{F6EB917F-2862-4773-AD73-B5F32B0A5438}" srcOrd="0" destOrd="0" presId="urn:microsoft.com/office/officeart/2005/8/layout/default"/>
    <dgm:cxn modelId="{F8D7F75C-EE6A-4233-961A-B973E5EC8258}" type="presOf" srcId="{24CE4131-D474-44AC-9103-9DF9A61F6479}" destId="{B520F404-4A0C-4F6B-861C-AB838DC5AFAC}" srcOrd="0" destOrd="0" presId="urn:microsoft.com/office/officeart/2005/8/layout/default"/>
    <dgm:cxn modelId="{5547AD7E-03B3-4258-88E8-85274DB1FBD4}" type="presOf" srcId="{CC1615C8-CD7D-4078-91D0-2AAE38710C5C}" destId="{CCA4FD46-5146-489F-8DAF-9CF4A1492356}" srcOrd="0" destOrd="0" presId="urn:microsoft.com/office/officeart/2005/8/layout/default"/>
    <dgm:cxn modelId="{EBF452ED-A535-480F-A12B-BE3354E54FDD}" srcId="{B0BFA49E-0170-4B21-9457-DA69B799BF4D}" destId="{E6519810-A3B8-4EE8-8C1D-DD7CB482B208}" srcOrd="3" destOrd="0" parTransId="{DC1ECD3F-FD89-438D-99DD-2E16AC77E751}" sibTransId="{DB5142FF-55C1-4AF6-B81F-1DD60531922F}"/>
    <dgm:cxn modelId="{9E3D06A1-FE3B-449F-937D-BF11428CB670}" srcId="{B0BFA49E-0170-4B21-9457-DA69B799BF4D}" destId="{CC1615C8-CD7D-4078-91D0-2AAE38710C5C}" srcOrd="0" destOrd="0" parTransId="{2F0158BD-6D32-406C-8F82-D3721EB032E8}" sibTransId="{0D389B8B-0AF2-4057-973A-233C57822AB9}"/>
    <dgm:cxn modelId="{C49A24CA-6D4F-404C-B8EC-3BA74246213E}" type="presOf" srcId="{51493E8E-5214-4E11-9ED9-0E27201F6888}" destId="{C301C1B7-ACF6-4207-A00D-CDF3FF63CFF3}" srcOrd="0" destOrd="0" presId="urn:microsoft.com/office/officeart/2005/8/layout/default"/>
    <dgm:cxn modelId="{34F95DCE-DE36-4025-A359-EC5E6D1B6DA2}" type="presOf" srcId="{083F74A7-5978-4101-A60D-21C50A51D6E6}" destId="{7EE6B10E-1BBE-46D8-9E61-92AA84815BE1}" srcOrd="0" destOrd="0" presId="urn:microsoft.com/office/officeart/2005/8/layout/default"/>
    <dgm:cxn modelId="{00C24547-7E54-4A40-B0DF-72497B4C6980}" type="presParOf" srcId="{15D32AA7-525A-4EBA-A23F-69FEE7F00DCD}" destId="{CCA4FD46-5146-489F-8DAF-9CF4A1492356}" srcOrd="0" destOrd="0" presId="urn:microsoft.com/office/officeart/2005/8/layout/default"/>
    <dgm:cxn modelId="{FE2457B3-4E07-4C55-BCD2-F4E75F2DB18C}" type="presParOf" srcId="{15D32AA7-525A-4EBA-A23F-69FEE7F00DCD}" destId="{1071A00A-1B4C-4151-81B5-8B304BCC949F}" srcOrd="1" destOrd="0" presId="urn:microsoft.com/office/officeart/2005/8/layout/default"/>
    <dgm:cxn modelId="{AFBB135A-7C03-46F7-992B-8D8D7FE78FC7}" type="presParOf" srcId="{15D32AA7-525A-4EBA-A23F-69FEE7F00DCD}" destId="{B520F404-4A0C-4F6B-861C-AB838DC5AFAC}" srcOrd="2" destOrd="0" presId="urn:microsoft.com/office/officeart/2005/8/layout/default"/>
    <dgm:cxn modelId="{EAF8598C-C836-4F4C-8739-F7C9D16848EE}" type="presParOf" srcId="{15D32AA7-525A-4EBA-A23F-69FEE7F00DCD}" destId="{A4DDACD1-8724-4865-87B8-394A21D7A02A}" srcOrd="3" destOrd="0" presId="urn:microsoft.com/office/officeart/2005/8/layout/default"/>
    <dgm:cxn modelId="{9CBF35AB-55B1-4924-8B44-3FF764CD87FA}" type="presParOf" srcId="{15D32AA7-525A-4EBA-A23F-69FEE7F00DCD}" destId="{7EE6B10E-1BBE-46D8-9E61-92AA84815BE1}" srcOrd="4" destOrd="0" presId="urn:microsoft.com/office/officeart/2005/8/layout/default"/>
    <dgm:cxn modelId="{B6C365A4-C4FC-455A-8E20-C62F77942C21}" type="presParOf" srcId="{15D32AA7-525A-4EBA-A23F-69FEE7F00DCD}" destId="{008B213F-B184-4624-8F84-D7653ECAAA58}" srcOrd="5" destOrd="0" presId="urn:microsoft.com/office/officeart/2005/8/layout/default"/>
    <dgm:cxn modelId="{D37B4DB1-E1A1-4DB3-9970-371BA56A9915}" type="presParOf" srcId="{15D32AA7-525A-4EBA-A23F-69FEE7F00DCD}" destId="{7CF7E455-CF7B-424A-A71F-0A1CF8A40518}" srcOrd="6" destOrd="0" presId="urn:microsoft.com/office/officeart/2005/8/layout/default"/>
    <dgm:cxn modelId="{A6A8DE78-7103-4D37-A828-AE1A72928A57}" type="presParOf" srcId="{15D32AA7-525A-4EBA-A23F-69FEE7F00DCD}" destId="{4DEAD980-381E-48F9-A755-8A742E649314}" srcOrd="7" destOrd="0" presId="urn:microsoft.com/office/officeart/2005/8/layout/default"/>
    <dgm:cxn modelId="{50F956FE-2351-4D5A-9E1D-7C58F4A1D280}" type="presParOf" srcId="{15D32AA7-525A-4EBA-A23F-69FEE7F00DCD}" destId="{C301C1B7-ACF6-4207-A00D-CDF3FF63CFF3}" srcOrd="8" destOrd="0" presId="urn:microsoft.com/office/officeart/2005/8/layout/default"/>
    <dgm:cxn modelId="{78AA9F3B-D113-4D19-BB16-2304D3FBC26B}" type="presParOf" srcId="{15D32AA7-525A-4EBA-A23F-69FEE7F00DCD}" destId="{6D86661F-5BD4-4FD9-9461-53AE14F8C4C6}" srcOrd="9" destOrd="0" presId="urn:microsoft.com/office/officeart/2005/8/layout/default"/>
    <dgm:cxn modelId="{74F1CB17-7E11-4AA5-8F57-1A3E2A90C323}" type="presParOf" srcId="{15D32AA7-525A-4EBA-A23F-69FEE7F00DCD}" destId="{F6EB917F-2862-4773-AD73-B5F32B0A5438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0BFA49E-0170-4B21-9457-DA69B799BF4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C1615C8-CD7D-4078-91D0-2AAE38710C5C}">
      <dgm:prSet phldrT="[Текст]" custT="1"/>
      <dgm:spPr/>
      <dgm:t>
        <a:bodyPr/>
        <a:lstStyle/>
        <a:p>
          <a:r>
            <a:rPr lang="ru-RU" sz="1800" smtClean="0">
              <a:latin typeface="Times New Roman" pitchFamily="18" charset="0"/>
              <a:cs typeface="Times New Roman" pitchFamily="18" charset="0"/>
            </a:rPr>
            <a:t>Безопасность движения: Предотвращение ДТП, столкновений с пешеходами, велосипедистами и другими участниками дорожного движения.  Требует надежных алгоритмов принятия решений, дублирующих систем управления и резервирования критических функций.  Особое внимание уделяется безопасности в сложных погодных условиях и при неожиданных ситуациях.</a:t>
          </a:r>
          <a:endParaRPr lang="ru-RU" sz="1800" dirty="0">
            <a:latin typeface="Times New Roman" pitchFamily="18" charset="0"/>
            <a:cs typeface="Times New Roman" pitchFamily="18" charset="0"/>
          </a:endParaRPr>
        </a:p>
      </dgm:t>
    </dgm:pt>
    <dgm:pt modelId="{2F0158BD-6D32-406C-8F82-D3721EB032E8}" type="parTrans" cxnId="{9E3D06A1-FE3B-449F-937D-BF11428CB670}">
      <dgm:prSet/>
      <dgm:spPr/>
      <dgm:t>
        <a:bodyPr/>
        <a:lstStyle/>
        <a:p>
          <a:endParaRPr lang="ru-RU" sz="1800">
            <a:latin typeface="Times New Roman" pitchFamily="18" charset="0"/>
            <a:cs typeface="Times New Roman" pitchFamily="18" charset="0"/>
          </a:endParaRPr>
        </a:p>
      </dgm:t>
    </dgm:pt>
    <dgm:pt modelId="{0D389B8B-0AF2-4057-973A-233C57822AB9}" type="sibTrans" cxnId="{9E3D06A1-FE3B-449F-937D-BF11428CB670}">
      <dgm:prSet/>
      <dgm:spPr/>
      <dgm:t>
        <a:bodyPr/>
        <a:lstStyle/>
        <a:p>
          <a:endParaRPr lang="ru-RU" sz="1800">
            <a:latin typeface="Times New Roman" pitchFamily="18" charset="0"/>
            <a:cs typeface="Times New Roman" pitchFamily="18" charset="0"/>
          </a:endParaRPr>
        </a:p>
      </dgm:t>
    </dgm:pt>
    <dgm:pt modelId="{B7ED6386-2F13-493A-AAE4-745C1EE9EFBC}">
      <dgm:prSet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Кибербезопасность:  Защита от взлома и несанкционированного управления автомобилем.  Требует надежной системы защиты от кибератак и постоянного мониторинга за уязвимостями.</a:t>
          </a:r>
        </a:p>
      </dgm:t>
    </dgm:pt>
    <dgm:pt modelId="{E611E178-6623-454F-810C-59E2D0CEA848}" type="parTrans" cxnId="{76460F28-0726-4AC2-B943-C3CFAEE0B3E2}">
      <dgm:prSet/>
      <dgm:spPr/>
      <dgm:t>
        <a:bodyPr/>
        <a:lstStyle/>
        <a:p>
          <a:endParaRPr lang="ru-RU" sz="2800"/>
        </a:p>
      </dgm:t>
    </dgm:pt>
    <dgm:pt modelId="{BEE667CC-D802-465D-A245-2BF9DC1F3738}" type="sibTrans" cxnId="{76460F28-0726-4AC2-B943-C3CFAEE0B3E2}">
      <dgm:prSet/>
      <dgm:spPr/>
      <dgm:t>
        <a:bodyPr/>
        <a:lstStyle/>
        <a:p>
          <a:endParaRPr lang="ru-RU" sz="2800"/>
        </a:p>
      </dgm:t>
    </dgm:pt>
    <dgm:pt modelId="{AC540C0C-2E2F-4098-8E02-898416EE4F03}">
      <dgm:prSet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Безопасность данных: Защита конфиденциальности данных, собираемых автомобилями (местоположение, маршруты, предпочтения водителей).</a:t>
          </a:r>
        </a:p>
      </dgm:t>
    </dgm:pt>
    <dgm:pt modelId="{FF711115-2A82-4937-B83D-82137F12D814}" type="parTrans" cxnId="{2E5B7D5A-3A2C-42BF-8128-44E9380892C0}">
      <dgm:prSet/>
      <dgm:spPr/>
      <dgm:t>
        <a:bodyPr/>
        <a:lstStyle/>
        <a:p>
          <a:endParaRPr lang="ru-RU" sz="2800"/>
        </a:p>
      </dgm:t>
    </dgm:pt>
    <dgm:pt modelId="{6F4309BD-4037-472F-94FF-C90378DA89EB}" type="sibTrans" cxnId="{2E5B7D5A-3A2C-42BF-8128-44E9380892C0}">
      <dgm:prSet/>
      <dgm:spPr/>
      <dgm:t>
        <a:bodyPr/>
        <a:lstStyle/>
        <a:p>
          <a:endParaRPr lang="ru-RU" sz="2800"/>
        </a:p>
      </dgm:t>
    </dgm:pt>
    <dgm:pt modelId="{221A0D10-AD6E-4FB6-B85A-344DB3DF4E84}">
      <dgm:prSet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Отказоустойчивость: Система должна уметь безопасно останавливать автомобиль в случае отказа какого-либо компонента.</a:t>
          </a:r>
        </a:p>
      </dgm:t>
    </dgm:pt>
    <dgm:pt modelId="{F35F59EF-7764-4CEF-9B08-CAB3FBE60966}" type="parTrans" cxnId="{0270C303-01CB-4381-8255-F851A24FFB58}">
      <dgm:prSet/>
      <dgm:spPr/>
      <dgm:t>
        <a:bodyPr/>
        <a:lstStyle/>
        <a:p>
          <a:endParaRPr lang="ru-RU" sz="2800"/>
        </a:p>
      </dgm:t>
    </dgm:pt>
    <dgm:pt modelId="{54C787C3-A1B2-48F6-B104-EEAF10C109E6}" type="sibTrans" cxnId="{0270C303-01CB-4381-8255-F851A24FFB58}">
      <dgm:prSet/>
      <dgm:spPr/>
      <dgm:t>
        <a:bodyPr/>
        <a:lstStyle/>
        <a:p>
          <a:endParaRPr lang="ru-RU" sz="2800"/>
        </a:p>
      </dgm:t>
    </dgm:pt>
    <dgm:pt modelId="{15D32AA7-525A-4EBA-A23F-69FEE7F00DCD}" type="pres">
      <dgm:prSet presAssocID="{B0BFA49E-0170-4B21-9457-DA69B799BF4D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CCA4FD46-5146-489F-8DAF-9CF4A1492356}" type="pres">
      <dgm:prSet presAssocID="{CC1615C8-CD7D-4078-91D0-2AAE38710C5C}" presName="node" presStyleLbl="node1" presStyleIdx="0" presStyleCnt="4" custScaleX="145257" custScaleY="14158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071A00A-1B4C-4151-81B5-8B304BCC949F}" type="pres">
      <dgm:prSet presAssocID="{0D389B8B-0AF2-4057-973A-233C57822AB9}" presName="sibTrans" presStyleCnt="0"/>
      <dgm:spPr/>
    </dgm:pt>
    <dgm:pt modelId="{0A7B73D3-5A15-45A7-AAB8-6D98E8E804A4}" type="pres">
      <dgm:prSet presAssocID="{B7ED6386-2F13-493A-AAE4-745C1EE9EFBC}" presName="node" presStyleLbl="node1" presStyleIdx="1" presStyleCnt="4" custScaleX="121347" custScaleY="14040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B8B93E8-8913-4F54-8BCC-9E0523C27504}" type="pres">
      <dgm:prSet presAssocID="{BEE667CC-D802-465D-A245-2BF9DC1F3738}" presName="sibTrans" presStyleCnt="0"/>
      <dgm:spPr/>
    </dgm:pt>
    <dgm:pt modelId="{7B4B4668-EE73-452A-A80E-E593109B9C32}" type="pres">
      <dgm:prSet presAssocID="{AC540C0C-2E2F-4098-8E02-898416EE4F03}" presName="node" presStyleLbl="node1" presStyleIdx="2" presStyleCnt="4" custScaleY="12411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DFED58D-060B-4FBE-836B-5C68DC80F908}" type="pres">
      <dgm:prSet presAssocID="{6F4309BD-4037-472F-94FF-C90378DA89EB}" presName="sibTrans" presStyleCnt="0"/>
      <dgm:spPr/>
    </dgm:pt>
    <dgm:pt modelId="{DECEBCBA-72B9-423F-8040-33B0868F7742}" type="pres">
      <dgm:prSet presAssocID="{221A0D10-AD6E-4FB6-B85A-344DB3DF4E84}" presName="node" presStyleLbl="node1" presStyleIdx="3" presStyleCnt="4" custScaleY="12449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9E3D06A1-FE3B-449F-937D-BF11428CB670}" srcId="{B0BFA49E-0170-4B21-9457-DA69B799BF4D}" destId="{CC1615C8-CD7D-4078-91D0-2AAE38710C5C}" srcOrd="0" destOrd="0" parTransId="{2F0158BD-6D32-406C-8F82-D3721EB032E8}" sibTransId="{0D389B8B-0AF2-4057-973A-233C57822AB9}"/>
    <dgm:cxn modelId="{A64AE7E5-9F55-4DB8-B700-CFCC6D366638}" type="presOf" srcId="{CC1615C8-CD7D-4078-91D0-2AAE38710C5C}" destId="{CCA4FD46-5146-489F-8DAF-9CF4A1492356}" srcOrd="0" destOrd="0" presId="urn:microsoft.com/office/officeart/2005/8/layout/default"/>
    <dgm:cxn modelId="{0270C303-01CB-4381-8255-F851A24FFB58}" srcId="{B0BFA49E-0170-4B21-9457-DA69B799BF4D}" destId="{221A0D10-AD6E-4FB6-B85A-344DB3DF4E84}" srcOrd="3" destOrd="0" parTransId="{F35F59EF-7764-4CEF-9B08-CAB3FBE60966}" sibTransId="{54C787C3-A1B2-48F6-B104-EEAF10C109E6}"/>
    <dgm:cxn modelId="{BA119C7F-D8AF-4EEE-8290-F83F191FBD6C}" type="presOf" srcId="{AC540C0C-2E2F-4098-8E02-898416EE4F03}" destId="{7B4B4668-EE73-452A-A80E-E593109B9C32}" srcOrd="0" destOrd="0" presId="urn:microsoft.com/office/officeart/2005/8/layout/default"/>
    <dgm:cxn modelId="{E6E27523-56AD-43A8-9399-FA4F2415E06C}" type="presOf" srcId="{221A0D10-AD6E-4FB6-B85A-344DB3DF4E84}" destId="{DECEBCBA-72B9-423F-8040-33B0868F7742}" srcOrd="0" destOrd="0" presId="urn:microsoft.com/office/officeart/2005/8/layout/default"/>
    <dgm:cxn modelId="{76460F28-0726-4AC2-B943-C3CFAEE0B3E2}" srcId="{B0BFA49E-0170-4B21-9457-DA69B799BF4D}" destId="{B7ED6386-2F13-493A-AAE4-745C1EE9EFBC}" srcOrd="1" destOrd="0" parTransId="{E611E178-6623-454F-810C-59E2D0CEA848}" sibTransId="{BEE667CC-D802-465D-A245-2BF9DC1F3738}"/>
    <dgm:cxn modelId="{2E5B7D5A-3A2C-42BF-8128-44E9380892C0}" srcId="{B0BFA49E-0170-4B21-9457-DA69B799BF4D}" destId="{AC540C0C-2E2F-4098-8E02-898416EE4F03}" srcOrd="2" destOrd="0" parTransId="{FF711115-2A82-4937-B83D-82137F12D814}" sibTransId="{6F4309BD-4037-472F-94FF-C90378DA89EB}"/>
    <dgm:cxn modelId="{E24D68A4-2448-4754-B6F3-011214331DA7}" type="presOf" srcId="{B7ED6386-2F13-493A-AAE4-745C1EE9EFBC}" destId="{0A7B73D3-5A15-45A7-AAB8-6D98E8E804A4}" srcOrd="0" destOrd="0" presId="urn:microsoft.com/office/officeart/2005/8/layout/default"/>
    <dgm:cxn modelId="{A004EC36-5EFF-4207-8F17-BB664FA5F90D}" type="presOf" srcId="{B0BFA49E-0170-4B21-9457-DA69B799BF4D}" destId="{15D32AA7-525A-4EBA-A23F-69FEE7F00DCD}" srcOrd="0" destOrd="0" presId="urn:microsoft.com/office/officeart/2005/8/layout/default"/>
    <dgm:cxn modelId="{552333D0-81F5-45CF-BE37-D3BE190EBD11}" type="presParOf" srcId="{15D32AA7-525A-4EBA-A23F-69FEE7F00DCD}" destId="{CCA4FD46-5146-489F-8DAF-9CF4A1492356}" srcOrd="0" destOrd="0" presId="urn:microsoft.com/office/officeart/2005/8/layout/default"/>
    <dgm:cxn modelId="{6BFDAF4C-4B68-4926-BF08-61BC92675331}" type="presParOf" srcId="{15D32AA7-525A-4EBA-A23F-69FEE7F00DCD}" destId="{1071A00A-1B4C-4151-81B5-8B304BCC949F}" srcOrd="1" destOrd="0" presId="urn:microsoft.com/office/officeart/2005/8/layout/default"/>
    <dgm:cxn modelId="{75DDF34E-FFF1-4A3C-A9C1-661A1A202455}" type="presParOf" srcId="{15D32AA7-525A-4EBA-A23F-69FEE7F00DCD}" destId="{0A7B73D3-5A15-45A7-AAB8-6D98E8E804A4}" srcOrd="2" destOrd="0" presId="urn:microsoft.com/office/officeart/2005/8/layout/default"/>
    <dgm:cxn modelId="{F89797F3-59C9-426C-A538-80EC2F93E8E3}" type="presParOf" srcId="{15D32AA7-525A-4EBA-A23F-69FEE7F00DCD}" destId="{DB8B93E8-8913-4F54-8BCC-9E0523C27504}" srcOrd="3" destOrd="0" presId="urn:microsoft.com/office/officeart/2005/8/layout/default"/>
    <dgm:cxn modelId="{D1A974F9-DFEC-41BE-8304-183CD500FFE7}" type="presParOf" srcId="{15D32AA7-525A-4EBA-A23F-69FEE7F00DCD}" destId="{7B4B4668-EE73-452A-A80E-E593109B9C32}" srcOrd="4" destOrd="0" presId="urn:microsoft.com/office/officeart/2005/8/layout/default"/>
    <dgm:cxn modelId="{E92D90FE-5410-4395-9E4F-90E99695F3B1}" type="presParOf" srcId="{15D32AA7-525A-4EBA-A23F-69FEE7F00DCD}" destId="{ADFED58D-060B-4FBE-836B-5C68DC80F908}" srcOrd="5" destOrd="0" presId="urn:microsoft.com/office/officeart/2005/8/layout/default"/>
    <dgm:cxn modelId="{3A37CD09-547C-4F84-B37F-06D270D32CAF}" type="presParOf" srcId="{15D32AA7-525A-4EBA-A23F-69FEE7F00DCD}" destId="{DECEBCBA-72B9-423F-8040-33B0868F7742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0BFA49E-0170-4B21-9457-DA69B799BF4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C1615C8-CD7D-4078-91D0-2AAE38710C5C}">
      <dgm:prSet phldrT="[Текст]" custT="1"/>
      <dgm:spPr/>
      <dgm:t>
        <a:bodyPr/>
        <a:lstStyle/>
        <a:p>
          <a:r>
            <a:rPr lang="ru-RU" sz="1800" smtClean="0">
              <a:latin typeface="Times New Roman" pitchFamily="18" charset="0"/>
              <a:cs typeface="Times New Roman" pitchFamily="18" charset="0"/>
            </a:rPr>
            <a:t>Доступность системы: Обеспечение непрерывной работы системы, даже в случае сбоев отдельных компонентов. Требует резервирования критических элементов, автоматического переключения на резервные системы и быстрого восстановления после сбоев.</a:t>
          </a:r>
          <a:endParaRPr lang="ru-RU" sz="1800" dirty="0">
            <a:latin typeface="Times New Roman" pitchFamily="18" charset="0"/>
            <a:cs typeface="Times New Roman" pitchFamily="18" charset="0"/>
          </a:endParaRPr>
        </a:p>
      </dgm:t>
    </dgm:pt>
    <dgm:pt modelId="{2F0158BD-6D32-406C-8F82-D3721EB032E8}" type="parTrans" cxnId="{9E3D06A1-FE3B-449F-937D-BF11428CB670}">
      <dgm:prSet/>
      <dgm:spPr/>
      <dgm:t>
        <a:bodyPr/>
        <a:lstStyle/>
        <a:p>
          <a:endParaRPr lang="ru-RU" sz="1800">
            <a:latin typeface="Times New Roman" pitchFamily="18" charset="0"/>
            <a:cs typeface="Times New Roman" pitchFamily="18" charset="0"/>
          </a:endParaRPr>
        </a:p>
      </dgm:t>
    </dgm:pt>
    <dgm:pt modelId="{0D389B8B-0AF2-4057-973A-233C57822AB9}" type="sibTrans" cxnId="{9E3D06A1-FE3B-449F-937D-BF11428CB670}">
      <dgm:prSet/>
      <dgm:spPr/>
      <dgm:t>
        <a:bodyPr/>
        <a:lstStyle/>
        <a:p>
          <a:endParaRPr lang="ru-RU" sz="1800">
            <a:latin typeface="Times New Roman" pitchFamily="18" charset="0"/>
            <a:cs typeface="Times New Roman" pitchFamily="18" charset="0"/>
          </a:endParaRPr>
        </a:p>
      </dgm:t>
    </dgm:pt>
    <dgm:pt modelId="{D5065D61-DAD1-4A47-929A-22DF5F89F96E}">
      <dgm:prSet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Надежность компонентов: Использование высококачественных компонентов и материалов, прошедших строгий контроль качества. Особенно важно для сенсоров, которые должны работать в различных погодных условиях.</a:t>
          </a:r>
        </a:p>
      </dgm:t>
    </dgm:pt>
    <dgm:pt modelId="{661870F0-E9DC-4B17-8AC9-EFCA5C70F383}" type="parTrans" cxnId="{F5399D27-1C86-4317-862D-E74A86656441}">
      <dgm:prSet/>
      <dgm:spPr/>
      <dgm:t>
        <a:bodyPr/>
        <a:lstStyle/>
        <a:p>
          <a:endParaRPr lang="ru-RU"/>
        </a:p>
      </dgm:t>
    </dgm:pt>
    <dgm:pt modelId="{251E9504-0C1D-481E-B202-4E2F90B8AA5D}" type="sibTrans" cxnId="{F5399D27-1C86-4317-862D-E74A86656441}">
      <dgm:prSet/>
      <dgm:spPr/>
      <dgm:t>
        <a:bodyPr/>
        <a:lstStyle/>
        <a:p>
          <a:endParaRPr lang="ru-RU"/>
        </a:p>
      </dgm:t>
    </dgm:pt>
    <dgm:pt modelId="{0AC7BB7C-33FC-4EFF-9E69-9DFE4FB78FF4}">
      <dgm:prSet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Надежные протоколы связи и обмена данными: Обеспечение надежной передачи данных между автомобилями, инфраструктурой и централизованной системой управления.</a:t>
          </a:r>
        </a:p>
      </dgm:t>
    </dgm:pt>
    <dgm:pt modelId="{AAD47B7D-442E-4139-AECF-1FDE790240A1}" type="parTrans" cxnId="{5E0E0FAA-C458-440B-A880-0DCCF29A7CBB}">
      <dgm:prSet/>
      <dgm:spPr/>
      <dgm:t>
        <a:bodyPr/>
        <a:lstStyle/>
        <a:p>
          <a:endParaRPr lang="ru-RU"/>
        </a:p>
      </dgm:t>
    </dgm:pt>
    <dgm:pt modelId="{B6ACDF22-AC71-4889-A8ED-592245475238}" type="sibTrans" cxnId="{5E0E0FAA-C458-440B-A880-0DCCF29A7CBB}">
      <dgm:prSet/>
      <dgm:spPr/>
      <dgm:t>
        <a:bodyPr/>
        <a:lstStyle/>
        <a:p>
          <a:endParaRPr lang="ru-RU"/>
        </a:p>
      </dgm:t>
    </dgm:pt>
    <dgm:pt modelId="{515686B6-1DD8-4C30-AA02-4B7811AE20CD}">
      <dgm:prSet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Самодиагностика и мониторинг: Система должна автоматически обнаруживать и сообщать о неисправностях, позволяя оперативно принимать меры по их устранению.</a:t>
          </a:r>
        </a:p>
      </dgm:t>
    </dgm:pt>
    <dgm:pt modelId="{7BFADB25-0064-46AB-AE03-BCA1EAA9928D}" type="parTrans" cxnId="{DD8F5703-DC96-47E0-B5B0-E37B01C2D09B}">
      <dgm:prSet/>
      <dgm:spPr/>
      <dgm:t>
        <a:bodyPr/>
        <a:lstStyle/>
        <a:p>
          <a:endParaRPr lang="ru-RU"/>
        </a:p>
      </dgm:t>
    </dgm:pt>
    <dgm:pt modelId="{32991E5F-20B5-48B7-B0B7-C9940F252999}" type="sibTrans" cxnId="{DD8F5703-DC96-47E0-B5B0-E37B01C2D09B}">
      <dgm:prSet/>
      <dgm:spPr/>
      <dgm:t>
        <a:bodyPr/>
        <a:lstStyle/>
        <a:p>
          <a:endParaRPr lang="ru-RU"/>
        </a:p>
      </dgm:t>
    </dgm:pt>
    <dgm:pt modelId="{15D32AA7-525A-4EBA-A23F-69FEE7F00DCD}" type="pres">
      <dgm:prSet presAssocID="{B0BFA49E-0170-4B21-9457-DA69B799BF4D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CCA4FD46-5146-489F-8DAF-9CF4A1492356}" type="pres">
      <dgm:prSet presAssocID="{CC1615C8-CD7D-4078-91D0-2AAE38710C5C}" presName="node" presStyleLbl="node1" presStyleIdx="0" presStyleCnt="4" custScaleX="145257" custScaleY="12400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071A00A-1B4C-4151-81B5-8B304BCC949F}" type="pres">
      <dgm:prSet presAssocID="{0D389B8B-0AF2-4057-973A-233C57822AB9}" presName="sibTrans" presStyleCnt="0"/>
      <dgm:spPr/>
    </dgm:pt>
    <dgm:pt modelId="{D29C7FD1-BCC1-40D4-AE4E-44A82F887F8B}" type="pres">
      <dgm:prSet presAssocID="{D5065D61-DAD1-4A47-929A-22DF5F89F96E}" presName="node" presStyleLbl="node1" presStyleIdx="1" presStyleCnt="4" custScaleY="12400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D36E7C3-783A-433D-8C8E-55661DD9976B}" type="pres">
      <dgm:prSet presAssocID="{251E9504-0C1D-481E-B202-4E2F90B8AA5D}" presName="sibTrans" presStyleCnt="0"/>
      <dgm:spPr/>
    </dgm:pt>
    <dgm:pt modelId="{61A45A34-AF91-4CE7-9057-E1966E647849}" type="pres">
      <dgm:prSet presAssocID="{0AC7BB7C-33FC-4EFF-9E69-9DFE4FB78FF4}" presName="node" presStyleLbl="node1" presStyleIdx="2" presStyleCnt="4" custScaleX="12391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6E34C51-E9FD-4CF2-ACE2-24B8B359B89B}" type="pres">
      <dgm:prSet presAssocID="{B6ACDF22-AC71-4889-A8ED-592245475238}" presName="sibTrans" presStyleCnt="0"/>
      <dgm:spPr/>
    </dgm:pt>
    <dgm:pt modelId="{54D64BAB-E181-4FBB-BD3A-1BA4366D6C7C}" type="pres">
      <dgm:prSet presAssocID="{515686B6-1DD8-4C30-AA02-4B7811AE20CD}" presName="node" presStyleLbl="node1" presStyleIdx="3" presStyleCnt="4" custScaleX="10923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9E3D06A1-FE3B-449F-937D-BF11428CB670}" srcId="{B0BFA49E-0170-4B21-9457-DA69B799BF4D}" destId="{CC1615C8-CD7D-4078-91D0-2AAE38710C5C}" srcOrd="0" destOrd="0" parTransId="{2F0158BD-6D32-406C-8F82-D3721EB032E8}" sibTransId="{0D389B8B-0AF2-4057-973A-233C57822AB9}"/>
    <dgm:cxn modelId="{CBB9FD7A-FF17-4A96-95D9-EEE3633FE3AB}" type="presOf" srcId="{515686B6-1DD8-4C30-AA02-4B7811AE20CD}" destId="{54D64BAB-E181-4FBB-BD3A-1BA4366D6C7C}" srcOrd="0" destOrd="0" presId="urn:microsoft.com/office/officeart/2005/8/layout/default"/>
    <dgm:cxn modelId="{5E0E0FAA-C458-440B-A880-0DCCF29A7CBB}" srcId="{B0BFA49E-0170-4B21-9457-DA69B799BF4D}" destId="{0AC7BB7C-33FC-4EFF-9E69-9DFE4FB78FF4}" srcOrd="2" destOrd="0" parTransId="{AAD47B7D-442E-4139-AECF-1FDE790240A1}" sibTransId="{B6ACDF22-AC71-4889-A8ED-592245475238}"/>
    <dgm:cxn modelId="{F74BC1BE-C741-4BD6-84DD-4D25E90CB76D}" type="presOf" srcId="{B0BFA49E-0170-4B21-9457-DA69B799BF4D}" destId="{15D32AA7-525A-4EBA-A23F-69FEE7F00DCD}" srcOrd="0" destOrd="0" presId="urn:microsoft.com/office/officeart/2005/8/layout/default"/>
    <dgm:cxn modelId="{DC97B6E1-5166-4A73-96F8-5B98D0D04DEC}" type="presOf" srcId="{CC1615C8-CD7D-4078-91D0-2AAE38710C5C}" destId="{CCA4FD46-5146-489F-8DAF-9CF4A1492356}" srcOrd="0" destOrd="0" presId="urn:microsoft.com/office/officeart/2005/8/layout/default"/>
    <dgm:cxn modelId="{F5399D27-1C86-4317-862D-E74A86656441}" srcId="{B0BFA49E-0170-4B21-9457-DA69B799BF4D}" destId="{D5065D61-DAD1-4A47-929A-22DF5F89F96E}" srcOrd="1" destOrd="0" parTransId="{661870F0-E9DC-4B17-8AC9-EFCA5C70F383}" sibTransId="{251E9504-0C1D-481E-B202-4E2F90B8AA5D}"/>
    <dgm:cxn modelId="{CC0D8C30-1236-4904-B239-35665BB1FF7D}" type="presOf" srcId="{D5065D61-DAD1-4A47-929A-22DF5F89F96E}" destId="{D29C7FD1-BCC1-40D4-AE4E-44A82F887F8B}" srcOrd="0" destOrd="0" presId="urn:microsoft.com/office/officeart/2005/8/layout/default"/>
    <dgm:cxn modelId="{DD8F5703-DC96-47E0-B5B0-E37B01C2D09B}" srcId="{B0BFA49E-0170-4B21-9457-DA69B799BF4D}" destId="{515686B6-1DD8-4C30-AA02-4B7811AE20CD}" srcOrd="3" destOrd="0" parTransId="{7BFADB25-0064-46AB-AE03-BCA1EAA9928D}" sibTransId="{32991E5F-20B5-48B7-B0B7-C9940F252999}"/>
    <dgm:cxn modelId="{295B94FB-988A-45BF-9CE8-6DC4C3A83F20}" type="presOf" srcId="{0AC7BB7C-33FC-4EFF-9E69-9DFE4FB78FF4}" destId="{61A45A34-AF91-4CE7-9057-E1966E647849}" srcOrd="0" destOrd="0" presId="urn:microsoft.com/office/officeart/2005/8/layout/default"/>
    <dgm:cxn modelId="{9BAC572F-2847-4678-A282-FFE03E2E1F7C}" type="presParOf" srcId="{15D32AA7-525A-4EBA-A23F-69FEE7F00DCD}" destId="{CCA4FD46-5146-489F-8DAF-9CF4A1492356}" srcOrd="0" destOrd="0" presId="urn:microsoft.com/office/officeart/2005/8/layout/default"/>
    <dgm:cxn modelId="{201488B0-184E-4AF7-928A-05047FA14422}" type="presParOf" srcId="{15D32AA7-525A-4EBA-A23F-69FEE7F00DCD}" destId="{1071A00A-1B4C-4151-81B5-8B304BCC949F}" srcOrd="1" destOrd="0" presId="urn:microsoft.com/office/officeart/2005/8/layout/default"/>
    <dgm:cxn modelId="{6067F581-39BB-4391-8663-0B45E5B852CF}" type="presParOf" srcId="{15D32AA7-525A-4EBA-A23F-69FEE7F00DCD}" destId="{D29C7FD1-BCC1-40D4-AE4E-44A82F887F8B}" srcOrd="2" destOrd="0" presId="urn:microsoft.com/office/officeart/2005/8/layout/default"/>
    <dgm:cxn modelId="{B4D3AC91-259C-45DB-A373-873373CDC90E}" type="presParOf" srcId="{15D32AA7-525A-4EBA-A23F-69FEE7F00DCD}" destId="{CD36E7C3-783A-433D-8C8E-55661DD9976B}" srcOrd="3" destOrd="0" presId="urn:microsoft.com/office/officeart/2005/8/layout/default"/>
    <dgm:cxn modelId="{827E217C-6B68-4A97-8A1B-19ABBCE73208}" type="presParOf" srcId="{15D32AA7-525A-4EBA-A23F-69FEE7F00DCD}" destId="{61A45A34-AF91-4CE7-9057-E1966E647849}" srcOrd="4" destOrd="0" presId="urn:microsoft.com/office/officeart/2005/8/layout/default"/>
    <dgm:cxn modelId="{41CF3A6B-19A3-4023-9AAB-F5A0DC33DBF4}" type="presParOf" srcId="{15D32AA7-525A-4EBA-A23F-69FEE7F00DCD}" destId="{B6E34C51-E9FD-4CF2-ACE2-24B8B359B89B}" srcOrd="5" destOrd="0" presId="urn:microsoft.com/office/officeart/2005/8/layout/default"/>
    <dgm:cxn modelId="{CD691A16-D2B8-446F-9D8B-327F6673148B}" type="presParOf" srcId="{15D32AA7-525A-4EBA-A23F-69FEE7F00DCD}" destId="{54D64BAB-E181-4FBB-BD3A-1BA4366D6C7C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0BFA49E-0170-4B21-9457-DA69B799BF4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C1615C8-CD7D-4078-91D0-2AAE38710C5C}">
      <dgm:prSet phldrT="[Текст]" custT="1"/>
      <dgm:spPr/>
      <dgm:t>
        <a:bodyPr/>
        <a:lstStyle/>
        <a:p>
          <a:r>
            <a:rPr lang="ru-RU" sz="1800" smtClean="0">
              <a:latin typeface="Times New Roman" pitchFamily="18" charset="0"/>
              <a:cs typeface="Times New Roman" pitchFamily="18" charset="0"/>
            </a:rPr>
            <a:t>Увеличение количества беспилотных автомобилей:  Система должна быть способна поддерживать растущий парк беспилотных автомобилей, без снижения производительности и безопасности.</a:t>
          </a:r>
          <a:endParaRPr lang="ru-RU" sz="1800" dirty="0">
            <a:latin typeface="Times New Roman" pitchFamily="18" charset="0"/>
            <a:cs typeface="Times New Roman" pitchFamily="18" charset="0"/>
          </a:endParaRPr>
        </a:p>
      </dgm:t>
    </dgm:pt>
    <dgm:pt modelId="{2F0158BD-6D32-406C-8F82-D3721EB032E8}" type="parTrans" cxnId="{9E3D06A1-FE3B-449F-937D-BF11428CB670}">
      <dgm:prSet/>
      <dgm:spPr/>
      <dgm:t>
        <a:bodyPr/>
        <a:lstStyle/>
        <a:p>
          <a:endParaRPr lang="ru-RU" sz="1800">
            <a:latin typeface="Times New Roman" pitchFamily="18" charset="0"/>
            <a:cs typeface="Times New Roman" pitchFamily="18" charset="0"/>
          </a:endParaRPr>
        </a:p>
      </dgm:t>
    </dgm:pt>
    <dgm:pt modelId="{0D389B8B-0AF2-4057-973A-233C57822AB9}" type="sibTrans" cxnId="{9E3D06A1-FE3B-449F-937D-BF11428CB670}">
      <dgm:prSet/>
      <dgm:spPr/>
      <dgm:t>
        <a:bodyPr/>
        <a:lstStyle/>
        <a:p>
          <a:endParaRPr lang="ru-RU" sz="1800">
            <a:latin typeface="Times New Roman" pitchFamily="18" charset="0"/>
            <a:cs typeface="Times New Roman" pitchFamily="18" charset="0"/>
          </a:endParaRPr>
        </a:p>
      </dgm:t>
    </dgm:pt>
    <dgm:pt modelId="{7D26EF24-DEE4-4E60-82C8-AA69B7D08F55}">
      <dgm:prSet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Расширение географии покрытия: Система должна быть легко расширяемой для покрытия новых дорог и городов.</a:t>
          </a:r>
        </a:p>
      </dgm:t>
    </dgm:pt>
    <dgm:pt modelId="{DD34179E-AFFF-4AB1-A305-7E984D60BB78}" type="parTrans" cxnId="{7F869145-3030-44E4-91E6-6B2FC884C0EB}">
      <dgm:prSet/>
      <dgm:spPr/>
      <dgm:t>
        <a:bodyPr/>
        <a:lstStyle/>
        <a:p>
          <a:endParaRPr lang="ru-RU"/>
        </a:p>
      </dgm:t>
    </dgm:pt>
    <dgm:pt modelId="{B33D4ABB-4FE5-4E45-A835-36627D5F1201}" type="sibTrans" cxnId="{7F869145-3030-44E4-91E6-6B2FC884C0EB}">
      <dgm:prSet/>
      <dgm:spPr/>
      <dgm:t>
        <a:bodyPr/>
        <a:lstStyle/>
        <a:p>
          <a:endParaRPr lang="ru-RU"/>
        </a:p>
      </dgm:t>
    </dgm:pt>
    <dgm:pt modelId="{FD821EB4-1B99-4620-83F0-6A6D823E6D1F}">
      <dgm:prSet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Поддержка различных уровней автоматизации: Система должна быть совместима с автомобилями различных уровней автономности, от частичной до полной.</a:t>
          </a:r>
        </a:p>
      </dgm:t>
    </dgm:pt>
    <dgm:pt modelId="{517B4FEA-FE0C-495D-B4E5-A7E2EEE289EF}" type="parTrans" cxnId="{7EF74AB5-AFD7-46B6-A9E3-BB6B75B4130E}">
      <dgm:prSet/>
      <dgm:spPr/>
      <dgm:t>
        <a:bodyPr/>
        <a:lstStyle/>
        <a:p>
          <a:endParaRPr lang="ru-RU"/>
        </a:p>
      </dgm:t>
    </dgm:pt>
    <dgm:pt modelId="{1CDC07DE-F945-4C40-BBB9-7C0B215623D0}" type="sibTrans" cxnId="{7EF74AB5-AFD7-46B6-A9E3-BB6B75B4130E}">
      <dgm:prSet/>
      <dgm:spPr/>
      <dgm:t>
        <a:bodyPr/>
        <a:lstStyle/>
        <a:p>
          <a:endParaRPr lang="ru-RU"/>
        </a:p>
      </dgm:t>
    </dgm:pt>
    <dgm:pt modelId="{15D32AA7-525A-4EBA-A23F-69FEE7F00DCD}" type="pres">
      <dgm:prSet presAssocID="{B0BFA49E-0170-4B21-9457-DA69B799BF4D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CCA4FD46-5146-489F-8DAF-9CF4A1492356}" type="pres">
      <dgm:prSet presAssocID="{CC1615C8-CD7D-4078-91D0-2AAE38710C5C}" presName="node" presStyleLbl="node1" presStyleIdx="0" presStyleCnt="3" custScaleX="145257" custScaleY="8256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071A00A-1B4C-4151-81B5-8B304BCC949F}" type="pres">
      <dgm:prSet presAssocID="{0D389B8B-0AF2-4057-973A-233C57822AB9}" presName="sibTrans" presStyleCnt="0"/>
      <dgm:spPr/>
    </dgm:pt>
    <dgm:pt modelId="{C20A552D-DFBA-4588-804F-3804FDE94DBD}" type="pres">
      <dgm:prSet presAssocID="{7D26EF24-DEE4-4E60-82C8-AA69B7D08F55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E50E52B-E719-4230-8531-053B0FF1A50C}" type="pres">
      <dgm:prSet presAssocID="{B33D4ABB-4FE5-4E45-A835-36627D5F1201}" presName="sibTrans" presStyleCnt="0"/>
      <dgm:spPr/>
    </dgm:pt>
    <dgm:pt modelId="{FE6AB54B-DB3A-4799-8C80-80823FA01B17}" type="pres">
      <dgm:prSet presAssocID="{FD821EB4-1B99-4620-83F0-6A6D823E6D1F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9E3D06A1-FE3B-449F-937D-BF11428CB670}" srcId="{B0BFA49E-0170-4B21-9457-DA69B799BF4D}" destId="{CC1615C8-CD7D-4078-91D0-2AAE38710C5C}" srcOrd="0" destOrd="0" parTransId="{2F0158BD-6D32-406C-8F82-D3721EB032E8}" sibTransId="{0D389B8B-0AF2-4057-973A-233C57822AB9}"/>
    <dgm:cxn modelId="{BA4EFDB4-3917-4D70-A659-F3EC05F3A431}" type="presOf" srcId="{7D26EF24-DEE4-4E60-82C8-AA69B7D08F55}" destId="{C20A552D-DFBA-4588-804F-3804FDE94DBD}" srcOrd="0" destOrd="0" presId="urn:microsoft.com/office/officeart/2005/8/layout/default"/>
    <dgm:cxn modelId="{7EF74AB5-AFD7-46B6-A9E3-BB6B75B4130E}" srcId="{B0BFA49E-0170-4B21-9457-DA69B799BF4D}" destId="{FD821EB4-1B99-4620-83F0-6A6D823E6D1F}" srcOrd="2" destOrd="0" parTransId="{517B4FEA-FE0C-495D-B4E5-A7E2EEE289EF}" sibTransId="{1CDC07DE-F945-4C40-BBB9-7C0B215623D0}"/>
    <dgm:cxn modelId="{7F869145-3030-44E4-91E6-6B2FC884C0EB}" srcId="{B0BFA49E-0170-4B21-9457-DA69B799BF4D}" destId="{7D26EF24-DEE4-4E60-82C8-AA69B7D08F55}" srcOrd="1" destOrd="0" parTransId="{DD34179E-AFFF-4AB1-A305-7E984D60BB78}" sibTransId="{B33D4ABB-4FE5-4E45-A835-36627D5F1201}"/>
    <dgm:cxn modelId="{B3FAD76E-D50A-43E5-AD02-31BB5A7CBDCB}" type="presOf" srcId="{CC1615C8-CD7D-4078-91D0-2AAE38710C5C}" destId="{CCA4FD46-5146-489F-8DAF-9CF4A1492356}" srcOrd="0" destOrd="0" presId="urn:microsoft.com/office/officeart/2005/8/layout/default"/>
    <dgm:cxn modelId="{CDA03737-C1FF-46E8-89AA-47DA7FD431C8}" type="presOf" srcId="{FD821EB4-1B99-4620-83F0-6A6D823E6D1F}" destId="{FE6AB54B-DB3A-4799-8C80-80823FA01B17}" srcOrd="0" destOrd="0" presId="urn:microsoft.com/office/officeart/2005/8/layout/default"/>
    <dgm:cxn modelId="{A369F36B-72D9-4ADE-AA06-CECC4D9FB7AE}" type="presOf" srcId="{B0BFA49E-0170-4B21-9457-DA69B799BF4D}" destId="{15D32AA7-525A-4EBA-A23F-69FEE7F00DCD}" srcOrd="0" destOrd="0" presId="urn:microsoft.com/office/officeart/2005/8/layout/default"/>
    <dgm:cxn modelId="{3F673A60-8C32-403C-932E-7AB7E0813655}" type="presParOf" srcId="{15D32AA7-525A-4EBA-A23F-69FEE7F00DCD}" destId="{CCA4FD46-5146-489F-8DAF-9CF4A1492356}" srcOrd="0" destOrd="0" presId="urn:microsoft.com/office/officeart/2005/8/layout/default"/>
    <dgm:cxn modelId="{20D5C54F-3649-4FB2-937E-16AC2D91D0C4}" type="presParOf" srcId="{15D32AA7-525A-4EBA-A23F-69FEE7F00DCD}" destId="{1071A00A-1B4C-4151-81B5-8B304BCC949F}" srcOrd="1" destOrd="0" presId="urn:microsoft.com/office/officeart/2005/8/layout/default"/>
    <dgm:cxn modelId="{E61113B4-EDD8-4C29-AFB9-E4A2799DE09D}" type="presParOf" srcId="{15D32AA7-525A-4EBA-A23F-69FEE7F00DCD}" destId="{C20A552D-DFBA-4588-804F-3804FDE94DBD}" srcOrd="2" destOrd="0" presId="urn:microsoft.com/office/officeart/2005/8/layout/default"/>
    <dgm:cxn modelId="{90D2223C-DE32-44A9-99B5-6EA5DA6EEF3B}" type="presParOf" srcId="{15D32AA7-525A-4EBA-A23F-69FEE7F00DCD}" destId="{3E50E52B-E719-4230-8531-053B0FF1A50C}" srcOrd="3" destOrd="0" presId="urn:microsoft.com/office/officeart/2005/8/layout/default"/>
    <dgm:cxn modelId="{1F4E8A59-130F-4714-AFB1-1B59490FFEBB}" type="presParOf" srcId="{15D32AA7-525A-4EBA-A23F-69FEE7F00DCD}" destId="{FE6AB54B-DB3A-4799-8C80-80823FA01B17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0BFA49E-0170-4B21-9457-DA69B799BF4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C1615C8-CD7D-4078-91D0-2AAE38710C5C}">
      <dgm:prSet phldrT="[Текст]" custT="1"/>
      <dgm:spPr/>
      <dgm:t>
        <a:bodyPr/>
        <a:lstStyle/>
        <a:p>
          <a:r>
            <a:rPr lang="ru-RU" sz="1800" smtClean="0">
              <a:latin typeface="Times New Roman" pitchFamily="18" charset="0"/>
              <a:cs typeface="Times New Roman" pitchFamily="18" charset="0"/>
            </a:rPr>
            <a:t>Интеграция с существующими дорогами и транспортными системами:  Беспилотные автомобили должны уметь безопасно и эффективно двигаться по существующим дорогам, взаимодействовать с обычными автомобилями и участниками дорожного движения.  Важна адаптация дорожной инфраструктуры к потребностям беспилотных автомобилей.</a:t>
          </a:r>
          <a:endParaRPr lang="ru-RU" sz="1800" dirty="0">
            <a:latin typeface="Times New Roman" pitchFamily="18" charset="0"/>
            <a:cs typeface="Times New Roman" pitchFamily="18" charset="0"/>
          </a:endParaRPr>
        </a:p>
      </dgm:t>
    </dgm:pt>
    <dgm:pt modelId="{2F0158BD-6D32-406C-8F82-D3721EB032E8}" type="parTrans" cxnId="{9E3D06A1-FE3B-449F-937D-BF11428CB670}">
      <dgm:prSet/>
      <dgm:spPr/>
      <dgm:t>
        <a:bodyPr/>
        <a:lstStyle/>
        <a:p>
          <a:endParaRPr lang="ru-RU" sz="1800">
            <a:latin typeface="Times New Roman" pitchFamily="18" charset="0"/>
            <a:cs typeface="Times New Roman" pitchFamily="18" charset="0"/>
          </a:endParaRPr>
        </a:p>
      </dgm:t>
    </dgm:pt>
    <dgm:pt modelId="{0D389B8B-0AF2-4057-973A-233C57822AB9}" type="sibTrans" cxnId="{9E3D06A1-FE3B-449F-937D-BF11428CB670}">
      <dgm:prSet/>
      <dgm:spPr/>
      <dgm:t>
        <a:bodyPr/>
        <a:lstStyle/>
        <a:p>
          <a:endParaRPr lang="ru-RU" sz="1800">
            <a:latin typeface="Times New Roman" pitchFamily="18" charset="0"/>
            <a:cs typeface="Times New Roman" pitchFamily="18" charset="0"/>
          </a:endParaRPr>
        </a:p>
      </dgm:t>
    </dgm:pt>
    <dgm:pt modelId="{F9CFEC04-52A7-4672-954D-AF706E26DCDF}">
      <dgm:prSet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Интеграция с городскими сервисами:  Беспилотные автомобили могут быть интегрированы с различными городскими сервисами, такими как службы доставки, такси, общественный транспорт и экстренные службы.</a:t>
          </a:r>
        </a:p>
      </dgm:t>
    </dgm:pt>
    <dgm:pt modelId="{E4DFEFFB-D74A-4AD5-B7E3-EE0474D8C391}" type="parTrans" cxnId="{893659BA-845B-4401-935D-A0963F5CB932}">
      <dgm:prSet/>
      <dgm:spPr/>
      <dgm:t>
        <a:bodyPr/>
        <a:lstStyle/>
        <a:p>
          <a:endParaRPr lang="ru-RU"/>
        </a:p>
      </dgm:t>
    </dgm:pt>
    <dgm:pt modelId="{47481F34-0CAC-4DDD-87D9-8D0307F896BA}" type="sibTrans" cxnId="{893659BA-845B-4401-935D-A0963F5CB932}">
      <dgm:prSet/>
      <dgm:spPr/>
      <dgm:t>
        <a:bodyPr/>
        <a:lstStyle/>
        <a:p>
          <a:endParaRPr lang="ru-RU"/>
        </a:p>
      </dgm:t>
    </dgm:pt>
    <dgm:pt modelId="{E3C59F2C-BCF3-40B5-8823-0B72FF5528F6}">
      <dgm:prSet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Интеграция с энергетической инфраструктурой (для электромобилей).</a:t>
          </a:r>
        </a:p>
      </dgm:t>
    </dgm:pt>
    <dgm:pt modelId="{02F98B8F-6FC3-40AB-98D2-8489399DC6F3}" type="parTrans" cxnId="{0E63D3D3-3E4D-47C8-B93D-B767D0ADCE49}">
      <dgm:prSet/>
      <dgm:spPr/>
      <dgm:t>
        <a:bodyPr/>
        <a:lstStyle/>
        <a:p>
          <a:endParaRPr lang="ru-RU"/>
        </a:p>
      </dgm:t>
    </dgm:pt>
    <dgm:pt modelId="{3D644A55-63EF-4975-B196-D00C0E610294}" type="sibTrans" cxnId="{0E63D3D3-3E4D-47C8-B93D-B767D0ADCE49}">
      <dgm:prSet/>
      <dgm:spPr/>
      <dgm:t>
        <a:bodyPr/>
        <a:lstStyle/>
        <a:p>
          <a:endParaRPr lang="ru-RU"/>
        </a:p>
      </dgm:t>
    </dgm:pt>
    <dgm:pt modelId="{15D32AA7-525A-4EBA-A23F-69FEE7F00DCD}" type="pres">
      <dgm:prSet presAssocID="{B0BFA49E-0170-4B21-9457-DA69B799BF4D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CCA4FD46-5146-489F-8DAF-9CF4A1492356}" type="pres">
      <dgm:prSet presAssocID="{CC1615C8-CD7D-4078-91D0-2AAE38710C5C}" presName="node" presStyleLbl="node1" presStyleIdx="0" presStyleCnt="3" custScaleX="145257" custScaleY="8256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071A00A-1B4C-4151-81B5-8B304BCC949F}" type="pres">
      <dgm:prSet presAssocID="{0D389B8B-0AF2-4057-973A-233C57822AB9}" presName="sibTrans" presStyleCnt="0"/>
      <dgm:spPr/>
    </dgm:pt>
    <dgm:pt modelId="{F2DA947D-5DF2-40D8-B43B-1EF73DE53A14}" type="pres">
      <dgm:prSet presAssocID="{F9CFEC04-52A7-4672-954D-AF706E26DCDF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99C1719-B06F-4582-8B43-A5A2118F21EB}" type="pres">
      <dgm:prSet presAssocID="{47481F34-0CAC-4DDD-87D9-8D0307F896BA}" presName="sibTrans" presStyleCnt="0"/>
      <dgm:spPr/>
    </dgm:pt>
    <dgm:pt modelId="{B0FB992F-ACB8-4C9F-823F-480C49153EA5}" type="pres">
      <dgm:prSet presAssocID="{E3C59F2C-BCF3-40B5-8823-0B72FF5528F6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9E3D06A1-FE3B-449F-937D-BF11428CB670}" srcId="{B0BFA49E-0170-4B21-9457-DA69B799BF4D}" destId="{CC1615C8-CD7D-4078-91D0-2AAE38710C5C}" srcOrd="0" destOrd="0" parTransId="{2F0158BD-6D32-406C-8F82-D3721EB032E8}" sibTransId="{0D389B8B-0AF2-4057-973A-233C57822AB9}"/>
    <dgm:cxn modelId="{0897DAE8-4A7E-44B6-BDDB-345B51848E66}" type="presOf" srcId="{F9CFEC04-52A7-4672-954D-AF706E26DCDF}" destId="{F2DA947D-5DF2-40D8-B43B-1EF73DE53A14}" srcOrd="0" destOrd="0" presId="urn:microsoft.com/office/officeart/2005/8/layout/default"/>
    <dgm:cxn modelId="{893659BA-845B-4401-935D-A0963F5CB932}" srcId="{B0BFA49E-0170-4B21-9457-DA69B799BF4D}" destId="{F9CFEC04-52A7-4672-954D-AF706E26DCDF}" srcOrd="1" destOrd="0" parTransId="{E4DFEFFB-D74A-4AD5-B7E3-EE0474D8C391}" sibTransId="{47481F34-0CAC-4DDD-87D9-8D0307F896BA}"/>
    <dgm:cxn modelId="{F7CAA444-5FF4-42F4-9A82-7156BA7FDBF2}" type="presOf" srcId="{B0BFA49E-0170-4B21-9457-DA69B799BF4D}" destId="{15D32AA7-525A-4EBA-A23F-69FEE7F00DCD}" srcOrd="0" destOrd="0" presId="urn:microsoft.com/office/officeart/2005/8/layout/default"/>
    <dgm:cxn modelId="{77E80067-F8E4-456D-9463-C0CC420897E7}" type="presOf" srcId="{E3C59F2C-BCF3-40B5-8823-0B72FF5528F6}" destId="{B0FB992F-ACB8-4C9F-823F-480C49153EA5}" srcOrd="0" destOrd="0" presId="urn:microsoft.com/office/officeart/2005/8/layout/default"/>
    <dgm:cxn modelId="{E648E7A8-C738-46DA-BD54-69AE6F5C5CC9}" type="presOf" srcId="{CC1615C8-CD7D-4078-91D0-2AAE38710C5C}" destId="{CCA4FD46-5146-489F-8DAF-9CF4A1492356}" srcOrd="0" destOrd="0" presId="urn:microsoft.com/office/officeart/2005/8/layout/default"/>
    <dgm:cxn modelId="{0E63D3D3-3E4D-47C8-B93D-B767D0ADCE49}" srcId="{B0BFA49E-0170-4B21-9457-DA69B799BF4D}" destId="{E3C59F2C-BCF3-40B5-8823-0B72FF5528F6}" srcOrd="2" destOrd="0" parTransId="{02F98B8F-6FC3-40AB-98D2-8489399DC6F3}" sibTransId="{3D644A55-63EF-4975-B196-D00C0E610294}"/>
    <dgm:cxn modelId="{347E9C4C-34AA-476E-A692-6B18C044B9BC}" type="presParOf" srcId="{15D32AA7-525A-4EBA-A23F-69FEE7F00DCD}" destId="{CCA4FD46-5146-489F-8DAF-9CF4A1492356}" srcOrd="0" destOrd="0" presId="urn:microsoft.com/office/officeart/2005/8/layout/default"/>
    <dgm:cxn modelId="{C7E10D90-A8D6-493A-973C-CA0678416364}" type="presParOf" srcId="{15D32AA7-525A-4EBA-A23F-69FEE7F00DCD}" destId="{1071A00A-1B4C-4151-81B5-8B304BCC949F}" srcOrd="1" destOrd="0" presId="urn:microsoft.com/office/officeart/2005/8/layout/default"/>
    <dgm:cxn modelId="{A42AF4E4-3CC9-4760-86B4-C080D4FA3339}" type="presParOf" srcId="{15D32AA7-525A-4EBA-A23F-69FEE7F00DCD}" destId="{F2DA947D-5DF2-40D8-B43B-1EF73DE53A14}" srcOrd="2" destOrd="0" presId="urn:microsoft.com/office/officeart/2005/8/layout/default"/>
    <dgm:cxn modelId="{775ACEF2-8F74-4C67-BBA6-3F01305BE26F}" type="presParOf" srcId="{15D32AA7-525A-4EBA-A23F-69FEE7F00DCD}" destId="{299C1719-B06F-4582-8B43-A5A2118F21EB}" srcOrd="3" destOrd="0" presId="urn:microsoft.com/office/officeart/2005/8/layout/default"/>
    <dgm:cxn modelId="{3423092F-00B4-4CEB-B5C1-35E380C420B9}" type="presParOf" srcId="{15D32AA7-525A-4EBA-A23F-69FEE7F00DCD}" destId="{B0FB992F-ACB8-4C9F-823F-480C49153EA5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0BFA49E-0170-4B21-9457-DA69B799BF4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C1615C8-CD7D-4078-91D0-2AAE38710C5C}">
      <dgm:prSet phldrT="[Текст]"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Сбор, хранение и обработка огромных объемов данных, генерируемых автомобилями и инфраструктурой.</a:t>
          </a:r>
          <a:endParaRPr lang="ru-RU" sz="1800" dirty="0">
            <a:latin typeface="Times New Roman" pitchFamily="18" charset="0"/>
            <a:cs typeface="Times New Roman" pitchFamily="18" charset="0"/>
          </a:endParaRPr>
        </a:p>
      </dgm:t>
    </dgm:pt>
    <dgm:pt modelId="{2F0158BD-6D32-406C-8F82-D3721EB032E8}" type="parTrans" cxnId="{9E3D06A1-FE3B-449F-937D-BF11428CB670}">
      <dgm:prSet/>
      <dgm:spPr/>
      <dgm:t>
        <a:bodyPr/>
        <a:lstStyle/>
        <a:p>
          <a:endParaRPr lang="ru-RU" sz="1800">
            <a:latin typeface="Times New Roman" pitchFamily="18" charset="0"/>
            <a:cs typeface="Times New Roman" pitchFamily="18" charset="0"/>
          </a:endParaRPr>
        </a:p>
      </dgm:t>
    </dgm:pt>
    <dgm:pt modelId="{0D389B8B-0AF2-4057-973A-233C57822AB9}" type="sibTrans" cxnId="{9E3D06A1-FE3B-449F-937D-BF11428CB670}">
      <dgm:prSet/>
      <dgm:spPr/>
      <dgm:t>
        <a:bodyPr/>
        <a:lstStyle/>
        <a:p>
          <a:endParaRPr lang="ru-RU" sz="1800">
            <a:latin typeface="Times New Roman" pitchFamily="18" charset="0"/>
            <a:cs typeface="Times New Roman" pitchFamily="18" charset="0"/>
          </a:endParaRPr>
        </a:p>
      </dgm:t>
    </dgm:pt>
    <dgm:pt modelId="{FFAC825E-41EF-42E9-8160-7133733BB4D3}">
      <dgm:prSet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Анализ данных для оптимизации трафика, повышения безопасности и улучшения качества обслуживания.</a:t>
          </a:r>
        </a:p>
      </dgm:t>
    </dgm:pt>
    <dgm:pt modelId="{F8114A75-5194-4442-AEC0-630E3EB02801}" type="parTrans" cxnId="{5ED48F00-E995-4CF3-B383-D94D67925A59}">
      <dgm:prSet/>
      <dgm:spPr/>
      <dgm:t>
        <a:bodyPr/>
        <a:lstStyle/>
        <a:p>
          <a:endParaRPr lang="ru-RU"/>
        </a:p>
      </dgm:t>
    </dgm:pt>
    <dgm:pt modelId="{288153E8-11E7-400C-BCA9-B5ED4C8DE20E}" type="sibTrans" cxnId="{5ED48F00-E995-4CF3-B383-D94D67925A59}">
      <dgm:prSet/>
      <dgm:spPr/>
      <dgm:t>
        <a:bodyPr/>
        <a:lstStyle/>
        <a:p>
          <a:endParaRPr lang="ru-RU"/>
        </a:p>
      </dgm:t>
    </dgm:pt>
    <dgm:pt modelId="{91BE342F-0261-478B-9204-C4B03B1D1AE6}">
      <dgm:prSet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Разработка аналитических инструментов для прогнозирования, поиска закономерностей и выявления аномалий.</a:t>
          </a:r>
        </a:p>
      </dgm:t>
    </dgm:pt>
    <dgm:pt modelId="{5698F9E6-11E6-4C3B-9850-C6E8F94CE355}" type="parTrans" cxnId="{7DD44E05-FCB8-4F65-AF3C-A15838D48343}">
      <dgm:prSet/>
      <dgm:spPr/>
      <dgm:t>
        <a:bodyPr/>
        <a:lstStyle/>
        <a:p>
          <a:endParaRPr lang="ru-RU"/>
        </a:p>
      </dgm:t>
    </dgm:pt>
    <dgm:pt modelId="{1338B430-E332-4D89-A597-84A59A54BD1F}" type="sibTrans" cxnId="{7DD44E05-FCB8-4F65-AF3C-A15838D48343}">
      <dgm:prSet/>
      <dgm:spPr/>
      <dgm:t>
        <a:bodyPr/>
        <a:lstStyle/>
        <a:p>
          <a:endParaRPr lang="ru-RU"/>
        </a:p>
      </dgm:t>
    </dgm:pt>
    <dgm:pt modelId="{984446D0-12D8-4920-861D-32A926A42D0D}">
      <dgm:prSet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Машинное обучение и искусственный интеллект для автоматизации процессов управления и принятия решений.  Например, прогнозирование дорожной обстановки, оптимизация маршрутов, обнаружение опасных ситуаций.</a:t>
          </a:r>
        </a:p>
      </dgm:t>
    </dgm:pt>
    <dgm:pt modelId="{28B0C749-CE85-443B-B419-268513805998}" type="parTrans" cxnId="{03C77D15-949D-4DB7-9F73-70327B719C55}">
      <dgm:prSet/>
      <dgm:spPr/>
      <dgm:t>
        <a:bodyPr/>
        <a:lstStyle/>
        <a:p>
          <a:endParaRPr lang="ru-RU"/>
        </a:p>
      </dgm:t>
    </dgm:pt>
    <dgm:pt modelId="{FF296B0F-0A83-4A29-857A-CDDAC38A8AE2}" type="sibTrans" cxnId="{03C77D15-949D-4DB7-9F73-70327B719C55}">
      <dgm:prSet/>
      <dgm:spPr/>
      <dgm:t>
        <a:bodyPr/>
        <a:lstStyle/>
        <a:p>
          <a:endParaRPr lang="ru-RU"/>
        </a:p>
      </dgm:t>
    </dgm:pt>
    <dgm:pt modelId="{15D32AA7-525A-4EBA-A23F-69FEE7F00DCD}" type="pres">
      <dgm:prSet presAssocID="{B0BFA49E-0170-4B21-9457-DA69B799BF4D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CCA4FD46-5146-489F-8DAF-9CF4A1492356}" type="pres">
      <dgm:prSet presAssocID="{CC1615C8-CD7D-4078-91D0-2AAE38710C5C}" presName="node" presStyleLbl="node1" presStyleIdx="0" presStyleCnt="4" custScaleX="145257" custScaleY="8256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071A00A-1B4C-4151-81B5-8B304BCC949F}" type="pres">
      <dgm:prSet presAssocID="{0D389B8B-0AF2-4057-973A-233C57822AB9}" presName="sibTrans" presStyleCnt="0"/>
      <dgm:spPr/>
    </dgm:pt>
    <dgm:pt modelId="{AC3CA5D7-5950-48DB-BF2F-04F9F41CF66E}" type="pres">
      <dgm:prSet presAssocID="{FFAC825E-41EF-42E9-8160-7133733BB4D3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1D7997F-6127-4585-A484-C8AACC1FA621}" type="pres">
      <dgm:prSet presAssocID="{288153E8-11E7-400C-BCA9-B5ED4C8DE20E}" presName="sibTrans" presStyleCnt="0"/>
      <dgm:spPr/>
    </dgm:pt>
    <dgm:pt modelId="{05720FFF-A37E-472C-B1A7-0B2A532112CE}" type="pres">
      <dgm:prSet presAssocID="{91BE342F-0261-478B-9204-C4B03B1D1AE6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D3FBDCA-BF5D-473C-8FC3-A007A3B274B3}" type="pres">
      <dgm:prSet presAssocID="{1338B430-E332-4D89-A597-84A59A54BD1F}" presName="sibTrans" presStyleCnt="0"/>
      <dgm:spPr/>
    </dgm:pt>
    <dgm:pt modelId="{4889E5DA-A9A7-4AD6-A771-1157C4D98ABF}" type="pres">
      <dgm:prSet presAssocID="{984446D0-12D8-4920-861D-32A926A42D0D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6A34DBB0-55CF-4614-B7FD-247E1864F160}" type="presOf" srcId="{B0BFA49E-0170-4B21-9457-DA69B799BF4D}" destId="{15D32AA7-525A-4EBA-A23F-69FEE7F00DCD}" srcOrd="0" destOrd="0" presId="urn:microsoft.com/office/officeart/2005/8/layout/default"/>
    <dgm:cxn modelId="{035FF534-2AA4-4F2F-88C6-4AABD4721513}" type="presOf" srcId="{984446D0-12D8-4920-861D-32A926A42D0D}" destId="{4889E5DA-A9A7-4AD6-A771-1157C4D98ABF}" srcOrd="0" destOrd="0" presId="urn:microsoft.com/office/officeart/2005/8/layout/default"/>
    <dgm:cxn modelId="{73785CCA-5BC7-4A7F-92C8-9A3955B9186B}" type="presOf" srcId="{91BE342F-0261-478B-9204-C4B03B1D1AE6}" destId="{05720FFF-A37E-472C-B1A7-0B2A532112CE}" srcOrd="0" destOrd="0" presId="urn:microsoft.com/office/officeart/2005/8/layout/default"/>
    <dgm:cxn modelId="{313CB437-D5E4-4E4D-B5AA-9B56AA896991}" type="presOf" srcId="{CC1615C8-CD7D-4078-91D0-2AAE38710C5C}" destId="{CCA4FD46-5146-489F-8DAF-9CF4A1492356}" srcOrd="0" destOrd="0" presId="urn:microsoft.com/office/officeart/2005/8/layout/default"/>
    <dgm:cxn modelId="{5ED48F00-E995-4CF3-B383-D94D67925A59}" srcId="{B0BFA49E-0170-4B21-9457-DA69B799BF4D}" destId="{FFAC825E-41EF-42E9-8160-7133733BB4D3}" srcOrd="1" destOrd="0" parTransId="{F8114A75-5194-4442-AEC0-630E3EB02801}" sibTransId="{288153E8-11E7-400C-BCA9-B5ED4C8DE20E}"/>
    <dgm:cxn modelId="{C6C49BBE-6710-4885-AC6A-E218A5045478}" type="presOf" srcId="{FFAC825E-41EF-42E9-8160-7133733BB4D3}" destId="{AC3CA5D7-5950-48DB-BF2F-04F9F41CF66E}" srcOrd="0" destOrd="0" presId="urn:microsoft.com/office/officeart/2005/8/layout/default"/>
    <dgm:cxn modelId="{03C77D15-949D-4DB7-9F73-70327B719C55}" srcId="{B0BFA49E-0170-4B21-9457-DA69B799BF4D}" destId="{984446D0-12D8-4920-861D-32A926A42D0D}" srcOrd="3" destOrd="0" parTransId="{28B0C749-CE85-443B-B419-268513805998}" sibTransId="{FF296B0F-0A83-4A29-857A-CDDAC38A8AE2}"/>
    <dgm:cxn modelId="{9E3D06A1-FE3B-449F-937D-BF11428CB670}" srcId="{B0BFA49E-0170-4B21-9457-DA69B799BF4D}" destId="{CC1615C8-CD7D-4078-91D0-2AAE38710C5C}" srcOrd="0" destOrd="0" parTransId="{2F0158BD-6D32-406C-8F82-D3721EB032E8}" sibTransId="{0D389B8B-0AF2-4057-973A-233C57822AB9}"/>
    <dgm:cxn modelId="{7DD44E05-FCB8-4F65-AF3C-A15838D48343}" srcId="{B0BFA49E-0170-4B21-9457-DA69B799BF4D}" destId="{91BE342F-0261-478B-9204-C4B03B1D1AE6}" srcOrd="2" destOrd="0" parTransId="{5698F9E6-11E6-4C3B-9850-C6E8F94CE355}" sibTransId="{1338B430-E332-4D89-A597-84A59A54BD1F}"/>
    <dgm:cxn modelId="{F518BA61-6B72-438E-B062-E4A2C5E18655}" type="presParOf" srcId="{15D32AA7-525A-4EBA-A23F-69FEE7F00DCD}" destId="{CCA4FD46-5146-489F-8DAF-9CF4A1492356}" srcOrd="0" destOrd="0" presId="urn:microsoft.com/office/officeart/2005/8/layout/default"/>
    <dgm:cxn modelId="{E1B8ABEB-39A4-40F3-80E1-ACB30797DF76}" type="presParOf" srcId="{15D32AA7-525A-4EBA-A23F-69FEE7F00DCD}" destId="{1071A00A-1B4C-4151-81B5-8B304BCC949F}" srcOrd="1" destOrd="0" presId="urn:microsoft.com/office/officeart/2005/8/layout/default"/>
    <dgm:cxn modelId="{ACAC8838-F1BA-4003-A0ED-8F181C108293}" type="presParOf" srcId="{15D32AA7-525A-4EBA-A23F-69FEE7F00DCD}" destId="{AC3CA5D7-5950-48DB-BF2F-04F9F41CF66E}" srcOrd="2" destOrd="0" presId="urn:microsoft.com/office/officeart/2005/8/layout/default"/>
    <dgm:cxn modelId="{B9D412E4-A96B-4563-B846-9F5D33C99E9F}" type="presParOf" srcId="{15D32AA7-525A-4EBA-A23F-69FEE7F00DCD}" destId="{E1D7997F-6127-4585-A484-C8AACC1FA621}" srcOrd="3" destOrd="0" presId="urn:microsoft.com/office/officeart/2005/8/layout/default"/>
    <dgm:cxn modelId="{18E0E296-DBCB-49AC-A703-A28553093552}" type="presParOf" srcId="{15D32AA7-525A-4EBA-A23F-69FEE7F00DCD}" destId="{05720FFF-A37E-472C-B1A7-0B2A532112CE}" srcOrd="4" destOrd="0" presId="urn:microsoft.com/office/officeart/2005/8/layout/default"/>
    <dgm:cxn modelId="{63EEF9C6-568B-4C59-A2D3-D59CDF58A6CB}" type="presParOf" srcId="{15D32AA7-525A-4EBA-A23F-69FEE7F00DCD}" destId="{CD3FBDCA-BF5D-473C-8FC3-A007A3B274B3}" srcOrd="5" destOrd="0" presId="urn:microsoft.com/office/officeart/2005/8/layout/default"/>
    <dgm:cxn modelId="{D5E3339A-2A0A-4751-B3BE-FE20B8D19866}" type="presParOf" srcId="{15D32AA7-525A-4EBA-A23F-69FEE7F00DCD}" destId="{4889E5DA-A9A7-4AD6-A771-1157C4D98ABF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0BFA49E-0170-4B21-9457-DA69B799BF4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C1615C8-CD7D-4078-91D0-2AAE38710C5C}">
      <dgm:prSet phldrT="[Текст]" custT="1"/>
      <dgm:spPr/>
      <dgm:t>
        <a:bodyPr/>
        <a:lstStyle/>
        <a:p>
          <a:r>
            <a:rPr lang="ru-RU" sz="1800" smtClean="0">
              <a:latin typeface="Times New Roman" pitchFamily="18" charset="0"/>
              <a:cs typeface="Times New Roman" pitchFamily="18" charset="0"/>
            </a:rPr>
            <a:t>Определение ответственности за ДТП с участием беспилотных автомобилей.</a:t>
          </a:r>
          <a:endParaRPr lang="ru-RU" sz="1800" dirty="0">
            <a:latin typeface="Times New Roman" pitchFamily="18" charset="0"/>
            <a:cs typeface="Times New Roman" pitchFamily="18" charset="0"/>
          </a:endParaRPr>
        </a:p>
      </dgm:t>
    </dgm:pt>
    <dgm:pt modelId="{2F0158BD-6D32-406C-8F82-D3721EB032E8}" type="parTrans" cxnId="{9E3D06A1-FE3B-449F-937D-BF11428CB670}">
      <dgm:prSet/>
      <dgm:spPr/>
      <dgm:t>
        <a:bodyPr/>
        <a:lstStyle/>
        <a:p>
          <a:endParaRPr lang="ru-RU" sz="1800">
            <a:latin typeface="Times New Roman" pitchFamily="18" charset="0"/>
            <a:cs typeface="Times New Roman" pitchFamily="18" charset="0"/>
          </a:endParaRPr>
        </a:p>
      </dgm:t>
    </dgm:pt>
    <dgm:pt modelId="{0D389B8B-0AF2-4057-973A-233C57822AB9}" type="sibTrans" cxnId="{9E3D06A1-FE3B-449F-937D-BF11428CB670}">
      <dgm:prSet/>
      <dgm:spPr/>
      <dgm:t>
        <a:bodyPr/>
        <a:lstStyle/>
        <a:p>
          <a:endParaRPr lang="ru-RU" sz="1800">
            <a:latin typeface="Times New Roman" pitchFamily="18" charset="0"/>
            <a:cs typeface="Times New Roman" pitchFamily="18" charset="0"/>
          </a:endParaRPr>
        </a:p>
      </dgm:t>
    </dgm:pt>
    <dgm:pt modelId="{CD385725-265A-4D85-9DAB-CD92B95CDDC0}">
      <dgm:prSet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Регулирование использования данных, собираемых автомобилями.</a:t>
          </a:r>
        </a:p>
      </dgm:t>
    </dgm:pt>
    <dgm:pt modelId="{40A50EF9-63A9-4C49-B55C-1E3254B35B27}" type="parTrans" cxnId="{CDAD0154-9145-487A-A4BB-42B888993E4F}">
      <dgm:prSet/>
      <dgm:spPr/>
      <dgm:t>
        <a:bodyPr/>
        <a:lstStyle/>
        <a:p>
          <a:endParaRPr lang="ru-RU"/>
        </a:p>
      </dgm:t>
    </dgm:pt>
    <dgm:pt modelId="{AD894C73-BFAC-4667-A16D-90C87EA53F8B}" type="sibTrans" cxnId="{CDAD0154-9145-487A-A4BB-42B888993E4F}">
      <dgm:prSet/>
      <dgm:spPr/>
      <dgm:t>
        <a:bodyPr/>
        <a:lstStyle/>
        <a:p>
          <a:endParaRPr lang="ru-RU"/>
        </a:p>
      </dgm:t>
    </dgm:pt>
    <dgm:pt modelId="{19F6486F-C2EB-4B09-9FF5-7E9C0F4B3F83}">
      <dgm:prSet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Обеспечение безопасности и конфиденциальности личных данных.</a:t>
          </a:r>
        </a:p>
      </dgm:t>
    </dgm:pt>
    <dgm:pt modelId="{F5E9966B-4B94-4E5D-93C1-AFF730D87AC5}" type="parTrans" cxnId="{A98DEC9D-F73D-457D-AB7F-348EF3B7D815}">
      <dgm:prSet/>
      <dgm:spPr/>
      <dgm:t>
        <a:bodyPr/>
        <a:lstStyle/>
        <a:p>
          <a:endParaRPr lang="ru-RU"/>
        </a:p>
      </dgm:t>
    </dgm:pt>
    <dgm:pt modelId="{19201096-3206-484E-9ACB-77A929534BB1}" type="sibTrans" cxnId="{A98DEC9D-F73D-457D-AB7F-348EF3B7D815}">
      <dgm:prSet/>
      <dgm:spPr/>
      <dgm:t>
        <a:bodyPr/>
        <a:lstStyle/>
        <a:p>
          <a:endParaRPr lang="ru-RU"/>
        </a:p>
      </dgm:t>
    </dgm:pt>
    <dgm:pt modelId="{233737EC-9FAE-404B-9155-946F8E671B73}">
      <dgm:prSet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Решение этических дилемм, возникающих в процессе принятия решений беспилотным автомобилем в сложных ситуациях.</a:t>
          </a:r>
        </a:p>
      </dgm:t>
    </dgm:pt>
    <dgm:pt modelId="{CED9F426-C854-489B-AB5A-14086E281D4D}" type="parTrans" cxnId="{A242A741-F26D-4D23-9625-724E35A9302C}">
      <dgm:prSet/>
      <dgm:spPr/>
      <dgm:t>
        <a:bodyPr/>
        <a:lstStyle/>
        <a:p>
          <a:endParaRPr lang="ru-RU"/>
        </a:p>
      </dgm:t>
    </dgm:pt>
    <dgm:pt modelId="{08F2D88C-70B4-4979-BE47-1CA4DA6B28F7}" type="sibTrans" cxnId="{A242A741-F26D-4D23-9625-724E35A9302C}">
      <dgm:prSet/>
      <dgm:spPr/>
      <dgm:t>
        <a:bodyPr/>
        <a:lstStyle/>
        <a:p>
          <a:endParaRPr lang="ru-RU"/>
        </a:p>
      </dgm:t>
    </dgm:pt>
    <dgm:pt modelId="{15D32AA7-525A-4EBA-A23F-69FEE7F00DCD}" type="pres">
      <dgm:prSet presAssocID="{B0BFA49E-0170-4B21-9457-DA69B799BF4D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CCA4FD46-5146-489F-8DAF-9CF4A1492356}" type="pres">
      <dgm:prSet presAssocID="{CC1615C8-CD7D-4078-91D0-2AAE38710C5C}" presName="node" presStyleLbl="node1" presStyleIdx="0" presStyleCnt="4" custScaleX="145257" custScaleY="8256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071A00A-1B4C-4151-81B5-8B304BCC949F}" type="pres">
      <dgm:prSet presAssocID="{0D389B8B-0AF2-4057-973A-233C57822AB9}" presName="sibTrans" presStyleCnt="0"/>
      <dgm:spPr/>
    </dgm:pt>
    <dgm:pt modelId="{1D707CF0-A0C0-48DE-9B7E-5513B9298B67}" type="pres">
      <dgm:prSet presAssocID="{CD385725-265A-4D85-9DAB-CD92B95CDDC0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C2104AE-0CE0-4028-886D-A2C765B62355}" type="pres">
      <dgm:prSet presAssocID="{AD894C73-BFAC-4667-A16D-90C87EA53F8B}" presName="sibTrans" presStyleCnt="0"/>
      <dgm:spPr/>
    </dgm:pt>
    <dgm:pt modelId="{93CF48BB-FB23-461F-AB9C-E6C030BED58B}" type="pres">
      <dgm:prSet presAssocID="{19F6486F-C2EB-4B09-9FF5-7E9C0F4B3F83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EC38CB6-FD1F-413A-A4A9-7DE9FB0856E9}" type="pres">
      <dgm:prSet presAssocID="{19201096-3206-484E-9ACB-77A929534BB1}" presName="sibTrans" presStyleCnt="0"/>
      <dgm:spPr/>
    </dgm:pt>
    <dgm:pt modelId="{D91BDDDB-FAB1-470B-800D-A793949D81FE}" type="pres">
      <dgm:prSet presAssocID="{233737EC-9FAE-404B-9155-946F8E671B73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9E3D06A1-FE3B-449F-937D-BF11428CB670}" srcId="{B0BFA49E-0170-4B21-9457-DA69B799BF4D}" destId="{CC1615C8-CD7D-4078-91D0-2AAE38710C5C}" srcOrd="0" destOrd="0" parTransId="{2F0158BD-6D32-406C-8F82-D3721EB032E8}" sibTransId="{0D389B8B-0AF2-4057-973A-233C57822AB9}"/>
    <dgm:cxn modelId="{A242A741-F26D-4D23-9625-724E35A9302C}" srcId="{B0BFA49E-0170-4B21-9457-DA69B799BF4D}" destId="{233737EC-9FAE-404B-9155-946F8E671B73}" srcOrd="3" destOrd="0" parTransId="{CED9F426-C854-489B-AB5A-14086E281D4D}" sibTransId="{08F2D88C-70B4-4979-BE47-1CA4DA6B28F7}"/>
    <dgm:cxn modelId="{CDAD0154-9145-487A-A4BB-42B888993E4F}" srcId="{B0BFA49E-0170-4B21-9457-DA69B799BF4D}" destId="{CD385725-265A-4D85-9DAB-CD92B95CDDC0}" srcOrd="1" destOrd="0" parTransId="{40A50EF9-63A9-4C49-B55C-1E3254B35B27}" sibTransId="{AD894C73-BFAC-4667-A16D-90C87EA53F8B}"/>
    <dgm:cxn modelId="{6CCAE07C-BF07-4D3A-831D-5F6471BB1264}" type="presOf" srcId="{233737EC-9FAE-404B-9155-946F8E671B73}" destId="{D91BDDDB-FAB1-470B-800D-A793949D81FE}" srcOrd="0" destOrd="0" presId="urn:microsoft.com/office/officeart/2005/8/layout/default"/>
    <dgm:cxn modelId="{74E27896-F17E-4057-9CE3-5E8AE4F1608B}" type="presOf" srcId="{CC1615C8-CD7D-4078-91D0-2AAE38710C5C}" destId="{CCA4FD46-5146-489F-8DAF-9CF4A1492356}" srcOrd="0" destOrd="0" presId="urn:microsoft.com/office/officeart/2005/8/layout/default"/>
    <dgm:cxn modelId="{257F40A2-7422-4520-B506-9DC7DF16DDE9}" type="presOf" srcId="{19F6486F-C2EB-4B09-9FF5-7E9C0F4B3F83}" destId="{93CF48BB-FB23-461F-AB9C-E6C030BED58B}" srcOrd="0" destOrd="0" presId="urn:microsoft.com/office/officeart/2005/8/layout/default"/>
    <dgm:cxn modelId="{50840791-B80E-4352-857F-7C167C53699F}" type="presOf" srcId="{B0BFA49E-0170-4B21-9457-DA69B799BF4D}" destId="{15D32AA7-525A-4EBA-A23F-69FEE7F00DCD}" srcOrd="0" destOrd="0" presId="urn:microsoft.com/office/officeart/2005/8/layout/default"/>
    <dgm:cxn modelId="{A98DEC9D-F73D-457D-AB7F-348EF3B7D815}" srcId="{B0BFA49E-0170-4B21-9457-DA69B799BF4D}" destId="{19F6486F-C2EB-4B09-9FF5-7E9C0F4B3F83}" srcOrd="2" destOrd="0" parTransId="{F5E9966B-4B94-4E5D-93C1-AFF730D87AC5}" sibTransId="{19201096-3206-484E-9ACB-77A929534BB1}"/>
    <dgm:cxn modelId="{B8AFFFB0-490E-4B10-94B5-0B5EA098D0AB}" type="presOf" srcId="{CD385725-265A-4D85-9DAB-CD92B95CDDC0}" destId="{1D707CF0-A0C0-48DE-9B7E-5513B9298B67}" srcOrd="0" destOrd="0" presId="urn:microsoft.com/office/officeart/2005/8/layout/default"/>
    <dgm:cxn modelId="{FAAB8E86-BED3-4823-BC3E-778F6BC1AA4F}" type="presParOf" srcId="{15D32AA7-525A-4EBA-A23F-69FEE7F00DCD}" destId="{CCA4FD46-5146-489F-8DAF-9CF4A1492356}" srcOrd="0" destOrd="0" presId="urn:microsoft.com/office/officeart/2005/8/layout/default"/>
    <dgm:cxn modelId="{D6559808-E245-46FA-901C-8291CBB4AF9C}" type="presParOf" srcId="{15D32AA7-525A-4EBA-A23F-69FEE7F00DCD}" destId="{1071A00A-1B4C-4151-81B5-8B304BCC949F}" srcOrd="1" destOrd="0" presId="urn:microsoft.com/office/officeart/2005/8/layout/default"/>
    <dgm:cxn modelId="{1171D7BC-C478-4063-96B8-1D5CABCF7F12}" type="presParOf" srcId="{15D32AA7-525A-4EBA-A23F-69FEE7F00DCD}" destId="{1D707CF0-A0C0-48DE-9B7E-5513B9298B67}" srcOrd="2" destOrd="0" presId="urn:microsoft.com/office/officeart/2005/8/layout/default"/>
    <dgm:cxn modelId="{F9BD1A5E-CFFE-4DA7-BC8A-57CDFB46A9EF}" type="presParOf" srcId="{15D32AA7-525A-4EBA-A23F-69FEE7F00DCD}" destId="{0C2104AE-0CE0-4028-886D-A2C765B62355}" srcOrd="3" destOrd="0" presId="urn:microsoft.com/office/officeart/2005/8/layout/default"/>
    <dgm:cxn modelId="{157228E8-F992-45EB-9084-E37A2AFD3F11}" type="presParOf" srcId="{15D32AA7-525A-4EBA-A23F-69FEE7F00DCD}" destId="{93CF48BB-FB23-461F-AB9C-E6C030BED58B}" srcOrd="4" destOrd="0" presId="urn:microsoft.com/office/officeart/2005/8/layout/default"/>
    <dgm:cxn modelId="{B85C4025-1F4E-4C31-9472-121A0239EB67}" type="presParOf" srcId="{15D32AA7-525A-4EBA-A23F-69FEE7F00DCD}" destId="{9EC38CB6-FD1F-413A-A4A9-7DE9FB0856E9}" srcOrd="5" destOrd="0" presId="urn:microsoft.com/office/officeart/2005/8/layout/default"/>
    <dgm:cxn modelId="{4761218B-FCFB-4141-95A3-DCDB3DB35C1F}" type="presParOf" srcId="{15D32AA7-525A-4EBA-A23F-69FEE7F00DCD}" destId="{D91BDDDB-FAB1-470B-800D-A793949D81FE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42FDD8-DF69-44FC-9AB9-FFADE094DDAA}">
      <dsp:nvSpPr>
        <dsp:cNvPr id="0" name=""/>
        <dsp:cNvSpPr/>
      </dsp:nvSpPr>
      <dsp:spPr>
        <a:xfrm>
          <a:off x="0" y="31317"/>
          <a:ext cx="2775238" cy="16651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b="1" kern="12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Большое количество элементов:</a:t>
          </a: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 СТС содержит множество элементов, взаимодействующих друг с другом.</a:t>
          </a:r>
          <a:endParaRPr lang="ru-RU" sz="1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0" y="31317"/>
        <a:ext cx="2775238" cy="1665143"/>
      </dsp:txXfrm>
    </dsp:sp>
    <dsp:sp modelId="{DBFBE599-7D1E-4E8D-B162-A8B4DB1FEEC6}">
      <dsp:nvSpPr>
        <dsp:cNvPr id="0" name=""/>
        <dsp:cNvSpPr/>
      </dsp:nvSpPr>
      <dsp:spPr>
        <a:xfrm>
          <a:off x="3052762" y="31317"/>
          <a:ext cx="2775238" cy="16651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b="1" kern="12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Сложные взаимосвязи:</a:t>
          </a: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 Элементы связаны между собой большим количеством сложных иерархических связей.  Эти связи могут быть нелинейными, с обратными связями, и зависеть от многих факторов.</a:t>
          </a:r>
          <a:endParaRPr lang="ru-RU" sz="1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3052762" y="31317"/>
        <a:ext cx="2775238" cy="1665143"/>
      </dsp:txXfrm>
    </dsp:sp>
    <dsp:sp modelId="{C651C23E-2251-470C-94FB-348316243DD6}">
      <dsp:nvSpPr>
        <dsp:cNvPr id="0" name=""/>
        <dsp:cNvSpPr/>
      </dsp:nvSpPr>
      <dsp:spPr>
        <a:xfrm>
          <a:off x="6105524" y="31317"/>
          <a:ext cx="2775238" cy="16651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b="1" kern="12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Иерархичность:</a:t>
          </a: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 СТС обычно имеют иерархическую структуру, состоящую из уровней или подсистем, каждая из которых выполняет определенную функцию.</a:t>
          </a:r>
          <a:endParaRPr lang="ru-RU" sz="1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6105524" y="31317"/>
        <a:ext cx="2775238" cy="1665143"/>
      </dsp:txXfrm>
    </dsp:sp>
    <dsp:sp modelId="{4C54D870-D9F9-455A-9B59-7902C8854D91}">
      <dsp:nvSpPr>
        <dsp:cNvPr id="0" name=""/>
        <dsp:cNvSpPr/>
      </dsp:nvSpPr>
      <dsp:spPr>
        <a:xfrm>
          <a:off x="0" y="1973983"/>
          <a:ext cx="2775238" cy="16651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b="1" kern="12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Самоорганизация: </a:t>
          </a: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СТС могут демонстрировать свойства самоорганизации, то есть способности адаптироваться к изменяющимся условиям без прямого внешнего управления.</a:t>
          </a:r>
          <a:endParaRPr lang="ru-RU" sz="1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0" y="1973983"/>
        <a:ext cx="2775238" cy="1665143"/>
      </dsp:txXfrm>
    </dsp:sp>
    <dsp:sp modelId="{FE8ED2AB-BCFD-4CDF-8741-FDD9EDDEBB72}">
      <dsp:nvSpPr>
        <dsp:cNvPr id="0" name=""/>
        <dsp:cNvSpPr/>
      </dsp:nvSpPr>
      <dsp:spPr>
        <a:xfrm>
          <a:off x="3052762" y="1973983"/>
          <a:ext cx="2775238" cy="16651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b="1" kern="1200" dirty="0" err="1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Эмерджентность</a:t>
          </a:r>
          <a:r>
            <a:rPr lang="ru-RU" sz="1400" b="1" kern="12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:</a:t>
          </a: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  В СТС возникают эмерджентные свойства, то есть свойства, которые не присущи отдельным элементам, но возникают в результате их взаимодействия.  Например, устойчивость системы в целом.</a:t>
          </a:r>
          <a:endParaRPr lang="ru-RU" sz="1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3052762" y="1973983"/>
        <a:ext cx="2775238" cy="1665143"/>
      </dsp:txXfrm>
    </dsp:sp>
    <dsp:sp modelId="{F2F41380-FE70-4108-A7B3-426E0364AE37}">
      <dsp:nvSpPr>
        <dsp:cNvPr id="0" name=""/>
        <dsp:cNvSpPr/>
      </dsp:nvSpPr>
      <dsp:spPr>
        <a:xfrm>
          <a:off x="6105524" y="1973983"/>
          <a:ext cx="2775238" cy="16651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b="1" kern="12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Нелинейность:</a:t>
          </a: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  Малые изменения входных параметров могут приводить к непропорционально большим изменениям выходных параметров.</a:t>
          </a:r>
          <a:endParaRPr lang="ru-RU" sz="1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6105524" y="1973983"/>
        <a:ext cx="2775238" cy="1665143"/>
      </dsp:txXfrm>
    </dsp:sp>
    <dsp:sp modelId="{4B751099-8CBB-4295-A4A8-B7741B0DA049}">
      <dsp:nvSpPr>
        <dsp:cNvPr id="0" name=""/>
        <dsp:cNvSpPr/>
      </dsp:nvSpPr>
      <dsp:spPr>
        <a:xfrm>
          <a:off x="0" y="3916650"/>
          <a:ext cx="2775238" cy="16651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b="1" kern="12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Динамичность:</a:t>
          </a: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  СТС постоянно изменяются во времени, как в результате внешних воздействий, так и внутренних процессов.</a:t>
          </a:r>
          <a:endParaRPr lang="ru-RU" sz="1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0" y="3916650"/>
        <a:ext cx="2775238" cy="1665143"/>
      </dsp:txXfrm>
    </dsp:sp>
    <dsp:sp modelId="{F9CB280F-2BD4-4F85-9DC9-494893C07730}">
      <dsp:nvSpPr>
        <dsp:cNvPr id="0" name=""/>
        <dsp:cNvSpPr/>
      </dsp:nvSpPr>
      <dsp:spPr>
        <a:xfrm>
          <a:off x="3052762" y="3916650"/>
          <a:ext cx="2775238" cy="16651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b="1" kern="12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Неопределенность:</a:t>
          </a: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  Поведение СТС сложно предсказать из-за большого количества факторов, влияющих на её работу.</a:t>
          </a:r>
          <a:endParaRPr lang="ru-RU" sz="1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3052762" y="3916650"/>
        <a:ext cx="2775238" cy="1665143"/>
      </dsp:txXfrm>
    </dsp:sp>
    <dsp:sp modelId="{F03BD48C-D516-404E-9DDC-9F5527E22339}">
      <dsp:nvSpPr>
        <dsp:cNvPr id="0" name=""/>
        <dsp:cNvSpPr/>
      </dsp:nvSpPr>
      <dsp:spPr>
        <a:xfrm>
          <a:off x="6105524" y="3916650"/>
          <a:ext cx="2775238" cy="16651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b="1" kern="12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Рассеянность:  </a:t>
          </a: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Это понятие относится к большому количеству элементов, которые разнесены в пространстве.</a:t>
          </a:r>
          <a:endParaRPr lang="ru-RU" sz="1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6105524" y="3916650"/>
        <a:ext cx="2775238" cy="16651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ED5D20-78D7-4213-9349-9ABC02604059}">
      <dsp:nvSpPr>
        <dsp:cNvPr id="0" name=""/>
        <dsp:cNvSpPr/>
      </dsp:nvSpPr>
      <dsp:spPr>
        <a:xfrm>
          <a:off x="0" y="110718"/>
          <a:ext cx="2775238" cy="32807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kern="1200" dirty="0" smtClean="0">
              <a:solidFill>
                <a:srgbClr val="FF0000"/>
              </a:solidFill>
              <a:latin typeface="Times New Roman"/>
              <a:ea typeface="Times New Roman"/>
            </a:rPr>
            <a:t>Целостность</a:t>
          </a:r>
          <a:r>
            <a:rPr lang="ru-RU" sz="1600" kern="1200" dirty="0" smtClean="0">
              <a:latin typeface="Times New Roman"/>
              <a:ea typeface="Times New Roman"/>
            </a:rPr>
            <a:t> – появление нового качества в объединении именно этого набора элементов. При исключении любого из выделенных элементов системы ее свойства изменяются. Это свойства интегративные, т.е. присущие системе в целом, но не свойственные ни одному из ее элементов в отдельности.</a:t>
          </a:r>
          <a:endParaRPr lang="ru-RU" sz="1600" kern="1200" dirty="0"/>
        </a:p>
      </dsp:txBody>
      <dsp:txXfrm>
        <a:off x="0" y="110718"/>
        <a:ext cx="2775238" cy="3280731"/>
      </dsp:txXfrm>
    </dsp:sp>
    <dsp:sp modelId="{9C385B03-32D3-4DE1-B4D8-7210BF8ABAC6}">
      <dsp:nvSpPr>
        <dsp:cNvPr id="0" name=""/>
        <dsp:cNvSpPr/>
      </dsp:nvSpPr>
      <dsp:spPr>
        <a:xfrm>
          <a:off x="3052762" y="125072"/>
          <a:ext cx="2775238" cy="3252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kern="1200" smtClean="0">
              <a:solidFill>
                <a:srgbClr val="FF0000"/>
              </a:solidFill>
              <a:latin typeface="Times New Roman"/>
              <a:ea typeface="Times New Roman"/>
            </a:rPr>
            <a:t>Разнообразие</a:t>
          </a:r>
          <a:r>
            <a:rPr lang="ru-RU" sz="1600" kern="1200" smtClean="0">
              <a:latin typeface="Times New Roman"/>
              <a:ea typeface="Times New Roman"/>
            </a:rPr>
            <a:t> – наличие качественно различных элементов системы, выполняющих различные функции.</a:t>
          </a:r>
          <a:endParaRPr lang="ru-RU" sz="1600" kern="1200" dirty="0">
            <a:latin typeface="Times New Roman"/>
            <a:ea typeface="Times New Roman"/>
          </a:endParaRPr>
        </a:p>
      </dsp:txBody>
      <dsp:txXfrm>
        <a:off x="3052762" y="125072"/>
        <a:ext cx="2775238" cy="3252024"/>
      </dsp:txXfrm>
    </dsp:sp>
    <dsp:sp modelId="{26C6AAF2-5769-4C51-B9C4-A165D46F1FE2}">
      <dsp:nvSpPr>
        <dsp:cNvPr id="0" name=""/>
        <dsp:cNvSpPr/>
      </dsp:nvSpPr>
      <dsp:spPr>
        <a:xfrm>
          <a:off x="6105525" y="110718"/>
          <a:ext cx="2775238" cy="32807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kern="1200" dirty="0" smtClean="0">
              <a:solidFill>
                <a:srgbClr val="FF0000"/>
              </a:solidFill>
              <a:latin typeface="Times New Roman"/>
              <a:ea typeface="Times New Roman"/>
            </a:rPr>
            <a:t>Связность</a:t>
          </a:r>
          <a:r>
            <a:rPr lang="ru-RU" sz="1600" kern="1200" dirty="0" smtClean="0">
              <a:latin typeface="Times New Roman"/>
              <a:ea typeface="Times New Roman"/>
            </a:rPr>
            <a:t> – обмен информацией между элементами системы и невозможность включения в систему элементов без информационного обмена. Между элементами имеются существенные связи, которые с необходимостью определяют ее интегративные качества. Связи могут быть вещественными, информационными, прямыми, обратными и т.д. </a:t>
          </a:r>
          <a:endParaRPr lang="ru-RU" sz="1600" kern="1200" dirty="0">
            <a:latin typeface="Times New Roman"/>
            <a:ea typeface="Times New Roman"/>
          </a:endParaRPr>
        </a:p>
      </dsp:txBody>
      <dsp:txXfrm>
        <a:off x="6105525" y="110718"/>
        <a:ext cx="2775238" cy="3280731"/>
      </dsp:txXfrm>
    </dsp:sp>
    <dsp:sp modelId="{8FD6322C-0977-4193-8370-F50B71347C0E}">
      <dsp:nvSpPr>
        <dsp:cNvPr id="0" name=""/>
        <dsp:cNvSpPr/>
      </dsp:nvSpPr>
      <dsp:spPr>
        <a:xfrm>
          <a:off x="956444" y="3668974"/>
          <a:ext cx="3473683" cy="16651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kern="1200" smtClean="0">
              <a:solidFill>
                <a:srgbClr val="FF0000"/>
              </a:solidFill>
              <a:latin typeface="Times New Roman"/>
              <a:ea typeface="Times New Roman"/>
            </a:rPr>
            <a:t>Целенаправленность</a:t>
          </a:r>
          <a:r>
            <a:rPr lang="ru-RU" sz="1600" kern="1200" smtClean="0">
              <a:latin typeface="Times New Roman"/>
              <a:ea typeface="Times New Roman"/>
            </a:rPr>
            <a:t> – возможность управления системой путем изменения параметров в одном элементе для преобразования состояния других.</a:t>
          </a:r>
          <a:endParaRPr lang="ru-RU" sz="1600" kern="1200" dirty="0">
            <a:latin typeface="Times New Roman"/>
            <a:ea typeface="Times New Roman"/>
          </a:endParaRPr>
        </a:p>
      </dsp:txBody>
      <dsp:txXfrm>
        <a:off x="956444" y="3668974"/>
        <a:ext cx="3473683" cy="1665143"/>
      </dsp:txXfrm>
    </dsp:sp>
    <dsp:sp modelId="{BF50931D-EA42-4DBB-A0EF-0192C1310CF7}">
      <dsp:nvSpPr>
        <dsp:cNvPr id="0" name=""/>
        <dsp:cNvSpPr/>
      </dsp:nvSpPr>
      <dsp:spPr>
        <a:xfrm>
          <a:off x="4707651" y="3668974"/>
          <a:ext cx="3216668" cy="16651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kern="1200" dirty="0" smtClean="0">
              <a:solidFill>
                <a:srgbClr val="FF0000"/>
              </a:solidFill>
              <a:latin typeface="Times New Roman"/>
              <a:ea typeface="Times New Roman"/>
            </a:rPr>
            <a:t>Устойчивость (гомеостаз) </a:t>
          </a:r>
          <a:r>
            <a:rPr lang="ru-RU" sz="1600" kern="1200" dirty="0" smtClean="0">
              <a:latin typeface="Times New Roman"/>
              <a:ea typeface="Times New Roman"/>
            </a:rPr>
            <a:t>– способность сохранения перечисленных свойств при достаточно широком изменении параметров среды.</a:t>
          </a:r>
          <a:endParaRPr lang="ru-RU" sz="1600" kern="1200" dirty="0">
            <a:latin typeface="Times New Roman"/>
            <a:ea typeface="Times New Roman"/>
          </a:endParaRPr>
        </a:p>
      </dsp:txBody>
      <dsp:txXfrm>
        <a:off x="4707651" y="3668974"/>
        <a:ext cx="3216668" cy="16651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A4FD46-5146-489F-8DAF-9CF4A1492356}">
      <dsp:nvSpPr>
        <dsp:cNvPr id="0" name=""/>
        <dsp:cNvSpPr/>
      </dsp:nvSpPr>
      <dsp:spPr>
        <a:xfrm>
          <a:off x="83516" y="1489"/>
          <a:ext cx="2731699" cy="29398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kern="1200" dirty="0" smtClean="0">
              <a:latin typeface="Times New Roman" pitchFamily="18" charset="0"/>
              <a:cs typeface="Times New Roman" pitchFamily="18" charset="0"/>
            </a:rPr>
            <a:t>Сенсорная инфраструктура: Это может включать в себя камеры, </a:t>
          </a:r>
          <a:r>
            <a:rPr lang="ru-RU" sz="1300" kern="1200" dirty="0" err="1" smtClean="0">
              <a:latin typeface="Times New Roman" pitchFamily="18" charset="0"/>
              <a:cs typeface="Times New Roman" pitchFamily="18" charset="0"/>
            </a:rPr>
            <a:t>лидары</a:t>
          </a:r>
          <a:r>
            <a:rPr lang="ru-RU" sz="1300" kern="1200" dirty="0" smtClean="0">
              <a:latin typeface="Times New Roman" pitchFamily="18" charset="0"/>
              <a:cs typeface="Times New Roman" pitchFamily="18" charset="0"/>
            </a:rPr>
            <a:t>, радары и другие сенсоры, расположенные вдоль дорог,  для предоставления беспилотным автомобилям более полной информации об окружающей обстановке, чем они могут получить самостоятельно.  Особенно важно в сложных условиях (плохая погода, ограниченная видимость).  Эта информация должна интегрироваться с собственной сенсорной системой автомобиля.</a:t>
          </a:r>
          <a:endParaRPr lang="ru-RU" sz="13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83516" y="1489"/>
        <a:ext cx="2731699" cy="2939893"/>
      </dsp:txXfrm>
    </dsp:sp>
    <dsp:sp modelId="{B520F404-4A0C-4F6B-861C-AB838DC5AFAC}">
      <dsp:nvSpPr>
        <dsp:cNvPr id="0" name=""/>
        <dsp:cNvSpPr/>
      </dsp:nvSpPr>
      <dsp:spPr>
        <a:xfrm>
          <a:off x="3088386" y="42268"/>
          <a:ext cx="2731699" cy="28583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kern="1200" dirty="0" smtClean="0">
              <a:latin typeface="Times New Roman" pitchFamily="18" charset="0"/>
              <a:cs typeface="Times New Roman" pitchFamily="18" charset="0"/>
            </a:rPr>
            <a:t>Коммуникационная инфраструктура (V2X – </a:t>
          </a:r>
          <a:r>
            <a:rPr lang="ru-RU" sz="1300" kern="1200" dirty="0" err="1" smtClean="0">
              <a:latin typeface="Times New Roman" pitchFamily="18" charset="0"/>
              <a:cs typeface="Times New Roman" pitchFamily="18" charset="0"/>
            </a:rPr>
            <a:t>Vehicle-to-Everything</a:t>
          </a:r>
          <a:r>
            <a:rPr lang="ru-RU" sz="1300" kern="1200" dirty="0" smtClean="0">
              <a:latin typeface="Times New Roman" pitchFamily="18" charset="0"/>
              <a:cs typeface="Times New Roman" pitchFamily="18" charset="0"/>
            </a:rPr>
            <a:t>): Обеспечение связи между автомобилями (V2V), автомобилями и дорожной инфраструктурой (V2I), автомобилями и другими участниками дорожного движения (V2P - </a:t>
          </a:r>
          <a:r>
            <a:rPr lang="ru-RU" sz="1300" kern="1200" dirty="0" err="1" smtClean="0">
              <a:latin typeface="Times New Roman" pitchFamily="18" charset="0"/>
              <a:cs typeface="Times New Roman" pitchFamily="18" charset="0"/>
            </a:rPr>
            <a:t>pedestrians</a:t>
          </a:r>
          <a:r>
            <a:rPr lang="ru-RU" sz="1300" kern="1200" dirty="0" smtClean="0">
              <a:latin typeface="Times New Roman" pitchFamily="18" charset="0"/>
              <a:cs typeface="Times New Roman" pitchFamily="18" charset="0"/>
            </a:rPr>
            <a:t>).  Это позволяет автомобилям обмениваться информацией о местоположении, скорости, намерениях, дорожных условиях, и предупреждениях об опасностях.  Требует надежной и высокоскоростной связи (например, 5G).</a:t>
          </a:r>
          <a:endParaRPr lang="ru-RU" sz="13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3088386" y="42268"/>
        <a:ext cx="2731699" cy="2858335"/>
      </dsp:txXfrm>
    </dsp:sp>
    <dsp:sp modelId="{7EE6B10E-1BBE-46D8-9E61-92AA84815BE1}">
      <dsp:nvSpPr>
        <dsp:cNvPr id="0" name=""/>
        <dsp:cNvSpPr/>
      </dsp:nvSpPr>
      <dsp:spPr>
        <a:xfrm>
          <a:off x="6093255" y="42268"/>
          <a:ext cx="2731699" cy="28583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kern="1200" dirty="0" smtClean="0">
              <a:latin typeface="Times New Roman" pitchFamily="18" charset="0"/>
              <a:cs typeface="Times New Roman" pitchFamily="18" charset="0"/>
            </a:rPr>
            <a:t>Навигационная инфраструктура (расширенная): Помимо стандартных GPS/ГЛОНАСС, требуется создание карт высокого разрешения (HD </a:t>
          </a:r>
          <a:r>
            <a:rPr lang="ru-RU" sz="1300" kern="1200" dirty="0" err="1" smtClean="0">
              <a:latin typeface="Times New Roman" pitchFamily="18" charset="0"/>
              <a:cs typeface="Times New Roman" pitchFamily="18" charset="0"/>
            </a:rPr>
            <a:t>maps</a:t>
          </a:r>
          <a:r>
            <a:rPr lang="ru-RU" sz="1300" kern="1200" dirty="0" smtClean="0">
              <a:latin typeface="Times New Roman" pitchFamily="18" charset="0"/>
              <a:cs typeface="Times New Roman" pitchFamily="18" charset="0"/>
            </a:rPr>
            <a:t>) с детальной информацией о дорожной разметке, знаках, светофорах, бордюрах, и других объектах.  Эти карты должны постоянно обновляться с учетом изменений на дороге.  Могут использоваться системы локального позиционирования (например, на основе маяков).</a:t>
          </a:r>
          <a:endParaRPr lang="ru-RU" sz="13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6093255" y="42268"/>
        <a:ext cx="2731699" cy="2858335"/>
      </dsp:txXfrm>
    </dsp:sp>
    <dsp:sp modelId="{7CF7E455-CF7B-424A-A71F-0A1CF8A40518}">
      <dsp:nvSpPr>
        <dsp:cNvPr id="0" name=""/>
        <dsp:cNvSpPr/>
      </dsp:nvSpPr>
      <dsp:spPr>
        <a:xfrm>
          <a:off x="83516" y="3214552"/>
          <a:ext cx="2731699" cy="22340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kern="1200" dirty="0" smtClean="0">
              <a:latin typeface="Times New Roman" pitchFamily="18" charset="0"/>
              <a:cs typeface="Times New Roman" pitchFamily="18" charset="0"/>
            </a:rPr>
            <a:t>Интеллектуальная дорожная инфраструктура: Светофоры и дорожные знаки, способные "разговаривать" с автомобилями, передавая им информацию о своем состоянии и управляя потоком движения.  Это включает в себя интеллектуальные перекрестки, системы адаптивного управления движением, и электронные информационные табло.</a:t>
          </a:r>
          <a:endParaRPr lang="ru-RU" sz="13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83516" y="3214552"/>
        <a:ext cx="2731699" cy="2234098"/>
      </dsp:txXfrm>
    </dsp:sp>
    <dsp:sp modelId="{C301C1B7-ACF6-4207-A00D-CDF3FF63CFF3}">
      <dsp:nvSpPr>
        <dsp:cNvPr id="0" name=""/>
        <dsp:cNvSpPr/>
      </dsp:nvSpPr>
      <dsp:spPr>
        <a:xfrm>
          <a:off x="3088386" y="3231393"/>
          <a:ext cx="2731699" cy="220041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kern="1200" dirty="0" smtClean="0">
              <a:latin typeface="Times New Roman" pitchFamily="18" charset="0"/>
              <a:cs typeface="Times New Roman" pitchFamily="18" charset="0"/>
            </a:rPr>
            <a:t>Централизованная система управления и мониторинга:  Комплексная система для мониторинга дорожной обстановки, управления трафиком, реагирования на аварии и оказания помощи беспилотным автомобилям в сложных ситуациях.  Может включать в себя диспетчерские центры и операторов, готовых взять управление автомобилем на себя в экстренных случаях (удаленное управление).</a:t>
          </a:r>
          <a:endParaRPr lang="ru-RU" sz="13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3088386" y="3231393"/>
        <a:ext cx="2731699" cy="2200416"/>
      </dsp:txXfrm>
    </dsp:sp>
    <dsp:sp modelId="{F6EB917F-2862-4773-AD73-B5F32B0A5438}">
      <dsp:nvSpPr>
        <dsp:cNvPr id="0" name=""/>
        <dsp:cNvSpPr/>
      </dsp:nvSpPr>
      <dsp:spPr>
        <a:xfrm>
          <a:off x="6093255" y="3245251"/>
          <a:ext cx="2731699" cy="21727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kern="1200" dirty="0" smtClean="0">
              <a:latin typeface="Times New Roman" pitchFamily="18" charset="0"/>
              <a:cs typeface="Times New Roman" pitchFamily="18" charset="0"/>
            </a:rPr>
            <a:t>Инфраструктура зарядки (для электромобилей):  Сеть станций зарядки, доступных и удобных для беспилотных электромобилей.  Важна поддержка автоматической зарядки без участия человека.</a:t>
          </a:r>
          <a:endParaRPr lang="ru-RU" sz="13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6093255" y="3245251"/>
        <a:ext cx="2731699" cy="21727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A4FD46-5146-489F-8DAF-9CF4A1492356}">
      <dsp:nvSpPr>
        <dsp:cNvPr id="0" name=""/>
        <dsp:cNvSpPr/>
      </dsp:nvSpPr>
      <dsp:spPr>
        <a:xfrm>
          <a:off x="14490" y="2065"/>
          <a:ext cx="4663013" cy="27270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smtClean="0">
              <a:latin typeface="Times New Roman" pitchFamily="18" charset="0"/>
              <a:cs typeface="Times New Roman" pitchFamily="18" charset="0"/>
            </a:rPr>
            <a:t>Безопасность движения: Предотвращение ДТП, столкновений с пешеходами, велосипедистами и другими участниками дорожного движения.  Требует надежных алгоритмов принятия решений, дублирующих систем управления и резервирования критических функций.  Особое внимание уделяется безопасности в сложных погодных условиях и при неожиданных ситуациях.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14490" y="2065"/>
        <a:ext cx="4663013" cy="2727062"/>
      </dsp:txXfrm>
    </dsp:sp>
    <dsp:sp modelId="{0A7B73D3-5A15-45A7-AAB8-6D98E8E804A4}">
      <dsp:nvSpPr>
        <dsp:cNvPr id="0" name=""/>
        <dsp:cNvSpPr/>
      </dsp:nvSpPr>
      <dsp:spPr>
        <a:xfrm>
          <a:off x="4998522" y="13420"/>
          <a:ext cx="3895459" cy="27043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Кибербезопасность:  Защита от взлома и несанкционированного управления автомобилем.  Требует надежной системы защиты от кибератак и постоянного мониторинга за уязвимостями.</a:t>
          </a:r>
        </a:p>
      </dsp:txBody>
      <dsp:txXfrm>
        <a:off x="4998522" y="13420"/>
        <a:ext cx="3895459" cy="2704353"/>
      </dsp:txXfrm>
    </dsp:sp>
    <dsp:sp modelId="{7B4B4668-EE73-452A-A80E-E593109B9C32}">
      <dsp:nvSpPr>
        <dsp:cNvPr id="0" name=""/>
        <dsp:cNvSpPr/>
      </dsp:nvSpPr>
      <dsp:spPr>
        <a:xfrm>
          <a:off x="1083545" y="3053825"/>
          <a:ext cx="3210181" cy="23905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Безопасность данных: Защита конфиденциальности данных, собираемых автомобилями (местоположение, маршруты, предпочтения водителей).</a:t>
          </a:r>
        </a:p>
      </dsp:txBody>
      <dsp:txXfrm>
        <a:off x="1083545" y="3053825"/>
        <a:ext cx="3210181" cy="2390571"/>
      </dsp:txXfrm>
    </dsp:sp>
    <dsp:sp modelId="{DECEBCBA-72B9-423F-8040-33B0868F7742}">
      <dsp:nvSpPr>
        <dsp:cNvPr id="0" name=""/>
        <dsp:cNvSpPr/>
      </dsp:nvSpPr>
      <dsp:spPr>
        <a:xfrm>
          <a:off x="4614745" y="3050146"/>
          <a:ext cx="3210181" cy="23979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Отказоустойчивость: Система должна уметь безопасно останавливать автомобиль в случае отказа какого-либо компонента.</a:t>
          </a:r>
        </a:p>
      </dsp:txBody>
      <dsp:txXfrm>
        <a:off x="4614745" y="3050146"/>
        <a:ext cx="3210181" cy="239792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A4FD46-5146-489F-8DAF-9CF4A1492356}">
      <dsp:nvSpPr>
        <dsp:cNvPr id="0" name=""/>
        <dsp:cNvSpPr/>
      </dsp:nvSpPr>
      <dsp:spPr>
        <a:xfrm>
          <a:off x="1824" y="206238"/>
          <a:ext cx="5067394" cy="25956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smtClean="0">
              <a:latin typeface="Times New Roman" pitchFamily="18" charset="0"/>
              <a:cs typeface="Times New Roman" pitchFamily="18" charset="0"/>
            </a:rPr>
            <a:t>Доступность системы: Обеспечение непрерывной работы системы, даже в случае сбоев отдельных компонентов. Требует резервирования критических элементов, автоматического переключения на резервные системы и быстрого восстановления после сбоев.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1824" y="206238"/>
        <a:ext cx="5067394" cy="2595664"/>
      </dsp:txXfrm>
    </dsp:sp>
    <dsp:sp modelId="{D29C7FD1-BCC1-40D4-AE4E-44A82F887F8B}">
      <dsp:nvSpPr>
        <dsp:cNvPr id="0" name=""/>
        <dsp:cNvSpPr/>
      </dsp:nvSpPr>
      <dsp:spPr>
        <a:xfrm>
          <a:off x="5418075" y="206238"/>
          <a:ext cx="3488571" cy="25956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Надежность компонентов: Использование высококачественных компонентов и материалов, прошедших строгий контроль качества. Особенно важно для сенсоров, которые должны работать в различных погодных условиях.</a:t>
          </a:r>
        </a:p>
      </dsp:txBody>
      <dsp:txXfrm>
        <a:off x="5418075" y="206238"/>
        <a:ext cx="3488571" cy="2595664"/>
      </dsp:txXfrm>
    </dsp:sp>
    <dsp:sp modelId="{61A45A34-AF91-4CE7-9057-E1966E647849}">
      <dsp:nvSpPr>
        <dsp:cNvPr id="0" name=""/>
        <dsp:cNvSpPr/>
      </dsp:nvSpPr>
      <dsp:spPr>
        <a:xfrm>
          <a:off x="213005" y="3150759"/>
          <a:ext cx="4322898" cy="20931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Надежные протоколы связи и обмена данными: Обеспечение надежной передачи данных между автомобилями, инфраструктурой и централизованной системой управления.</a:t>
          </a:r>
        </a:p>
      </dsp:txBody>
      <dsp:txXfrm>
        <a:off x="213005" y="3150759"/>
        <a:ext cx="4322898" cy="2093142"/>
      </dsp:txXfrm>
    </dsp:sp>
    <dsp:sp modelId="{54D64BAB-E181-4FBB-BD3A-1BA4366D6C7C}">
      <dsp:nvSpPr>
        <dsp:cNvPr id="0" name=""/>
        <dsp:cNvSpPr/>
      </dsp:nvSpPr>
      <dsp:spPr>
        <a:xfrm>
          <a:off x="4884760" y="3150759"/>
          <a:ext cx="3810706" cy="20931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Самодиагностика и мониторинг: Система должна автоматически обнаруживать и сообщать о неисправностях, позволяя оперативно принимать меры по их устранению.</a:t>
          </a:r>
        </a:p>
      </dsp:txBody>
      <dsp:txXfrm>
        <a:off x="4884760" y="3150759"/>
        <a:ext cx="3810706" cy="209314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A4FD46-5146-489F-8DAF-9CF4A1492356}">
      <dsp:nvSpPr>
        <dsp:cNvPr id="0" name=""/>
        <dsp:cNvSpPr/>
      </dsp:nvSpPr>
      <dsp:spPr>
        <a:xfrm>
          <a:off x="1373993" y="190253"/>
          <a:ext cx="6160485" cy="21008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smtClean="0">
              <a:latin typeface="Times New Roman" pitchFamily="18" charset="0"/>
              <a:cs typeface="Times New Roman" pitchFamily="18" charset="0"/>
            </a:rPr>
            <a:t>Увеличение количества беспилотных автомобилей:  Система должна быть способна поддерживать растущий парк беспилотных автомобилей, без снижения производительности и безопасности.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1373993" y="190253"/>
        <a:ext cx="6160485" cy="2100868"/>
      </dsp:txXfrm>
    </dsp:sp>
    <dsp:sp modelId="{C20A552D-DFBA-4588-804F-3804FDE94DBD}">
      <dsp:nvSpPr>
        <dsp:cNvPr id="0" name=""/>
        <dsp:cNvSpPr/>
      </dsp:nvSpPr>
      <dsp:spPr>
        <a:xfrm>
          <a:off x="1087" y="2715231"/>
          <a:ext cx="4241093" cy="25446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Расширение географии покрытия: Система должна быть легко расширяемой для покрытия новых дорог и городов.</a:t>
          </a:r>
        </a:p>
      </dsp:txBody>
      <dsp:txXfrm>
        <a:off x="1087" y="2715231"/>
        <a:ext cx="4241093" cy="2544656"/>
      </dsp:txXfrm>
    </dsp:sp>
    <dsp:sp modelId="{FE6AB54B-DB3A-4799-8C80-80823FA01B17}">
      <dsp:nvSpPr>
        <dsp:cNvPr id="0" name=""/>
        <dsp:cNvSpPr/>
      </dsp:nvSpPr>
      <dsp:spPr>
        <a:xfrm>
          <a:off x="4666290" y="2715231"/>
          <a:ext cx="4241093" cy="25446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Поддержка различных уровней автоматизации: Система должна быть совместима с автомобилями различных уровней автономности, от частичной до полной.</a:t>
          </a:r>
        </a:p>
      </dsp:txBody>
      <dsp:txXfrm>
        <a:off x="4666290" y="2715231"/>
        <a:ext cx="4241093" cy="254465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A4FD46-5146-489F-8DAF-9CF4A1492356}">
      <dsp:nvSpPr>
        <dsp:cNvPr id="0" name=""/>
        <dsp:cNvSpPr/>
      </dsp:nvSpPr>
      <dsp:spPr>
        <a:xfrm>
          <a:off x="1373993" y="190253"/>
          <a:ext cx="6160485" cy="21008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smtClean="0">
              <a:latin typeface="Times New Roman" pitchFamily="18" charset="0"/>
              <a:cs typeface="Times New Roman" pitchFamily="18" charset="0"/>
            </a:rPr>
            <a:t>Интеграция с существующими дорогами и транспортными системами:  Беспилотные автомобили должны уметь безопасно и эффективно двигаться по существующим дорогам, взаимодействовать с обычными автомобилями и участниками дорожного движения.  Важна адаптация дорожной инфраструктуры к потребностям беспилотных автомобилей.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1373993" y="190253"/>
        <a:ext cx="6160485" cy="2100868"/>
      </dsp:txXfrm>
    </dsp:sp>
    <dsp:sp modelId="{F2DA947D-5DF2-40D8-B43B-1EF73DE53A14}">
      <dsp:nvSpPr>
        <dsp:cNvPr id="0" name=""/>
        <dsp:cNvSpPr/>
      </dsp:nvSpPr>
      <dsp:spPr>
        <a:xfrm>
          <a:off x="1087" y="2715231"/>
          <a:ext cx="4241093" cy="25446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Интеграция с городскими сервисами:  Беспилотные автомобили могут быть интегрированы с различными городскими сервисами, такими как службы доставки, такси, общественный транспорт и экстренные службы.</a:t>
          </a:r>
        </a:p>
      </dsp:txBody>
      <dsp:txXfrm>
        <a:off x="1087" y="2715231"/>
        <a:ext cx="4241093" cy="2544656"/>
      </dsp:txXfrm>
    </dsp:sp>
    <dsp:sp modelId="{B0FB992F-ACB8-4C9F-823F-480C49153EA5}">
      <dsp:nvSpPr>
        <dsp:cNvPr id="0" name=""/>
        <dsp:cNvSpPr/>
      </dsp:nvSpPr>
      <dsp:spPr>
        <a:xfrm>
          <a:off x="4666290" y="2715231"/>
          <a:ext cx="4241093" cy="25446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Интеграция с энергетической инфраструктурой (для электромобилей).</a:t>
          </a:r>
        </a:p>
      </dsp:txBody>
      <dsp:txXfrm>
        <a:off x="4666290" y="2715231"/>
        <a:ext cx="4241093" cy="254465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A4FD46-5146-489F-8DAF-9CF4A1492356}">
      <dsp:nvSpPr>
        <dsp:cNvPr id="0" name=""/>
        <dsp:cNvSpPr/>
      </dsp:nvSpPr>
      <dsp:spPr>
        <a:xfrm>
          <a:off x="1824" y="640021"/>
          <a:ext cx="5067394" cy="17280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Сбор, хранение и обработка огромных объемов данных, генерируемых автомобилями и инфраструктурой.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1824" y="640021"/>
        <a:ext cx="5067394" cy="1728098"/>
      </dsp:txXfrm>
    </dsp:sp>
    <dsp:sp modelId="{AC3CA5D7-5950-48DB-BF2F-04F9F41CF66E}">
      <dsp:nvSpPr>
        <dsp:cNvPr id="0" name=""/>
        <dsp:cNvSpPr/>
      </dsp:nvSpPr>
      <dsp:spPr>
        <a:xfrm>
          <a:off x="5418075" y="457498"/>
          <a:ext cx="3488571" cy="20931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Анализ данных для оптимизации трафика, повышения безопасности и улучшения качества обслуживания.</a:t>
          </a:r>
        </a:p>
      </dsp:txBody>
      <dsp:txXfrm>
        <a:off x="5418075" y="457498"/>
        <a:ext cx="3488571" cy="2093142"/>
      </dsp:txXfrm>
    </dsp:sp>
    <dsp:sp modelId="{05720FFF-A37E-472C-B1A7-0B2A532112CE}">
      <dsp:nvSpPr>
        <dsp:cNvPr id="0" name=""/>
        <dsp:cNvSpPr/>
      </dsp:nvSpPr>
      <dsp:spPr>
        <a:xfrm>
          <a:off x="791235" y="2899499"/>
          <a:ext cx="3488571" cy="20931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Разработка аналитических инструментов для прогнозирования, поиска закономерностей и выявления аномалий.</a:t>
          </a:r>
        </a:p>
      </dsp:txBody>
      <dsp:txXfrm>
        <a:off x="791235" y="2899499"/>
        <a:ext cx="3488571" cy="2093142"/>
      </dsp:txXfrm>
    </dsp:sp>
    <dsp:sp modelId="{4889E5DA-A9A7-4AD6-A771-1157C4D98ABF}">
      <dsp:nvSpPr>
        <dsp:cNvPr id="0" name=""/>
        <dsp:cNvSpPr/>
      </dsp:nvSpPr>
      <dsp:spPr>
        <a:xfrm>
          <a:off x="4628664" y="2899499"/>
          <a:ext cx="3488571" cy="20931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Машинное обучение и искусственный интеллект для автоматизации процессов управления и принятия решений.  Например, прогнозирование дорожной обстановки, оптимизация маршрутов, обнаружение опасных ситуаций.</a:t>
          </a:r>
        </a:p>
      </dsp:txBody>
      <dsp:txXfrm>
        <a:off x="4628664" y="2899499"/>
        <a:ext cx="3488571" cy="209314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A4FD46-5146-489F-8DAF-9CF4A1492356}">
      <dsp:nvSpPr>
        <dsp:cNvPr id="0" name=""/>
        <dsp:cNvSpPr/>
      </dsp:nvSpPr>
      <dsp:spPr>
        <a:xfrm>
          <a:off x="1824" y="640021"/>
          <a:ext cx="5067394" cy="17280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smtClean="0">
              <a:latin typeface="Times New Roman" pitchFamily="18" charset="0"/>
              <a:cs typeface="Times New Roman" pitchFamily="18" charset="0"/>
            </a:rPr>
            <a:t>Определение ответственности за ДТП с участием беспилотных автомобилей.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1824" y="640021"/>
        <a:ext cx="5067394" cy="1728098"/>
      </dsp:txXfrm>
    </dsp:sp>
    <dsp:sp modelId="{1D707CF0-A0C0-48DE-9B7E-5513B9298B67}">
      <dsp:nvSpPr>
        <dsp:cNvPr id="0" name=""/>
        <dsp:cNvSpPr/>
      </dsp:nvSpPr>
      <dsp:spPr>
        <a:xfrm>
          <a:off x="5418075" y="457498"/>
          <a:ext cx="3488571" cy="20931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Регулирование использования данных, собираемых автомобилями.</a:t>
          </a:r>
        </a:p>
      </dsp:txBody>
      <dsp:txXfrm>
        <a:off x="5418075" y="457498"/>
        <a:ext cx="3488571" cy="2093142"/>
      </dsp:txXfrm>
    </dsp:sp>
    <dsp:sp modelId="{93CF48BB-FB23-461F-AB9C-E6C030BED58B}">
      <dsp:nvSpPr>
        <dsp:cNvPr id="0" name=""/>
        <dsp:cNvSpPr/>
      </dsp:nvSpPr>
      <dsp:spPr>
        <a:xfrm>
          <a:off x="791235" y="2899499"/>
          <a:ext cx="3488571" cy="20931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Обеспечение безопасности и конфиденциальности личных данных.</a:t>
          </a:r>
        </a:p>
      </dsp:txBody>
      <dsp:txXfrm>
        <a:off x="791235" y="2899499"/>
        <a:ext cx="3488571" cy="2093142"/>
      </dsp:txXfrm>
    </dsp:sp>
    <dsp:sp modelId="{D91BDDDB-FAB1-470B-800D-A793949D81FE}">
      <dsp:nvSpPr>
        <dsp:cNvPr id="0" name=""/>
        <dsp:cNvSpPr/>
      </dsp:nvSpPr>
      <dsp:spPr>
        <a:xfrm>
          <a:off x="4628664" y="2899499"/>
          <a:ext cx="3488571" cy="20931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Решение этических дилемм, возникающих в процессе принятия решений беспилотным автомобилем в сложных ситуациях.</a:t>
          </a:r>
        </a:p>
      </dsp:txBody>
      <dsp:txXfrm>
        <a:off x="4628664" y="2899499"/>
        <a:ext cx="3488571" cy="20931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C9240-0B00-47F5-8315-EA25A5DD21D4}" type="datetimeFigureOut">
              <a:rPr lang="ru-RU" smtClean="0"/>
              <a:t>27.06.2026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969A-3B85-41F0-B329-9B9FD4728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82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5012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56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936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/>
              <a:t>6/27/2026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02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/>
              <a:t>6/27/2026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="" xmlns:a16="http://schemas.microsoft.com/office/drawing/2014/main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055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/>
              <a:t>6/27/2026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44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/>
              <a:t>6/27/2026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="" xmlns:a16="http://schemas.microsoft.com/office/drawing/2014/main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002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/>
              <a:t>6/27/2026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504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/>
              <a:t>6/27/2026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19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67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332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145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056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986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746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10" name="Номер слайда 5">
            <a:extLst>
              <a:ext uri="{FF2B5EF4-FFF2-40B4-BE49-F238E27FC236}">
                <a16:creationId xmlns="" xmlns:a16="http://schemas.microsoft.com/office/drawing/2014/main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417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583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омер слайда 5">
            <a:extLst>
              <a:ext uri="{FF2B5EF4-FFF2-40B4-BE49-F238E27FC236}">
                <a16:creationId xmlns="" xmlns:a16="http://schemas.microsoft.com/office/drawing/2014/main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0310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5698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881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1906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868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88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2057399"/>
            <a:ext cx="6858000" cy="2708565"/>
          </a:xfrm>
        </p:spPr>
        <p:txBody>
          <a:bodyPr/>
          <a:lstStyle/>
          <a:p>
            <a:pPr algn="l"/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ДИСЦИЛИНА 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Наземная инфраструктура как сложная техническая система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ИНСТИТУТ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ИПТИП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КАФЕДРА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индустриального программирования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ВИД УЧЕБНОГО МАТЕРИАЛА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Лекция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ПРЕПОДАВАТЕЛЬ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Ризаева Юлия Николаевна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СЕМЕСТР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3,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2026-2027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уч. г.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dirty="0">
                <a:latin typeface="Times New Roman" pitchFamily="18" charset="0"/>
                <a:cs typeface="Times New Roman" pitchFamily="18" charset="0"/>
              </a:rPr>
            </a:b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041237" y="855231"/>
            <a:ext cx="5562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Титульный лист материалов по дисциплине</a:t>
            </a:r>
            <a:b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263996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="" xmlns:a16="http://schemas.microsoft.com/office/drawing/2014/main" id="{4C6D146A-8A1D-466F-95B0-D4B5B952F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2055" y="2305553"/>
            <a:ext cx="7372350" cy="1452563"/>
          </a:xfrm>
        </p:spPr>
        <p:txBody>
          <a:bodyPr/>
          <a:lstStyle/>
          <a:p>
            <a:r>
              <a:rPr lang="ru-RU" sz="4400" b="0" dirty="0">
                <a:latin typeface="Times New Roman" pitchFamily="18" charset="0"/>
                <a:cs typeface="Times New Roman" pitchFamily="18" charset="0"/>
              </a:rPr>
              <a:t>Сложная техническая система </a:t>
            </a:r>
          </a:p>
        </p:txBody>
      </p:sp>
      <p:sp>
        <p:nvSpPr>
          <p:cNvPr id="11" name="Подзаголовок 10">
            <a:extLst>
              <a:ext uri="{FF2B5EF4-FFF2-40B4-BE49-F238E27FC236}">
                <a16:creationId xmlns="" xmlns:a16="http://schemas.microsoft.com/office/drawing/2014/main" id="{C1B65F80-40E4-4163-81DA-43F424C0AE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Лекция 1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A172C6BE-6279-1472-C916-7648D9F1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087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528128"/>
            <a:ext cx="7886700" cy="1325563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План лекции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730250" y="1747889"/>
            <a:ext cx="7886700" cy="3653219"/>
          </a:xfrm>
        </p:spPr>
        <p:txBody>
          <a:bodyPr/>
          <a:lstStyle/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dirty="0">
                <a:latin typeface="Times New Roman"/>
                <a:ea typeface="Times New Roman"/>
              </a:rPr>
              <a:t>Определение </a:t>
            </a:r>
            <a:r>
              <a:rPr lang="ru-RU" dirty="0" smtClean="0">
                <a:latin typeface="Times New Roman"/>
                <a:ea typeface="Times New Roman"/>
              </a:rPr>
              <a:t>сложной </a:t>
            </a:r>
            <a:r>
              <a:rPr lang="ru-RU" dirty="0">
                <a:latin typeface="Times New Roman"/>
                <a:ea typeface="Times New Roman"/>
              </a:rPr>
              <a:t>технической </a:t>
            </a:r>
            <a:r>
              <a:rPr lang="ru-RU" dirty="0" smtClean="0">
                <a:latin typeface="Times New Roman"/>
                <a:ea typeface="Times New Roman"/>
              </a:rPr>
              <a:t>системы (СТС)</a:t>
            </a: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dirty="0" smtClean="0">
                <a:latin typeface="Times New Roman"/>
                <a:ea typeface="Times New Roman"/>
              </a:rPr>
              <a:t>Признаки </a:t>
            </a:r>
            <a:r>
              <a:rPr lang="ru-RU" dirty="0">
                <a:latin typeface="Times New Roman"/>
                <a:ea typeface="Times New Roman"/>
              </a:rPr>
              <a:t>сложной технической </a:t>
            </a:r>
            <a:r>
              <a:rPr lang="ru-RU" dirty="0" smtClean="0">
                <a:latin typeface="Times New Roman"/>
                <a:ea typeface="Times New Roman"/>
              </a:rPr>
              <a:t>системы</a:t>
            </a: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dirty="0">
                <a:latin typeface="Times New Roman"/>
                <a:ea typeface="Times New Roman"/>
              </a:rPr>
              <a:t>Примеры сложных технических </a:t>
            </a:r>
            <a:r>
              <a:rPr lang="ru-RU" dirty="0" smtClean="0">
                <a:latin typeface="Times New Roman"/>
                <a:ea typeface="Times New Roman"/>
              </a:rPr>
              <a:t>систем</a:t>
            </a: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dirty="0">
                <a:latin typeface="Times New Roman"/>
                <a:ea typeface="Times New Roman"/>
              </a:rPr>
              <a:t>Сложности управления </a:t>
            </a:r>
            <a:r>
              <a:rPr lang="ru-RU" dirty="0" smtClean="0">
                <a:latin typeface="Times New Roman"/>
                <a:ea typeface="Times New Roman"/>
              </a:rPr>
              <a:t>СТС</a:t>
            </a: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dirty="0">
                <a:latin typeface="Times New Roman"/>
                <a:ea typeface="Times New Roman"/>
              </a:rPr>
              <a:t>Методы управления сложными техническими </a:t>
            </a:r>
            <a:r>
              <a:rPr lang="ru-RU" dirty="0" smtClean="0">
                <a:latin typeface="Times New Roman"/>
                <a:ea typeface="Times New Roman"/>
              </a:rPr>
              <a:t>системами</a:t>
            </a: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mtClean="0">
                <a:latin typeface="Times New Roman"/>
                <a:ea typeface="Times New Roman"/>
              </a:rPr>
              <a:t>Наземная </a:t>
            </a:r>
            <a:r>
              <a:rPr lang="ru-RU" dirty="0">
                <a:latin typeface="Times New Roman"/>
                <a:ea typeface="Times New Roman"/>
              </a:rPr>
              <a:t>инфраструктура как сложная техническая система.</a:t>
            </a:r>
            <a:endParaRPr lang="ru-RU" dirty="0">
              <a:latin typeface="Times New Roman"/>
              <a:ea typeface="Times New Roman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0065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528128"/>
            <a:ext cx="7886700" cy="1325563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1. Определение 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сложной технической системы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730250" y="1747889"/>
            <a:ext cx="7886700" cy="3653219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solidFill>
                  <a:srgbClr val="FF0000"/>
                </a:solidFill>
                <a:latin typeface="Times New Roman"/>
                <a:ea typeface="Times New Roman"/>
              </a:rPr>
              <a:t>Сложная техническая система (СТС) </a:t>
            </a:r>
            <a:r>
              <a:rPr lang="ru-RU" dirty="0">
                <a:latin typeface="Times New Roman"/>
                <a:ea typeface="Times New Roman"/>
              </a:rPr>
              <a:t>– это система, состоящая из большого числа взаимосвязанных элементов, компонентов и подсистем, функционирование которой характеризуется высокой степенью сложности, нелинейностью, динамичностью и часто непредсказуемостью поведения.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0091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55122" y="348019"/>
            <a:ext cx="7886700" cy="621799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Основные определения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92545" y="1149927"/>
            <a:ext cx="8427605" cy="3653219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dirty="0">
                <a:solidFill>
                  <a:srgbClr val="FF0000"/>
                </a:solidFill>
                <a:latin typeface="Times New Roman"/>
                <a:ea typeface="Times New Roman"/>
              </a:rPr>
              <a:t>Объект</a:t>
            </a:r>
            <a:r>
              <a:rPr lang="ru-RU" sz="2400" dirty="0">
                <a:latin typeface="Times New Roman"/>
                <a:ea typeface="Times New Roman"/>
              </a:rPr>
              <a:t> – то, что существует вне нас, не зависит от нашего сознания и выступает предметом познания или воздействия.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b="1" dirty="0" smtClean="0">
              <a:solidFill>
                <a:srgbClr val="FF0000"/>
              </a:solidFill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dirty="0" smtClean="0">
                <a:solidFill>
                  <a:srgbClr val="FF0000"/>
                </a:solidFill>
                <a:latin typeface="Times New Roman"/>
                <a:ea typeface="Times New Roman"/>
              </a:rPr>
              <a:t>Элемент </a:t>
            </a:r>
            <a:r>
              <a:rPr lang="ru-RU" sz="2400" b="1" dirty="0">
                <a:solidFill>
                  <a:srgbClr val="FF0000"/>
                </a:solidFill>
                <a:latin typeface="Times New Roman"/>
                <a:ea typeface="Times New Roman"/>
              </a:rPr>
              <a:t>(компонент) системы </a:t>
            </a:r>
            <a:r>
              <a:rPr lang="ru-RU" sz="2400" dirty="0">
                <a:latin typeface="Times New Roman"/>
                <a:ea typeface="Times New Roman"/>
              </a:rPr>
              <a:t>– материальный, </a:t>
            </a:r>
            <a:r>
              <a:rPr lang="ru-RU" sz="2400" dirty="0" smtClean="0">
                <a:latin typeface="Times New Roman"/>
                <a:ea typeface="Times New Roman"/>
              </a:rPr>
              <a:t>энергетический</a:t>
            </a:r>
            <a:r>
              <a:rPr lang="ru-RU" sz="2400" dirty="0">
                <a:latin typeface="Times New Roman"/>
                <a:ea typeface="Times New Roman"/>
              </a:rPr>
              <a:t>, информационный или другой объект, обладающий рядом важных для нас свойств, но внутреннее строение (содержание) </a:t>
            </a:r>
            <a:r>
              <a:rPr lang="ru-RU" sz="2400" dirty="0" smtClean="0">
                <a:latin typeface="Times New Roman"/>
                <a:ea typeface="Times New Roman"/>
              </a:rPr>
              <a:t>которого </a:t>
            </a:r>
            <a:r>
              <a:rPr lang="ru-RU" sz="2400" dirty="0">
                <a:latin typeface="Times New Roman"/>
                <a:ea typeface="Times New Roman"/>
              </a:rPr>
              <a:t>безотносительно к цели его рассмотрения. </a:t>
            </a:r>
            <a:endParaRPr lang="ru-RU" sz="2400" dirty="0" smtClean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b="1" dirty="0" smtClean="0">
              <a:solidFill>
                <a:srgbClr val="FF0000"/>
              </a:solidFill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dirty="0" smtClean="0">
                <a:solidFill>
                  <a:srgbClr val="FF0000"/>
                </a:solidFill>
                <a:latin typeface="Times New Roman"/>
                <a:ea typeface="Times New Roman"/>
              </a:rPr>
              <a:t>Элемент системы </a:t>
            </a:r>
            <a:r>
              <a:rPr lang="ru-RU" sz="2400" dirty="0">
                <a:latin typeface="Times New Roman"/>
                <a:ea typeface="Times New Roman"/>
              </a:rPr>
              <a:t>не подлежит дальнейшему расчленению, т.е. это предел </a:t>
            </a:r>
            <a:r>
              <a:rPr lang="ru-RU" sz="2400" dirty="0" smtClean="0">
                <a:latin typeface="Times New Roman"/>
                <a:ea typeface="Times New Roman"/>
              </a:rPr>
              <a:t>членения </a:t>
            </a:r>
            <a:r>
              <a:rPr lang="ru-RU" sz="2400" dirty="0">
                <a:latin typeface="Times New Roman"/>
                <a:ea typeface="Times New Roman"/>
              </a:rPr>
              <a:t>системы с точки зрения решения конкретной задачи и </a:t>
            </a:r>
            <a:r>
              <a:rPr lang="ru-RU" sz="2400" dirty="0" smtClean="0">
                <a:latin typeface="Times New Roman"/>
                <a:ea typeface="Times New Roman"/>
              </a:rPr>
              <a:t>поставленной </a:t>
            </a:r>
            <a:r>
              <a:rPr lang="ru-RU" sz="2400" dirty="0">
                <a:latin typeface="Times New Roman"/>
                <a:ea typeface="Times New Roman"/>
              </a:rPr>
              <a:t>цели. </a:t>
            </a:r>
            <a:r>
              <a:rPr lang="ru-RU" sz="2400" dirty="0" smtClean="0">
                <a:latin typeface="Times New Roman"/>
                <a:ea typeface="Times New Roman"/>
              </a:rPr>
              <a:t>Сложные </a:t>
            </a:r>
            <a:r>
              <a:rPr lang="ru-RU" sz="2400" dirty="0">
                <a:latin typeface="Times New Roman"/>
                <a:ea typeface="Times New Roman"/>
              </a:rPr>
              <a:t>элементы систем, в свою очередь состоящие из </a:t>
            </a:r>
            <a:r>
              <a:rPr lang="ru-RU" sz="2400" dirty="0" smtClean="0">
                <a:latin typeface="Times New Roman"/>
                <a:ea typeface="Times New Roman"/>
              </a:rPr>
              <a:t>более </a:t>
            </a:r>
            <a:r>
              <a:rPr lang="ru-RU" sz="2400" dirty="0">
                <a:latin typeface="Times New Roman"/>
                <a:ea typeface="Times New Roman"/>
              </a:rPr>
              <a:t>простых взаимосвязанных элементов, часто называют </a:t>
            </a:r>
            <a:r>
              <a:rPr lang="ru-RU" sz="2400" dirty="0" smtClean="0">
                <a:latin typeface="Times New Roman"/>
                <a:ea typeface="Times New Roman"/>
              </a:rPr>
              <a:t>подсистемами.</a:t>
            </a:r>
            <a:endParaRPr lang="ru-RU" sz="2400" dirty="0">
              <a:latin typeface="Times New Roman"/>
              <a:ea typeface="Times New Roman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8100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55122" y="348019"/>
            <a:ext cx="7886700" cy="621799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Основные определения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92545" y="983672"/>
            <a:ext cx="8427605" cy="4087091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dirty="0" smtClean="0">
                <a:solidFill>
                  <a:srgbClr val="FF0000"/>
                </a:solidFill>
                <a:latin typeface="Times New Roman"/>
                <a:ea typeface="Times New Roman"/>
              </a:rPr>
              <a:t>Связь </a:t>
            </a:r>
            <a:r>
              <a:rPr lang="ru-RU" sz="2400" b="1" dirty="0">
                <a:solidFill>
                  <a:srgbClr val="FF0000"/>
                </a:solidFill>
                <a:latin typeface="Times New Roman"/>
                <a:ea typeface="Times New Roman"/>
              </a:rPr>
              <a:t>(</a:t>
            </a:r>
            <a:r>
              <a:rPr lang="ru-RU" sz="2400" b="1" dirty="0" smtClean="0">
                <a:solidFill>
                  <a:srgbClr val="FF0000"/>
                </a:solidFill>
                <a:latin typeface="Times New Roman"/>
                <a:ea typeface="Times New Roman"/>
              </a:rPr>
              <a:t>отношение) </a:t>
            </a:r>
            <a:r>
              <a:rPr lang="ru-RU" sz="2400" dirty="0">
                <a:latin typeface="Times New Roman"/>
                <a:ea typeface="Times New Roman"/>
              </a:rPr>
              <a:t>назовем обмен между элементами </a:t>
            </a:r>
            <a:r>
              <a:rPr lang="ru-RU" sz="2400" dirty="0" smtClean="0">
                <a:latin typeface="Times New Roman"/>
                <a:ea typeface="Times New Roman"/>
              </a:rPr>
              <a:t>системы </a:t>
            </a:r>
            <a:r>
              <a:rPr lang="ru-RU" sz="2400" dirty="0">
                <a:latin typeface="Times New Roman"/>
                <a:ea typeface="Times New Roman"/>
              </a:rPr>
              <a:t>веществом, энергией, информацией. </a:t>
            </a:r>
            <a:endParaRPr lang="ru-RU" sz="2400" dirty="0" smtClean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1800" dirty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/>
                <a:ea typeface="Times New Roman"/>
              </a:rPr>
              <a:t>Единичным </a:t>
            </a:r>
            <a:r>
              <a:rPr lang="ru-RU" sz="2400" dirty="0">
                <a:latin typeface="Times New Roman"/>
                <a:ea typeface="Times New Roman"/>
              </a:rPr>
              <a:t>актом связи выступает </a:t>
            </a:r>
            <a:r>
              <a:rPr lang="ru-RU" sz="2400" b="1" dirty="0">
                <a:solidFill>
                  <a:srgbClr val="FF0000"/>
                </a:solidFill>
                <a:latin typeface="Times New Roman"/>
                <a:ea typeface="Times New Roman"/>
              </a:rPr>
              <a:t>воздействие.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1600" dirty="0" smtClean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/>
                <a:ea typeface="Times New Roman"/>
              </a:rPr>
              <a:t>Связь </a:t>
            </a:r>
            <a:r>
              <a:rPr lang="ru-RU" sz="2400" dirty="0">
                <a:latin typeface="Times New Roman"/>
                <a:ea typeface="Times New Roman"/>
              </a:rPr>
              <a:t>характеризуется </a:t>
            </a:r>
            <a:endParaRPr lang="ru-RU" sz="2400" dirty="0" smtClean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/>
                <a:ea typeface="Times New Roman"/>
              </a:rPr>
              <a:t>направлением </a:t>
            </a:r>
            <a:r>
              <a:rPr lang="ru-RU" sz="2400" dirty="0">
                <a:latin typeface="Times New Roman"/>
                <a:ea typeface="Times New Roman"/>
              </a:rPr>
              <a:t>(направленные и </a:t>
            </a:r>
            <a:r>
              <a:rPr lang="ru-RU" sz="2400" dirty="0" smtClean="0">
                <a:latin typeface="Times New Roman"/>
                <a:ea typeface="Times New Roman"/>
              </a:rPr>
              <a:t>ненаправленные</a:t>
            </a:r>
            <a:r>
              <a:rPr lang="ru-RU" sz="2400" dirty="0">
                <a:latin typeface="Times New Roman"/>
                <a:ea typeface="Times New Roman"/>
              </a:rPr>
              <a:t>), </a:t>
            </a:r>
            <a:endParaRPr lang="ru-RU" sz="2400" dirty="0" smtClean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/>
                <a:ea typeface="Times New Roman"/>
              </a:rPr>
              <a:t>силой </a:t>
            </a:r>
            <a:r>
              <a:rPr lang="ru-RU" sz="2400" dirty="0">
                <a:latin typeface="Times New Roman"/>
                <a:ea typeface="Times New Roman"/>
              </a:rPr>
              <a:t>(сильные и слабые), </a:t>
            </a:r>
            <a:endParaRPr lang="ru-RU" sz="2400" dirty="0" smtClean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/>
                <a:ea typeface="Times New Roman"/>
              </a:rPr>
              <a:t>характером </a:t>
            </a:r>
            <a:r>
              <a:rPr lang="ru-RU" sz="2400" dirty="0">
                <a:latin typeface="Times New Roman"/>
                <a:ea typeface="Times New Roman"/>
              </a:rPr>
              <a:t>(связи </a:t>
            </a:r>
            <a:r>
              <a:rPr lang="ru-RU" sz="2400" dirty="0" smtClean="0">
                <a:latin typeface="Times New Roman"/>
                <a:ea typeface="Times New Roman"/>
              </a:rPr>
              <a:t>подчинения</a:t>
            </a:r>
            <a:r>
              <a:rPr lang="ru-RU" sz="2400" dirty="0">
                <a:latin typeface="Times New Roman"/>
                <a:ea typeface="Times New Roman"/>
              </a:rPr>
              <a:t>, генетические, равноправные, связи управления), </a:t>
            </a:r>
            <a:endParaRPr lang="ru-RU" sz="2400" dirty="0" smtClean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/>
                <a:ea typeface="Times New Roman"/>
              </a:rPr>
              <a:t>местом </a:t>
            </a:r>
            <a:r>
              <a:rPr lang="ru-RU" sz="2400" dirty="0">
                <a:latin typeface="Times New Roman"/>
                <a:ea typeface="Times New Roman"/>
              </a:rPr>
              <a:t>приложения (внутренние и внешние</a:t>
            </a:r>
            <a:r>
              <a:rPr lang="ru-RU" sz="2400" dirty="0" smtClean="0">
                <a:latin typeface="Times New Roman"/>
                <a:ea typeface="Times New Roman"/>
              </a:rPr>
              <a:t>),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/>
                <a:ea typeface="Times New Roman"/>
              </a:rPr>
              <a:t>направленностью </a:t>
            </a:r>
            <a:r>
              <a:rPr lang="ru-RU" sz="2400" dirty="0">
                <a:latin typeface="Times New Roman"/>
                <a:ea typeface="Times New Roman"/>
              </a:rPr>
              <a:t>процессов в системе и ее частях (прямые и обратные).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1400" dirty="0" smtClean="0">
              <a:latin typeface="Times New Roman"/>
              <a:ea typeface="Times New Roman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460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55122" y="348019"/>
            <a:ext cx="7886700" cy="621799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Основные определения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92545" y="1149927"/>
            <a:ext cx="8427605" cy="5070764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solidFill>
                  <a:srgbClr val="FF0000"/>
                </a:solidFill>
                <a:latin typeface="Times New Roman"/>
                <a:ea typeface="Times New Roman"/>
              </a:rPr>
              <a:t>Система </a:t>
            </a:r>
            <a:r>
              <a:rPr lang="ru-RU" sz="2000" dirty="0" smtClean="0">
                <a:latin typeface="Times New Roman"/>
                <a:ea typeface="Times New Roman"/>
              </a:rPr>
              <a:t>- </a:t>
            </a:r>
            <a:r>
              <a:rPr lang="ru-RU" sz="2000" dirty="0">
                <a:latin typeface="Times New Roman"/>
                <a:ea typeface="Times New Roman"/>
              </a:rPr>
              <a:t>совокупность взаимосвязанных элементов, обособленная от среды и взаимодействующая с ней как единое целое для достижения заданной цели.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b="1" dirty="0" smtClean="0">
              <a:solidFill>
                <a:srgbClr val="FF0000"/>
              </a:solidFill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solidFill>
                  <a:srgbClr val="FF0000"/>
                </a:solidFill>
                <a:latin typeface="Times New Roman"/>
                <a:ea typeface="Times New Roman"/>
              </a:rPr>
              <a:t>Подсистема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>
                <a:latin typeface="Times New Roman"/>
                <a:ea typeface="Times New Roman"/>
              </a:rPr>
              <a:t>– часть системы, представляющая собой </a:t>
            </a:r>
            <a:r>
              <a:rPr lang="ru-RU" sz="2000" dirty="0" smtClean="0">
                <a:latin typeface="Times New Roman"/>
                <a:ea typeface="Times New Roman"/>
              </a:rPr>
              <a:t>совокупность </a:t>
            </a:r>
            <a:r>
              <a:rPr lang="ru-RU" sz="2000" dirty="0">
                <a:latin typeface="Times New Roman"/>
                <a:ea typeface="Times New Roman"/>
              </a:rPr>
              <a:t>некоторых ее элементов (компонентов) и </a:t>
            </a:r>
            <a:r>
              <a:rPr lang="ru-RU" sz="2000" dirty="0" smtClean="0">
                <a:latin typeface="Times New Roman"/>
                <a:ea typeface="Times New Roman"/>
              </a:rPr>
              <a:t>отличающаяся подчиненностью </a:t>
            </a:r>
            <a:r>
              <a:rPr lang="ru-RU" sz="2000" dirty="0">
                <a:latin typeface="Times New Roman"/>
                <a:ea typeface="Times New Roman"/>
              </a:rPr>
              <a:t>с точки зрения выполняемых функций. </a:t>
            </a:r>
            <a:endParaRPr lang="ru-RU" sz="2000" dirty="0" smtClean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 smtClean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/>
                <a:ea typeface="Times New Roman"/>
              </a:rPr>
              <a:t>Подсистемы </a:t>
            </a:r>
            <a:r>
              <a:rPr lang="ru-RU" sz="2000" dirty="0">
                <a:latin typeface="Times New Roman"/>
                <a:ea typeface="Times New Roman"/>
              </a:rPr>
              <a:t>выделяются по функциональным и (или) технологическим признакам. </a:t>
            </a:r>
            <a:endParaRPr lang="ru-RU" sz="2000" dirty="0" smtClean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/>
                <a:ea typeface="Times New Roman"/>
              </a:rPr>
              <a:t>Названием </a:t>
            </a:r>
            <a:r>
              <a:rPr lang="ru-RU" sz="2000" dirty="0">
                <a:latin typeface="Times New Roman"/>
                <a:ea typeface="Times New Roman"/>
              </a:rPr>
              <a:t>«подсистема» подчеркивается, что такая часть должна обладать свойствами системы (в частности, </a:t>
            </a:r>
            <a:r>
              <a:rPr lang="ru-RU" sz="2000" dirty="0" smtClean="0">
                <a:latin typeface="Times New Roman"/>
                <a:ea typeface="Times New Roman"/>
              </a:rPr>
              <a:t>свойством </a:t>
            </a:r>
            <a:r>
              <a:rPr lang="ru-RU" sz="2000" dirty="0">
                <a:latin typeface="Times New Roman"/>
                <a:ea typeface="Times New Roman"/>
              </a:rPr>
              <a:t>целостности).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b="1" dirty="0" smtClean="0">
              <a:solidFill>
                <a:srgbClr val="FF0000"/>
              </a:solidFill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solidFill>
                  <a:srgbClr val="FF0000"/>
                </a:solidFill>
                <a:latin typeface="Times New Roman"/>
                <a:ea typeface="Times New Roman"/>
              </a:rPr>
              <a:t>Среда </a:t>
            </a:r>
            <a:r>
              <a:rPr lang="ru-RU" sz="2000" dirty="0">
                <a:latin typeface="Times New Roman"/>
                <a:ea typeface="Times New Roman"/>
              </a:rPr>
              <a:t>– совокупность естественных и искусственных систем,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для которых данная система не является функциональной </a:t>
            </a:r>
            <a:r>
              <a:rPr lang="ru-RU" sz="2000" dirty="0" smtClean="0">
                <a:latin typeface="Times New Roman"/>
                <a:ea typeface="Times New Roman"/>
              </a:rPr>
              <a:t>подсистемой</a:t>
            </a:r>
            <a:r>
              <a:rPr lang="ru-RU" sz="2000" dirty="0">
                <a:latin typeface="Times New Roman"/>
                <a:ea typeface="Times New Roman"/>
              </a:rPr>
              <a:t>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7765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55122" y="348019"/>
            <a:ext cx="7886700" cy="621799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Основные определения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92545" y="969818"/>
            <a:ext cx="8427605" cy="415637"/>
          </a:xfrm>
        </p:spPr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dirty="0">
                <a:solidFill>
                  <a:srgbClr val="FF0000"/>
                </a:solidFill>
                <a:latin typeface="Times New Roman"/>
                <a:ea typeface="Times New Roman"/>
              </a:rPr>
              <a:t>Примеры целей систем</a:t>
            </a:r>
            <a:endParaRPr lang="ru-RU" sz="2400" dirty="0">
              <a:latin typeface="Times New Roman"/>
              <a:ea typeface="Times New Roman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8</a:t>
            </a:fld>
            <a:endParaRPr lang="ru-RU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788589"/>
              </p:ext>
            </p:extLst>
          </p:nvPr>
        </p:nvGraphicFramePr>
        <p:xfrm>
          <a:off x="221673" y="1510148"/>
          <a:ext cx="8714509" cy="4651091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940692"/>
                <a:gridCol w="5773817"/>
              </a:tblGrid>
              <a:tr h="519396"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b="0" spc="-1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Система</a:t>
                      </a:r>
                      <a:endParaRPr lang="ru-RU" sz="24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3175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Цель</a:t>
                      </a:r>
                      <a:r>
                        <a:rPr lang="ru-RU" sz="2400" b="0" spc="-2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spc="-1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системы</a:t>
                      </a:r>
                      <a:endParaRPr lang="ru-RU" sz="2400" b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</a:tr>
              <a:tr h="787692">
                <a:tc>
                  <a:txBody>
                    <a:bodyPr/>
                    <a:lstStyle/>
                    <a:p>
                      <a:pPr marL="180000" indent="180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b="0" spc="-2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Часы</a:t>
                      </a:r>
                      <a:endParaRPr lang="ru-RU" sz="24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0000" indent="180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Указание</a:t>
                      </a:r>
                      <a:r>
                        <a:rPr lang="ru-RU" sz="2400" b="0" spc="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текущего</a:t>
                      </a:r>
                      <a:r>
                        <a:rPr lang="ru-RU" sz="2400" b="0" spc="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значения</a:t>
                      </a:r>
                      <a:r>
                        <a:rPr lang="ru-RU" sz="2400" b="0" spc="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времени</a:t>
                      </a:r>
                      <a:r>
                        <a:rPr lang="ru-RU" sz="2400" b="0" spc="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</a:t>
                      </a:r>
                      <a:r>
                        <a:rPr lang="ru-RU" sz="2400" b="0" spc="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произвольный </a:t>
                      </a:r>
                      <a:r>
                        <a:rPr lang="ru-RU" sz="24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момент</a:t>
                      </a:r>
                      <a:endParaRPr lang="ru-RU" sz="24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</a:tr>
              <a:tr h="881928">
                <a:tc>
                  <a:txBody>
                    <a:bodyPr/>
                    <a:lstStyle/>
                    <a:p>
                      <a:pPr marL="180000" indent="180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b="0" spc="-1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Телевидение</a:t>
                      </a:r>
                      <a:endParaRPr lang="ru-RU" sz="24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0000" indent="180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Передача</a:t>
                      </a:r>
                      <a:r>
                        <a:rPr lang="ru-RU" sz="2400" b="0" spc="14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звуковой</a:t>
                      </a:r>
                      <a:r>
                        <a:rPr lang="ru-RU" sz="2400" b="0" spc="145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</a:t>
                      </a:r>
                      <a:r>
                        <a:rPr lang="ru-RU" sz="2400" b="0" spc="14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зрительной</a:t>
                      </a:r>
                      <a:r>
                        <a:rPr lang="ru-RU" sz="2400" b="0" spc="145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информации</a:t>
                      </a:r>
                      <a:r>
                        <a:rPr lang="ru-RU" sz="2400" b="0" spc="145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spc="-25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на </a:t>
                      </a:r>
                      <a:r>
                        <a:rPr lang="ru-RU" sz="2400" b="0" spc="-1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расстояние</a:t>
                      </a:r>
                      <a:endParaRPr lang="ru-RU" sz="24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</a:tr>
              <a:tr h="886691">
                <a:tc>
                  <a:txBody>
                    <a:bodyPr/>
                    <a:lstStyle/>
                    <a:p>
                      <a:pPr marL="180000" indent="180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Баллистическая</a:t>
                      </a:r>
                      <a:r>
                        <a:rPr lang="ru-RU" sz="2400" b="0" spc="-35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spc="-1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ракета</a:t>
                      </a:r>
                      <a:endParaRPr lang="ru-RU" sz="24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0000" indent="180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Доставка</a:t>
                      </a:r>
                      <a:r>
                        <a:rPr lang="ru-RU" sz="2400" b="0" spc="25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полезного</a:t>
                      </a:r>
                      <a:r>
                        <a:rPr lang="ru-RU" sz="2400" b="0" spc="265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груза</a:t>
                      </a:r>
                      <a:r>
                        <a:rPr lang="ru-RU" sz="2400" b="0" spc="255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</a:t>
                      </a:r>
                      <a:r>
                        <a:rPr lang="ru-RU" sz="2400" b="0" spc="255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заданную</a:t>
                      </a:r>
                      <a:r>
                        <a:rPr lang="ru-RU" sz="2400" b="0" spc="26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точку</a:t>
                      </a:r>
                      <a:r>
                        <a:rPr lang="ru-RU" sz="2400" b="0" spc="24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spc="-25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на </a:t>
                      </a:r>
                      <a:r>
                        <a:rPr lang="ru-RU" sz="240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поверхности</a:t>
                      </a:r>
                      <a:r>
                        <a:rPr lang="ru-RU" sz="2400" b="0" spc="-2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spc="-1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Земли</a:t>
                      </a:r>
                      <a:endParaRPr lang="ru-RU" sz="24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</a:tr>
              <a:tr h="787692">
                <a:tc>
                  <a:txBody>
                    <a:bodyPr/>
                    <a:lstStyle/>
                    <a:p>
                      <a:pPr marL="180000" indent="180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b="0" spc="-1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Ракета-носитель</a:t>
                      </a:r>
                      <a:endParaRPr lang="ru-RU" sz="2400" b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0000" indent="180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Доставка</a:t>
                      </a:r>
                      <a:r>
                        <a:rPr lang="ru-RU" sz="2400" b="0" spc="-3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космического</a:t>
                      </a:r>
                      <a:r>
                        <a:rPr lang="ru-RU" sz="2400" b="0" spc="-15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корабля</a:t>
                      </a:r>
                      <a:r>
                        <a:rPr lang="ru-RU" sz="2400" b="0" spc="-15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на</a:t>
                      </a:r>
                      <a:r>
                        <a:rPr lang="ru-RU" sz="2400" b="0" spc="-25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spc="-1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орбиту</a:t>
                      </a:r>
                      <a:endParaRPr lang="ru-RU" sz="24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</a:tr>
              <a:tr h="787692">
                <a:tc>
                  <a:txBody>
                    <a:bodyPr/>
                    <a:lstStyle/>
                    <a:p>
                      <a:pPr marL="180000" indent="180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b="0" spc="-1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Метро</a:t>
                      </a:r>
                      <a:endParaRPr lang="ru-RU" sz="2400" b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0000" indent="180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Перемещение</a:t>
                      </a:r>
                      <a:r>
                        <a:rPr lang="ru-RU" sz="2400" b="0" spc="-25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населения</a:t>
                      </a:r>
                      <a:r>
                        <a:rPr lang="ru-RU" sz="2400" b="0" spc="-15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внутри</a:t>
                      </a:r>
                      <a:r>
                        <a:rPr lang="ru-RU" sz="2400" b="0" spc="-15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большого</a:t>
                      </a:r>
                      <a:r>
                        <a:rPr lang="ru-RU" sz="2400" b="0" spc="-2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spc="-1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города</a:t>
                      </a:r>
                      <a:endParaRPr lang="ru-RU" sz="24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6626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55122" y="348019"/>
            <a:ext cx="7886700" cy="621799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Основные определения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92545" y="942108"/>
            <a:ext cx="8427605" cy="415637"/>
          </a:xfrm>
        </p:spPr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dirty="0" smtClean="0">
                <a:solidFill>
                  <a:srgbClr val="FF0000"/>
                </a:solidFill>
                <a:latin typeface="Times New Roman"/>
                <a:ea typeface="Times New Roman"/>
              </a:rPr>
              <a:t>Определения </a:t>
            </a:r>
            <a:r>
              <a:rPr lang="ru-RU" sz="2400" b="1" dirty="0">
                <a:solidFill>
                  <a:srgbClr val="FF0000"/>
                </a:solidFill>
                <a:latin typeface="Times New Roman"/>
                <a:ea typeface="Times New Roman"/>
              </a:rPr>
              <a:t>систем, </a:t>
            </a:r>
            <a:r>
              <a:rPr lang="ru-RU" sz="2400" b="1" dirty="0" smtClean="0">
                <a:solidFill>
                  <a:srgbClr val="FF0000"/>
                </a:solidFill>
                <a:latin typeface="Times New Roman"/>
                <a:ea typeface="Times New Roman"/>
              </a:rPr>
              <a:t>встречающиеся </a:t>
            </a:r>
            <a:r>
              <a:rPr lang="ru-RU" sz="2400" b="1" dirty="0">
                <a:solidFill>
                  <a:srgbClr val="FF0000"/>
                </a:solidFill>
                <a:latin typeface="Times New Roman"/>
                <a:ea typeface="Times New Roman"/>
              </a:rPr>
              <a:t>в </a:t>
            </a:r>
            <a:r>
              <a:rPr lang="ru-RU" sz="2400" b="1" dirty="0" smtClean="0">
                <a:solidFill>
                  <a:srgbClr val="FF0000"/>
                </a:solidFill>
                <a:latin typeface="Times New Roman"/>
                <a:ea typeface="Times New Roman"/>
              </a:rPr>
              <a:t>литературе</a:t>
            </a:r>
            <a:endParaRPr lang="ru-RU" sz="2400" dirty="0">
              <a:latin typeface="Times New Roman"/>
              <a:ea typeface="Times New Roman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9</a:t>
            </a:fld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540327" y="1643162"/>
            <a:ext cx="8174182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ГОСТ–12207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комплекс, состоящий из процессов,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технических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и программных средств, устройств и персонала, обладающий возможностью удовлетворять установленным потребностям или целям.</a:t>
            </a: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ISO–15288 -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комбинация взаимодействующих элементов,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организованная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для достижения одной или более объявленных целей.</a:t>
            </a: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ISO–15704 -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совокупность объектов реального мира,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организованная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для заданной цели.</a:t>
            </a: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Энциклопедический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словарь – система (от греч.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целое,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составленное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из частей; соединение)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множество элементов,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находящихся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 отношениях и связях друг с другом, образующих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определенную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целостность, единство.</a:t>
            </a:r>
          </a:p>
        </p:txBody>
      </p:sp>
    </p:spTree>
    <p:extLst>
      <p:ext uri="{BB962C8B-B14F-4D97-AF65-F5344CB8AC3E}">
        <p14:creationId xmlns:p14="http://schemas.microsoft.com/office/powerpoint/2010/main" val="3233383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55122" y="120810"/>
            <a:ext cx="7886700" cy="621799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Основные определения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92545" y="604060"/>
            <a:ext cx="8427605" cy="415637"/>
          </a:xfrm>
        </p:spPr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/>
                <a:ea typeface="Times New Roman"/>
              </a:rPr>
              <a:t>Основные характеристики системы 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10</a:t>
            </a:fld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110837" y="964272"/>
            <a:ext cx="4281054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Компоненты (элементы).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Это неделимая часть системы либо агрегат, состоящий из частей, называемый подсистемой.</a:t>
            </a:r>
          </a:p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Взаимодействия </a:t>
            </a:r>
            <a:r>
              <a:rPr lang="ru-RU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(отношения, связи).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Компоненты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взаимодействуют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между собой так, чтобы функционирование одного из них оказывало влияние на функционирование другого или других компонентов.</a:t>
            </a:r>
          </a:p>
          <a:p>
            <a:pPr algn="just"/>
            <a:r>
              <a:rPr lang="ru-RU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Граница.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Система имеет границу, внутри которой содержатся все ее компоненты. Она устанавливает пределы системы, отделяя ее от других систем.</a:t>
            </a:r>
          </a:p>
          <a:p>
            <a:pPr algn="just"/>
            <a:r>
              <a:rPr lang="ru-RU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Цель.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Системные компоненты работают вместе так, чтобы достичь цели существования системы.</a:t>
            </a:r>
          </a:p>
        </p:txBody>
      </p:sp>
      <p:pic>
        <p:nvPicPr>
          <p:cNvPr id="7" name="Image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94069" y="2576946"/>
            <a:ext cx="4649931" cy="2747818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5320005" y="1692625"/>
            <a:ext cx="2677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Характеристики системы</a:t>
            </a:r>
          </a:p>
        </p:txBody>
      </p:sp>
    </p:spTree>
    <p:extLst>
      <p:ext uri="{BB962C8B-B14F-4D97-AF65-F5344CB8AC3E}">
        <p14:creationId xmlns:p14="http://schemas.microsoft.com/office/powerpoint/2010/main" val="127981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55122" y="320309"/>
            <a:ext cx="7886700" cy="621799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Основные определения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92545" y="908870"/>
            <a:ext cx="8427605" cy="415637"/>
          </a:xfrm>
        </p:spPr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Основные характеристики системы 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11</a:t>
            </a:fld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21673" y="1324507"/>
            <a:ext cx="8598476" cy="4739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Внешняя (окружающая) среда.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Система оперирует внутри окружающей среды – всего, что находится за границей системы.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1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Окружающая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среда влияет на систему и подвергается влиянию со стороны системы. Например, окружающая среда университета включает будущих (потенциальных) студентов, работодателей, институциональные учреждения, службы занятости и др.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Университет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взаимодействует с абитуриентами и предприятиями –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пользователями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образовательных услуг.</a:t>
            </a:r>
          </a:p>
          <a:p>
            <a:pPr algn="just"/>
            <a:endParaRPr lang="ru-RU" sz="12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Вход</a:t>
            </a:r>
            <a:r>
              <a:rPr lang="ru-RU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Воздействия, которые получает система из окружающей среды,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называются входами.</a:t>
            </a:r>
          </a:p>
          <a:p>
            <a:pPr algn="just"/>
            <a:endParaRPr lang="ru-RU" sz="12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Выход</a:t>
            </a:r>
            <a:r>
              <a:rPr lang="ru-RU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Воздействия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которые система оказывает на окружающую среду.</a:t>
            </a:r>
          </a:p>
          <a:p>
            <a:pPr algn="just"/>
            <a:endParaRPr lang="ru-RU" sz="12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Интерфейс</a:t>
            </a:r>
            <a:r>
              <a:rPr lang="ru-RU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Это точка, в которой система взаимодействует со средой.</a:t>
            </a:r>
          </a:p>
          <a:p>
            <a:pPr algn="just"/>
            <a:endParaRPr lang="ru-RU" sz="14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Ограничения</a:t>
            </a:r>
            <a:r>
              <a:rPr lang="ru-RU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Система имеет ограничения функционирования. </a:t>
            </a:r>
          </a:p>
        </p:txBody>
      </p:sp>
    </p:spTree>
    <p:extLst>
      <p:ext uri="{BB962C8B-B14F-4D97-AF65-F5344CB8AC3E}">
        <p14:creationId xmlns:p14="http://schemas.microsoft.com/office/powerpoint/2010/main" val="1465087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55122" y="320309"/>
            <a:ext cx="7886700" cy="621799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Основные определения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92545" y="908870"/>
            <a:ext cx="8427605" cy="415637"/>
          </a:xfrm>
        </p:spPr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dirty="0">
                <a:latin typeface="Times New Roman"/>
                <a:ea typeface="Times New Roman"/>
              </a:rPr>
              <a:t>Примеры систем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12</a:t>
            </a:fld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90945" y="1324507"/>
            <a:ext cx="8529204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A. Ракета.</a:t>
            </a:r>
          </a:p>
          <a:p>
            <a:pPr lvl="0"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Ракета состоит из отсеков (головной, приборный, баковый, хвостовой и т.д.).</a:t>
            </a:r>
          </a:p>
          <a:p>
            <a:pPr lvl="0"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Между отсеками имеются связи (ракета не рассыпается, она является единым целым).</a:t>
            </a:r>
          </a:p>
          <a:p>
            <a:pPr lvl="0"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Связи определенным образом упорядочены и размещены в определенном порядке, следующем из решаемой ракетой задачи – цели.</a:t>
            </a:r>
          </a:p>
          <a:p>
            <a:pPr lvl="0"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Ракета имеет интегративные (суммарные) качества,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которыми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не обладает ни один из составляющих ее элементов.</a:t>
            </a: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Б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 Автомобиль.</a:t>
            </a: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 Шариковая ручка.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Г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 Ракетный комплекс.</a:t>
            </a:r>
          </a:p>
        </p:txBody>
      </p:sp>
    </p:spTree>
    <p:extLst>
      <p:ext uri="{BB962C8B-B14F-4D97-AF65-F5344CB8AC3E}">
        <p14:creationId xmlns:p14="http://schemas.microsoft.com/office/powerpoint/2010/main" val="1431068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55122" y="320309"/>
            <a:ext cx="7886700" cy="621799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Основные определения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13</a:t>
            </a:fld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90945" y="1324507"/>
            <a:ext cx="852920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Большая система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– система, включающая в себя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значительное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число однотипных элементов и однотипных связей.</a:t>
            </a:r>
          </a:p>
          <a:p>
            <a:pPr algn="just"/>
            <a:endParaRPr lang="ru-RU" sz="20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Сложная </a:t>
            </a:r>
            <a:r>
              <a:rPr lang="ru-RU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система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– система, состоящая из элементов разных типов и обладающая разнородными связями между ними.</a:t>
            </a: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Сложные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системы включают большое число элементов,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свойства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которых не могут быть предсказаны, опираясь на знания свойств отдельных частей системы и способы их соединения.</a:t>
            </a:r>
          </a:p>
        </p:txBody>
      </p:sp>
    </p:spTree>
    <p:extLst>
      <p:ext uri="{BB962C8B-B14F-4D97-AF65-F5344CB8AC3E}">
        <p14:creationId xmlns:p14="http://schemas.microsoft.com/office/powerpoint/2010/main" val="489852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167899"/>
            <a:ext cx="7886700" cy="538684"/>
          </a:xfrm>
        </p:spPr>
        <p:txBody>
          <a:bodyPr/>
          <a:lstStyle/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2. Признаки 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сложной технической системы</a:t>
            </a:r>
          </a:p>
        </p:txBody>
      </p:sp>
      <p:graphicFrame>
        <p:nvGraphicFramePr>
          <p:cNvPr id="3" name="Объект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1514468"/>
              </p:ext>
            </p:extLst>
          </p:nvPr>
        </p:nvGraphicFramePr>
        <p:xfrm>
          <a:off x="96982" y="1108363"/>
          <a:ext cx="8880763" cy="56131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8100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167898"/>
            <a:ext cx="7886700" cy="621811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Свойства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системы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15</a:t>
            </a:fld>
            <a:endParaRPr lang="ru-RU"/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2989958663"/>
              </p:ext>
            </p:extLst>
          </p:nvPr>
        </p:nvGraphicFramePr>
        <p:xfrm>
          <a:off x="110836" y="1136073"/>
          <a:ext cx="8880764" cy="54448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82726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167898"/>
            <a:ext cx="7886700" cy="621811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Организационно-технические системы и их классификация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87927" y="1842655"/>
            <a:ext cx="8432223" cy="4087090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dirty="0">
                <a:solidFill>
                  <a:srgbClr val="FF0000"/>
                </a:solidFill>
                <a:latin typeface="Times New Roman"/>
                <a:ea typeface="Times New Roman"/>
              </a:rPr>
              <a:t>Техническая система </a:t>
            </a:r>
            <a:r>
              <a:rPr lang="ru-RU" sz="2400" b="1" dirty="0">
                <a:latin typeface="Times New Roman"/>
                <a:ea typeface="Times New Roman"/>
              </a:rPr>
              <a:t>– </a:t>
            </a:r>
            <a:r>
              <a:rPr lang="ru-RU" sz="2400" dirty="0">
                <a:latin typeface="Times New Roman"/>
                <a:ea typeface="Times New Roman"/>
              </a:rPr>
              <a:t>совокупность элементов </a:t>
            </a:r>
            <a:r>
              <a:rPr lang="ru-RU" sz="2400" dirty="0" smtClean="0">
                <a:latin typeface="Times New Roman"/>
                <a:ea typeface="Times New Roman"/>
              </a:rPr>
              <a:t>искусственного </a:t>
            </a:r>
            <a:r>
              <a:rPr lang="ru-RU" sz="2400" dirty="0">
                <a:latin typeface="Times New Roman"/>
                <a:ea typeface="Times New Roman"/>
              </a:rPr>
              <a:t>происхождения, созданная для реализации заданной цели.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b="1" dirty="0" smtClean="0">
              <a:solidFill>
                <a:srgbClr val="FF0000"/>
              </a:solidFill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dirty="0" smtClean="0">
                <a:solidFill>
                  <a:srgbClr val="FF0000"/>
                </a:solidFill>
                <a:latin typeface="Times New Roman"/>
                <a:ea typeface="Times New Roman"/>
              </a:rPr>
              <a:t>Организационно-техническая </a:t>
            </a:r>
            <a:r>
              <a:rPr lang="ru-RU" sz="2400" b="1" dirty="0">
                <a:solidFill>
                  <a:srgbClr val="FF0000"/>
                </a:solidFill>
                <a:latin typeface="Times New Roman"/>
                <a:ea typeface="Times New Roman"/>
              </a:rPr>
              <a:t>система </a:t>
            </a:r>
            <a:r>
              <a:rPr lang="ru-RU" sz="2400" b="1" dirty="0">
                <a:latin typeface="Times New Roman"/>
                <a:ea typeface="Times New Roman"/>
              </a:rPr>
              <a:t>– </a:t>
            </a:r>
            <a:r>
              <a:rPr lang="ru-RU" sz="2400" dirty="0">
                <a:latin typeface="Times New Roman"/>
                <a:ea typeface="Times New Roman"/>
              </a:rPr>
              <a:t>техническая </a:t>
            </a:r>
            <a:r>
              <a:rPr lang="ru-RU" sz="2400" dirty="0" smtClean="0">
                <a:latin typeface="Times New Roman"/>
                <a:ea typeface="Times New Roman"/>
              </a:rPr>
              <a:t>система</a:t>
            </a:r>
            <a:r>
              <a:rPr lang="ru-RU" sz="2400" dirty="0">
                <a:latin typeface="Times New Roman"/>
                <a:ea typeface="Times New Roman"/>
              </a:rPr>
              <a:t>, управляемая людьми для достижения заданной цели.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 smtClean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/>
                <a:ea typeface="Times New Roman"/>
              </a:rPr>
              <a:t>Сложная </a:t>
            </a:r>
            <a:r>
              <a:rPr lang="ru-RU" sz="2400" dirty="0">
                <a:latin typeface="Times New Roman"/>
                <a:ea typeface="Times New Roman"/>
              </a:rPr>
              <a:t>организационно-техническая система отличается от обычной тем, что в ней имеется значительное число разнородных элементов и различных связей между ними.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3357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167898"/>
            <a:ext cx="7886700" cy="621811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Организационно-технические системы и их классификация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17</a:t>
            </a:fld>
            <a:endParaRPr lang="ru-RU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4707007"/>
              </p:ext>
            </p:extLst>
          </p:nvPr>
        </p:nvGraphicFramePr>
        <p:xfrm>
          <a:off x="249382" y="1648692"/>
          <a:ext cx="8437418" cy="4100944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3713018"/>
                <a:gridCol w="4724400"/>
              </a:tblGrid>
              <a:tr h="684041"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Характер</a:t>
                      </a:r>
                      <a:r>
                        <a:rPr lang="ru-RU" sz="2000" spc="225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взаимоотношений</a:t>
                      </a:r>
                      <a:r>
                        <a:rPr lang="ru-RU" sz="2000" spc="225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000" spc="-25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со </a:t>
                      </a:r>
                      <a:r>
                        <a:rPr lang="ru-RU" sz="2000" spc="-1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средой</a:t>
                      </a:r>
                      <a:endParaRPr lang="ru-RU" sz="3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Открытые</a:t>
                      </a:r>
                      <a:r>
                        <a:rPr lang="ru-RU" sz="2000" spc="-25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(непрерывный</a:t>
                      </a:r>
                      <a:r>
                        <a:rPr lang="ru-RU" sz="2000" spc="-15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000" spc="-1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обмен)</a:t>
                      </a:r>
                      <a:endParaRPr lang="ru-RU" sz="320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Закрытые</a:t>
                      </a:r>
                      <a:r>
                        <a:rPr lang="ru-RU" sz="2000" spc="-25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(слабая</a:t>
                      </a:r>
                      <a:r>
                        <a:rPr lang="ru-RU" sz="2000" spc="-1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связь)</a:t>
                      </a:r>
                      <a:endParaRPr lang="ru-RU" sz="3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</a:tr>
              <a:tr h="680738"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Причинная</a:t>
                      </a:r>
                      <a:r>
                        <a:rPr lang="ru-RU" sz="2000" spc="-1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000" spc="-1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обусловленность</a:t>
                      </a:r>
                      <a:endParaRPr lang="ru-RU" sz="3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spc="-1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Детерминированные</a:t>
                      </a:r>
                      <a:endParaRPr lang="ru-RU" sz="320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spc="-1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Стохастические</a:t>
                      </a:r>
                      <a:endParaRPr lang="ru-RU" sz="3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</a:tr>
              <a:tr h="1026062"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Степень</a:t>
                      </a:r>
                      <a:r>
                        <a:rPr lang="ru-RU" sz="2000" spc="-5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000" spc="-1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подчиненности</a:t>
                      </a:r>
                      <a:endParaRPr lang="ru-RU" sz="3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Простые (каждый с каждым) Иерархические</a:t>
                      </a:r>
                      <a:r>
                        <a:rPr lang="ru-RU" sz="2000" spc="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(существует</a:t>
                      </a:r>
                      <a:r>
                        <a:rPr lang="ru-RU" sz="2000" spc="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соподчи- </a:t>
                      </a:r>
                      <a:r>
                        <a:rPr lang="ru-RU" sz="2000" spc="-1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ненность)</a:t>
                      </a:r>
                      <a:endParaRPr lang="ru-RU" sz="3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</a:tr>
              <a:tr h="684041"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По</a:t>
                      </a:r>
                      <a:r>
                        <a:rPr lang="ru-RU" sz="2000" spc="-1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отношению</a:t>
                      </a:r>
                      <a:r>
                        <a:rPr lang="ru-RU" sz="2000" spc="-5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</a:t>
                      </a:r>
                      <a:r>
                        <a:rPr lang="ru-RU" sz="2000" spc="-5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000" spc="-1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времени</a:t>
                      </a:r>
                      <a:endParaRPr lang="ru-RU" sz="3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755015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spc="-1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Статические </a:t>
                      </a:r>
                      <a:endParaRPr lang="ru-RU" sz="2000" spc="-1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755015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spc="-1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Динамические</a:t>
                      </a:r>
                      <a:endParaRPr lang="ru-RU" sz="3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</a:tr>
              <a:tr h="1026062"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По</a:t>
                      </a:r>
                      <a:r>
                        <a:rPr lang="ru-RU" sz="2000" spc="-15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степени</a:t>
                      </a:r>
                      <a:r>
                        <a:rPr lang="ru-RU" sz="2000" spc="-5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000" spc="-1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сложности</a:t>
                      </a:r>
                      <a:endParaRPr lang="ru-RU" sz="3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Простые</a:t>
                      </a:r>
                      <a:r>
                        <a:rPr lang="ru-RU" sz="2000" spc="-2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(число</a:t>
                      </a:r>
                      <a:r>
                        <a:rPr lang="ru-RU" sz="2000" spc="-15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элементов</a:t>
                      </a:r>
                      <a:r>
                        <a:rPr lang="ru-RU" sz="2000" spc="-15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меньше</a:t>
                      </a:r>
                      <a:r>
                        <a:rPr lang="ru-RU" sz="2000" spc="-15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000" spc="-25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9)</a:t>
                      </a:r>
                      <a:endParaRPr lang="ru-RU" sz="32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1576705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spc="-1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Сложные</a:t>
                      </a:r>
                    </a:p>
                    <a:p>
                      <a:pPr marL="0" marR="1576705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spc="-1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000" spc="-1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Большие</a:t>
                      </a:r>
                      <a:endParaRPr lang="ru-RU" sz="3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1846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167898"/>
            <a:ext cx="7886700" cy="621811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Структура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системы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18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304800" y="1097156"/>
            <a:ext cx="851535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Структура системы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– состав, порядок и принципы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взаимодействия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элементов системы, определяющие ее основные свойства.</a:t>
            </a: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Структура системы характеризует ее внутреннее строение и описывают устойчивые связи между её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элементами.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Image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2545" y="3588327"/>
            <a:ext cx="5227493" cy="2163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865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167898"/>
            <a:ext cx="7886700" cy="621811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Примеры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структур системы и связей между элементами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19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304800" y="1374247"/>
            <a:ext cx="851535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Примеры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структур, используемых в АСУ, которые различаются типами элементов и связями между ними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5156837"/>
              </p:ext>
            </p:extLst>
          </p:nvPr>
        </p:nvGraphicFramePr>
        <p:xfrm>
          <a:off x="96982" y="2428528"/>
          <a:ext cx="8936182" cy="4292947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055989"/>
                <a:gridCol w="3625108"/>
                <a:gridCol w="3255085"/>
              </a:tblGrid>
              <a:tr h="290744"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Тип</a:t>
                      </a:r>
                      <a:r>
                        <a:rPr lang="ru-RU" sz="2000" b="0" spc="-25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000" b="0" spc="-1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структуры</a:t>
                      </a:r>
                      <a:endParaRPr lang="ru-RU" sz="2000" b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b="0" spc="-1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Элементы</a:t>
                      </a:r>
                      <a:endParaRPr lang="ru-RU" sz="2000" b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b="0" spc="-1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Связи</a:t>
                      </a:r>
                      <a:endParaRPr lang="ru-RU" sz="2000" b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293567"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b="0" spc="-1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Функциональная</a:t>
                      </a:r>
                      <a:endParaRPr lang="ru-RU" sz="2000" b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Функции,</a:t>
                      </a:r>
                      <a:r>
                        <a:rPr lang="ru-RU" sz="2000" b="0" spc="-2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задачи,</a:t>
                      </a:r>
                      <a:r>
                        <a:rPr lang="ru-RU" sz="2000" b="0" spc="-2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000" b="0" spc="-1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операции</a:t>
                      </a:r>
                      <a:endParaRPr lang="ru-RU" sz="2000" b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b="0" spc="-1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Информационные</a:t>
                      </a:r>
                      <a:endParaRPr lang="ru-RU" sz="2000" b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859394"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b="0" spc="-1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Техническая</a:t>
                      </a:r>
                      <a:endParaRPr lang="ru-RU" sz="2000" b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01040" algn="l"/>
                          <a:tab pos="1124585" algn="l"/>
                        </a:tabLst>
                      </a:pPr>
                      <a:r>
                        <a:rPr lang="ru-RU" sz="2000" b="0" spc="-1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Устройства</a:t>
                      </a: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	</a:t>
                      </a:r>
                      <a:r>
                        <a:rPr lang="ru-RU" sz="2000" b="0" spc="-10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ввода, хранения</a:t>
                      </a:r>
                      <a:r>
                        <a:rPr lang="ru-RU" sz="2000" b="0" spc="-1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</a:t>
                      </a:r>
                      <a:endParaRPr lang="ru-RU" sz="2000" b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b="0" spc="-20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обработки</a:t>
                      </a:r>
                      <a:r>
                        <a:rPr lang="ru-RU" sz="2000" b="0" spc="-35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000" b="0" spc="-2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информации</a:t>
                      </a:r>
                      <a:r>
                        <a:rPr lang="ru-RU" sz="2000" b="0" spc="-3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000" b="0" spc="-2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</a:t>
                      </a:r>
                      <a:r>
                        <a:rPr lang="ru-RU" sz="2000" b="0" spc="-45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000" b="0" spc="-2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другие</a:t>
                      </a:r>
                      <a:endParaRPr lang="ru-RU" sz="2000" b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b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Линии</a:t>
                      </a:r>
                      <a:r>
                        <a:rPr lang="ru-RU" sz="2000" b="0" spc="5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000" b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связи</a:t>
                      </a:r>
                      <a:r>
                        <a:rPr lang="ru-RU" sz="2000" b="0" spc="5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000" b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между</a:t>
                      </a:r>
                      <a:r>
                        <a:rPr lang="ru-RU" sz="2000" b="0" spc="6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000" b="0" spc="-1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устрой-</a:t>
                      </a:r>
                      <a:endParaRPr lang="ru-RU" sz="2000" b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b="0" spc="-1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ствами</a:t>
                      </a:r>
                      <a:endParaRPr lang="ru-RU" sz="2000" b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584311"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b="0" spc="-1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Организационная</a:t>
                      </a:r>
                      <a:endParaRPr lang="ru-RU" sz="2000" b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Коллективы</a:t>
                      </a:r>
                      <a:r>
                        <a:rPr lang="ru-RU" sz="2000" b="0" spc="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людей</a:t>
                      </a:r>
                      <a:r>
                        <a:rPr lang="ru-RU" sz="2000" b="0" spc="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</a:t>
                      </a:r>
                      <a:r>
                        <a:rPr lang="ru-RU" sz="2000" b="0" spc="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000" b="0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отдельные </a:t>
                      </a: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исполнители; связи</a:t>
                      </a:r>
                      <a:endParaRPr lang="ru-RU" sz="2000" b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b="0" spc="-1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Информационные,</a:t>
                      </a:r>
                      <a:r>
                        <a:rPr lang="ru-RU" sz="2000" b="0" spc="8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000" b="0" spc="-1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соподчи- </a:t>
                      </a:r>
                      <a:r>
                        <a:rPr lang="ru-RU" sz="2000" b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нения и взаимодействия</a:t>
                      </a:r>
                      <a:endParaRPr lang="ru-RU" sz="2000" b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289334"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b="0" spc="-1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Алгоритмическая</a:t>
                      </a:r>
                      <a:endParaRPr lang="ru-RU" sz="2000" b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b="0" spc="-1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Алгоритмы</a:t>
                      </a:r>
                      <a:endParaRPr lang="ru-RU" sz="2000" b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b="0" spc="-1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Информационные</a:t>
                      </a:r>
                      <a:endParaRPr lang="ru-RU" sz="2000" b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584311"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b="0" spc="-1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Программная</a:t>
                      </a:r>
                      <a:endParaRPr lang="ru-RU" sz="2000" b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Программные</a:t>
                      </a:r>
                      <a:r>
                        <a:rPr lang="ru-RU" sz="2000" b="0" spc="-25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000" b="0" spc="-1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модули</a:t>
                      </a:r>
                      <a:endParaRPr lang="ru-RU" sz="2000" b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b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Информационные</a:t>
                      </a:r>
                      <a:r>
                        <a:rPr lang="ru-RU" sz="2000" b="0" spc="15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000" b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</a:t>
                      </a:r>
                      <a:r>
                        <a:rPr lang="ru-RU" sz="2000" b="0" spc="15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000" b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управ- </a:t>
                      </a:r>
                      <a:r>
                        <a:rPr lang="ru-RU" sz="2000" b="0" spc="-1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ляющие</a:t>
                      </a:r>
                      <a:endParaRPr lang="ru-RU" sz="2000" b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1299953"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b="0" spc="-1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Информационная</a:t>
                      </a:r>
                      <a:endParaRPr lang="ru-RU" sz="2000" b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Формы существования и </a:t>
                      </a:r>
                      <a:r>
                        <a:rPr lang="ru-RU" sz="2000" b="0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представления </a:t>
                      </a: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информации в </a:t>
                      </a:r>
                      <a:r>
                        <a:rPr lang="ru-RU" sz="2000" b="0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системе</a:t>
                      </a:r>
                      <a:r>
                        <a:rPr lang="ru-RU" sz="2000" b="0" spc="215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(файлы,</a:t>
                      </a:r>
                      <a:r>
                        <a:rPr lang="ru-RU" sz="2000" b="0" spc="225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таблицы,</a:t>
                      </a:r>
                      <a:r>
                        <a:rPr lang="ru-RU" sz="2000" b="0" spc="225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000" b="0" spc="-10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масси</a:t>
                      </a:r>
                      <a:r>
                        <a:rPr lang="ru-RU" sz="2000" b="0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вы</a:t>
                      </a: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</a:t>
                      </a:r>
                      <a:r>
                        <a:rPr lang="ru-RU" sz="2000" b="0" spc="-5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базы</a:t>
                      </a:r>
                      <a:r>
                        <a:rPr lang="ru-RU" sz="2000" b="0" spc="-15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данных</a:t>
                      </a:r>
                      <a:r>
                        <a:rPr lang="ru-RU" sz="2000" b="0" spc="-1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</a:t>
                      </a:r>
                      <a:r>
                        <a:rPr lang="ru-RU" sz="2000" b="0" spc="-5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000" b="0" spc="-1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т.п.)</a:t>
                      </a:r>
                      <a:endParaRPr lang="ru-RU" sz="2000" b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Операции</a:t>
                      </a:r>
                      <a:r>
                        <a:rPr lang="ru-RU" sz="2000" b="0" spc="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преобразования </a:t>
                      </a:r>
                      <a:r>
                        <a:rPr lang="ru-RU" sz="2000" b="0" spc="-1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информации</a:t>
                      </a:r>
                      <a:endParaRPr lang="ru-RU" sz="2000" b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3748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81821"/>
            <a:ext cx="7886700" cy="427847"/>
          </a:xfrm>
        </p:spPr>
        <p:txBody>
          <a:bodyPr/>
          <a:lstStyle/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Наземная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инфраструктура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сложная техническая система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20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933450" y="809668"/>
            <a:ext cx="78867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1. Взаимодействие множества подсистем:</a:t>
            </a:r>
          </a:p>
        </p:txBody>
      </p:sp>
      <p:graphicFrame>
        <p:nvGraphicFramePr>
          <p:cNvPr id="6" name="Схема 5"/>
          <p:cNvGraphicFramePr/>
          <p:nvPr>
            <p:extLst>
              <p:ext uri="{D42A27DB-BD31-4B8C-83A1-F6EECF244321}">
                <p14:modId xmlns:p14="http://schemas.microsoft.com/office/powerpoint/2010/main" val="3724693189"/>
              </p:ext>
            </p:extLst>
          </p:nvPr>
        </p:nvGraphicFramePr>
        <p:xfrm>
          <a:off x="124692" y="1271333"/>
          <a:ext cx="8908472" cy="5450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56862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81821"/>
            <a:ext cx="7886700" cy="427847"/>
          </a:xfrm>
        </p:spPr>
        <p:txBody>
          <a:bodyPr/>
          <a:lstStyle/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Наземная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инфраструктура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сложная техническая система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21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933450" y="809668"/>
            <a:ext cx="78867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2. Высокие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требования к безопасности:</a:t>
            </a:r>
          </a:p>
        </p:txBody>
      </p:sp>
      <p:graphicFrame>
        <p:nvGraphicFramePr>
          <p:cNvPr id="6" name="Схема 5"/>
          <p:cNvGraphicFramePr/>
          <p:nvPr>
            <p:extLst>
              <p:ext uri="{D42A27DB-BD31-4B8C-83A1-F6EECF244321}">
                <p14:modId xmlns:p14="http://schemas.microsoft.com/office/powerpoint/2010/main" val="2204466536"/>
              </p:ext>
            </p:extLst>
          </p:nvPr>
        </p:nvGraphicFramePr>
        <p:xfrm>
          <a:off x="124692" y="1271333"/>
          <a:ext cx="8908472" cy="5450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64233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81821"/>
            <a:ext cx="7886700" cy="427847"/>
          </a:xfrm>
        </p:spPr>
        <p:txBody>
          <a:bodyPr/>
          <a:lstStyle/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Наземная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инфраструктура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сложная техническая система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22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684069" y="809667"/>
            <a:ext cx="83490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3. Высокие требования к надежности и отказоустойчивости:</a:t>
            </a:r>
          </a:p>
        </p:txBody>
      </p:sp>
      <p:graphicFrame>
        <p:nvGraphicFramePr>
          <p:cNvPr id="6" name="Схема 5"/>
          <p:cNvGraphicFramePr/>
          <p:nvPr>
            <p:extLst>
              <p:ext uri="{D42A27DB-BD31-4B8C-83A1-F6EECF244321}">
                <p14:modId xmlns:p14="http://schemas.microsoft.com/office/powerpoint/2010/main" val="2770253109"/>
              </p:ext>
            </p:extLst>
          </p:nvPr>
        </p:nvGraphicFramePr>
        <p:xfrm>
          <a:off x="124692" y="1271333"/>
          <a:ext cx="8908472" cy="5450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3006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81821"/>
            <a:ext cx="7886700" cy="427847"/>
          </a:xfrm>
        </p:spPr>
        <p:txBody>
          <a:bodyPr/>
          <a:lstStyle/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Наземная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инфраструктура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сложная техническая система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23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684069" y="809667"/>
            <a:ext cx="83490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4. Масштабируемость:</a:t>
            </a:r>
          </a:p>
        </p:txBody>
      </p:sp>
      <p:graphicFrame>
        <p:nvGraphicFramePr>
          <p:cNvPr id="6" name="Схема 5"/>
          <p:cNvGraphicFramePr/>
          <p:nvPr>
            <p:extLst>
              <p:ext uri="{D42A27DB-BD31-4B8C-83A1-F6EECF244321}">
                <p14:modId xmlns:p14="http://schemas.microsoft.com/office/powerpoint/2010/main" val="1298857183"/>
              </p:ext>
            </p:extLst>
          </p:nvPr>
        </p:nvGraphicFramePr>
        <p:xfrm>
          <a:off x="124692" y="1271333"/>
          <a:ext cx="8908472" cy="5450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20734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81821"/>
            <a:ext cx="7886700" cy="427847"/>
          </a:xfrm>
        </p:spPr>
        <p:txBody>
          <a:bodyPr/>
          <a:lstStyle/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Наземная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инфраструктура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сложная техническая система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24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684069" y="809667"/>
            <a:ext cx="83490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5. Интеграция с существующей инфраструктурой:</a:t>
            </a:r>
          </a:p>
        </p:txBody>
      </p:sp>
      <p:graphicFrame>
        <p:nvGraphicFramePr>
          <p:cNvPr id="6" name="Схема 5"/>
          <p:cNvGraphicFramePr/>
          <p:nvPr>
            <p:extLst>
              <p:ext uri="{D42A27DB-BD31-4B8C-83A1-F6EECF244321}">
                <p14:modId xmlns:p14="http://schemas.microsoft.com/office/powerpoint/2010/main" val="1153463854"/>
              </p:ext>
            </p:extLst>
          </p:nvPr>
        </p:nvGraphicFramePr>
        <p:xfrm>
          <a:off x="124692" y="1271333"/>
          <a:ext cx="8908472" cy="5450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3629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81821"/>
            <a:ext cx="7886700" cy="427847"/>
          </a:xfrm>
        </p:spPr>
        <p:txBody>
          <a:bodyPr/>
          <a:lstStyle/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Наземная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инфраструктура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сложная техническая система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25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684069" y="809667"/>
            <a:ext cx="83490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6. Управление данными и аналитика:</a:t>
            </a:r>
          </a:p>
        </p:txBody>
      </p:sp>
      <p:graphicFrame>
        <p:nvGraphicFramePr>
          <p:cNvPr id="6" name="Схема 5"/>
          <p:cNvGraphicFramePr/>
          <p:nvPr>
            <p:extLst>
              <p:ext uri="{D42A27DB-BD31-4B8C-83A1-F6EECF244321}">
                <p14:modId xmlns:p14="http://schemas.microsoft.com/office/powerpoint/2010/main" val="2038134288"/>
              </p:ext>
            </p:extLst>
          </p:nvPr>
        </p:nvGraphicFramePr>
        <p:xfrm>
          <a:off x="124692" y="1271333"/>
          <a:ext cx="8908472" cy="5450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59019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81821"/>
            <a:ext cx="7886700" cy="427847"/>
          </a:xfrm>
        </p:spPr>
        <p:txBody>
          <a:bodyPr/>
          <a:lstStyle/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Наземная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инфраструктура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сложная техническая система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26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684069" y="809667"/>
            <a:ext cx="83490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7. Правовые и этические вопросы:</a:t>
            </a:r>
          </a:p>
        </p:txBody>
      </p:sp>
      <p:graphicFrame>
        <p:nvGraphicFramePr>
          <p:cNvPr id="6" name="Схема 5"/>
          <p:cNvGraphicFramePr/>
          <p:nvPr>
            <p:extLst>
              <p:ext uri="{D42A27DB-BD31-4B8C-83A1-F6EECF244321}">
                <p14:modId xmlns:p14="http://schemas.microsoft.com/office/powerpoint/2010/main" val="2763712450"/>
              </p:ext>
            </p:extLst>
          </p:nvPr>
        </p:nvGraphicFramePr>
        <p:xfrm>
          <a:off x="124692" y="1271333"/>
          <a:ext cx="8908472" cy="5450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26482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167898"/>
            <a:ext cx="7886700" cy="621811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Архитектура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системы 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27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93544" y="878270"/>
            <a:ext cx="851535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Архитектура системы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– это совокупность ее свойств,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существенных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для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пользователя.</a:t>
            </a:r>
          </a:p>
          <a:p>
            <a:pPr algn="ctr"/>
            <a:endParaRPr lang="ru-RU" sz="11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Способы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соединения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элементов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образующие разные структуры систем</a:t>
            </a:r>
          </a:p>
        </p:txBody>
      </p:sp>
      <p:pic>
        <p:nvPicPr>
          <p:cNvPr id="6" name="Image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840" y="2566487"/>
            <a:ext cx="3920836" cy="3756022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-20781" y="6211669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Последовательное и параллельное соединение элементов</a:t>
            </a:r>
          </a:p>
        </p:txBody>
      </p:sp>
      <p:pic>
        <p:nvPicPr>
          <p:cNvPr id="8" name="Image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05379" y="2600327"/>
            <a:ext cx="3524221" cy="1542181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4248150" y="4259832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Обратная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связь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4551219" y="4981123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Если результат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функционирования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элемента влияет на поступающие на него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воздействия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, то такое воздействие называется </a:t>
            </a: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обратной связью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234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167898"/>
            <a:ext cx="7886700" cy="621811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Архитектура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системы 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28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93544" y="878270"/>
            <a:ext cx="851535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Элементы системы могут образовывать </a:t>
            </a: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иерархические </a:t>
            </a:r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структуры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 наличием подчиненности, т.е. неравноправных связей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между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элементами, когда воздействия в одном направлении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оказывают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гораздо большее влияние на элемент, чем в другом.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Примеры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древовидной и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ромбовидной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иерархической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структур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Image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7964" y="3186594"/>
            <a:ext cx="5860472" cy="3635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75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167898"/>
            <a:ext cx="7886700" cy="621811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Архитектура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системы 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29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93544" y="878270"/>
            <a:ext cx="851535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Пример </a:t>
            </a: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сетевой структуры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организация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строительно-монтажных работ при строительстве дома,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когда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некоторые работы, например монтаж стен, благоустройство территории и др., выполняются параллельно</a:t>
            </a:r>
          </a:p>
        </p:txBody>
      </p:sp>
      <p:pic>
        <p:nvPicPr>
          <p:cNvPr id="6" name="Image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9419" y="2826327"/>
            <a:ext cx="5749636" cy="3530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79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167898"/>
            <a:ext cx="7886700" cy="621811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Архитектура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системы 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30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93544" y="878270"/>
            <a:ext cx="851535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Матричная структура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например, структура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работников НИИ, выполняющих работы по одной и той же теме </a:t>
            </a:r>
          </a:p>
        </p:txBody>
      </p:sp>
      <p:pic>
        <p:nvPicPr>
          <p:cNvPr id="7" name="Image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0654" y="2072928"/>
            <a:ext cx="6913417" cy="402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168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167898"/>
            <a:ext cx="7886700" cy="621811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Архитектура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системы 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31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93544" y="878270"/>
            <a:ext cx="851535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Кристаллическая или </a:t>
            </a:r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пространственно-матричная структура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характерна для систем с тесно связанными и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равноправными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(«по вертикали» и «по горизонтали») структурными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связями: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системы открытого акционерного типа, корпорации на рынке с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дистрибьютерной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сетью и др.</a:t>
            </a:r>
          </a:p>
        </p:txBody>
      </p:sp>
      <p:pic>
        <p:nvPicPr>
          <p:cNvPr id="7" name="Image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3150" y="3007273"/>
            <a:ext cx="4114800" cy="321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159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167898"/>
            <a:ext cx="7886700" cy="621811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Декомпозиция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32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304800" y="1169216"/>
            <a:ext cx="851535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Если система слишком сложна для рассмотрения, ее упрощают,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выполняя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декомпозицию.</a:t>
            </a:r>
          </a:p>
          <a:p>
            <a:pPr indent="457200" algn="just"/>
            <a:endParaRPr lang="ru-RU" sz="24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Декомпозиция</a:t>
            </a:r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– это деление системы на части, удобное для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каких-либо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операций с ней.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Суть декомпозиции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состоит в замене системы на совокупность систем путем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ослабления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или отбрасывания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несущественных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связей, в использовании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специальных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процедур для согласования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 координации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частей, которые сохраняют основное назначение системы, т.е. ее целевую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установку.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5172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2582"/>
            <a:ext cx="7886700" cy="1325563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3. Примеры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сложных технических систем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01783" y="1379819"/>
            <a:ext cx="8520544" cy="3653219"/>
          </a:xfrm>
        </p:spPr>
        <p:txBody>
          <a:bodyPr/>
          <a:lstStyle/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>
                <a:latin typeface="Times New Roman"/>
                <a:ea typeface="Times New Roman"/>
              </a:rPr>
              <a:t>Энергетические системы: </a:t>
            </a:r>
            <a:r>
              <a:rPr lang="ru-RU" sz="2400" dirty="0" smtClean="0">
                <a:latin typeface="Times New Roman"/>
                <a:ea typeface="Times New Roman"/>
              </a:rPr>
              <a:t>электроэнергетические </a:t>
            </a:r>
            <a:r>
              <a:rPr lang="ru-RU" sz="2400" dirty="0">
                <a:latin typeface="Times New Roman"/>
                <a:ea typeface="Times New Roman"/>
              </a:rPr>
              <a:t>сети, включающие электростанции, линии электропередач и подстанции.</a:t>
            </a: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>
                <a:latin typeface="Times New Roman"/>
                <a:ea typeface="Times New Roman"/>
              </a:rPr>
              <a:t>Транспортные системы:  </a:t>
            </a:r>
            <a:r>
              <a:rPr lang="ru-RU" sz="2400" dirty="0" smtClean="0">
                <a:latin typeface="Times New Roman"/>
                <a:ea typeface="Times New Roman"/>
              </a:rPr>
              <a:t>авиационные</a:t>
            </a:r>
            <a:r>
              <a:rPr lang="ru-RU" sz="2400" dirty="0">
                <a:latin typeface="Times New Roman"/>
                <a:ea typeface="Times New Roman"/>
              </a:rPr>
              <a:t>, железнодорожные и автомобильные транспортные сети.</a:t>
            </a: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>
                <a:latin typeface="Times New Roman"/>
                <a:ea typeface="Times New Roman"/>
              </a:rPr>
              <a:t>Космические системы:  </a:t>
            </a:r>
            <a:r>
              <a:rPr lang="ru-RU" sz="2400" dirty="0" smtClean="0">
                <a:latin typeface="Times New Roman"/>
                <a:ea typeface="Times New Roman"/>
              </a:rPr>
              <a:t>космические </a:t>
            </a:r>
            <a:r>
              <a:rPr lang="ru-RU" sz="2400" dirty="0">
                <a:latin typeface="Times New Roman"/>
                <a:ea typeface="Times New Roman"/>
              </a:rPr>
              <a:t>аппараты, спутниковые системы связи и навигации.</a:t>
            </a: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>
                <a:latin typeface="Times New Roman"/>
                <a:ea typeface="Times New Roman"/>
              </a:rPr>
              <a:t>Информационные системы:  Интернет, телекоммуникационные сети, большие базы данных.</a:t>
            </a: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>
                <a:latin typeface="Times New Roman"/>
                <a:ea typeface="Times New Roman"/>
              </a:rPr>
              <a:t>Производственные системы:  </a:t>
            </a:r>
            <a:r>
              <a:rPr lang="ru-RU" sz="2400" dirty="0" smtClean="0">
                <a:latin typeface="Times New Roman"/>
                <a:ea typeface="Times New Roman"/>
              </a:rPr>
              <a:t>автоматизированные </a:t>
            </a:r>
            <a:r>
              <a:rPr lang="ru-RU" sz="2400" dirty="0">
                <a:latin typeface="Times New Roman"/>
                <a:ea typeface="Times New Roman"/>
              </a:rPr>
              <a:t>заводы, роботизированные линии.</a:t>
            </a: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>
                <a:latin typeface="Times New Roman"/>
                <a:ea typeface="Times New Roman"/>
              </a:rPr>
              <a:t>Военные системы:  </a:t>
            </a:r>
            <a:r>
              <a:rPr lang="ru-RU" sz="2400" dirty="0" smtClean="0">
                <a:latin typeface="Times New Roman"/>
                <a:ea typeface="Times New Roman"/>
              </a:rPr>
              <a:t>системы </a:t>
            </a:r>
            <a:r>
              <a:rPr lang="ru-RU" sz="2400" dirty="0">
                <a:latin typeface="Times New Roman"/>
                <a:ea typeface="Times New Roman"/>
              </a:rPr>
              <a:t>управления войсками, системы противовоздушной обороны.</a:t>
            </a: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>
                <a:latin typeface="Times New Roman"/>
                <a:ea typeface="Times New Roman"/>
              </a:rPr>
              <a:t>Финансовые системы:  </a:t>
            </a:r>
            <a:r>
              <a:rPr lang="ru-RU" sz="2400" dirty="0" smtClean="0">
                <a:latin typeface="Times New Roman"/>
                <a:ea typeface="Times New Roman"/>
              </a:rPr>
              <a:t>глобальные </a:t>
            </a:r>
            <a:r>
              <a:rPr lang="ru-RU" sz="2400" dirty="0">
                <a:latin typeface="Times New Roman"/>
                <a:ea typeface="Times New Roman"/>
              </a:rPr>
              <a:t>финансовые рынки, банковские системы.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8100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14509"/>
            <a:ext cx="7886700" cy="1060110"/>
          </a:xfrm>
        </p:spPr>
        <p:txBody>
          <a:bodyPr/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4. Сложности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управления 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СТС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71055" y="958180"/>
            <a:ext cx="8349095" cy="3653219"/>
          </a:xfrm>
        </p:spPr>
        <p:txBody>
          <a:bodyPr/>
          <a:lstStyle/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>
                <a:latin typeface="Times New Roman"/>
                <a:ea typeface="Times New Roman"/>
              </a:rPr>
              <a:t>Сложность моделирования:  </a:t>
            </a:r>
            <a:r>
              <a:rPr lang="ru-RU" sz="2400" dirty="0" smtClean="0">
                <a:latin typeface="Times New Roman"/>
                <a:ea typeface="Times New Roman"/>
              </a:rPr>
              <a:t>создание </a:t>
            </a:r>
            <a:r>
              <a:rPr lang="ru-RU" sz="2400" dirty="0">
                <a:latin typeface="Times New Roman"/>
                <a:ea typeface="Times New Roman"/>
              </a:rPr>
              <a:t>адекватной модели СТС является сложной задачей из-за большого количества факторов, которые необходимо учитывать.</a:t>
            </a: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>
                <a:latin typeface="Times New Roman"/>
                <a:ea typeface="Times New Roman"/>
              </a:rPr>
              <a:t>Трудность оптимизации:  </a:t>
            </a:r>
            <a:r>
              <a:rPr lang="ru-RU" sz="2400" dirty="0" smtClean="0">
                <a:latin typeface="Times New Roman"/>
                <a:ea typeface="Times New Roman"/>
              </a:rPr>
              <a:t>найти </a:t>
            </a:r>
            <a:r>
              <a:rPr lang="ru-RU" sz="2400" dirty="0">
                <a:latin typeface="Times New Roman"/>
                <a:ea typeface="Times New Roman"/>
              </a:rPr>
              <a:t>оптимальные параметры управления СТС часто невозможно из-за нелинейности и большого числа переменных.</a:t>
            </a: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>
                <a:latin typeface="Times New Roman"/>
                <a:ea typeface="Times New Roman"/>
              </a:rPr>
              <a:t>Проблемы надежности:  </a:t>
            </a:r>
            <a:r>
              <a:rPr lang="ru-RU" sz="2400" dirty="0" smtClean="0">
                <a:latin typeface="Times New Roman"/>
                <a:ea typeface="Times New Roman"/>
              </a:rPr>
              <a:t>вероятность </a:t>
            </a:r>
            <a:r>
              <a:rPr lang="ru-RU" sz="2400" dirty="0">
                <a:latin typeface="Times New Roman"/>
                <a:ea typeface="Times New Roman"/>
              </a:rPr>
              <a:t>отказа одного из элементов СТС может привести к отказу всей системы.</a:t>
            </a: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>
                <a:latin typeface="Times New Roman"/>
                <a:ea typeface="Times New Roman"/>
              </a:rPr>
              <a:t>Риски безопасности:  </a:t>
            </a:r>
            <a:r>
              <a:rPr lang="ru-RU" sz="2400" dirty="0" smtClean="0">
                <a:latin typeface="Times New Roman"/>
                <a:ea typeface="Times New Roman"/>
              </a:rPr>
              <a:t>неправильное </a:t>
            </a:r>
            <a:r>
              <a:rPr lang="ru-RU" sz="2400" dirty="0">
                <a:latin typeface="Times New Roman"/>
                <a:ea typeface="Times New Roman"/>
              </a:rPr>
              <a:t>управление СТС может привести к катастрофическим последствиям.</a:t>
            </a: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>
                <a:latin typeface="Times New Roman"/>
                <a:ea typeface="Times New Roman"/>
              </a:rPr>
              <a:t>Требования к квалификации персонала:  </a:t>
            </a:r>
            <a:r>
              <a:rPr lang="ru-RU" sz="2400" dirty="0" smtClean="0">
                <a:latin typeface="Times New Roman"/>
                <a:ea typeface="Times New Roman"/>
              </a:rPr>
              <a:t>для </a:t>
            </a:r>
            <a:r>
              <a:rPr lang="ru-RU" sz="2400" dirty="0">
                <a:latin typeface="Times New Roman"/>
                <a:ea typeface="Times New Roman"/>
              </a:rPr>
              <a:t>управления СТС требуется высококвалифицированный персонал, обладающий знаниями в различных областях.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8100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19"/>
            <a:ext cx="7886700" cy="1325563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5. Методы 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управления сложными техническими системами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20832" y="1365964"/>
            <a:ext cx="8418368" cy="3653219"/>
          </a:xfrm>
        </p:spPr>
        <p:txBody>
          <a:bodyPr/>
          <a:lstStyle/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200" dirty="0">
                <a:latin typeface="Times New Roman"/>
                <a:ea typeface="Times New Roman"/>
              </a:rPr>
              <a:t>Декомпозиция:  </a:t>
            </a:r>
            <a:r>
              <a:rPr lang="ru-RU" sz="2200" dirty="0" smtClean="0">
                <a:latin typeface="Times New Roman"/>
                <a:ea typeface="Times New Roman"/>
              </a:rPr>
              <a:t>разбиение </a:t>
            </a:r>
            <a:r>
              <a:rPr lang="ru-RU" sz="2200" dirty="0">
                <a:latin typeface="Times New Roman"/>
                <a:ea typeface="Times New Roman"/>
              </a:rPr>
              <a:t>СТС на более мелкие и управляемые подсистемы.</a:t>
            </a: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200" dirty="0">
                <a:latin typeface="Times New Roman"/>
                <a:ea typeface="Times New Roman"/>
              </a:rPr>
              <a:t>Иерархическое управление:  </a:t>
            </a:r>
            <a:r>
              <a:rPr lang="ru-RU" sz="2200" dirty="0" smtClean="0">
                <a:latin typeface="Times New Roman"/>
                <a:ea typeface="Times New Roman"/>
              </a:rPr>
              <a:t>создание </a:t>
            </a:r>
            <a:r>
              <a:rPr lang="ru-RU" sz="2200" dirty="0">
                <a:latin typeface="Times New Roman"/>
                <a:ea typeface="Times New Roman"/>
              </a:rPr>
              <a:t>многоуровневой системы управления, в которой каждый уровень отвечает за управление определенной подсистемой.</a:t>
            </a: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200" dirty="0">
                <a:latin typeface="Times New Roman"/>
                <a:ea typeface="Times New Roman"/>
              </a:rPr>
              <a:t>Моделирование:  </a:t>
            </a:r>
            <a:r>
              <a:rPr lang="ru-RU" sz="2200" dirty="0" smtClean="0">
                <a:latin typeface="Times New Roman"/>
                <a:ea typeface="Times New Roman"/>
              </a:rPr>
              <a:t>использование </a:t>
            </a:r>
            <a:r>
              <a:rPr lang="ru-RU" sz="2200" dirty="0">
                <a:latin typeface="Times New Roman"/>
                <a:ea typeface="Times New Roman"/>
              </a:rPr>
              <a:t>математических моделей для анализа и прогнозирования поведения СТС.</a:t>
            </a: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200" dirty="0">
                <a:latin typeface="Times New Roman"/>
                <a:ea typeface="Times New Roman"/>
              </a:rPr>
              <a:t>Оптимизация:  </a:t>
            </a:r>
            <a:r>
              <a:rPr lang="ru-RU" sz="2200" dirty="0" smtClean="0">
                <a:latin typeface="Times New Roman"/>
                <a:ea typeface="Times New Roman"/>
              </a:rPr>
              <a:t>поиск </a:t>
            </a:r>
            <a:r>
              <a:rPr lang="ru-RU" sz="2200" dirty="0">
                <a:latin typeface="Times New Roman"/>
                <a:ea typeface="Times New Roman"/>
              </a:rPr>
              <a:t>оптимальных параметров управления СТС с использованием методов математического программирования.</a:t>
            </a: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200" dirty="0">
                <a:latin typeface="Times New Roman"/>
                <a:ea typeface="Times New Roman"/>
              </a:rPr>
              <a:t>Резервирование:  </a:t>
            </a:r>
            <a:r>
              <a:rPr lang="ru-RU" sz="2200" dirty="0" smtClean="0">
                <a:latin typeface="Times New Roman"/>
                <a:ea typeface="Times New Roman"/>
              </a:rPr>
              <a:t>дублирование </a:t>
            </a:r>
            <a:r>
              <a:rPr lang="ru-RU" sz="2200" dirty="0">
                <a:latin typeface="Times New Roman"/>
                <a:ea typeface="Times New Roman"/>
              </a:rPr>
              <a:t>важных элементов СТС для повышения надежности.</a:t>
            </a: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200" dirty="0">
                <a:latin typeface="Times New Roman"/>
                <a:ea typeface="Times New Roman"/>
              </a:rPr>
              <a:t>Диагностика:  </a:t>
            </a:r>
            <a:r>
              <a:rPr lang="ru-RU" sz="2200" dirty="0" smtClean="0">
                <a:latin typeface="Times New Roman"/>
                <a:ea typeface="Times New Roman"/>
              </a:rPr>
              <a:t>регулярная </a:t>
            </a:r>
            <a:r>
              <a:rPr lang="ru-RU" sz="2200" dirty="0">
                <a:latin typeface="Times New Roman"/>
                <a:ea typeface="Times New Roman"/>
              </a:rPr>
              <a:t>проверка состояния элементов СТС для выявления потенциальных проблем.</a:t>
            </a: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200" dirty="0">
                <a:latin typeface="Times New Roman"/>
                <a:ea typeface="Times New Roman"/>
              </a:rPr>
              <a:t>Обучение:  </a:t>
            </a:r>
            <a:r>
              <a:rPr lang="ru-RU" sz="2200" dirty="0" smtClean="0">
                <a:latin typeface="Times New Roman"/>
                <a:ea typeface="Times New Roman"/>
              </a:rPr>
              <a:t>повышение </a:t>
            </a:r>
            <a:r>
              <a:rPr lang="ru-RU" sz="2200" dirty="0">
                <a:latin typeface="Times New Roman"/>
                <a:ea typeface="Times New Roman"/>
              </a:rPr>
              <a:t>квалификации персонала, работающего с СТС.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8100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E5BE26A0-0BD0-4F5C-8BB0-203795747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832284"/>
            <a:ext cx="7886700" cy="2852737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59761912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6175</TotalTime>
  <Words>2755</Words>
  <Application>Microsoft Office PowerPoint</Application>
  <PresentationFormat>Экран (4:3)</PresentationFormat>
  <Paragraphs>292</Paragraphs>
  <Slides>36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36</vt:i4>
      </vt:variant>
    </vt:vector>
  </HeadingPairs>
  <TitlesOfParts>
    <vt:vector size="38" baseType="lpstr">
      <vt:lpstr>Специальное оформление</vt:lpstr>
      <vt:lpstr>1_Специальное оформление</vt:lpstr>
      <vt:lpstr>ДИСЦИЛИНА Наземная инфраструктура как сложная техническая система  ИНСТИТУТ ИПТИП  КАФЕДРА индустриального программирования  ВИД УЧЕБНОГО МАТЕРИАЛА Лекция  ПРЕПОДАВАТЕЛЬ Ризаева Юлия Николаевна  СЕМЕСТР 3, 2026-2027 уч. г. </vt:lpstr>
      <vt:lpstr>Сложная техническая система </vt:lpstr>
      <vt:lpstr>План лекции</vt:lpstr>
      <vt:lpstr>1. Определение сложной технической системы</vt:lpstr>
      <vt:lpstr>Основные определения</vt:lpstr>
      <vt:lpstr>Основные определения</vt:lpstr>
      <vt:lpstr>Основные определения</vt:lpstr>
      <vt:lpstr>Основные определения</vt:lpstr>
      <vt:lpstr>Основные определения</vt:lpstr>
      <vt:lpstr>Основные определения</vt:lpstr>
      <vt:lpstr>Основные определения</vt:lpstr>
      <vt:lpstr>Основные определения</vt:lpstr>
      <vt:lpstr>Основные определения</vt:lpstr>
      <vt:lpstr>2. Признаки сложной технической системы</vt:lpstr>
      <vt:lpstr>Свойства системы</vt:lpstr>
      <vt:lpstr>Организационно-технические системы и их классификация</vt:lpstr>
      <vt:lpstr>Организационно-технические системы и их классификация</vt:lpstr>
      <vt:lpstr>Структура системы</vt:lpstr>
      <vt:lpstr>Примеры структур системы и связей между элементами</vt:lpstr>
      <vt:lpstr>Наземная инфраструктура сложная техническая система</vt:lpstr>
      <vt:lpstr>Наземная инфраструктура сложная техническая система</vt:lpstr>
      <vt:lpstr>Наземная инфраструктура сложная техническая система</vt:lpstr>
      <vt:lpstr>Наземная инфраструктура сложная техническая система</vt:lpstr>
      <vt:lpstr>Наземная инфраструктура сложная техническая система</vt:lpstr>
      <vt:lpstr>Наземная инфраструктура сложная техническая система</vt:lpstr>
      <vt:lpstr>Наземная инфраструктура сложная техническая система</vt:lpstr>
      <vt:lpstr>Архитектура системы </vt:lpstr>
      <vt:lpstr>Архитектура системы </vt:lpstr>
      <vt:lpstr>Архитектура системы </vt:lpstr>
      <vt:lpstr>Архитектура системы </vt:lpstr>
      <vt:lpstr>Архитектура системы </vt:lpstr>
      <vt:lpstr>Декомпозиция</vt:lpstr>
      <vt:lpstr>3. Примеры сложных технических систем</vt:lpstr>
      <vt:lpstr>4. Сложности управления СТС</vt:lpstr>
      <vt:lpstr>5. Методы управления сложными техническими системами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Аня</cp:lastModifiedBy>
  <cp:revision>381</cp:revision>
  <dcterms:created xsi:type="dcterms:W3CDTF">2015-07-29T11:14:37Z</dcterms:created>
  <dcterms:modified xsi:type="dcterms:W3CDTF">2026-06-26T21:49:07Z</dcterms:modified>
</cp:coreProperties>
</file>