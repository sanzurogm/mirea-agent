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7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Наземная инфраструктура как сложная техническая система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2026-2027 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624208"/>
            <a:ext cx="7372350" cy="1452563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Подсистемы наземной инфраструктуры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747889"/>
            <a:ext cx="7886700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mtClean="0">
                <a:latin typeface="Times New Roman"/>
                <a:ea typeface="Times New Roman"/>
              </a:rPr>
              <a:t>Подсистема</a:t>
            </a:r>
            <a:r>
              <a:rPr lang="ru-RU" dirty="0">
                <a:latin typeface="Times New Roman"/>
                <a:ea typeface="Times New Roman"/>
              </a:rPr>
              <a:t>: мониторинг метеорологической обстановки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Подсистема</a:t>
            </a:r>
            <a:r>
              <a:rPr lang="ru-RU" dirty="0">
                <a:latin typeface="Times New Roman"/>
                <a:ea typeface="Times New Roman"/>
              </a:rPr>
              <a:t>: автоматическая система </a:t>
            </a:r>
            <a:r>
              <a:rPr lang="ru-RU" dirty="0" err="1">
                <a:latin typeface="Times New Roman"/>
                <a:ea typeface="Times New Roman"/>
              </a:rPr>
              <a:t>противогололедной</a:t>
            </a:r>
            <a:r>
              <a:rPr lang="ru-RU" dirty="0">
                <a:latin typeface="Times New Roman"/>
                <a:ea typeface="Times New Roman"/>
              </a:rPr>
              <a:t> обстановки (АСПО)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Подсистема</a:t>
            </a:r>
            <a:r>
              <a:rPr lang="ru-RU" dirty="0">
                <a:latin typeface="Times New Roman"/>
                <a:ea typeface="Times New Roman"/>
              </a:rPr>
              <a:t>: инцидент-менеджмент, выявление инцидентов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7196" y="1955706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 Подсистема: мониторинг метеорологической обстановки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799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4064" y="220946"/>
            <a:ext cx="7886700" cy="61032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Термины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0943" y="1420627"/>
            <a:ext cx="8742219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Подсистема 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метеорологического мониторинга (подсистема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метеомониторинга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 ПММ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Инструментальная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подсистема ИТС, обеспечивающая сбор, обработку, передачу информации о текущих метеорологических и дорожных параметрах и выдачу производственно-технологических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предупреждений (ГОСТ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71094-2024).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6" name="AutoShape 4" descr="https://yandex-images.clstorage.net/f4ViJ9203/22b6d5wVFyR/YGUA_T5Ps27z5qK9xr4jbFGPj5s4S89Sb5u4FerrbuX_MH8ggzaJL6jBfOzl3e-pu1COowymwGFJV_uyNYYclXQ1E-ysiGZ6IWF3v8Z_Y-sG30vcLsrYFP8Mrkf86e1kfmslPN--UjIkHzRyr067v7qRCabJtds4jUniJKIKl99mpYu9fJjx4n_44ncM9GkrAUfIWiULEtivgSRB5K65uqjl7LWd9NZ8qZ99_mkBsfR20sz_jbWctp0LpaLoSxRR5GPCc7IWOOL08yy9RLTu488KihIpwNyWIgiuACNjv7TnoOgyFbtTv6IcO7LqS7F-uxVL-8FwFr-QwCstacIZVK2ggrE2mTvu-zbu9Q_27uwEDMyaIsVZGGzPaU-jJnLxYWrpN5363nvtmTX4pst9eLcTw7aM81p2kAssoGeG1JAh5oA1Ppj9orF7YHeDv2FrS02E1q_AntllzmWGqyN--qJop7dbMp9wYdw8vqYJM7j-XE07SLSceVZBbe2uRJSdJqQK-nnffe2_9Oh5QXZr6saPA90igpxVo0GtiiOu-zWnYuN8XHtdOO4RMzAlzT7yeByFPgF7EvMZR62mb4YR1CVuQfK2kfYhc_HkvwR1aOuMgMrYoQhdGaIJpA6jrzOyquxu9BMwVnxuHLh16QX5PvnSxHxPup8zWc7lrGbMltnsJEy6d1f1JvF4bLlMdemix4bNF2ULnduiDa9OJKF7_aAoZ33ccJUw4lm9eSaLuLU53cmzTDsUP9YKZWWjxx8erqxEfHadOaw1v6d2zn1mqo9Ox5AtihYeLE5gx6LuvHaoLG-_Fz6VPaoQ_rokRvJwMpCKMYe-0PtXAmJlYwcSUm0kRPx2HPutPf2pcIR9YOMKh8_crgwbHWVF70prZjN7YCxrd5r6WHjs130wqk7y97tZQ3lO_pS738fkIyqJFdAr6o28t9Y0LDt8JnVA-iCoTsfM0-iLmZWjjCBOZ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168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4064" y="220946"/>
            <a:ext cx="7886700" cy="61032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Термины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025240"/>
            <a:ext cx="8742219" cy="231370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Автоматическая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дорожная метеостанция; АДМС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Техническое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периферийное устройство подсистемы метеорологического мониторинга ИТС, состоящее из центрального блока управления (контроллера) и набора датчиков, вспомогательного оборудования (мачты, штанги, крепления), и средств передачи данных и устройств энергообеспечения, позволяющих получать, обрабатывать и передавать в автоматическом режиме или по запросу метеорологические и дорожные параметры - температуру и состояние дорожного покрытия, а также тип и толщину дорожных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отложений (ГОСТ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71094-2024)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22530" name="Picture 2" descr="https://avatars.mds.yandex.net/i?id=9ff903524e5ac583833bfdcadb7bd283febb571d-5476795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12" y="3613100"/>
            <a:ext cx="3397612" cy="22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90943" y="6366098"/>
            <a:ext cx="38899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https://avatars.mds.yandex.net/i?id=9ff903524e5ac583833bfdcadb7bd283febb571d-5476795-images-thumbs&amp;n=13</a:t>
            </a:r>
            <a:endParaRPr lang="ru-RU" sz="900" dirty="0"/>
          </a:p>
        </p:txBody>
      </p:sp>
      <p:sp>
        <p:nvSpPr>
          <p:cNvPr id="6" name="AutoShape 4" descr="https://yandex-images.clstorage.net/f4ViJ9203/22b6d5wVFyR/YGUA_T5Ps27z5qK9xr4jbFGPj5s4S89Sb5u4FerrbuX_MH8ggzaJL6jBfOzl3e-pu1COowymwGFJV_uyNYYclXQ1E-ysiGZ6IWF3v8Z_Y-sG30vcLsrYFP8Mrkf86e1kfmslPN--UjIkHzRyr067v7qRCabJtds4jUniJKIKl99mpYu9fJjx4n_44ncM9GkrAUfIWiULEtivgSRB5K65uqjl7LWd9NZ8qZ99_mkBsfR20sz_jbWctp0LpaLoSxRR5GPCc7IWOOL08yy9RLTu488KihIpwNyWIgiuACNjv7TnoOgyFbtTv6IcO7LqS7F-uxVL-8FwFr-QwCstacIZVK2ggrE2mTvu-zbu9Q_27uwEDMyaIsVZGGzPaU-jJnLxYWrpN5363nvtmTX4pst9eLcTw7aM81p2kAssoGeG1JAh5oA1Ppj9orF7YHeDv2FrS02E1q_AntllzmWGqyN--qJop7dbMp9wYdw8vqYJM7j-XE07SLSceVZBbe2uRJSdJqQK-nnffe2_9Oh5QXZr6saPA90igpxVo0GtiiOu-zWnYuN8XHtdOO4RMzAlzT7yeByFPgF7EvMZR62mb4YR1CVuQfK2kfYhc_HkvwR1aOuMgMrYoQhdGaIJpA6jrzOyquxu9BMwVnxuHLh16QX5PvnSxHxPup8zWc7lrGbMltnsJEy6d1f1JvF4bLlMdemix4bNF2ULnduiDa9OJKF7_aAoZ33ccJUw4lm9eSaLuLU53cmzTDsUP9YKZWWjxx8erqxEfHadOaw1v6d2zn1mqo9Ox5AtihYeLE5gx6LuvHaoLG-_Fz6VPaoQ_rokRvJwMpCKMYe-0PtXAmJlYwcSUm0kRPx2HPutPf2pcIR9YOMKh8_crgwbHWVF70prZjN7YCxrd5r6WHjs130wqk7y97tZQ3lO_pS738fkIyqJFdAr6o28t9Y0LDt8JnVA-iCoTsfM0-iLmZWjjCBOZ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710" y="3571540"/>
            <a:ext cx="4281054" cy="2256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461164" y="5814158"/>
            <a:ext cx="46828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/>
              <a:t>https://yandex-images.clstorage.net/f4ViJ9203/22b6d5wVFyR/YGUA_T5Ps27z5qK9xr4jbFGPj5s4S89Sb5u4FerrbuX_MH8ggzaJL6jBfOzl3e-pu1COowymwGFJV_uyNYYclXQ1E-ysiGZ6IWF3v8Z_Y-sG30vcLsrYFP8Mrkf86e1kfmslPN--UjIkHzRyr067v7qRCabJtds4jUniJKIKl99mpYu9fJjx4n_44ncM9GkrAUfIWiULEtivgSRB5K65uqjl7LWd9NZ8qZ99_mkBsfR20sz_jbWctp0LpaLoSxRR5GPCc7IWOOL08yy9RLTu488KihIpwNyWIgiuACNjv7TnoOgyFbtTv6IcO7LqS7F-uxVL-8FwFr-QwCstacIZVK2ggrE2mTvu-zbu9Q_27uwEDMyaIsVZGGzPaU-jJnLxYWrpN5363nvtmTX4pst9eLcTw7aM81p2kAssoGeG1JAh5oA1Ppj9orF7YHeDv2FrS02E1q_AntllzmWGqyN--qJop7dbMp9wYdw8vqYJM7j-XE07SLSceVZBbe2uRJSdJqQK-nnffe2_9Oh5QXZr6saPA90igpxVo0GtiiOu-zWnYuN8XHtdOO4RMzAlzT7yeByFPgF7EvMZR62mb4YR1CVuQfK2kfYhc_HkvwR1aOuMgMrYoQhdGaIJpA6jrzOyquxu9BMwVnxuHLh16QX5PvnSxHxPup8zWc7lrGbMltnsJEy6d1f1JvF4bLlMdemix4bNF2ULnduiDa9OJKF7_aAoZ33ccJUw4lm9eSaLuLU53cmzTDsUP9YKZWWjxx8erqxEfHadOaw1v6d2zn1mqo9Ox5AtihYeLE5gx6LuvHaoLG-_Fz6VPaoQ_rokRvJwMpCKMYe-0PtXAmJlYwcSUm0kRPx2HPutPf2pcIR9YOMKh8_crgwbHWVF70prZjN7YCxrd5r6WHjs130wqk7y97tZQ3lO_pS738fkIyqJFdAr6o28t9Y0LDt8JnVA-iCoTsfM0-iLmZWjjCBOZw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130508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Подсистема: автоматическая система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противогололедной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обстановки (АСПО)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5462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3560" y="85599"/>
            <a:ext cx="7886700" cy="67959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Термины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6364" y="598944"/>
            <a:ext cx="865389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Зимнее содержание автомобильных дорог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комплекс мероприятий по обеспечению бесперебойного и безопасного дорожного движения в зимний период, включающий защиту автомобильных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дорог от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снежных заносов, очистку дорог от снега, предупреждение и устранение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зимней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скользкости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(ОДМ 218.6.2.001-2020)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Система обеспечения 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противогололедного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состояния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стационарная система,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обеспечивающая 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автоматическом режиме обработку дорожных покрытий жидкими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противогололедными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реагентами при борьбе с зимней скользкостью, в том числе на искусственных сооружениях автомобильных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дорог. (ОДМ 218.6.2.001-2020)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9" y="3955951"/>
            <a:ext cx="4572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5419" y="64886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https://avatars.mds.yandex.net/i?id=df11796cd3c42f5f8046ce690b57b0c6080ea4eb-12675760-images-thumbs&amp;n=13</a:t>
            </a:r>
            <a:endParaRPr lang="ru-RU" sz="900" dirty="0"/>
          </a:p>
        </p:txBody>
      </p:sp>
      <p:pic>
        <p:nvPicPr>
          <p:cNvPr id="36870" name="Picture 6" descr="https://avatars.mds.yandex.net/i?id=ff3cc031f3bbb432af0fdacd5bfe5a786c4a9150-4316327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531" y="3955951"/>
            <a:ext cx="3913909" cy="260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4878531" y="6538046"/>
            <a:ext cx="41771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https://avatars.mds.yandex.net/i?id=ff3cc031f3bbb432af0fdacd5bfe5a786c4a9150-4316327-images-thumbs&amp;n=13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73996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705" y="248658"/>
            <a:ext cx="7886700" cy="61032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Цели создания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3909" y="957968"/>
            <a:ext cx="88824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Основная цель применения таких систем состоит в том, что они позволяют перейти от технологий ликвидации зимней скользкости к ее профилактике, что обеспечивает значительное сокращение количества используемых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противогололедных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материалов и времени работы техники.</a:t>
            </a:r>
          </a:p>
        </p:txBody>
      </p:sp>
      <p:pic>
        <p:nvPicPr>
          <p:cNvPr id="37890" name="Picture 2" descr="https://avatars.mds.yandex.net/i?id=7860c8ad9d02010dcab1b4ac892f48ba3bbf0cfb-5342217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5" y="3210753"/>
            <a:ext cx="45720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03909" y="5937994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https://avatars.mds.yandex.net/i?id=7860c8ad9d02010dcab1b4ac892f48ba3bbf0cfb-5342217-images-thumbs&amp;n=13</a:t>
            </a:r>
            <a:endParaRPr lang="ru-RU" sz="1050" dirty="0"/>
          </a:p>
        </p:txBody>
      </p:sp>
      <p:pic>
        <p:nvPicPr>
          <p:cNvPr id="37892" name="Picture 4" descr="https://avatars.mds.yandex.net/i?id=e65c9430c737b7fdb7bfd2b028233ad08d10b2fd-1273100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387" y="3196899"/>
            <a:ext cx="4094018" cy="272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4904509" y="5961594"/>
            <a:ext cx="40818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https://avatars.mds.yandex.net/i?id=e65c9430c737b7fdb7bfd2b028233ad08d10b2fd-12731000-images-thumbs&amp;n=13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07579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78872" y="2082241"/>
            <a:ext cx="827982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5. Подсистема: инцидент-менеджмент, выявление инцидентов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69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1159" y="16566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Назначение подсистемы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6364" y="960023"/>
            <a:ext cx="850149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Подсистема 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предназначена  для выявления и классификации  инцидентов -  факторов, негативно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влияющих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на пропускную способность дороги, параметры транспортного потока, безопасность движения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посредством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анализа в реальном времени параметров транспортного потока и транспортно­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эксплуатационного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состояния автомобильной  дороги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5527" y="3222686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Современные автоматические системы обнаружения инцидента выявляют инцидент в реальном времени и сигнализируют тревогу (звуковое и визуальное оповещение) на экране рабочего места оператора в течение нескольких секунд после происшествия инцидента.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образом, эта система снижает риски повторяющихся аварии и позволяет принимать меры по минимизации человеческих жертв и ущерба инфраструктуре.</a:t>
            </a:r>
          </a:p>
        </p:txBody>
      </p:sp>
      <p:pic>
        <p:nvPicPr>
          <p:cNvPr id="1026" name="Picture 2" descr="https://avatars.mds.yandex.net/i?id=134792d3ddfc5579b82ec984374aaecf760d7ea9-16485021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227" y="3352800"/>
            <a:ext cx="4326773" cy="288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817227" y="6237316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https://avatars.mds.yandex.net/i?id=134792d3ddfc5579b82ec984374aaecf760d7ea9-16485021-images-thumbs&amp;n=13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86703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4706" y="276506"/>
            <a:ext cx="7886700" cy="693314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виды инцидентов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68036" y="969820"/>
            <a:ext cx="8279823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Дорожно-транспортное происшествие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Препятствие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(люди, животные, предметы, препятствия, повреждения и т.п.)</a:t>
            </a:r>
          </a:p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Заторовая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ситуация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Нарушение ПДД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(в том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числе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проезд по встречной и движение задним ходом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Специальные виды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инцидентов</a:t>
            </a:r>
          </a:p>
          <a:p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Пожар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, задымление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1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1886" y="373346"/>
            <a:ext cx="7886700" cy="818145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Типовые дорожные инциденты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6364" y="1191492"/>
            <a:ext cx="8548254" cy="2036617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Дорожный инцидент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 непланируемое событие на дороге, которое оказывает негативное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влияние на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транспортный поток, пропускную способность или нормальные условия эксплуатации автомобильной дороги.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ГОСТ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71159-2023)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2050" name="Picture 2" descr="https://avatars.mds.yandex.net/i?id=bdd8bdf1dfecbfa24130c97d94212098f848aeff-11723847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087091"/>
            <a:ext cx="2753377" cy="172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55574" y="5942833"/>
            <a:ext cx="27533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https://avatars.mds.yandex.net/i?id=bdd8bdf1dfecbfa24130c97d94212098f848aeff-11723847-images-thumbs&amp;n=13</a:t>
            </a:r>
            <a:endParaRPr lang="ru-RU" sz="1000" dirty="0"/>
          </a:p>
        </p:txBody>
      </p:sp>
      <p:pic>
        <p:nvPicPr>
          <p:cNvPr id="2052" name="Picture 4" descr="https://avatars.mds.yandex.net/i?id=2a00000199f0c0251263465160a3d77f5486-1344262-fast-image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55" y="4087091"/>
            <a:ext cx="2686067" cy="171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061855" y="5958966"/>
            <a:ext cx="268606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https://avatars.mds.yandex.net/i?id=2a00000199f0c0251263465160a3d77f5486-1344262-fast-images&amp;n=13</a:t>
            </a:r>
            <a:endParaRPr lang="ru-RU" sz="1000" dirty="0"/>
          </a:p>
        </p:txBody>
      </p:sp>
      <p:sp>
        <p:nvSpPr>
          <p:cNvPr id="7" name="AutoShape 6" descr="https://yandex-images.clstorage.net/9uvbo9336/e44b85QMz/H8qfzOaPQ-gY2b0rj7GOYCpt5nQBuGrh3a-ZWX5x3de3CsiBkMZUQilb2R9EkDRB_NRVfZLkSFKJVzGt0ulvXn7TztHW4zrUMN29J7uV4kQ2QcZIIag6_dTOxNGbkVVHX7INdRkC-DdsLpETPM0ZXEFkMGW6uFl-OfYxrONkcr_fJnNUJgsKxDgtXPvbjbJsjiyK_NV5ciwNAzRNA0Exm5cy5UGBhkyD7LYh75HFCWB1hZClIsi1islu1Tx7CKoXM8bL9HaDgnAUYeAnY_3e0KbEZuQ9dfJ0_Z9gdXdxVQ93NhH5HSoEy_j2zYOVMZVUqY0k-UI0BTKlbmXgW1wmT8-iMzCuQ0b0sJWYV-edciia3OrIAflqXMUD1PVzJQGfj2oZ9UVm6DfYrs0vtaVVyKnFqO1GUOUqpRpNfHecYj83WkOYxg-yVIjd_JdXgZ4ggojSZP3F8vgtt5hF04Hxn2e6UVUlElT_gLaRn5GdFUwp1dh13iiJftkOxfA7iI4nu_JLfDZbwuwQ2TA7v1Hi9PY4zgARyZZg4WM4iWPJfau3At1JteoUQ0TCWVMNKVk8NR2ouT7MBVY5GpW8WxBmt6_erwDmdxow-AHU06eJkrQekNpYrXHOSBEDjKF_teHDB8KVFaE-SLNkKuVDzVk1nOmhUCmurOV-OR5ZONs03rPHRosQhgM-MISp_Euz1QLoEiTCVA1lHlQdE4yJv7URBzsWXfkVFoj7vN49w9FJnUwlTWChKoz1xlniaSx7tII3Q4p7tIbvThzw3byjI6U6wA5oRggR2VpM8T_sce9ZcYcvmp1NSR4Ia2SS1YMJaYVg9X04Jbb03YrJ5vloj1wCAwNGX7T2k75oYIn8S6_5grAyrLpUDTH24OFLPKXfifmvs7qlFcWGqM9kXk2X5fl1zP0dJInOPBU6pXrJCMfckmcHigtY_vMucCTNNPODoSZArhzqEN1Z8uS1W7Q9B6W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007" y="4089987"/>
            <a:ext cx="3054158" cy="1717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885008" y="6030518"/>
            <a:ext cx="3054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" dirty="0"/>
              <a:t>https://yandex-images.clstorage.net/9uvbo9336/e44b85QMz/H8qfzOaPQ-gY2b0rj7GOYCpt5nQBuGrh3a-ZWX5x3de3CsiBkMZUQilb2R9EkDRB_NRVfZLkSFKJVzGt0ulvXn7TztHW4zrUMN29J7uV4kQ2QcZIIag6_dTOxNGbkVVHX7INdRkC-DdsLpETPM0ZXEFkMGW6uFl-OfYxrONkcr_fJnNUJgsKxDgtXPvbjbJsjiyK_NV5ciwNAzRNA0Exm5cy5UGBhkyD7LYh75HFCWB1hZClIsi1islu1Tx7CKoXM8bL9HaDgnAUYeAnY_3e0KbEZuQ9dfJ0_Z9gdXdxVQ93NhH5HSoEy_j2zYOVMZVUqY0k-UI0BTKlbmXgW1wmT8-iMzCuQ0b0sJWYV-edciia3OrIAflqXMUD1PVzJQGfj2oZ9UVm6DfYrs0vtaVVyKnFqO1GUOUqpRpNfHecYj83WkOYxg-yVIjd_JdXgZ4ggojSZP3F8vgtt5hF04Hxn2e6UVUlElT_gLaRn5GdFUwp1dh13iiJftkOxfA7iI4nu_JLfDZbwuwQ2TA7v1Hi9PY4zgARyZZg4WM4iWPJfau3At1JteoUQ0TCWVMNKVk8NR2ouT7MBVY5GpW8WxBmt6_erwDmdxow-AHU06eJkrQekNpYrXHOSBEDjKF_teHDB8KVFaE-SLNkKuVDzVk1nOmhUCmurOV-OR5ZONs03rPHRosQhgM-MISp_Euz1QLoEiTCVA1lHlQdE4yJv7URBzsWXfkVFoj7vN49w9FJnUwlTWChKoz1xlniaSx7tII3Q4p7tIbvThzw3byjI6U6wA5oRggR2VpM8T_sce9ZcYcvmp1NSR4Ia2SS1YMJaYVg9X04Jbb03YrJ5vloj1wCAwNGX7T2k75oYIn8S6_5grAyrLpUDTH24OFLPKXfifmvs7qlFcWGqM9kXk2X5fl1zP0dJInOPBU6pXrJCMfckmcHigtY_vMucCTNNPODoSZArhzqEN1Z8uS1W7Q9B6WY</a:t>
            </a:r>
            <a:endParaRPr lang="ru-RU" sz="300" dirty="0"/>
          </a:p>
        </p:txBody>
      </p:sp>
    </p:spTree>
    <p:extLst>
      <p:ext uri="{BB962C8B-B14F-4D97-AF65-F5344CB8AC3E}">
        <p14:creationId xmlns:p14="http://schemas.microsoft.com/office/powerpoint/2010/main" val="945538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5979</TotalTime>
  <Words>524</Words>
  <Application>Microsoft Office PowerPoint</Application>
  <PresentationFormat>Экран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Специальное оформление</vt:lpstr>
      <vt:lpstr>1_Специальное оформление</vt:lpstr>
      <vt:lpstr>ДИСЦИЛИНА Наземная инфраструктура как сложная техническая система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Подсистемы наземной инфраструктуры</vt:lpstr>
      <vt:lpstr>План лекции</vt:lpstr>
      <vt:lpstr>Презентация PowerPoint</vt:lpstr>
      <vt:lpstr>Термины</vt:lpstr>
      <vt:lpstr>Термины</vt:lpstr>
      <vt:lpstr>Презентация PowerPoint</vt:lpstr>
      <vt:lpstr>Термины</vt:lpstr>
      <vt:lpstr>Цели создания</vt:lpstr>
      <vt:lpstr>Презентация PowerPoint</vt:lpstr>
      <vt:lpstr>Назначение подсистемы</vt:lpstr>
      <vt:lpstr>Основные виды инцидентов</vt:lpstr>
      <vt:lpstr>Типовые дорожные инциденты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343</cp:revision>
  <dcterms:created xsi:type="dcterms:W3CDTF">2015-07-29T11:14:37Z</dcterms:created>
  <dcterms:modified xsi:type="dcterms:W3CDTF">2026-06-26T22:11:26Z</dcterms:modified>
</cp:coreProperties>
</file>