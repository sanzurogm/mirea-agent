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60"/>
  </p:notesMasterIdLst>
  <p:sldIdLst>
    <p:sldId id="325" r:id="rId3"/>
    <p:sldId id="293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78" r:id="rId22"/>
    <p:sldId id="379" r:id="rId23"/>
    <p:sldId id="380" r:id="rId24"/>
    <p:sldId id="381" r:id="rId25"/>
    <p:sldId id="377" r:id="rId26"/>
    <p:sldId id="345" r:id="rId27"/>
    <p:sldId id="346" r:id="rId28"/>
    <p:sldId id="347" r:id="rId29"/>
    <p:sldId id="348" r:id="rId30"/>
    <p:sldId id="349" r:id="rId31"/>
    <p:sldId id="350" r:id="rId32"/>
    <p:sldId id="352" r:id="rId33"/>
    <p:sldId id="351" r:id="rId34"/>
    <p:sldId id="353" r:id="rId35"/>
    <p:sldId id="354" r:id="rId36"/>
    <p:sldId id="356" r:id="rId37"/>
    <p:sldId id="382" r:id="rId38"/>
    <p:sldId id="383" r:id="rId39"/>
    <p:sldId id="357" r:id="rId40"/>
    <p:sldId id="358" r:id="rId41"/>
    <p:sldId id="359" r:id="rId42"/>
    <p:sldId id="360" r:id="rId43"/>
    <p:sldId id="361" r:id="rId44"/>
    <p:sldId id="362" r:id="rId45"/>
    <p:sldId id="363" r:id="rId46"/>
    <p:sldId id="364" r:id="rId47"/>
    <p:sldId id="365" r:id="rId48"/>
    <p:sldId id="367" r:id="rId49"/>
    <p:sldId id="368" r:id="rId50"/>
    <p:sldId id="369" r:id="rId51"/>
    <p:sldId id="370" r:id="rId52"/>
    <p:sldId id="371" r:id="rId53"/>
    <p:sldId id="372" r:id="rId54"/>
    <p:sldId id="373" r:id="rId55"/>
    <p:sldId id="374" r:id="rId56"/>
    <p:sldId id="375" r:id="rId57"/>
    <p:sldId id="376" r:id="rId58"/>
    <p:sldId id="264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0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4CBFA4-C048-4868-9176-1F1850D95253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88D620D2-4DC0-4364-879A-632B4147E5E9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▪ Провести анализ имеющихся данных и выделить те, которым доверяем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0A567518-B6B0-4830-BC76-2B03452A4CA8}" type="parTrans" cxnId="{E4C26999-D500-45BA-A1E2-4F86F96E7990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A092672E-9D27-4247-8FAC-2701DBC89F3C}" type="sibTrans" cxnId="{E4C26999-D500-45BA-A1E2-4F86F96E7990}">
      <dgm:prSet custT="1"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B68C41FC-1B0D-4DB0-BEB4-40D7FE6AB355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▪ Выбрать часть цепочки ценности, обеспеченную достоверными данными и при этом с максимально сильной потребностью в изменениях со стороны бизнеса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AD0C07CB-28ED-4CDF-AE9D-57BB655466AA}" type="parTrans" cxnId="{F82CC149-3735-4723-84FC-227DD5C0895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01E0F152-E330-4121-866A-8974680D1B2C}" type="sibTrans" cxnId="{F82CC149-3735-4723-84FC-227DD5C08959}">
      <dgm:prSet custT="1"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DD89EA06-767A-42C3-8E51-D503FA2EB75D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▪ Ограничить периметр проекта так, чтобы первые результаты можно было увидеть не позже чем через 6 месяцев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74546A06-B2FB-424F-8750-B1BF90889D9D}" type="parTrans" cxnId="{7CB44FB0-66E3-45F7-AC3B-48244553CB5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0122E4A-429E-47E5-82FA-70D575DCD67D}" type="sibTrans" cxnId="{7CB44FB0-66E3-45F7-AC3B-48244553CB52}">
      <dgm:prSet custT="1"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807346C4-5E51-4C4B-AC1A-9DC5ABD756DE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▪ Менять бизнес-процессы, чтобы получать максимальную отдачу от таких проектов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31A3B5A3-F42B-4BAC-883A-311415E02037}" type="parTrans" cxnId="{453259C1-23A1-4553-BBF7-92A01461649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2F0E773-5CC0-41DB-8B79-62015045109A}" type="sibTrans" cxnId="{453259C1-23A1-4553-BBF7-92A01461649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98699459-FB86-43C9-85F6-E63C5974D8E6}" type="pres">
      <dgm:prSet presAssocID="{9D4CBFA4-C048-4868-9176-1F1850D95253}" presName="linearFlow" presStyleCnt="0">
        <dgm:presLayoutVars>
          <dgm:resizeHandles val="exact"/>
        </dgm:presLayoutVars>
      </dgm:prSet>
      <dgm:spPr/>
    </dgm:pt>
    <dgm:pt modelId="{6C17AD99-B2DE-4C87-A414-773253A039C0}" type="pres">
      <dgm:prSet presAssocID="{88D620D2-4DC0-4364-879A-632B4147E5E9}" presName="node" presStyleLbl="node1" presStyleIdx="0" presStyleCnt="4" custScaleX="16825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A4819D-76D3-4E7B-9EE3-ED60E2CFB13F}" type="pres">
      <dgm:prSet presAssocID="{A092672E-9D27-4247-8FAC-2701DBC89F3C}" presName="sibTrans" presStyleLbl="sibTrans2D1" presStyleIdx="0" presStyleCnt="3"/>
      <dgm:spPr/>
      <dgm:t>
        <a:bodyPr/>
        <a:lstStyle/>
        <a:p>
          <a:endParaRPr lang="ru-RU"/>
        </a:p>
      </dgm:t>
    </dgm:pt>
    <dgm:pt modelId="{341981C9-8878-4138-A03F-3E9DCACEE638}" type="pres">
      <dgm:prSet presAssocID="{A092672E-9D27-4247-8FAC-2701DBC89F3C}" presName="connectorText" presStyleLbl="sibTrans2D1" presStyleIdx="0" presStyleCnt="3"/>
      <dgm:spPr/>
      <dgm:t>
        <a:bodyPr/>
        <a:lstStyle/>
        <a:p>
          <a:endParaRPr lang="ru-RU"/>
        </a:p>
      </dgm:t>
    </dgm:pt>
    <dgm:pt modelId="{65D50AA9-E087-4607-B963-B0F68EC41C1B}" type="pres">
      <dgm:prSet presAssocID="{B68C41FC-1B0D-4DB0-BEB4-40D7FE6AB355}" presName="node" presStyleLbl="node1" presStyleIdx="1" presStyleCnt="4" custScaleX="16215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4B5E77-5201-435A-AC2D-736EA8C194F8}" type="pres">
      <dgm:prSet presAssocID="{01E0F152-E330-4121-866A-8974680D1B2C}" presName="sibTrans" presStyleLbl="sibTrans2D1" presStyleIdx="1" presStyleCnt="3"/>
      <dgm:spPr/>
      <dgm:t>
        <a:bodyPr/>
        <a:lstStyle/>
        <a:p>
          <a:endParaRPr lang="ru-RU"/>
        </a:p>
      </dgm:t>
    </dgm:pt>
    <dgm:pt modelId="{66B14672-0F64-43A4-B3D1-568E5845257D}" type="pres">
      <dgm:prSet presAssocID="{01E0F152-E330-4121-866A-8974680D1B2C}" presName="connectorText" presStyleLbl="sibTrans2D1" presStyleIdx="1" presStyleCnt="3"/>
      <dgm:spPr/>
      <dgm:t>
        <a:bodyPr/>
        <a:lstStyle/>
        <a:p>
          <a:endParaRPr lang="ru-RU"/>
        </a:p>
      </dgm:t>
    </dgm:pt>
    <dgm:pt modelId="{4FE5E01B-AD8C-412E-A352-901E05FF808D}" type="pres">
      <dgm:prSet presAssocID="{DD89EA06-767A-42C3-8E51-D503FA2EB75D}" presName="node" presStyleLbl="node1" presStyleIdx="2" presStyleCnt="4" custScaleX="16320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D3317F-B489-4701-9AF2-5235D6849203}" type="pres">
      <dgm:prSet presAssocID="{70122E4A-429E-47E5-82FA-70D575DCD67D}" presName="sibTrans" presStyleLbl="sibTrans2D1" presStyleIdx="2" presStyleCnt="3"/>
      <dgm:spPr/>
      <dgm:t>
        <a:bodyPr/>
        <a:lstStyle/>
        <a:p>
          <a:endParaRPr lang="ru-RU"/>
        </a:p>
      </dgm:t>
    </dgm:pt>
    <dgm:pt modelId="{263F8F09-3D91-45F8-938D-B34B834B9671}" type="pres">
      <dgm:prSet presAssocID="{70122E4A-429E-47E5-82FA-70D575DCD67D}" presName="connectorText" presStyleLbl="sibTrans2D1" presStyleIdx="2" presStyleCnt="3"/>
      <dgm:spPr/>
      <dgm:t>
        <a:bodyPr/>
        <a:lstStyle/>
        <a:p>
          <a:endParaRPr lang="ru-RU"/>
        </a:p>
      </dgm:t>
    </dgm:pt>
    <dgm:pt modelId="{E86E8E85-37EE-4C3F-BFE3-9207BF51BF5B}" type="pres">
      <dgm:prSet presAssocID="{807346C4-5E51-4C4B-AC1A-9DC5ABD756DE}" presName="node" presStyleLbl="node1" presStyleIdx="3" presStyleCnt="4" custScaleX="16170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3B3A918-D3CA-4644-8075-56A8B5FA53C6}" type="presOf" srcId="{01E0F152-E330-4121-866A-8974680D1B2C}" destId="{C84B5E77-5201-435A-AC2D-736EA8C194F8}" srcOrd="0" destOrd="0" presId="urn:microsoft.com/office/officeart/2005/8/layout/process2"/>
    <dgm:cxn modelId="{7CB44FB0-66E3-45F7-AC3B-48244553CB52}" srcId="{9D4CBFA4-C048-4868-9176-1F1850D95253}" destId="{DD89EA06-767A-42C3-8E51-D503FA2EB75D}" srcOrd="2" destOrd="0" parTransId="{74546A06-B2FB-424F-8750-B1BF90889D9D}" sibTransId="{70122E4A-429E-47E5-82FA-70D575DCD67D}"/>
    <dgm:cxn modelId="{453259C1-23A1-4553-BBF7-92A014616492}" srcId="{9D4CBFA4-C048-4868-9176-1F1850D95253}" destId="{807346C4-5E51-4C4B-AC1A-9DC5ABD756DE}" srcOrd="3" destOrd="0" parTransId="{31A3B5A3-F42B-4BAC-883A-311415E02037}" sibTransId="{F2F0E773-5CC0-41DB-8B79-62015045109A}"/>
    <dgm:cxn modelId="{F7D99858-37D2-4523-855B-EEB93B74CA21}" type="presOf" srcId="{A092672E-9D27-4247-8FAC-2701DBC89F3C}" destId="{7EA4819D-76D3-4E7B-9EE3-ED60E2CFB13F}" srcOrd="0" destOrd="0" presId="urn:microsoft.com/office/officeart/2005/8/layout/process2"/>
    <dgm:cxn modelId="{83B2B66E-4F92-4EB4-9D0C-CC1AA85E3FC2}" type="presOf" srcId="{9D4CBFA4-C048-4868-9176-1F1850D95253}" destId="{98699459-FB86-43C9-85F6-E63C5974D8E6}" srcOrd="0" destOrd="0" presId="urn:microsoft.com/office/officeart/2005/8/layout/process2"/>
    <dgm:cxn modelId="{683FCD8F-ED2E-407A-98D3-DAD6001502CD}" type="presOf" srcId="{B68C41FC-1B0D-4DB0-BEB4-40D7FE6AB355}" destId="{65D50AA9-E087-4607-B963-B0F68EC41C1B}" srcOrd="0" destOrd="0" presId="urn:microsoft.com/office/officeart/2005/8/layout/process2"/>
    <dgm:cxn modelId="{E4C26999-D500-45BA-A1E2-4F86F96E7990}" srcId="{9D4CBFA4-C048-4868-9176-1F1850D95253}" destId="{88D620D2-4DC0-4364-879A-632B4147E5E9}" srcOrd="0" destOrd="0" parTransId="{0A567518-B6B0-4830-BC76-2B03452A4CA8}" sibTransId="{A092672E-9D27-4247-8FAC-2701DBC89F3C}"/>
    <dgm:cxn modelId="{18D7C6B2-F4AA-4BC9-913E-91997812797D}" type="presOf" srcId="{70122E4A-429E-47E5-82FA-70D575DCD67D}" destId="{263F8F09-3D91-45F8-938D-B34B834B9671}" srcOrd="1" destOrd="0" presId="urn:microsoft.com/office/officeart/2005/8/layout/process2"/>
    <dgm:cxn modelId="{025A9ED3-BE9B-4CA3-BB98-25F000383E2C}" type="presOf" srcId="{807346C4-5E51-4C4B-AC1A-9DC5ABD756DE}" destId="{E86E8E85-37EE-4C3F-BFE3-9207BF51BF5B}" srcOrd="0" destOrd="0" presId="urn:microsoft.com/office/officeart/2005/8/layout/process2"/>
    <dgm:cxn modelId="{EA048987-9114-4959-83EB-1C317C75AC5E}" type="presOf" srcId="{DD89EA06-767A-42C3-8E51-D503FA2EB75D}" destId="{4FE5E01B-AD8C-412E-A352-901E05FF808D}" srcOrd="0" destOrd="0" presId="urn:microsoft.com/office/officeart/2005/8/layout/process2"/>
    <dgm:cxn modelId="{F82CC149-3735-4723-84FC-227DD5C08959}" srcId="{9D4CBFA4-C048-4868-9176-1F1850D95253}" destId="{B68C41FC-1B0D-4DB0-BEB4-40D7FE6AB355}" srcOrd="1" destOrd="0" parTransId="{AD0C07CB-28ED-4CDF-AE9D-57BB655466AA}" sibTransId="{01E0F152-E330-4121-866A-8974680D1B2C}"/>
    <dgm:cxn modelId="{5496F31D-AF0D-45A8-BDCA-673DC25A6DAB}" type="presOf" srcId="{88D620D2-4DC0-4364-879A-632B4147E5E9}" destId="{6C17AD99-B2DE-4C87-A414-773253A039C0}" srcOrd="0" destOrd="0" presId="urn:microsoft.com/office/officeart/2005/8/layout/process2"/>
    <dgm:cxn modelId="{26422815-92D9-40FE-99C3-56EDB7A86AF3}" type="presOf" srcId="{70122E4A-429E-47E5-82FA-70D575DCD67D}" destId="{E5D3317F-B489-4701-9AF2-5235D6849203}" srcOrd="0" destOrd="0" presId="urn:microsoft.com/office/officeart/2005/8/layout/process2"/>
    <dgm:cxn modelId="{E0AF309A-5055-47BE-8A25-AFEAE86F1C98}" type="presOf" srcId="{01E0F152-E330-4121-866A-8974680D1B2C}" destId="{66B14672-0F64-43A4-B3D1-568E5845257D}" srcOrd="1" destOrd="0" presId="urn:microsoft.com/office/officeart/2005/8/layout/process2"/>
    <dgm:cxn modelId="{A71CEE96-88CC-4B30-AF28-4FB27907F78E}" type="presOf" srcId="{A092672E-9D27-4247-8FAC-2701DBC89F3C}" destId="{341981C9-8878-4138-A03F-3E9DCACEE638}" srcOrd="1" destOrd="0" presId="urn:microsoft.com/office/officeart/2005/8/layout/process2"/>
    <dgm:cxn modelId="{1FFCD69B-2868-4D83-B25A-F8DD385AF031}" type="presParOf" srcId="{98699459-FB86-43C9-85F6-E63C5974D8E6}" destId="{6C17AD99-B2DE-4C87-A414-773253A039C0}" srcOrd="0" destOrd="0" presId="urn:microsoft.com/office/officeart/2005/8/layout/process2"/>
    <dgm:cxn modelId="{530DF86C-472B-41F0-81F4-DE4A0733BBD1}" type="presParOf" srcId="{98699459-FB86-43C9-85F6-E63C5974D8E6}" destId="{7EA4819D-76D3-4E7B-9EE3-ED60E2CFB13F}" srcOrd="1" destOrd="0" presId="urn:microsoft.com/office/officeart/2005/8/layout/process2"/>
    <dgm:cxn modelId="{3E771E41-9D21-4520-B6F0-145692245AB4}" type="presParOf" srcId="{7EA4819D-76D3-4E7B-9EE3-ED60E2CFB13F}" destId="{341981C9-8878-4138-A03F-3E9DCACEE638}" srcOrd="0" destOrd="0" presId="urn:microsoft.com/office/officeart/2005/8/layout/process2"/>
    <dgm:cxn modelId="{DCA8651B-8D71-4160-AEAC-7630634770F8}" type="presParOf" srcId="{98699459-FB86-43C9-85F6-E63C5974D8E6}" destId="{65D50AA9-E087-4607-B963-B0F68EC41C1B}" srcOrd="2" destOrd="0" presId="urn:microsoft.com/office/officeart/2005/8/layout/process2"/>
    <dgm:cxn modelId="{F8470FBA-EF90-4F0C-9298-B2FF69155E3D}" type="presParOf" srcId="{98699459-FB86-43C9-85F6-E63C5974D8E6}" destId="{C84B5E77-5201-435A-AC2D-736EA8C194F8}" srcOrd="3" destOrd="0" presId="urn:microsoft.com/office/officeart/2005/8/layout/process2"/>
    <dgm:cxn modelId="{BB407D41-1227-4E0F-B85B-619E8D3D4933}" type="presParOf" srcId="{C84B5E77-5201-435A-AC2D-736EA8C194F8}" destId="{66B14672-0F64-43A4-B3D1-568E5845257D}" srcOrd="0" destOrd="0" presId="urn:microsoft.com/office/officeart/2005/8/layout/process2"/>
    <dgm:cxn modelId="{7138E846-1EB9-482E-A3E7-DD3200E760A7}" type="presParOf" srcId="{98699459-FB86-43C9-85F6-E63C5974D8E6}" destId="{4FE5E01B-AD8C-412E-A352-901E05FF808D}" srcOrd="4" destOrd="0" presId="urn:microsoft.com/office/officeart/2005/8/layout/process2"/>
    <dgm:cxn modelId="{4E35FBBD-617B-4E74-BBBF-666E3290C7D8}" type="presParOf" srcId="{98699459-FB86-43C9-85F6-E63C5974D8E6}" destId="{E5D3317F-B489-4701-9AF2-5235D6849203}" srcOrd="5" destOrd="0" presId="urn:microsoft.com/office/officeart/2005/8/layout/process2"/>
    <dgm:cxn modelId="{9668F454-09F1-4B32-B3EE-ED4091FD557D}" type="presParOf" srcId="{E5D3317F-B489-4701-9AF2-5235D6849203}" destId="{263F8F09-3D91-45F8-938D-B34B834B9671}" srcOrd="0" destOrd="0" presId="urn:microsoft.com/office/officeart/2005/8/layout/process2"/>
    <dgm:cxn modelId="{9E04E328-031B-4F1C-9E2C-CA4D06CBDEE5}" type="presParOf" srcId="{98699459-FB86-43C9-85F6-E63C5974D8E6}" destId="{E86E8E85-37EE-4C3F-BFE3-9207BF51BF5B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0E8748-2C47-4AED-83A1-012D7BC7BCF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526C089-5CB6-461F-A9C4-80C1C1217119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▪ Низкая достоверность информации о распределении качества руды в недрах</a:t>
          </a:r>
          <a:endParaRPr lang="ru-RU" dirty="0"/>
        </a:p>
      </dgm:t>
    </dgm:pt>
    <dgm:pt modelId="{A849708A-4F25-4221-956A-5DA5635D8DE0}" type="parTrans" cxnId="{A444D575-7E4E-46A4-A2CE-3982B0983D1E}">
      <dgm:prSet/>
      <dgm:spPr/>
      <dgm:t>
        <a:bodyPr/>
        <a:lstStyle/>
        <a:p>
          <a:endParaRPr lang="ru-RU"/>
        </a:p>
      </dgm:t>
    </dgm:pt>
    <dgm:pt modelId="{46BCF029-E019-44AF-AC8F-4D5AE0659DD8}" type="sibTrans" cxnId="{A444D575-7E4E-46A4-A2CE-3982B0983D1E}">
      <dgm:prSet/>
      <dgm:spPr/>
      <dgm:t>
        <a:bodyPr/>
        <a:lstStyle/>
        <a:p>
          <a:endParaRPr lang="ru-RU"/>
        </a:p>
      </dgm:t>
    </dgm:pt>
    <dgm:pt modelId="{E423831E-B4D0-4285-AD97-C3162B38B80D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▪ Необходимость распределения работ не только во времени, но и в пространстве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F4BC902-38DA-498D-96BF-720316494875}" type="parTrans" cxnId="{766C79F9-8045-4AAA-B87B-CDDC1D7709D2}">
      <dgm:prSet/>
      <dgm:spPr/>
      <dgm:t>
        <a:bodyPr/>
        <a:lstStyle/>
        <a:p>
          <a:endParaRPr lang="ru-RU"/>
        </a:p>
      </dgm:t>
    </dgm:pt>
    <dgm:pt modelId="{3CA58AC8-5583-487A-B088-36E0C891BB9A}" type="sibTrans" cxnId="{766C79F9-8045-4AAA-B87B-CDDC1D7709D2}">
      <dgm:prSet/>
      <dgm:spPr/>
      <dgm:t>
        <a:bodyPr/>
        <a:lstStyle/>
        <a:p>
          <a:endParaRPr lang="ru-RU"/>
        </a:p>
      </dgm:t>
    </dgm:pt>
    <dgm:pt modelId="{248911BA-110B-4881-AC68-7C67736A186A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▪ Объект планирования находится в постоянном изменении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B3B6BC82-CF01-4D6D-A419-E2CDC5A33951}" type="parTrans" cxnId="{25B3FE1F-6294-4E84-B2C2-6A06C7C3DE68}">
      <dgm:prSet/>
      <dgm:spPr/>
      <dgm:t>
        <a:bodyPr/>
        <a:lstStyle/>
        <a:p>
          <a:endParaRPr lang="ru-RU"/>
        </a:p>
      </dgm:t>
    </dgm:pt>
    <dgm:pt modelId="{9C670B95-BDF9-4B56-A5D1-DDEEFD70F0C7}" type="sibTrans" cxnId="{25B3FE1F-6294-4E84-B2C2-6A06C7C3DE68}">
      <dgm:prSet/>
      <dgm:spPr/>
      <dgm:t>
        <a:bodyPr/>
        <a:lstStyle/>
        <a:p>
          <a:endParaRPr lang="ru-RU"/>
        </a:p>
      </dgm:t>
    </dgm:pt>
    <dgm:pt modelId="{02839678-471F-49E9-BAB8-EA8D5B413D21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▪ Необходимость одновременного учета множества факторов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D54DC2A-6EB2-4F5E-836B-9E0FB039653A}" type="parTrans" cxnId="{DF34DBD4-8F14-40A9-9333-7EB374A6F9A5}">
      <dgm:prSet/>
      <dgm:spPr/>
      <dgm:t>
        <a:bodyPr/>
        <a:lstStyle/>
        <a:p>
          <a:endParaRPr lang="ru-RU"/>
        </a:p>
      </dgm:t>
    </dgm:pt>
    <dgm:pt modelId="{FA54782D-58B3-4640-884E-3F4AF40B7422}" type="sibTrans" cxnId="{DF34DBD4-8F14-40A9-9333-7EB374A6F9A5}">
      <dgm:prSet/>
      <dgm:spPr/>
      <dgm:t>
        <a:bodyPr/>
        <a:lstStyle/>
        <a:p>
          <a:endParaRPr lang="ru-RU"/>
        </a:p>
      </dgm:t>
    </dgm:pt>
    <dgm:pt modelId="{3D5893C7-37FD-4AE5-B286-9B910F4A9CB7}" type="pres">
      <dgm:prSet presAssocID="{390E8748-2C47-4AED-83A1-012D7BC7BCF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826C39E-51AE-42B9-AFDB-FE75E90DE6AC}" type="pres">
      <dgm:prSet presAssocID="{C526C089-5CB6-461F-A9C4-80C1C121711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433805C-2E5A-4CDF-A6BF-5FC72BB25814}" type="pres">
      <dgm:prSet presAssocID="{46BCF029-E019-44AF-AC8F-4D5AE0659DD8}" presName="sibTrans" presStyleCnt="0"/>
      <dgm:spPr/>
    </dgm:pt>
    <dgm:pt modelId="{A8A4E344-2915-4BBE-8D40-7E575EB2060A}" type="pres">
      <dgm:prSet presAssocID="{E423831E-B4D0-4285-AD97-C3162B38B80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0E285A-CE9D-4F6F-B856-E6822DC95A9C}" type="pres">
      <dgm:prSet presAssocID="{3CA58AC8-5583-487A-B088-36E0C891BB9A}" presName="sibTrans" presStyleCnt="0"/>
      <dgm:spPr/>
    </dgm:pt>
    <dgm:pt modelId="{51221BA7-6A62-4BD8-B8D5-ACFF96794C1F}" type="pres">
      <dgm:prSet presAssocID="{248911BA-110B-4881-AC68-7C67736A186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E56224-410F-4E74-AB15-8CC55608C62D}" type="pres">
      <dgm:prSet presAssocID="{9C670B95-BDF9-4B56-A5D1-DDEEFD70F0C7}" presName="sibTrans" presStyleCnt="0"/>
      <dgm:spPr/>
    </dgm:pt>
    <dgm:pt modelId="{2AAC2058-0955-4BBB-8BAF-6CBEE5F4A32A}" type="pres">
      <dgm:prSet presAssocID="{02839678-471F-49E9-BAB8-EA8D5B413D21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444D575-7E4E-46A4-A2CE-3982B0983D1E}" srcId="{390E8748-2C47-4AED-83A1-012D7BC7BCF9}" destId="{C526C089-5CB6-461F-A9C4-80C1C1217119}" srcOrd="0" destOrd="0" parTransId="{A849708A-4F25-4221-956A-5DA5635D8DE0}" sibTransId="{46BCF029-E019-44AF-AC8F-4D5AE0659DD8}"/>
    <dgm:cxn modelId="{741D2B9F-E99E-4446-9756-E74CC86CF6C9}" type="presOf" srcId="{C526C089-5CB6-461F-A9C4-80C1C1217119}" destId="{2826C39E-51AE-42B9-AFDB-FE75E90DE6AC}" srcOrd="0" destOrd="0" presId="urn:microsoft.com/office/officeart/2005/8/layout/default"/>
    <dgm:cxn modelId="{25B3FE1F-6294-4E84-B2C2-6A06C7C3DE68}" srcId="{390E8748-2C47-4AED-83A1-012D7BC7BCF9}" destId="{248911BA-110B-4881-AC68-7C67736A186A}" srcOrd="2" destOrd="0" parTransId="{B3B6BC82-CF01-4D6D-A419-E2CDC5A33951}" sibTransId="{9C670B95-BDF9-4B56-A5D1-DDEEFD70F0C7}"/>
    <dgm:cxn modelId="{DF34DBD4-8F14-40A9-9333-7EB374A6F9A5}" srcId="{390E8748-2C47-4AED-83A1-012D7BC7BCF9}" destId="{02839678-471F-49E9-BAB8-EA8D5B413D21}" srcOrd="3" destOrd="0" parTransId="{8D54DC2A-6EB2-4F5E-836B-9E0FB039653A}" sibTransId="{FA54782D-58B3-4640-884E-3F4AF40B7422}"/>
    <dgm:cxn modelId="{766C79F9-8045-4AAA-B87B-CDDC1D7709D2}" srcId="{390E8748-2C47-4AED-83A1-012D7BC7BCF9}" destId="{E423831E-B4D0-4285-AD97-C3162B38B80D}" srcOrd="1" destOrd="0" parTransId="{AF4BC902-38DA-498D-96BF-720316494875}" sibTransId="{3CA58AC8-5583-487A-B088-36E0C891BB9A}"/>
    <dgm:cxn modelId="{10BB0827-6FC2-4045-BE9B-5BADF0CB511C}" type="presOf" srcId="{390E8748-2C47-4AED-83A1-012D7BC7BCF9}" destId="{3D5893C7-37FD-4AE5-B286-9B910F4A9CB7}" srcOrd="0" destOrd="0" presId="urn:microsoft.com/office/officeart/2005/8/layout/default"/>
    <dgm:cxn modelId="{E1D7B29C-2A60-4BAD-B951-2842898C3947}" type="presOf" srcId="{02839678-471F-49E9-BAB8-EA8D5B413D21}" destId="{2AAC2058-0955-4BBB-8BAF-6CBEE5F4A32A}" srcOrd="0" destOrd="0" presId="urn:microsoft.com/office/officeart/2005/8/layout/default"/>
    <dgm:cxn modelId="{00CDCDEF-46ED-4017-91D2-272059C514DF}" type="presOf" srcId="{E423831E-B4D0-4285-AD97-C3162B38B80D}" destId="{A8A4E344-2915-4BBE-8D40-7E575EB2060A}" srcOrd="0" destOrd="0" presId="urn:microsoft.com/office/officeart/2005/8/layout/default"/>
    <dgm:cxn modelId="{CE713FAF-3B88-4056-8CF1-9BEBF890BF5F}" type="presOf" srcId="{248911BA-110B-4881-AC68-7C67736A186A}" destId="{51221BA7-6A62-4BD8-B8D5-ACFF96794C1F}" srcOrd="0" destOrd="0" presId="urn:microsoft.com/office/officeart/2005/8/layout/default"/>
    <dgm:cxn modelId="{9B57E4DF-25A0-46E8-BA6A-1BF013E94C71}" type="presParOf" srcId="{3D5893C7-37FD-4AE5-B286-9B910F4A9CB7}" destId="{2826C39E-51AE-42B9-AFDB-FE75E90DE6AC}" srcOrd="0" destOrd="0" presId="urn:microsoft.com/office/officeart/2005/8/layout/default"/>
    <dgm:cxn modelId="{6DA9F980-2024-4540-8FE5-0BB0C77E836D}" type="presParOf" srcId="{3D5893C7-37FD-4AE5-B286-9B910F4A9CB7}" destId="{D433805C-2E5A-4CDF-A6BF-5FC72BB25814}" srcOrd="1" destOrd="0" presId="urn:microsoft.com/office/officeart/2005/8/layout/default"/>
    <dgm:cxn modelId="{BC3347E9-726F-4CC3-8060-EB61CAAB9C58}" type="presParOf" srcId="{3D5893C7-37FD-4AE5-B286-9B910F4A9CB7}" destId="{A8A4E344-2915-4BBE-8D40-7E575EB2060A}" srcOrd="2" destOrd="0" presId="urn:microsoft.com/office/officeart/2005/8/layout/default"/>
    <dgm:cxn modelId="{B365B97A-64C1-4D78-B06F-A743C553D819}" type="presParOf" srcId="{3D5893C7-37FD-4AE5-B286-9B910F4A9CB7}" destId="{1A0E285A-CE9D-4F6F-B856-E6822DC95A9C}" srcOrd="3" destOrd="0" presId="urn:microsoft.com/office/officeart/2005/8/layout/default"/>
    <dgm:cxn modelId="{3852BED7-7E23-4D33-AE6F-56BEF688C799}" type="presParOf" srcId="{3D5893C7-37FD-4AE5-B286-9B910F4A9CB7}" destId="{51221BA7-6A62-4BD8-B8D5-ACFF96794C1F}" srcOrd="4" destOrd="0" presId="urn:microsoft.com/office/officeart/2005/8/layout/default"/>
    <dgm:cxn modelId="{D546952C-FB67-4A22-91D4-ED39B0A5A7A1}" type="presParOf" srcId="{3D5893C7-37FD-4AE5-B286-9B910F4A9CB7}" destId="{86E56224-410F-4E74-AB15-8CC55608C62D}" srcOrd="5" destOrd="0" presId="urn:microsoft.com/office/officeart/2005/8/layout/default"/>
    <dgm:cxn modelId="{785D2243-E841-451A-B2D7-58422F6E7500}" type="presParOf" srcId="{3D5893C7-37FD-4AE5-B286-9B910F4A9CB7}" destId="{2AAC2058-0955-4BBB-8BAF-6CBEE5F4A32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148A5D-13F8-4CE5-8B29-26912680BFD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07EF87E-21A8-44BF-A537-13CD309FF090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Формирует предельные карьеры (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ultimate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pit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shells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) и набор вложенных оболочек при разных экономических сценариях. 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2D3C01C1-4B3B-4363-9041-6D70781DF9C1}" type="parTrans" cxnId="{C9FDC22D-40BC-410C-B8AD-A2542F4FF76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1651A18-C6FB-4929-BF49-623282D583D1}" type="sibTrans" cxnId="{C9FDC22D-40BC-410C-B8AD-A2542F4FF76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2BDDB80-8296-4169-B7A1-36F43ECA8942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Проводит параметрическую и сценарную чувствительность (цены металлов, затраты, дисконтирование и т.д.).  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D6345BA9-4BDD-425D-BF38-49E3D6A0FA91}" type="parTrans" cxnId="{15ED3794-FCCF-4FEF-9D51-78A0BDCEAA9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9140B0D-1D95-4F5F-9BCE-5CB0DFC8C0BE}" type="sibTrans" cxnId="{15ED3794-FCCF-4FEF-9D51-78A0BDCEAA9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47E480A-C311-473F-9BE7-0022D71BB941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Выдает количественные экономические показатели по оболочкам: NPV, тоннаж руды/пустой породы, strip ratio, средние содержания, contribution tables и пр.  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B96530EA-57E0-4A47-917A-26EBDF160F16}" type="parTrans" cxnId="{355748CA-3654-472B-8A75-3B56035AC8A3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7EF4F6D-429B-423C-BE72-D1B14CDADB31}" type="sibTrans" cxnId="{355748CA-3654-472B-8A75-3B56035AC8A3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10DAD02-C468-4B0D-A0F0-2765FC600427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Позволяет моделировать стадии (pushbacks) — последовательные фазы разработки внутри предельного карьера.  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B21923BB-D892-4CE7-984D-719CEB0DC40C}" type="parTrans" cxnId="{CE90E5D9-A506-45BF-A3C8-EFC1865316D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4D75ABF-EA3A-47BF-BF6C-45A612ECF7E0}" type="sibTrans" cxnId="{CE90E5D9-A506-45BF-A3C8-EFC1865316D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A0A1E43-A013-452D-A378-7D510E1C5FBD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Поддерживает ограничивающие условия: углы откосов, зоны нерудных/охранных ограничений, инфраструктурные лимиты, предварительная вскрыша.  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BBD8269B-CFAA-4E2E-928B-8DBB4C2A3C06}" type="parTrans" cxnId="{F32F2E18-F09F-4923-AF62-46395E552A9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6F3D474-C4A9-4038-B29C-EECAF2A3A4F5}" type="sibTrans" cxnId="{F32F2E18-F09F-4923-AF62-46395E552A9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3F739C6-2501-4F60-A500-A3F4E1018225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Интегрируется с блочными моделями и системами горного проектирования и может экспортировать границы и таблицы для дальнейшего детального планирования.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F1F7063C-F1A0-420D-B31C-13336294EF14}" type="parTrans" cxnId="{574731EC-7278-4A6B-B73E-59BFB87EE8D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26D160B-0F6F-4A45-8845-7FB4A3DBA63F}" type="sibTrans" cxnId="{574731EC-7278-4A6B-B73E-59BFB87EE8D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7E5209E-4C26-4120-B859-26C862D722B3}" type="pres">
      <dgm:prSet presAssocID="{3A148A5D-13F8-4CE5-8B29-26912680BFD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C7E2AB5-143E-4221-B251-52C1E159CD16}" type="pres">
      <dgm:prSet presAssocID="{C07EF87E-21A8-44BF-A537-13CD309FF090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665305F-07F8-40A5-9E27-D639EFBFA153}" type="pres">
      <dgm:prSet presAssocID="{01651A18-C6FB-4929-BF49-623282D583D1}" presName="sibTrans" presStyleCnt="0"/>
      <dgm:spPr/>
    </dgm:pt>
    <dgm:pt modelId="{C060B89B-3D5A-4FC7-93C9-CCAF41959F7F}" type="pres">
      <dgm:prSet presAssocID="{02BDDB80-8296-4169-B7A1-36F43ECA8942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0E4CF8-3668-4603-805D-B79D4A27636F}" type="pres">
      <dgm:prSet presAssocID="{29140B0D-1D95-4F5F-9BCE-5CB0DFC8C0BE}" presName="sibTrans" presStyleCnt="0"/>
      <dgm:spPr/>
    </dgm:pt>
    <dgm:pt modelId="{60582EDC-ECE7-4E36-9F93-3708F3CC76DA}" type="pres">
      <dgm:prSet presAssocID="{047E480A-C311-473F-9BE7-0022D71BB941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66009AB-D816-48A7-A5C5-C1C42532CD6D}" type="pres">
      <dgm:prSet presAssocID="{F7EF4F6D-429B-423C-BE72-D1B14CDADB31}" presName="sibTrans" presStyleCnt="0"/>
      <dgm:spPr/>
    </dgm:pt>
    <dgm:pt modelId="{155A42E5-3F4A-4A79-8F47-595DF0C9F844}" type="pres">
      <dgm:prSet presAssocID="{310DAD02-C468-4B0D-A0F0-2765FC600427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A66E222-AB73-4F18-BE53-6B0081B4829A}" type="pres">
      <dgm:prSet presAssocID="{44D75ABF-EA3A-47BF-BF6C-45A612ECF7E0}" presName="sibTrans" presStyleCnt="0"/>
      <dgm:spPr/>
    </dgm:pt>
    <dgm:pt modelId="{D477DADC-BD53-448C-837F-3BB6EC9EA927}" type="pres">
      <dgm:prSet presAssocID="{AA0A1E43-A013-452D-A378-7D510E1C5FBD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FED303-B6B1-49FF-ABC3-6970BA63A2E0}" type="pres">
      <dgm:prSet presAssocID="{66F3D474-C4A9-4038-B29C-EECAF2A3A4F5}" presName="sibTrans" presStyleCnt="0"/>
      <dgm:spPr/>
    </dgm:pt>
    <dgm:pt modelId="{80966935-8A70-4ACD-957C-D9BC697DE13B}" type="pres">
      <dgm:prSet presAssocID="{13F739C6-2501-4F60-A500-A3F4E1018225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5ED3794-FCCF-4FEF-9D51-78A0BDCEAA9E}" srcId="{3A148A5D-13F8-4CE5-8B29-26912680BFD6}" destId="{02BDDB80-8296-4169-B7A1-36F43ECA8942}" srcOrd="1" destOrd="0" parTransId="{D6345BA9-4BDD-425D-BF38-49E3D6A0FA91}" sibTransId="{29140B0D-1D95-4F5F-9BCE-5CB0DFC8C0BE}"/>
    <dgm:cxn modelId="{C9FDC22D-40BC-410C-B8AD-A2542F4FF761}" srcId="{3A148A5D-13F8-4CE5-8B29-26912680BFD6}" destId="{C07EF87E-21A8-44BF-A537-13CD309FF090}" srcOrd="0" destOrd="0" parTransId="{2D3C01C1-4B3B-4363-9041-6D70781DF9C1}" sibTransId="{01651A18-C6FB-4929-BF49-623282D583D1}"/>
    <dgm:cxn modelId="{3E49D882-C9C7-48BE-9FD6-1A0BB9822239}" type="presOf" srcId="{13F739C6-2501-4F60-A500-A3F4E1018225}" destId="{80966935-8A70-4ACD-957C-D9BC697DE13B}" srcOrd="0" destOrd="0" presId="urn:microsoft.com/office/officeart/2005/8/layout/default"/>
    <dgm:cxn modelId="{C1349D49-5B8E-464A-ABFC-2E75824B8F3D}" type="presOf" srcId="{3A148A5D-13F8-4CE5-8B29-26912680BFD6}" destId="{57E5209E-4C26-4120-B859-26C862D722B3}" srcOrd="0" destOrd="0" presId="urn:microsoft.com/office/officeart/2005/8/layout/default"/>
    <dgm:cxn modelId="{CC90DFE4-1E87-4B26-9ABA-4D16C49BA890}" type="presOf" srcId="{047E480A-C311-473F-9BE7-0022D71BB941}" destId="{60582EDC-ECE7-4E36-9F93-3708F3CC76DA}" srcOrd="0" destOrd="0" presId="urn:microsoft.com/office/officeart/2005/8/layout/default"/>
    <dgm:cxn modelId="{5F576069-7228-4469-B068-3C1E5EB621C4}" type="presOf" srcId="{02BDDB80-8296-4169-B7A1-36F43ECA8942}" destId="{C060B89B-3D5A-4FC7-93C9-CCAF41959F7F}" srcOrd="0" destOrd="0" presId="urn:microsoft.com/office/officeart/2005/8/layout/default"/>
    <dgm:cxn modelId="{CE90E5D9-A506-45BF-A3C8-EFC1865316D0}" srcId="{3A148A5D-13F8-4CE5-8B29-26912680BFD6}" destId="{310DAD02-C468-4B0D-A0F0-2765FC600427}" srcOrd="3" destOrd="0" parTransId="{B21923BB-D892-4CE7-984D-719CEB0DC40C}" sibTransId="{44D75ABF-EA3A-47BF-BF6C-45A612ECF7E0}"/>
    <dgm:cxn modelId="{8ECBD52A-DCBC-4479-B188-CCCA438B2DC8}" type="presOf" srcId="{C07EF87E-21A8-44BF-A537-13CD309FF090}" destId="{7C7E2AB5-143E-4221-B251-52C1E159CD16}" srcOrd="0" destOrd="0" presId="urn:microsoft.com/office/officeart/2005/8/layout/default"/>
    <dgm:cxn modelId="{F32F2E18-F09F-4923-AF62-46395E552A97}" srcId="{3A148A5D-13F8-4CE5-8B29-26912680BFD6}" destId="{AA0A1E43-A013-452D-A378-7D510E1C5FBD}" srcOrd="4" destOrd="0" parTransId="{BBD8269B-CFAA-4E2E-928B-8DBB4C2A3C06}" sibTransId="{66F3D474-C4A9-4038-B29C-EECAF2A3A4F5}"/>
    <dgm:cxn modelId="{355748CA-3654-472B-8A75-3B56035AC8A3}" srcId="{3A148A5D-13F8-4CE5-8B29-26912680BFD6}" destId="{047E480A-C311-473F-9BE7-0022D71BB941}" srcOrd="2" destOrd="0" parTransId="{B96530EA-57E0-4A47-917A-26EBDF160F16}" sibTransId="{F7EF4F6D-429B-423C-BE72-D1B14CDADB31}"/>
    <dgm:cxn modelId="{574731EC-7278-4A6B-B73E-59BFB87EE8D6}" srcId="{3A148A5D-13F8-4CE5-8B29-26912680BFD6}" destId="{13F739C6-2501-4F60-A500-A3F4E1018225}" srcOrd="5" destOrd="0" parTransId="{F1F7063C-F1A0-420D-B31C-13336294EF14}" sibTransId="{D26D160B-0F6F-4A45-8845-7FB4A3DBA63F}"/>
    <dgm:cxn modelId="{06255033-19C6-454A-87B5-E8751AD9F3D0}" type="presOf" srcId="{AA0A1E43-A013-452D-A378-7D510E1C5FBD}" destId="{D477DADC-BD53-448C-837F-3BB6EC9EA927}" srcOrd="0" destOrd="0" presId="urn:microsoft.com/office/officeart/2005/8/layout/default"/>
    <dgm:cxn modelId="{9DC466C8-8493-4DB7-B845-4F33A5B697B5}" type="presOf" srcId="{310DAD02-C468-4B0D-A0F0-2765FC600427}" destId="{155A42E5-3F4A-4A79-8F47-595DF0C9F844}" srcOrd="0" destOrd="0" presId="urn:microsoft.com/office/officeart/2005/8/layout/default"/>
    <dgm:cxn modelId="{A09B0364-CD31-42E0-94AB-E12D7338A1AD}" type="presParOf" srcId="{57E5209E-4C26-4120-B859-26C862D722B3}" destId="{7C7E2AB5-143E-4221-B251-52C1E159CD16}" srcOrd="0" destOrd="0" presId="urn:microsoft.com/office/officeart/2005/8/layout/default"/>
    <dgm:cxn modelId="{71317612-72F1-4CC6-8D28-DA1BA8A6D2F7}" type="presParOf" srcId="{57E5209E-4C26-4120-B859-26C862D722B3}" destId="{7665305F-07F8-40A5-9E27-D639EFBFA153}" srcOrd="1" destOrd="0" presId="urn:microsoft.com/office/officeart/2005/8/layout/default"/>
    <dgm:cxn modelId="{AF58D529-8A77-4FE2-A809-BFAB00B5CD91}" type="presParOf" srcId="{57E5209E-4C26-4120-B859-26C862D722B3}" destId="{C060B89B-3D5A-4FC7-93C9-CCAF41959F7F}" srcOrd="2" destOrd="0" presId="urn:microsoft.com/office/officeart/2005/8/layout/default"/>
    <dgm:cxn modelId="{4766F839-CE31-4C12-A7C7-5F3DBE647304}" type="presParOf" srcId="{57E5209E-4C26-4120-B859-26C862D722B3}" destId="{340E4CF8-3668-4603-805D-B79D4A27636F}" srcOrd="3" destOrd="0" presId="urn:microsoft.com/office/officeart/2005/8/layout/default"/>
    <dgm:cxn modelId="{D30DBA8C-64C8-443E-946E-0DEAD92F7EE6}" type="presParOf" srcId="{57E5209E-4C26-4120-B859-26C862D722B3}" destId="{60582EDC-ECE7-4E36-9F93-3708F3CC76DA}" srcOrd="4" destOrd="0" presId="urn:microsoft.com/office/officeart/2005/8/layout/default"/>
    <dgm:cxn modelId="{4847FC24-9408-4C4E-8359-08C2D650404C}" type="presParOf" srcId="{57E5209E-4C26-4120-B859-26C862D722B3}" destId="{666009AB-D816-48A7-A5C5-C1C42532CD6D}" srcOrd="5" destOrd="0" presId="urn:microsoft.com/office/officeart/2005/8/layout/default"/>
    <dgm:cxn modelId="{1D6C455C-B0FE-4910-886B-37044134B5C0}" type="presParOf" srcId="{57E5209E-4C26-4120-B859-26C862D722B3}" destId="{155A42E5-3F4A-4A79-8F47-595DF0C9F844}" srcOrd="6" destOrd="0" presId="urn:microsoft.com/office/officeart/2005/8/layout/default"/>
    <dgm:cxn modelId="{14442E20-4EF0-47A7-B154-BA746D316139}" type="presParOf" srcId="{57E5209E-4C26-4120-B859-26C862D722B3}" destId="{5A66E222-AB73-4F18-BE53-6B0081B4829A}" srcOrd="7" destOrd="0" presId="urn:microsoft.com/office/officeart/2005/8/layout/default"/>
    <dgm:cxn modelId="{A2B48F6C-F7C9-4C9C-A7D7-E847BEE9B4BE}" type="presParOf" srcId="{57E5209E-4C26-4120-B859-26C862D722B3}" destId="{D477DADC-BD53-448C-837F-3BB6EC9EA927}" srcOrd="8" destOrd="0" presId="urn:microsoft.com/office/officeart/2005/8/layout/default"/>
    <dgm:cxn modelId="{48503C9D-FED7-4DAA-8D3C-45DF01891F96}" type="presParOf" srcId="{57E5209E-4C26-4120-B859-26C862D722B3}" destId="{7DFED303-B6B1-49FF-ABC3-6970BA63A2E0}" srcOrd="9" destOrd="0" presId="urn:microsoft.com/office/officeart/2005/8/layout/default"/>
    <dgm:cxn modelId="{293F3845-D12E-4FB2-91F0-83109D960F9B}" type="presParOf" srcId="{57E5209E-4C26-4120-B859-26C862D722B3}" destId="{80966935-8A70-4ACD-957C-D9BC697DE13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E171D6-3942-4D22-81CD-15ADB9F26A7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7489946-181D-49F0-B9AF-7BF8B110867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Входные данные (что нужно подготовить)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457E5BD-D76F-4DBA-904D-BA300BDA621B}" type="parTrans" cxnId="{174A57D8-3F70-4989-ADA7-D8E8E562DA6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70D1314-978A-4E83-9171-B1DB3F4F8A17}" type="sibTrans" cxnId="{174A57D8-3F70-4989-ADA7-D8E8E562DA6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F39990F-6723-4150-AB05-F31D6ECCD641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блочная модель (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grades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, плотности, литология и др. атрибуты); 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F633EA13-3B5B-4A5A-AFE8-C3C1A12D92C9}" type="parTrans" cxnId="{A02D25A2-F973-41BD-A133-C7628D520E8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E285E1E-A491-4F3D-80B2-188D4ED79E6B}" type="sibTrans" cxnId="{A02D25A2-F973-41BD-A133-C7628D520E8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C4E079D-76C4-4A6A-9B9A-17EA90C75DD9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Выходные данные (что получают)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B0DEBEB2-063F-4F38-956F-213A82900303}" type="parTrans" cxnId="{FDEF60DC-A403-44A4-A8AB-FAACEB73B0B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01EB5E9-B2D2-415C-BB0E-D71DA1D66E95}" type="sibTrans" cxnId="{FDEF60DC-A403-44A4-A8AB-FAACEB73B0B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FF4B870-66DB-432C-BAA1-53E9E5772A32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набор вложенных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pit‑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оболочек (геометрия/координаты); 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9C81769-64BC-44B3-9827-C9C0DC8559FD}" type="parTrans" cxnId="{9FD692E8-62F6-4E66-9F3C-94CDCF022F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8441E00-8B9E-4D99-BB2D-907B1527EFF4}" type="sibTrans" cxnId="{9FD692E8-62F6-4E66-9F3C-94CDCF022F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48CA850-4D4D-40CE-AEEF-F2C0B4000695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технологические параметры (восстановление, переработка); 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EDC3B53-33C4-4AA3-9788-73C6E07637EB}" type="parTrans" cxnId="{EC584EBC-1572-41F2-9FD4-D68107906B5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A965AF0-34CE-4238-9A4F-FBE8CEFA1836}" type="sibTrans" cxnId="{EC584EBC-1572-41F2-9FD4-D68107906B5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0F15D49-918A-4D19-BDBE-BCEB40A3045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цены на продукцию и скидки/премии; 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9B3C848-3014-4452-AA57-F3B49EAB4C8F}" type="parTrans" cxnId="{EEFF4F50-E828-4079-841D-D123E9785FD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7FC712F-A2CB-4640-8E04-FB2BA04FB4C4}" type="sibTrans" cxnId="{EEFF4F50-E828-4079-841D-D123E9785FD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0B628B2-4297-48B5-B212-193EE463C139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себестоимости: добыча, переработка, общие расходы, капитальные затраты; 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E958A3B-22F9-42FB-94D9-97F3B161564F}" type="parTrans" cxnId="{82CFDB76-99E4-44D5-9BC2-E54A22AD781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B67599D-A408-4F63-BC00-C9E9B3BF3ED2}" type="sibTrans" cxnId="{82CFDB76-99E4-44D5-9BC2-E54A22AD781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AF2A6BB-4B77-43FF-BA1D-A9FB1C4D2421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геотехнические/углы откосов, ограничения размещения; 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1B07A04-DB10-4C1A-B8A5-C6AFBDF05714}" type="parTrans" cxnId="{82ECB24D-1DF3-438A-B018-200BC397231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773FC68-11F9-4871-AB0D-451A93DD611D}" type="sibTrans" cxnId="{82ECB24D-1DF3-438A-B018-200BC397231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C5D0DDC-64DD-4A04-B423-8E3CC0FE2344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экономические параметры: дисконтирование, налог/роялти и пр.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310A03A-B658-4CBA-8922-65F1F2FFA734}" type="parTrans" cxnId="{52B28CA3-A0DA-4A74-A85C-9C12EDE670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7AAF1DA-730E-4044-807B-9EFAE6D82856}" type="sibTrans" cxnId="{52B28CA3-A0DA-4A74-A85C-9C12EDE670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577AB06-9A32-495E-B3A3-78CA2615064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таблицы NPV/тоннаж/содержание/strip ratio для каждой оболочки; 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978E9E5-818D-4ADE-AFBF-D9E9D0DB6CBE}" type="parTrans" cxnId="{0EA61ED8-12DF-4DB5-ADB8-018902E6DE1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E833FBD-FC9E-421A-98F3-5BB92F1C1977}" type="sibTrans" cxnId="{0EA61ED8-12DF-4DB5-ADB8-018902E6DE1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2503F84-40B5-4CB8-990A-57047B03B24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рекомендованный ultimate pit и варианты pushbacks; 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45A3CBB-7FCE-42BA-8439-9BF154E24A44}" type="parTrans" cxnId="{73FF187A-95D3-4AD7-BFF7-FB53AA0625A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B4EE523-9D99-46FC-BFF1-812EC1FB5C56}" type="sibTrans" cxnId="{73FF187A-95D3-4AD7-BFF7-FB53AA0625A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E32E351-39AB-4437-A650-74D29764AAC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отчёты, карты и данные для импорта в планировщики (Surpac, Datamine, Micromine и др.).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19F4335-BE8A-47C6-922C-7731B42C0C57}" type="parTrans" cxnId="{EF1955EA-4582-4139-85B4-949A7686839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D98FFAC-224C-4591-B128-DC3C19BFBEEE}" type="sibTrans" cxnId="{EF1955EA-4582-4139-85B4-949A7686839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D8495C8-634D-4AE0-90DA-36405FE3402C}" type="pres">
      <dgm:prSet presAssocID="{C0E171D6-3942-4D22-81CD-15ADB9F26A7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E73A17C-2A79-4E8C-925E-F6DC55790F39}" type="pres">
      <dgm:prSet presAssocID="{17489946-181D-49F0-B9AF-7BF8B1108675}" presName="composite" presStyleCnt="0"/>
      <dgm:spPr/>
    </dgm:pt>
    <dgm:pt modelId="{8045675B-3509-402C-9190-6ADBE21AF6FA}" type="pres">
      <dgm:prSet presAssocID="{17489946-181D-49F0-B9AF-7BF8B110867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2819C5-5AFE-481C-99FD-6389C928DA6A}" type="pres">
      <dgm:prSet presAssocID="{17489946-181D-49F0-B9AF-7BF8B1108675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46516D-4958-45BE-90F0-A763DD612A4E}" type="pres">
      <dgm:prSet presAssocID="{670D1314-978A-4E83-9171-B1DB3F4F8A17}" presName="space" presStyleCnt="0"/>
      <dgm:spPr/>
    </dgm:pt>
    <dgm:pt modelId="{9D94945A-76FC-4DA3-8C70-005516B6B72B}" type="pres">
      <dgm:prSet presAssocID="{CC4E079D-76C4-4A6A-9B9A-17EA90C75DD9}" presName="composite" presStyleCnt="0"/>
      <dgm:spPr/>
    </dgm:pt>
    <dgm:pt modelId="{0418C611-62BB-4DEC-813A-518F709DF40B}" type="pres">
      <dgm:prSet presAssocID="{CC4E079D-76C4-4A6A-9B9A-17EA90C75DD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88CD64-994A-4E0F-9FFC-725C1111548A}" type="pres">
      <dgm:prSet presAssocID="{CC4E079D-76C4-4A6A-9B9A-17EA90C75DD9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76CEDB2-F9B3-4A1B-9481-222DA15C22CE}" type="presOf" srcId="{C2503F84-40B5-4CB8-990A-57047B03B240}" destId="{1388CD64-994A-4E0F-9FFC-725C1111548A}" srcOrd="0" destOrd="2" presId="urn:microsoft.com/office/officeart/2005/8/layout/hList1"/>
    <dgm:cxn modelId="{EC584EBC-1572-41F2-9FD4-D68107906B57}" srcId="{17489946-181D-49F0-B9AF-7BF8B1108675}" destId="{548CA850-4D4D-40CE-AEEF-F2C0B4000695}" srcOrd="1" destOrd="0" parTransId="{1EDC3B53-33C4-4AA3-9788-73C6E07637EB}" sibTransId="{7A965AF0-34CE-4238-9A4F-FBE8CEFA1836}"/>
    <dgm:cxn modelId="{73FF187A-95D3-4AD7-BFF7-FB53AA0625AF}" srcId="{CC4E079D-76C4-4A6A-9B9A-17EA90C75DD9}" destId="{C2503F84-40B5-4CB8-990A-57047B03B240}" srcOrd="2" destOrd="0" parTransId="{545A3CBB-7FCE-42BA-8439-9BF154E24A44}" sibTransId="{CB4EE523-9D99-46FC-BFF1-812EC1FB5C56}"/>
    <dgm:cxn modelId="{76B4A90A-5CAF-47D4-9974-9EF76B8C737E}" type="presOf" srcId="{D0B628B2-4297-48B5-B212-193EE463C139}" destId="{A82819C5-5AFE-481C-99FD-6389C928DA6A}" srcOrd="0" destOrd="3" presId="urn:microsoft.com/office/officeart/2005/8/layout/hList1"/>
    <dgm:cxn modelId="{C02F6F4B-B150-45BD-A553-6EDEFAEC19D8}" type="presOf" srcId="{B577AB06-9A32-495E-B3A3-78CA26150648}" destId="{1388CD64-994A-4E0F-9FFC-725C1111548A}" srcOrd="0" destOrd="1" presId="urn:microsoft.com/office/officeart/2005/8/layout/hList1"/>
    <dgm:cxn modelId="{5D17EF16-A6A4-4D4F-AA01-25F0CC948C07}" type="presOf" srcId="{F0F15D49-918A-4D19-BDBE-BCEB40A30457}" destId="{A82819C5-5AFE-481C-99FD-6389C928DA6A}" srcOrd="0" destOrd="2" presId="urn:microsoft.com/office/officeart/2005/8/layout/hList1"/>
    <dgm:cxn modelId="{82ECB24D-1DF3-438A-B018-200BC397231B}" srcId="{17489946-181D-49F0-B9AF-7BF8B1108675}" destId="{7AF2A6BB-4B77-43FF-BA1D-A9FB1C4D2421}" srcOrd="4" destOrd="0" parTransId="{D1B07A04-DB10-4C1A-B8A5-C6AFBDF05714}" sibTransId="{0773FC68-11F9-4871-AB0D-451A93DD611D}"/>
    <dgm:cxn modelId="{89486EE0-FABE-466B-A734-95CD1C1DBE79}" type="presOf" srcId="{CC4E079D-76C4-4A6A-9B9A-17EA90C75DD9}" destId="{0418C611-62BB-4DEC-813A-518F709DF40B}" srcOrd="0" destOrd="0" presId="urn:microsoft.com/office/officeart/2005/8/layout/hList1"/>
    <dgm:cxn modelId="{6836E3DF-B55A-4E8A-B9D2-E4B1F0BB68F7}" type="presOf" srcId="{7AF2A6BB-4B77-43FF-BA1D-A9FB1C4D2421}" destId="{A82819C5-5AFE-481C-99FD-6389C928DA6A}" srcOrd="0" destOrd="4" presId="urn:microsoft.com/office/officeart/2005/8/layout/hList1"/>
    <dgm:cxn modelId="{D2F2DA57-ABEF-43EC-91DA-A1AA0A032026}" type="presOf" srcId="{17489946-181D-49F0-B9AF-7BF8B1108675}" destId="{8045675B-3509-402C-9190-6ADBE21AF6FA}" srcOrd="0" destOrd="0" presId="urn:microsoft.com/office/officeart/2005/8/layout/hList1"/>
    <dgm:cxn modelId="{EF1955EA-4582-4139-85B4-949A76868391}" srcId="{CC4E079D-76C4-4A6A-9B9A-17EA90C75DD9}" destId="{3E32E351-39AB-4437-A650-74D29764AAC8}" srcOrd="3" destOrd="0" parTransId="{119F4335-BE8A-47C6-922C-7731B42C0C57}" sibTransId="{0D98FFAC-224C-4591-B128-DC3C19BFBEEE}"/>
    <dgm:cxn modelId="{B091296F-C64F-434A-B29C-FE55A0205B76}" type="presOf" srcId="{3E32E351-39AB-4437-A650-74D29764AAC8}" destId="{1388CD64-994A-4E0F-9FFC-725C1111548A}" srcOrd="0" destOrd="3" presId="urn:microsoft.com/office/officeart/2005/8/layout/hList1"/>
    <dgm:cxn modelId="{E74D1158-9664-438F-B071-690E2CBBC6F0}" type="presOf" srcId="{0F39990F-6723-4150-AB05-F31D6ECCD641}" destId="{A82819C5-5AFE-481C-99FD-6389C928DA6A}" srcOrd="0" destOrd="0" presId="urn:microsoft.com/office/officeart/2005/8/layout/hList1"/>
    <dgm:cxn modelId="{0EA61ED8-12DF-4DB5-ADB8-018902E6DE1A}" srcId="{CC4E079D-76C4-4A6A-9B9A-17EA90C75DD9}" destId="{B577AB06-9A32-495E-B3A3-78CA26150648}" srcOrd="1" destOrd="0" parTransId="{A978E9E5-818D-4ADE-AFBF-D9E9D0DB6CBE}" sibTransId="{3E833FBD-FC9E-421A-98F3-5BB92F1C1977}"/>
    <dgm:cxn modelId="{A02D25A2-F973-41BD-A133-C7628D520E83}" srcId="{17489946-181D-49F0-B9AF-7BF8B1108675}" destId="{0F39990F-6723-4150-AB05-F31D6ECCD641}" srcOrd="0" destOrd="0" parTransId="{F633EA13-3B5B-4A5A-AFE8-C3C1A12D92C9}" sibTransId="{EE285E1E-A491-4F3D-80B2-188D4ED79E6B}"/>
    <dgm:cxn modelId="{A5E179FE-0675-4A78-AEE7-E57FD26A0B27}" type="presOf" srcId="{548CA850-4D4D-40CE-AEEF-F2C0B4000695}" destId="{A82819C5-5AFE-481C-99FD-6389C928DA6A}" srcOrd="0" destOrd="1" presId="urn:microsoft.com/office/officeart/2005/8/layout/hList1"/>
    <dgm:cxn modelId="{174A57D8-3F70-4989-ADA7-D8E8E562DA6A}" srcId="{C0E171D6-3942-4D22-81CD-15ADB9F26A77}" destId="{17489946-181D-49F0-B9AF-7BF8B1108675}" srcOrd="0" destOrd="0" parTransId="{D457E5BD-D76F-4DBA-904D-BA300BDA621B}" sibTransId="{670D1314-978A-4E83-9171-B1DB3F4F8A17}"/>
    <dgm:cxn modelId="{52B28CA3-A0DA-4A74-A85C-9C12EDE67038}" srcId="{17489946-181D-49F0-B9AF-7BF8B1108675}" destId="{EC5D0DDC-64DD-4A04-B423-8E3CC0FE2344}" srcOrd="5" destOrd="0" parTransId="{A310A03A-B658-4CBA-8922-65F1F2FFA734}" sibTransId="{27AAF1DA-730E-4044-807B-9EFAE6D82856}"/>
    <dgm:cxn modelId="{EEFF4F50-E828-4079-841D-D123E9785FD3}" srcId="{17489946-181D-49F0-B9AF-7BF8B1108675}" destId="{F0F15D49-918A-4D19-BDBE-BCEB40A30457}" srcOrd="2" destOrd="0" parTransId="{C9B3C848-3014-4452-AA57-F3B49EAB4C8F}" sibTransId="{47FC712F-A2CB-4640-8E04-FB2BA04FB4C4}"/>
    <dgm:cxn modelId="{82CFDB76-99E4-44D5-9BC2-E54A22AD781D}" srcId="{17489946-181D-49F0-B9AF-7BF8B1108675}" destId="{D0B628B2-4297-48B5-B212-193EE463C139}" srcOrd="3" destOrd="0" parTransId="{DE958A3B-22F9-42FB-94D9-97F3B161564F}" sibTransId="{0B67599D-A408-4F63-BC00-C9E9B3BF3ED2}"/>
    <dgm:cxn modelId="{90957D12-5571-4D65-A530-FA3CF1D58490}" type="presOf" srcId="{C0E171D6-3942-4D22-81CD-15ADB9F26A77}" destId="{BD8495C8-634D-4AE0-90DA-36405FE3402C}" srcOrd="0" destOrd="0" presId="urn:microsoft.com/office/officeart/2005/8/layout/hList1"/>
    <dgm:cxn modelId="{B51F6589-BD4E-4109-93C3-F46AAD174769}" type="presOf" srcId="{EC5D0DDC-64DD-4A04-B423-8E3CC0FE2344}" destId="{A82819C5-5AFE-481C-99FD-6389C928DA6A}" srcOrd="0" destOrd="5" presId="urn:microsoft.com/office/officeart/2005/8/layout/hList1"/>
    <dgm:cxn modelId="{FDEF60DC-A403-44A4-A8AB-FAACEB73B0B0}" srcId="{C0E171D6-3942-4D22-81CD-15ADB9F26A77}" destId="{CC4E079D-76C4-4A6A-9B9A-17EA90C75DD9}" srcOrd="1" destOrd="0" parTransId="{B0DEBEB2-063F-4F38-956F-213A82900303}" sibTransId="{201EB5E9-B2D2-415C-BB0E-D71DA1D66E95}"/>
    <dgm:cxn modelId="{9FD692E8-62F6-4E66-9F3C-94CDCF022F38}" srcId="{CC4E079D-76C4-4A6A-9B9A-17EA90C75DD9}" destId="{4FF4B870-66DB-432C-BAA1-53E9E5772A32}" srcOrd="0" destOrd="0" parTransId="{19C81769-64BC-44B3-9827-C9C0DC8559FD}" sibTransId="{88441E00-8B9E-4D99-BB2D-907B1527EFF4}"/>
    <dgm:cxn modelId="{95D7D875-972B-4BC2-AB70-3DC4A629C3CA}" type="presOf" srcId="{4FF4B870-66DB-432C-BAA1-53E9E5772A32}" destId="{1388CD64-994A-4E0F-9FFC-725C1111548A}" srcOrd="0" destOrd="0" presId="urn:microsoft.com/office/officeart/2005/8/layout/hList1"/>
    <dgm:cxn modelId="{A132A551-F103-4B58-97DD-B9DFA73A9709}" type="presParOf" srcId="{BD8495C8-634D-4AE0-90DA-36405FE3402C}" destId="{EE73A17C-2A79-4E8C-925E-F6DC55790F39}" srcOrd="0" destOrd="0" presId="urn:microsoft.com/office/officeart/2005/8/layout/hList1"/>
    <dgm:cxn modelId="{02A3F08B-3400-43A7-89CF-A804EA2DC180}" type="presParOf" srcId="{EE73A17C-2A79-4E8C-925E-F6DC55790F39}" destId="{8045675B-3509-402C-9190-6ADBE21AF6FA}" srcOrd="0" destOrd="0" presId="urn:microsoft.com/office/officeart/2005/8/layout/hList1"/>
    <dgm:cxn modelId="{17F8CB9A-5045-466A-BEC4-B0ECEFF60B7B}" type="presParOf" srcId="{EE73A17C-2A79-4E8C-925E-F6DC55790F39}" destId="{A82819C5-5AFE-481C-99FD-6389C928DA6A}" srcOrd="1" destOrd="0" presId="urn:microsoft.com/office/officeart/2005/8/layout/hList1"/>
    <dgm:cxn modelId="{BDB5AAA8-0414-44C9-BAF5-F78FEE23039E}" type="presParOf" srcId="{BD8495C8-634D-4AE0-90DA-36405FE3402C}" destId="{7546516D-4958-45BE-90F0-A763DD612A4E}" srcOrd="1" destOrd="0" presId="urn:microsoft.com/office/officeart/2005/8/layout/hList1"/>
    <dgm:cxn modelId="{CF5C0794-9358-44EB-B6EB-EA2CB61ED374}" type="presParOf" srcId="{BD8495C8-634D-4AE0-90DA-36405FE3402C}" destId="{9D94945A-76FC-4DA3-8C70-005516B6B72B}" srcOrd="2" destOrd="0" presId="urn:microsoft.com/office/officeart/2005/8/layout/hList1"/>
    <dgm:cxn modelId="{2B64F0DA-12A7-45EC-B5E1-B908231161A2}" type="presParOf" srcId="{9D94945A-76FC-4DA3-8C70-005516B6B72B}" destId="{0418C611-62BB-4DEC-813A-518F709DF40B}" srcOrd="0" destOrd="0" presId="urn:microsoft.com/office/officeart/2005/8/layout/hList1"/>
    <dgm:cxn modelId="{DE3F72DB-2151-4631-AF94-6CB3A9E8FE8D}" type="presParOf" srcId="{9D94945A-76FC-4DA3-8C70-005516B6B72B}" destId="{1388CD64-994A-4E0F-9FFC-725C1111548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E78424D-C127-4148-A829-545305AC352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C26137C-0620-42F2-9371-AAFC95F23595}">
      <dgm:prSet phldrT="[Текст]"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Планирование добычи по периодам (месяцы/недели/дни): формирование расписаний по блокам или рабочим участкам.  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FDC8D620-3D4F-4DF4-B2DF-10DA34EC6BCF}" type="parTrans" cxnId="{B03BFD1A-58D4-4708-8444-3DF2A3BEE75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6D79037-7321-4AE1-B931-D4CD92CBE86C}" type="sibTrans" cxnId="{B03BFD1A-58D4-4708-8444-3DF2A3BEE75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4F10BDF-E4AB-4D2C-BAAF-E1A788B1D0CC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Последовательность вскрытия и добычи (pushbacks, cutbacks), учёт технологических и геотехнических ограничений.  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28AF6E3A-6DB0-4E44-8F18-138CD403379A}" type="parTrans" cxnId="{0CD1D2C9-7DE5-40E7-BBF9-D6EA4FC1324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622B428-A884-4C21-B515-D5929BB82C96}" type="sibTrans" cxnId="{0CD1D2C9-7DE5-40E7-BBF9-D6EA4FC1324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31B69E9-4946-4CAC-80F8-2300969B5AC2}">
      <dgm:prSet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Управление ресурсами и мощностями: загрузка дробильно‑обогатительных мощностей, доступность флота, сменность, ограничения подрядчиков.  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D387853A-111C-4FA3-BD15-CF05B70B475C}" type="parTrans" cxnId="{A9803CE6-2A17-4B97-9D56-B87321EFD93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C5E909B-BBC1-40AB-A25A-2D2B3D45358B}" type="sibTrans" cxnId="{A9803CE6-2A17-4B97-9D56-B87321EFD93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81DA6AD-77F3-4A87-9855-29EE3B1CB036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Блендинг и правила отбора руды: cut‑off, правила смешивания для достижения требуемых качеств концентрата/рут.  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4AC8B65A-EECA-4927-92AC-B0F42439740B}" type="parTrans" cxnId="{87A933D6-357A-4543-AF5A-FCA5D039BBE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52D0602-FF51-43D6-8F06-106164F753DE}" type="sibTrans" cxnId="{87A933D6-357A-4543-AF5A-FCA5D039BBE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309F4B5-B926-4453-A55B-D1F4B1BA427A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Моделирование перемещений материалов: отвал, сток, складирование, переработка.  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AFF5AE2F-2DC0-46C6-9F70-FA9DDC5B5D8B}" type="parTrans" cxnId="{06D37B50-3601-4268-941C-5765655CA25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FC6FEEC-2EBD-4854-A2C1-AD3636BE94CE}" type="sibTrans" cxnId="{06D37B50-3601-4268-941C-5765655CA25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D59BEE1-07ED-4E9D-85CD-FAAED9C44212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Оценка экономических показателей по периодам: тоннаж, металл, выручка, затраты, NPV (в зависимости от настроек).  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03A9BE83-4F1B-49D6-9EB5-7999EBFFC02F}" type="parTrans" cxnId="{1595F792-8269-4ECC-9BE5-2BB8E28DA8D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CCF6291-28FC-4645-B2C5-D790F38C249F}" type="sibTrans" cxnId="{1595F792-8269-4ECC-9BE5-2BB8E28DA8D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488FDC6-7BE5-4ACD-8B4C-ECE5327E5615}">
      <dgm:prSet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Визуализация и отчётность: графики производства,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Gantt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‑диаграммы, карты/планы карьера, таблицы по блокам/периодам.  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CA2B2DF1-FC76-4F8A-B22F-3348D733413A}" type="parTrans" cxnId="{7E183259-BA3E-4B86-94E4-90B8B3CAF6B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30644FE-A4A0-46E2-BBCA-6A9F448E12BE}" type="sibTrans" cxnId="{7E183259-BA3E-4B86-94E4-90B8B3CAF6B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EAF7F36-3DE8-4F53-86DA-873081CB9913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Сценарный анализ и сравнение альтернатив — быстрый перебор вариантов и чувствительность к параметрам.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D7B76F10-1C48-4DCA-885F-C9883B58F6C1}" type="parTrans" cxnId="{6DE9B76E-26D0-4310-8FC3-34C412E09F23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B70F366-DC3B-4879-AEC4-1937C90E6300}" type="sibTrans" cxnId="{6DE9B76E-26D0-4310-8FC3-34C412E09F23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BCA2733-CA69-46ED-ACBA-6E320256349D}" type="pres">
      <dgm:prSet presAssocID="{3E78424D-C127-4148-A829-545305AC352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1B7EC62-2794-45B0-A282-B828A96511FC}" type="pres">
      <dgm:prSet presAssocID="{9C26137C-0620-42F2-9371-AAFC95F23595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35EAA0-2BF0-4CB9-9EB4-AEA01DA91ED5}" type="pres">
      <dgm:prSet presAssocID="{06D79037-7321-4AE1-B931-D4CD92CBE86C}" presName="sibTrans" presStyleCnt="0"/>
      <dgm:spPr/>
    </dgm:pt>
    <dgm:pt modelId="{1BB9CF94-ADC1-4028-AE82-73F5C0152AAB}" type="pres">
      <dgm:prSet presAssocID="{94F10BDF-E4AB-4D2C-BAAF-E1A788B1D0CC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19EC1F-DFA2-47DD-9B92-8AB79CC89DBB}" type="pres">
      <dgm:prSet presAssocID="{D622B428-A884-4C21-B515-D5929BB82C96}" presName="sibTrans" presStyleCnt="0"/>
      <dgm:spPr/>
    </dgm:pt>
    <dgm:pt modelId="{73CA6F9F-DF9B-4830-9427-DE5ACDAB40DE}" type="pres">
      <dgm:prSet presAssocID="{E31B69E9-4946-4CAC-80F8-2300969B5AC2}" presName="node" presStyleLbl="node1" presStyleIdx="2" presStyleCnt="8" custScaleX="11002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C7365C-3575-44A4-A9AD-618967B6E121}" type="pres">
      <dgm:prSet presAssocID="{2C5E909B-BBC1-40AB-A25A-2D2B3D45358B}" presName="sibTrans" presStyleCnt="0"/>
      <dgm:spPr/>
    </dgm:pt>
    <dgm:pt modelId="{D7AD985A-3792-40B1-A7F3-B26561ACEAFB}" type="pres">
      <dgm:prSet presAssocID="{581DA6AD-77F3-4A87-9855-29EE3B1CB036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1B0331-EF63-4394-A936-DA88D6C0F784}" type="pres">
      <dgm:prSet presAssocID="{E52D0602-FF51-43D6-8F06-106164F753DE}" presName="sibTrans" presStyleCnt="0"/>
      <dgm:spPr/>
    </dgm:pt>
    <dgm:pt modelId="{5D5194C3-4805-44F3-A5BB-03F248DA52EE}" type="pres">
      <dgm:prSet presAssocID="{4309F4B5-B926-4453-A55B-D1F4B1BA427A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100359-0B69-4301-96E0-B69F58A2F1D0}" type="pres">
      <dgm:prSet presAssocID="{FFC6FEEC-2EBD-4854-A2C1-AD3636BE94CE}" presName="sibTrans" presStyleCnt="0"/>
      <dgm:spPr/>
    </dgm:pt>
    <dgm:pt modelId="{EB10464C-A000-46E3-B67A-110E7F067F22}" type="pres">
      <dgm:prSet presAssocID="{ED59BEE1-07ED-4E9D-85CD-FAAED9C44212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85EE27-5A8E-42D2-8B9A-2518CD2617CE}" type="pres">
      <dgm:prSet presAssocID="{ACCF6291-28FC-4645-B2C5-D790F38C249F}" presName="sibTrans" presStyleCnt="0"/>
      <dgm:spPr/>
    </dgm:pt>
    <dgm:pt modelId="{2D3C4777-C063-484F-94EE-AE7F69882A9B}" type="pres">
      <dgm:prSet presAssocID="{2488FDC6-7BE5-4ACD-8B4C-ECE5327E5615}" presName="node" presStyleLbl="node1" presStyleIdx="6" presStyleCnt="8" custScaleX="11229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12FDE5-01AA-4AEF-8F6B-16AEBF5545D8}" type="pres">
      <dgm:prSet presAssocID="{A30644FE-A4A0-46E2-BBCA-6A9F448E12BE}" presName="sibTrans" presStyleCnt="0"/>
      <dgm:spPr/>
    </dgm:pt>
    <dgm:pt modelId="{60A8C4B9-5705-4224-AB4C-756C4DFCD514}" type="pres">
      <dgm:prSet presAssocID="{DEAF7F36-3DE8-4F53-86DA-873081CB9913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9803CE6-2A17-4B97-9D56-B87321EFD93E}" srcId="{3E78424D-C127-4148-A829-545305AC3528}" destId="{E31B69E9-4946-4CAC-80F8-2300969B5AC2}" srcOrd="2" destOrd="0" parTransId="{D387853A-111C-4FA3-BD15-CF05B70B475C}" sibTransId="{2C5E909B-BBC1-40AB-A25A-2D2B3D45358B}"/>
    <dgm:cxn modelId="{0CD1D2C9-7DE5-40E7-BBF9-D6EA4FC1324D}" srcId="{3E78424D-C127-4148-A829-545305AC3528}" destId="{94F10BDF-E4AB-4D2C-BAAF-E1A788B1D0CC}" srcOrd="1" destOrd="0" parTransId="{28AF6E3A-6DB0-4E44-8F18-138CD403379A}" sibTransId="{D622B428-A884-4C21-B515-D5929BB82C96}"/>
    <dgm:cxn modelId="{07BB94A9-A552-43D4-A4F6-4EA70CDC32B1}" type="presOf" srcId="{E31B69E9-4946-4CAC-80F8-2300969B5AC2}" destId="{73CA6F9F-DF9B-4830-9427-DE5ACDAB40DE}" srcOrd="0" destOrd="0" presId="urn:microsoft.com/office/officeart/2005/8/layout/default"/>
    <dgm:cxn modelId="{9DC528AA-76F8-419A-8A67-2B459B6C8DC7}" type="presOf" srcId="{DEAF7F36-3DE8-4F53-86DA-873081CB9913}" destId="{60A8C4B9-5705-4224-AB4C-756C4DFCD514}" srcOrd="0" destOrd="0" presId="urn:microsoft.com/office/officeart/2005/8/layout/default"/>
    <dgm:cxn modelId="{87A933D6-357A-4543-AF5A-FCA5D039BBEE}" srcId="{3E78424D-C127-4148-A829-545305AC3528}" destId="{581DA6AD-77F3-4A87-9855-29EE3B1CB036}" srcOrd="3" destOrd="0" parTransId="{4AC8B65A-EECA-4927-92AC-B0F42439740B}" sibTransId="{E52D0602-FF51-43D6-8F06-106164F753DE}"/>
    <dgm:cxn modelId="{B21D3A93-4772-4FE8-B892-6F77979CF07F}" type="presOf" srcId="{581DA6AD-77F3-4A87-9855-29EE3B1CB036}" destId="{D7AD985A-3792-40B1-A7F3-B26561ACEAFB}" srcOrd="0" destOrd="0" presId="urn:microsoft.com/office/officeart/2005/8/layout/default"/>
    <dgm:cxn modelId="{6DE9B76E-26D0-4310-8FC3-34C412E09F23}" srcId="{3E78424D-C127-4148-A829-545305AC3528}" destId="{DEAF7F36-3DE8-4F53-86DA-873081CB9913}" srcOrd="7" destOrd="0" parTransId="{D7B76F10-1C48-4DCA-885F-C9883B58F6C1}" sibTransId="{1B70F366-DC3B-4879-AEC4-1937C90E6300}"/>
    <dgm:cxn modelId="{D8019BCE-2F0F-4F7B-A27F-C8DE0C4405E5}" type="presOf" srcId="{94F10BDF-E4AB-4D2C-BAAF-E1A788B1D0CC}" destId="{1BB9CF94-ADC1-4028-AE82-73F5C0152AAB}" srcOrd="0" destOrd="0" presId="urn:microsoft.com/office/officeart/2005/8/layout/default"/>
    <dgm:cxn modelId="{7E183259-BA3E-4B86-94E4-90B8B3CAF6B8}" srcId="{3E78424D-C127-4148-A829-545305AC3528}" destId="{2488FDC6-7BE5-4ACD-8B4C-ECE5327E5615}" srcOrd="6" destOrd="0" parTransId="{CA2B2DF1-FC76-4F8A-B22F-3348D733413A}" sibTransId="{A30644FE-A4A0-46E2-BBCA-6A9F448E12BE}"/>
    <dgm:cxn modelId="{572E6DEF-B552-4547-BAE0-AAD33C0F2347}" type="presOf" srcId="{2488FDC6-7BE5-4ACD-8B4C-ECE5327E5615}" destId="{2D3C4777-C063-484F-94EE-AE7F69882A9B}" srcOrd="0" destOrd="0" presId="urn:microsoft.com/office/officeart/2005/8/layout/default"/>
    <dgm:cxn modelId="{B03BFD1A-58D4-4708-8444-3DF2A3BEE752}" srcId="{3E78424D-C127-4148-A829-545305AC3528}" destId="{9C26137C-0620-42F2-9371-AAFC95F23595}" srcOrd="0" destOrd="0" parTransId="{FDC8D620-3D4F-4DF4-B2DF-10DA34EC6BCF}" sibTransId="{06D79037-7321-4AE1-B931-D4CD92CBE86C}"/>
    <dgm:cxn modelId="{06D37B50-3601-4268-941C-5765655CA258}" srcId="{3E78424D-C127-4148-A829-545305AC3528}" destId="{4309F4B5-B926-4453-A55B-D1F4B1BA427A}" srcOrd="4" destOrd="0" parTransId="{AFF5AE2F-2DC0-46C6-9F70-FA9DDC5B5D8B}" sibTransId="{FFC6FEEC-2EBD-4854-A2C1-AD3636BE94CE}"/>
    <dgm:cxn modelId="{4EF63D5E-0081-464C-B902-1BE613E6B60B}" type="presOf" srcId="{4309F4B5-B926-4453-A55B-D1F4B1BA427A}" destId="{5D5194C3-4805-44F3-A5BB-03F248DA52EE}" srcOrd="0" destOrd="0" presId="urn:microsoft.com/office/officeart/2005/8/layout/default"/>
    <dgm:cxn modelId="{62B21696-A8C8-45B9-8692-9B7BEF28E77F}" type="presOf" srcId="{ED59BEE1-07ED-4E9D-85CD-FAAED9C44212}" destId="{EB10464C-A000-46E3-B67A-110E7F067F22}" srcOrd="0" destOrd="0" presId="urn:microsoft.com/office/officeart/2005/8/layout/default"/>
    <dgm:cxn modelId="{B9221C3B-7747-4FC6-84FA-523335625A59}" type="presOf" srcId="{9C26137C-0620-42F2-9371-AAFC95F23595}" destId="{71B7EC62-2794-45B0-A282-B828A96511FC}" srcOrd="0" destOrd="0" presId="urn:microsoft.com/office/officeart/2005/8/layout/default"/>
    <dgm:cxn modelId="{1595F792-8269-4ECC-9BE5-2BB8E28DA8DA}" srcId="{3E78424D-C127-4148-A829-545305AC3528}" destId="{ED59BEE1-07ED-4E9D-85CD-FAAED9C44212}" srcOrd="5" destOrd="0" parTransId="{03A9BE83-4F1B-49D6-9EB5-7999EBFFC02F}" sibTransId="{ACCF6291-28FC-4645-B2C5-D790F38C249F}"/>
    <dgm:cxn modelId="{4CEB4CF9-91AB-49D5-B029-406235E809A3}" type="presOf" srcId="{3E78424D-C127-4148-A829-545305AC3528}" destId="{0BCA2733-CA69-46ED-ACBA-6E320256349D}" srcOrd="0" destOrd="0" presId="urn:microsoft.com/office/officeart/2005/8/layout/default"/>
    <dgm:cxn modelId="{C7D7546E-2039-45F3-A7A7-832B62E7130F}" type="presParOf" srcId="{0BCA2733-CA69-46ED-ACBA-6E320256349D}" destId="{71B7EC62-2794-45B0-A282-B828A96511FC}" srcOrd="0" destOrd="0" presId="urn:microsoft.com/office/officeart/2005/8/layout/default"/>
    <dgm:cxn modelId="{079F7DEA-A1EC-46C6-B23D-40636658EC1D}" type="presParOf" srcId="{0BCA2733-CA69-46ED-ACBA-6E320256349D}" destId="{BE35EAA0-2BF0-4CB9-9EB4-AEA01DA91ED5}" srcOrd="1" destOrd="0" presId="urn:microsoft.com/office/officeart/2005/8/layout/default"/>
    <dgm:cxn modelId="{A59F1375-489C-4606-AECD-E4E106F6FE9A}" type="presParOf" srcId="{0BCA2733-CA69-46ED-ACBA-6E320256349D}" destId="{1BB9CF94-ADC1-4028-AE82-73F5C0152AAB}" srcOrd="2" destOrd="0" presId="urn:microsoft.com/office/officeart/2005/8/layout/default"/>
    <dgm:cxn modelId="{B76804FE-5D68-42B1-B774-C6A3F156FC05}" type="presParOf" srcId="{0BCA2733-CA69-46ED-ACBA-6E320256349D}" destId="{7F19EC1F-DFA2-47DD-9B92-8AB79CC89DBB}" srcOrd="3" destOrd="0" presId="urn:microsoft.com/office/officeart/2005/8/layout/default"/>
    <dgm:cxn modelId="{29F0EA5F-4BEE-41C4-9387-119F1D7B9BE0}" type="presParOf" srcId="{0BCA2733-CA69-46ED-ACBA-6E320256349D}" destId="{73CA6F9F-DF9B-4830-9427-DE5ACDAB40DE}" srcOrd="4" destOrd="0" presId="urn:microsoft.com/office/officeart/2005/8/layout/default"/>
    <dgm:cxn modelId="{8DEDDEFB-1548-4290-9284-B49C2DD21FFC}" type="presParOf" srcId="{0BCA2733-CA69-46ED-ACBA-6E320256349D}" destId="{C5C7365C-3575-44A4-A9AD-618967B6E121}" srcOrd="5" destOrd="0" presId="urn:microsoft.com/office/officeart/2005/8/layout/default"/>
    <dgm:cxn modelId="{A5F52BBE-B188-4CDA-A26C-9DAAEACDCDF5}" type="presParOf" srcId="{0BCA2733-CA69-46ED-ACBA-6E320256349D}" destId="{D7AD985A-3792-40B1-A7F3-B26561ACEAFB}" srcOrd="6" destOrd="0" presId="urn:microsoft.com/office/officeart/2005/8/layout/default"/>
    <dgm:cxn modelId="{01F1F23F-C770-4086-8786-1985F77A44F1}" type="presParOf" srcId="{0BCA2733-CA69-46ED-ACBA-6E320256349D}" destId="{911B0331-EF63-4394-A936-DA88D6C0F784}" srcOrd="7" destOrd="0" presId="urn:microsoft.com/office/officeart/2005/8/layout/default"/>
    <dgm:cxn modelId="{2C7CD320-2414-47B0-B435-0A087FAC52AF}" type="presParOf" srcId="{0BCA2733-CA69-46ED-ACBA-6E320256349D}" destId="{5D5194C3-4805-44F3-A5BB-03F248DA52EE}" srcOrd="8" destOrd="0" presId="urn:microsoft.com/office/officeart/2005/8/layout/default"/>
    <dgm:cxn modelId="{68E22EDA-0AA2-4D58-84C5-B2BC8E05D747}" type="presParOf" srcId="{0BCA2733-CA69-46ED-ACBA-6E320256349D}" destId="{D9100359-0B69-4301-96E0-B69F58A2F1D0}" srcOrd="9" destOrd="0" presId="urn:microsoft.com/office/officeart/2005/8/layout/default"/>
    <dgm:cxn modelId="{48FF800C-AE94-486F-B0FF-E07A65469E49}" type="presParOf" srcId="{0BCA2733-CA69-46ED-ACBA-6E320256349D}" destId="{EB10464C-A000-46E3-B67A-110E7F067F22}" srcOrd="10" destOrd="0" presId="urn:microsoft.com/office/officeart/2005/8/layout/default"/>
    <dgm:cxn modelId="{FA0355D2-6C1B-4758-B3CC-3ED27139E0D0}" type="presParOf" srcId="{0BCA2733-CA69-46ED-ACBA-6E320256349D}" destId="{0685EE27-5A8E-42D2-8B9A-2518CD2617CE}" srcOrd="11" destOrd="0" presId="urn:microsoft.com/office/officeart/2005/8/layout/default"/>
    <dgm:cxn modelId="{268EAFE4-FD68-496B-AAA8-C5E638B5EDF1}" type="presParOf" srcId="{0BCA2733-CA69-46ED-ACBA-6E320256349D}" destId="{2D3C4777-C063-484F-94EE-AE7F69882A9B}" srcOrd="12" destOrd="0" presId="urn:microsoft.com/office/officeart/2005/8/layout/default"/>
    <dgm:cxn modelId="{414FD5EA-1700-457E-A7F2-106E9D143F48}" type="presParOf" srcId="{0BCA2733-CA69-46ED-ACBA-6E320256349D}" destId="{E812FDE5-01AA-4AEF-8F6B-16AEBF5545D8}" srcOrd="13" destOrd="0" presId="urn:microsoft.com/office/officeart/2005/8/layout/default"/>
    <dgm:cxn modelId="{8BD47AB9-FA87-43CD-B897-FEE17375F094}" type="presParOf" srcId="{0BCA2733-CA69-46ED-ACBA-6E320256349D}" destId="{60A8C4B9-5705-4224-AB4C-756C4DFCD514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06A3345-6434-47C8-8937-539C2112351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B54AB2B-1C02-4C33-A01C-894CD33F33DA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Сокращение материальных издержек на 3-10 %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2AC2369-5D36-4AB1-A80A-586D2A4A526C}" type="parTrans" cxnId="{43FF4B13-03CE-4DDC-9EB5-8441F594180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8CF0DC7-A3E7-4A7D-B178-740936331E04}" type="sibTrans" cxnId="{43FF4B13-03CE-4DDC-9EB5-8441F594180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407372F-CD3C-4FE7-A6B1-40D0B57C7AC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Повышение объемов прибыли на 10-15%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E676688-A053-43FC-B45F-59A53FE404DB}" type="parTrans" cxnId="{4C9BA0D8-BFB5-4668-AE0C-19CDEBAE0CF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B2498C0-FA72-46ED-A327-02F8F5ECA85F}" type="sibTrans" cxnId="{4C9BA0D8-BFB5-4668-AE0C-19CDEBAE0CF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23701A5-0093-4A4E-8A32-1D242949A186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Значительное снижение доли опасных ситуаций с участием технического персонала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28330EC0-694A-4560-B7F8-95FA444B956C}" type="parTrans" cxnId="{DD4ABC9D-92F3-4598-82C7-66E5E07306B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00AF4CF-7787-4D39-8403-5CAFA0B49AD7}" type="sibTrans" cxnId="{DD4ABC9D-92F3-4598-82C7-66E5E07306B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9CC83D4-0821-4F16-A4F6-4EB06BA2F6C5}" type="pres">
      <dgm:prSet presAssocID="{B06A3345-6434-47C8-8937-539C2112351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13E091D-5C3F-4A69-B8AA-1E731510C8D9}" type="pres">
      <dgm:prSet presAssocID="{BB54AB2B-1C02-4C33-A01C-894CD33F33D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9C95527-53A5-443B-86D9-52FCEC769608}" type="pres">
      <dgm:prSet presAssocID="{58CF0DC7-A3E7-4A7D-B178-740936331E04}" presName="sibTrans" presStyleCnt="0"/>
      <dgm:spPr/>
    </dgm:pt>
    <dgm:pt modelId="{9BF8C00B-6D57-415F-B1C8-9BA77022D2F7}" type="pres">
      <dgm:prSet presAssocID="{7407372F-CD3C-4FE7-A6B1-40D0B57C7AC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77AD4F3-E525-4A20-96FB-A1E6388A7F5C}" type="pres">
      <dgm:prSet presAssocID="{FB2498C0-FA72-46ED-A327-02F8F5ECA85F}" presName="sibTrans" presStyleCnt="0"/>
      <dgm:spPr/>
    </dgm:pt>
    <dgm:pt modelId="{F54AF712-C842-45BA-9DCC-6491AD108772}" type="pres">
      <dgm:prSet presAssocID="{323701A5-0093-4A4E-8A32-1D242949A186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3FF4B13-03CE-4DDC-9EB5-8441F5941800}" srcId="{B06A3345-6434-47C8-8937-539C2112351A}" destId="{BB54AB2B-1C02-4C33-A01C-894CD33F33DA}" srcOrd="0" destOrd="0" parTransId="{62AC2369-5D36-4AB1-A80A-586D2A4A526C}" sibTransId="{58CF0DC7-A3E7-4A7D-B178-740936331E04}"/>
    <dgm:cxn modelId="{7B1BCBE6-31FC-490F-8CB7-40A1712A38A2}" type="presOf" srcId="{323701A5-0093-4A4E-8A32-1D242949A186}" destId="{F54AF712-C842-45BA-9DCC-6491AD108772}" srcOrd="0" destOrd="0" presId="urn:microsoft.com/office/officeart/2005/8/layout/default"/>
    <dgm:cxn modelId="{4C9BA0D8-BFB5-4668-AE0C-19CDEBAE0CFF}" srcId="{B06A3345-6434-47C8-8937-539C2112351A}" destId="{7407372F-CD3C-4FE7-A6B1-40D0B57C7ACC}" srcOrd="1" destOrd="0" parTransId="{BE676688-A053-43FC-B45F-59A53FE404DB}" sibTransId="{FB2498C0-FA72-46ED-A327-02F8F5ECA85F}"/>
    <dgm:cxn modelId="{DD4ABC9D-92F3-4598-82C7-66E5E07306B6}" srcId="{B06A3345-6434-47C8-8937-539C2112351A}" destId="{323701A5-0093-4A4E-8A32-1D242949A186}" srcOrd="2" destOrd="0" parTransId="{28330EC0-694A-4560-B7F8-95FA444B956C}" sibTransId="{200AF4CF-7787-4D39-8403-5CAFA0B49AD7}"/>
    <dgm:cxn modelId="{AA48D1FF-D989-41E5-9A3C-7039302BA8FF}" type="presOf" srcId="{BB54AB2B-1C02-4C33-A01C-894CD33F33DA}" destId="{B13E091D-5C3F-4A69-B8AA-1E731510C8D9}" srcOrd="0" destOrd="0" presId="urn:microsoft.com/office/officeart/2005/8/layout/default"/>
    <dgm:cxn modelId="{1677FA60-3DBF-4C91-9FF1-82D100C0F746}" type="presOf" srcId="{B06A3345-6434-47C8-8937-539C2112351A}" destId="{49CC83D4-0821-4F16-A4F6-4EB06BA2F6C5}" srcOrd="0" destOrd="0" presId="urn:microsoft.com/office/officeart/2005/8/layout/default"/>
    <dgm:cxn modelId="{23637CAD-B699-444F-BE98-D661A3133BE8}" type="presOf" srcId="{7407372F-CD3C-4FE7-A6B1-40D0B57C7ACC}" destId="{9BF8C00B-6D57-415F-B1C8-9BA77022D2F7}" srcOrd="0" destOrd="0" presId="urn:microsoft.com/office/officeart/2005/8/layout/default"/>
    <dgm:cxn modelId="{ABDC9BBE-0315-4707-AF5B-DCFF73585CCB}" type="presParOf" srcId="{49CC83D4-0821-4F16-A4F6-4EB06BA2F6C5}" destId="{B13E091D-5C3F-4A69-B8AA-1E731510C8D9}" srcOrd="0" destOrd="0" presId="urn:microsoft.com/office/officeart/2005/8/layout/default"/>
    <dgm:cxn modelId="{99CBFCFB-5ED6-4400-8992-31135193BE37}" type="presParOf" srcId="{49CC83D4-0821-4F16-A4F6-4EB06BA2F6C5}" destId="{C9C95527-53A5-443B-86D9-52FCEC769608}" srcOrd="1" destOrd="0" presId="urn:microsoft.com/office/officeart/2005/8/layout/default"/>
    <dgm:cxn modelId="{1112F1FF-43B4-43BE-88F7-8B69FB4D8511}" type="presParOf" srcId="{49CC83D4-0821-4F16-A4F6-4EB06BA2F6C5}" destId="{9BF8C00B-6D57-415F-B1C8-9BA77022D2F7}" srcOrd="2" destOrd="0" presId="urn:microsoft.com/office/officeart/2005/8/layout/default"/>
    <dgm:cxn modelId="{0A8EC973-1D92-4AE4-AE6B-DFAED4AB8450}" type="presParOf" srcId="{49CC83D4-0821-4F16-A4F6-4EB06BA2F6C5}" destId="{477AD4F3-E525-4A20-96FB-A1E6388A7F5C}" srcOrd="3" destOrd="0" presId="urn:microsoft.com/office/officeart/2005/8/layout/default"/>
    <dgm:cxn modelId="{F3A68C4E-DB56-426C-8FDF-BB097E9735CC}" type="presParOf" srcId="{49CC83D4-0821-4F16-A4F6-4EB06BA2F6C5}" destId="{F54AF712-C842-45BA-9DCC-6491AD10877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7AD99-B2DE-4C87-A414-773253A039C0}">
      <dsp:nvSpPr>
        <dsp:cNvPr id="0" name=""/>
        <dsp:cNvSpPr/>
      </dsp:nvSpPr>
      <dsp:spPr>
        <a:xfrm>
          <a:off x="884437" y="5436"/>
          <a:ext cx="6801892" cy="10106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▪ Провести анализ имеющихся данных и выделить те, которым доверяем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14038" y="35037"/>
        <a:ext cx="6742690" cy="951462"/>
      </dsp:txXfrm>
    </dsp:sp>
    <dsp:sp modelId="{7EA4819D-76D3-4E7B-9EE3-ED60E2CFB13F}">
      <dsp:nvSpPr>
        <dsp:cNvPr id="0" name=""/>
        <dsp:cNvSpPr/>
      </dsp:nvSpPr>
      <dsp:spPr>
        <a:xfrm rot="5400000">
          <a:off x="4095884" y="1041367"/>
          <a:ext cx="378999" cy="45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 rot="-5400000">
        <a:off x="4148945" y="1079266"/>
        <a:ext cx="272878" cy="265299"/>
      </dsp:txXfrm>
    </dsp:sp>
    <dsp:sp modelId="{65D50AA9-E087-4607-B963-B0F68EC41C1B}">
      <dsp:nvSpPr>
        <dsp:cNvPr id="0" name=""/>
        <dsp:cNvSpPr/>
      </dsp:nvSpPr>
      <dsp:spPr>
        <a:xfrm>
          <a:off x="1007718" y="1521432"/>
          <a:ext cx="6555331" cy="10106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▪ Выбрать часть цепочки ценности, обеспеченную достоверными данными и при этом с максимально сильной потребностью в изменениях со стороны бизнеса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37319" y="1551033"/>
        <a:ext cx="6496129" cy="951462"/>
      </dsp:txXfrm>
    </dsp:sp>
    <dsp:sp modelId="{C84B5E77-5201-435A-AC2D-736EA8C194F8}">
      <dsp:nvSpPr>
        <dsp:cNvPr id="0" name=""/>
        <dsp:cNvSpPr/>
      </dsp:nvSpPr>
      <dsp:spPr>
        <a:xfrm rot="5400000">
          <a:off x="4095884" y="2557364"/>
          <a:ext cx="378999" cy="45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 rot="-5400000">
        <a:off x="4148945" y="2595263"/>
        <a:ext cx="272878" cy="265299"/>
      </dsp:txXfrm>
    </dsp:sp>
    <dsp:sp modelId="{4FE5E01B-AD8C-412E-A352-901E05FF808D}">
      <dsp:nvSpPr>
        <dsp:cNvPr id="0" name=""/>
        <dsp:cNvSpPr/>
      </dsp:nvSpPr>
      <dsp:spPr>
        <a:xfrm>
          <a:off x="986514" y="3037429"/>
          <a:ext cx="6597738" cy="10106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▪ Ограничить периметр проекта так, чтобы первые результаты можно было увидеть не позже чем через 6 месяцев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16115" y="3067030"/>
        <a:ext cx="6538536" cy="951462"/>
      </dsp:txXfrm>
    </dsp:sp>
    <dsp:sp modelId="{E5D3317F-B489-4701-9AF2-5235D6849203}">
      <dsp:nvSpPr>
        <dsp:cNvPr id="0" name=""/>
        <dsp:cNvSpPr/>
      </dsp:nvSpPr>
      <dsp:spPr>
        <a:xfrm rot="5400000">
          <a:off x="4095884" y="4073360"/>
          <a:ext cx="378999" cy="45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 rot="-5400000">
        <a:off x="4148945" y="4111259"/>
        <a:ext cx="272878" cy="265299"/>
      </dsp:txXfrm>
    </dsp:sp>
    <dsp:sp modelId="{E86E8E85-37EE-4C3F-BFE3-9207BF51BF5B}">
      <dsp:nvSpPr>
        <dsp:cNvPr id="0" name=""/>
        <dsp:cNvSpPr/>
      </dsp:nvSpPr>
      <dsp:spPr>
        <a:xfrm>
          <a:off x="1016834" y="4553426"/>
          <a:ext cx="6537098" cy="10106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▪ Менять бизнес-процессы, чтобы получать максимальную отдачу от таких проектов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46435" y="4583027"/>
        <a:ext cx="6477896" cy="951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6C39E-51AE-42B9-AFDB-FE75E90DE6AC}">
      <dsp:nvSpPr>
        <dsp:cNvPr id="0" name=""/>
        <dsp:cNvSpPr/>
      </dsp:nvSpPr>
      <dsp:spPr>
        <a:xfrm>
          <a:off x="801" y="338117"/>
          <a:ext cx="3126405" cy="1875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▪ Низкая достоверность информации о распределении качества руды в недрах</a:t>
          </a:r>
          <a:endParaRPr lang="ru-RU" sz="2300" kern="1200" dirty="0"/>
        </a:p>
      </dsp:txBody>
      <dsp:txXfrm>
        <a:off x="801" y="338117"/>
        <a:ext cx="3126405" cy="1875843"/>
      </dsp:txXfrm>
    </dsp:sp>
    <dsp:sp modelId="{A8A4E344-2915-4BBE-8D40-7E575EB2060A}">
      <dsp:nvSpPr>
        <dsp:cNvPr id="0" name=""/>
        <dsp:cNvSpPr/>
      </dsp:nvSpPr>
      <dsp:spPr>
        <a:xfrm>
          <a:off x="3439847" y="338117"/>
          <a:ext cx="3126405" cy="1875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smtClean="0">
              <a:latin typeface="Times New Roman" pitchFamily="18" charset="0"/>
              <a:cs typeface="Times New Roman" pitchFamily="18" charset="0"/>
            </a:rPr>
            <a:t>▪ Необходимость распределения работ не только во времени, но и в пространстве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439847" y="338117"/>
        <a:ext cx="3126405" cy="1875843"/>
      </dsp:txXfrm>
    </dsp:sp>
    <dsp:sp modelId="{51221BA7-6A62-4BD8-B8D5-ACFF96794C1F}">
      <dsp:nvSpPr>
        <dsp:cNvPr id="0" name=""/>
        <dsp:cNvSpPr/>
      </dsp:nvSpPr>
      <dsp:spPr>
        <a:xfrm>
          <a:off x="801" y="2526601"/>
          <a:ext cx="3126405" cy="1875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smtClean="0">
              <a:latin typeface="Times New Roman" pitchFamily="18" charset="0"/>
              <a:cs typeface="Times New Roman" pitchFamily="18" charset="0"/>
            </a:rPr>
            <a:t>▪ Объект планирования находится в постоянном изменении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01" y="2526601"/>
        <a:ext cx="3126405" cy="1875843"/>
      </dsp:txXfrm>
    </dsp:sp>
    <dsp:sp modelId="{2AAC2058-0955-4BBB-8BAF-6CBEE5F4A32A}">
      <dsp:nvSpPr>
        <dsp:cNvPr id="0" name=""/>
        <dsp:cNvSpPr/>
      </dsp:nvSpPr>
      <dsp:spPr>
        <a:xfrm>
          <a:off x="3439847" y="2526601"/>
          <a:ext cx="3126405" cy="1875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smtClean="0">
              <a:latin typeface="Times New Roman" pitchFamily="18" charset="0"/>
              <a:cs typeface="Times New Roman" pitchFamily="18" charset="0"/>
            </a:rPr>
            <a:t>▪ Необходимость одновременного учета множества факторов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439847" y="2526601"/>
        <a:ext cx="3126405" cy="1875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E2AB5-143E-4221-B251-52C1E159CD16}">
      <dsp:nvSpPr>
        <dsp:cNvPr id="0" name=""/>
        <dsp:cNvSpPr/>
      </dsp:nvSpPr>
      <dsp:spPr>
        <a:xfrm>
          <a:off x="0" y="327647"/>
          <a:ext cx="2622080" cy="15732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Формирует предельные карьеры (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ultimate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pit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shells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) и набор вложенных оболочек при разных экономических сценариях.  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327647"/>
        <a:ext cx="2622080" cy="1573248"/>
      </dsp:txXfrm>
    </dsp:sp>
    <dsp:sp modelId="{C060B89B-3D5A-4FC7-93C9-CCAF41959F7F}">
      <dsp:nvSpPr>
        <dsp:cNvPr id="0" name=""/>
        <dsp:cNvSpPr/>
      </dsp:nvSpPr>
      <dsp:spPr>
        <a:xfrm>
          <a:off x="2884289" y="327647"/>
          <a:ext cx="2622080" cy="15732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Проводит параметрическую и сценарную чувствительность (цены металлов, затраты, дисконтирование и т.д.).  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2884289" y="327647"/>
        <a:ext cx="2622080" cy="1573248"/>
      </dsp:txXfrm>
    </dsp:sp>
    <dsp:sp modelId="{60582EDC-ECE7-4E36-9F93-3708F3CC76DA}">
      <dsp:nvSpPr>
        <dsp:cNvPr id="0" name=""/>
        <dsp:cNvSpPr/>
      </dsp:nvSpPr>
      <dsp:spPr>
        <a:xfrm>
          <a:off x="5768578" y="327647"/>
          <a:ext cx="2622080" cy="15732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Выдает количественные экономические показатели по оболочкам: NPV, тоннаж руды/пустой породы, strip ratio, средние содержания, contribution tables и пр.  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5768578" y="327647"/>
        <a:ext cx="2622080" cy="1573248"/>
      </dsp:txXfrm>
    </dsp:sp>
    <dsp:sp modelId="{155A42E5-3F4A-4A79-8F47-595DF0C9F844}">
      <dsp:nvSpPr>
        <dsp:cNvPr id="0" name=""/>
        <dsp:cNvSpPr/>
      </dsp:nvSpPr>
      <dsp:spPr>
        <a:xfrm>
          <a:off x="0" y="2163104"/>
          <a:ext cx="2622080" cy="15732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Позволяет моделировать стадии (pushbacks) — последовательные фазы разработки внутри предельного карьера.  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0" y="2163104"/>
        <a:ext cx="2622080" cy="1573248"/>
      </dsp:txXfrm>
    </dsp:sp>
    <dsp:sp modelId="{D477DADC-BD53-448C-837F-3BB6EC9EA927}">
      <dsp:nvSpPr>
        <dsp:cNvPr id="0" name=""/>
        <dsp:cNvSpPr/>
      </dsp:nvSpPr>
      <dsp:spPr>
        <a:xfrm>
          <a:off x="2884289" y="2163104"/>
          <a:ext cx="2622080" cy="15732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Поддерживает ограничивающие условия: углы откосов, зоны нерудных/охранных ограничений, инфраструктурные лимиты, предварительная вскрыша.  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2884289" y="2163104"/>
        <a:ext cx="2622080" cy="1573248"/>
      </dsp:txXfrm>
    </dsp:sp>
    <dsp:sp modelId="{80966935-8A70-4ACD-957C-D9BC697DE13B}">
      <dsp:nvSpPr>
        <dsp:cNvPr id="0" name=""/>
        <dsp:cNvSpPr/>
      </dsp:nvSpPr>
      <dsp:spPr>
        <a:xfrm>
          <a:off x="5768578" y="2163104"/>
          <a:ext cx="2622080" cy="15732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Интегрируется с блочными моделями и системами горного проектирования и может экспортировать границы и таблицы для дальнейшего детального планирования.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5768578" y="2163104"/>
        <a:ext cx="2622080" cy="15732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5675B-3509-402C-9190-6ADBE21AF6FA}">
      <dsp:nvSpPr>
        <dsp:cNvPr id="0" name=""/>
        <dsp:cNvSpPr/>
      </dsp:nvSpPr>
      <dsp:spPr>
        <a:xfrm>
          <a:off x="41" y="289048"/>
          <a:ext cx="3972622" cy="5926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Входные данные (что нужно подготовить)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" y="289048"/>
        <a:ext cx="3972622" cy="592673"/>
      </dsp:txXfrm>
    </dsp:sp>
    <dsp:sp modelId="{A82819C5-5AFE-481C-99FD-6389C928DA6A}">
      <dsp:nvSpPr>
        <dsp:cNvPr id="0" name=""/>
        <dsp:cNvSpPr/>
      </dsp:nvSpPr>
      <dsp:spPr>
        <a:xfrm>
          <a:off x="41" y="881721"/>
          <a:ext cx="3972622" cy="28932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блочная модель (</a:t>
          </a:r>
          <a:r>
            <a:rPr lang="ru-RU" sz="1700" kern="1200" dirty="0" err="1" smtClean="0">
              <a:latin typeface="Times New Roman" pitchFamily="18" charset="0"/>
              <a:cs typeface="Times New Roman" pitchFamily="18" charset="0"/>
            </a:rPr>
            <a:t>grades</a:t>
          </a: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, плотности, литология и др. атрибуты);  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технологические параметры (восстановление, переработка);  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цены на продукцию и скидки/премии;  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себестоимости: добыча, переработка, общие расходы, капитальные затраты;  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геотехнические/углы откосов, ограничения размещения;  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экономические параметры: дисконтирование, налог/роялти и пр.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" y="881721"/>
        <a:ext cx="3972622" cy="2893230"/>
      </dsp:txXfrm>
    </dsp:sp>
    <dsp:sp modelId="{0418C611-62BB-4DEC-813A-518F709DF40B}">
      <dsp:nvSpPr>
        <dsp:cNvPr id="0" name=""/>
        <dsp:cNvSpPr/>
      </dsp:nvSpPr>
      <dsp:spPr>
        <a:xfrm>
          <a:off x="4528831" y="289048"/>
          <a:ext cx="3972622" cy="5926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Выходные данные (что получают)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28831" y="289048"/>
        <a:ext cx="3972622" cy="592673"/>
      </dsp:txXfrm>
    </dsp:sp>
    <dsp:sp modelId="{1388CD64-994A-4E0F-9FFC-725C1111548A}">
      <dsp:nvSpPr>
        <dsp:cNvPr id="0" name=""/>
        <dsp:cNvSpPr/>
      </dsp:nvSpPr>
      <dsp:spPr>
        <a:xfrm>
          <a:off x="4528831" y="881721"/>
          <a:ext cx="3972622" cy="28932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набор вложенных </a:t>
          </a:r>
          <a:r>
            <a:rPr lang="en-US" sz="1700" kern="1200" dirty="0" smtClean="0">
              <a:latin typeface="Times New Roman" pitchFamily="18" charset="0"/>
              <a:cs typeface="Times New Roman" pitchFamily="18" charset="0"/>
            </a:rPr>
            <a:t>pit‑</a:t>
          </a: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оболочек (геометрия/координаты);  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таблицы NPV/тоннаж/содержание/strip ratio для каждой оболочки;  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рекомендованный ultimate pit и варианты pushbacks;  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отчёты, карты и данные для импорта в планировщики (Surpac, Datamine, Micromine и др.).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28831" y="881721"/>
        <a:ext cx="3972622" cy="28932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7EC62-2794-45B0-A282-B828A96511FC}">
      <dsp:nvSpPr>
        <dsp:cNvPr id="0" name=""/>
        <dsp:cNvSpPr/>
      </dsp:nvSpPr>
      <dsp:spPr>
        <a:xfrm>
          <a:off x="928252" y="171"/>
          <a:ext cx="2031828" cy="1219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Планирование добычи по периодам (месяцы/недели/дни): формирование расписаний по блокам или рабочим участкам.  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28252" y="171"/>
        <a:ext cx="2031828" cy="1219097"/>
      </dsp:txXfrm>
    </dsp:sp>
    <dsp:sp modelId="{1BB9CF94-ADC1-4028-AE82-73F5C0152AAB}">
      <dsp:nvSpPr>
        <dsp:cNvPr id="0" name=""/>
        <dsp:cNvSpPr/>
      </dsp:nvSpPr>
      <dsp:spPr>
        <a:xfrm>
          <a:off x="3163264" y="171"/>
          <a:ext cx="2031828" cy="1219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Последовательность вскрытия и добычи (pushbacks, cutbacks), учёт технологических и геотехнических ограничений.  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3163264" y="171"/>
        <a:ext cx="2031828" cy="1219097"/>
      </dsp:txXfrm>
    </dsp:sp>
    <dsp:sp modelId="{73CA6F9F-DF9B-4830-9427-DE5ACDAB40DE}">
      <dsp:nvSpPr>
        <dsp:cNvPr id="0" name=""/>
        <dsp:cNvSpPr/>
      </dsp:nvSpPr>
      <dsp:spPr>
        <a:xfrm>
          <a:off x="5398275" y="171"/>
          <a:ext cx="2235580" cy="1219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Управление ресурсами и мощностями: загрузка дробильно‑обогатительных мощностей, доступность флота, сменность, ограничения подрядчиков.  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398275" y="171"/>
        <a:ext cx="2235580" cy="1219097"/>
      </dsp:txXfrm>
    </dsp:sp>
    <dsp:sp modelId="{D7AD985A-3792-40B1-A7F3-B26561ACEAFB}">
      <dsp:nvSpPr>
        <dsp:cNvPr id="0" name=""/>
        <dsp:cNvSpPr/>
      </dsp:nvSpPr>
      <dsp:spPr>
        <a:xfrm>
          <a:off x="1030128" y="1422451"/>
          <a:ext cx="2031828" cy="1219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Блендинг и правила отбора руды: cut‑off, правила смешивания для достижения требуемых качеств концентрата/рут.  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1030128" y="1422451"/>
        <a:ext cx="2031828" cy="1219097"/>
      </dsp:txXfrm>
    </dsp:sp>
    <dsp:sp modelId="{5D5194C3-4805-44F3-A5BB-03F248DA52EE}">
      <dsp:nvSpPr>
        <dsp:cNvPr id="0" name=""/>
        <dsp:cNvSpPr/>
      </dsp:nvSpPr>
      <dsp:spPr>
        <a:xfrm>
          <a:off x="3265140" y="1422451"/>
          <a:ext cx="2031828" cy="1219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Моделирование перемещений материалов: отвал, сток, складирование, переработка.  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3265140" y="1422451"/>
        <a:ext cx="2031828" cy="1219097"/>
      </dsp:txXfrm>
    </dsp:sp>
    <dsp:sp modelId="{EB10464C-A000-46E3-B67A-110E7F067F22}">
      <dsp:nvSpPr>
        <dsp:cNvPr id="0" name=""/>
        <dsp:cNvSpPr/>
      </dsp:nvSpPr>
      <dsp:spPr>
        <a:xfrm>
          <a:off x="5500151" y="1422451"/>
          <a:ext cx="2031828" cy="1219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Оценка экономических показателей по периодам: тоннаж, металл, выручка, затраты, NPV (в зависимости от настроек).  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5500151" y="1422451"/>
        <a:ext cx="2031828" cy="1219097"/>
      </dsp:txXfrm>
    </dsp:sp>
    <dsp:sp modelId="{2D3C4777-C063-484F-94EE-AE7F69882A9B}">
      <dsp:nvSpPr>
        <dsp:cNvPr id="0" name=""/>
        <dsp:cNvSpPr/>
      </dsp:nvSpPr>
      <dsp:spPr>
        <a:xfrm>
          <a:off x="2022768" y="2844731"/>
          <a:ext cx="2281560" cy="1219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Визуализация и отчётность: графики производства,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Gantt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‑диаграммы, карты/планы карьера, таблицы по блокам/периодам.  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022768" y="2844731"/>
        <a:ext cx="2281560" cy="1219097"/>
      </dsp:txXfrm>
    </dsp:sp>
    <dsp:sp modelId="{60A8C4B9-5705-4224-AB4C-756C4DFCD514}">
      <dsp:nvSpPr>
        <dsp:cNvPr id="0" name=""/>
        <dsp:cNvSpPr/>
      </dsp:nvSpPr>
      <dsp:spPr>
        <a:xfrm>
          <a:off x="4507511" y="2844731"/>
          <a:ext cx="2031828" cy="1219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Сценарный анализ и сравнение альтернатив — быстрый перебор вариантов и чувствительность к параметрам.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4507511" y="2844731"/>
        <a:ext cx="2031828" cy="12190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1745674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Цифровые решения для планирования производственных процессов 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8108950" cy="520420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Интегрированное оптимальное планирование производства и перевозок в масштабах предприятия.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Тактическое планирование работ.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Стратегическое планирование работ.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Оперативное планирование работ.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Интеллектуальное управление транспортными процессами с использованием технологии цифрового дублирования.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Имитационное моделирование горного производства.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ru-RU" sz="18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42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1. Интегрированное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оптимальное планирование производства и перевозок в масштабах предприятия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98054" y="1801092"/>
            <a:ext cx="8108950" cy="49876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интегрированного оптимального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планирования</a:t>
            </a:r>
            <a:endParaRPr lang="ru-RU" sz="18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484909" y="2427376"/>
            <a:ext cx="833524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Интегрированное бизнес-планирование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процесс, связывающий бизнес-цели и существующие ограничения реального мира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рамках такого планирования решается задача максимизации или минимизации, поэтому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говорим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 оптимальном планировании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Планирование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связывает разные части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бизнес-процесса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или подразделений заказчика в единую цепь, поэтому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говорим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 интегрированном планировании</a:t>
            </a:r>
          </a:p>
        </p:txBody>
      </p:sp>
    </p:spTree>
    <p:extLst>
      <p:ext uri="{BB962C8B-B14F-4D97-AF65-F5344CB8AC3E}">
        <p14:creationId xmlns:p14="http://schemas.microsoft.com/office/powerpoint/2010/main" val="251373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Интегрированное оптимальное планирование производства и перевозок в масштабах предприятия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84909" y="2050473"/>
            <a:ext cx="8451273" cy="498763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Функциональность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 оптимального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календарного планирования</a:t>
            </a:r>
            <a:endParaRPr lang="ru-RU" sz="2000" dirty="0">
              <a:solidFill>
                <a:srgbClr val="FF000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484909" y="2981558"/>
            <a:ext cx="833524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▪ Создание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сквозного плана для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различных подразделений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▪ Совместное создание, корректировка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 согласование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планов</a:t>
            </a:r>
          </a:p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▪ Создание планов, оптимизирующих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различные показатели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 учитывающих разные 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42338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Интегрированное оптимальное планирование производства и перевозок в масштабах предприятия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77850" y="1773384"/>
            <a:ext cx="8108950" cy="49876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Бизнес-эффекты от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внедрения календарного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планирования</a:t>
            </a:r>
            <a:endParaRPr lang="ru-RU" sz="18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653989"/>
              </p:ext>
            </p:extLst>
          </p:nvPr>
        </p:nvGraphicFramePr>
        <p:xfrm>
          <a:off x="401782" y="2299855"/>
          <a:ext cx="8285018" cy="4421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2509"/>
                <a:gridCol w="4142509"/>
              </a:tblGrid>
              <a:tr h="526555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Целевая аудитория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Бизнес-эффект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08848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Финансовые директора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 Снижение операционных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расходов (OPEX)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298355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Директор по цепочкам поставок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 Сокращение «мертвых» запасов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для компенсации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неопределённости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687861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Операционные директора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 Повышение прозрачности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процесса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2. Снижение операционных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расходов (OPEX)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96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Интегрированное оптимальное планирование производства и перевозок в масштабах предприятия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59527" y="1983710"/>
            <a:ext cx="5855277" cy="498763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Цепочка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поставок (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Supply chain)</a:t>
            </a: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7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54182" y="2621018"/>
            <a:ext cx="826596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Цепочка поставок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цепочка субъектов и видов деятельности, задача которой – предоставить заказчику продукцию и услуги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5 основных групп процессов -  это планирование, поставка, производство, отгрузка, возврат.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45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Интегрированное оптимальное планирование производства и перевозок в масштабах предприятия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801092"/>
            <a:ext cx="8108950" cy="498763"/>
          </a:xfrm>
        </p:spPr>
        <p:txBody>
          <a:bodyPr/>
          <a:lstStyle/>
          <a:p>
            <a:pPr marL="0" indent="0" algn="ctr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Цепочка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ценности (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Value chain)</a:t>
            </a: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8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74073" y="2496327"/>
            <a:ext cx="85621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Цепочка ценности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инструмент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стратегического анализа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направленный на подробное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изучение деятельности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организации с целью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стратегического планирования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Идея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цепочки ценности была предложена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М. Портером в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книге «Конкурентное преимущество».</a:t>
            </a:r>
          </a:p>
        </p:txBody>
      </p:sp>
    </p:spTree>
    <p:extLst>
      <p:ext uri="{BB962C8B-B14F-4D97-AF65-F5344CB8AC3E}">
        <p14:creationId xmlns:p14="http://schemas.microsoft.com/office/powerpoint/2010/main" val="262551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Интегрированное оптимальное планирование производства и перевозок в масштабах предприятия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47204" y="3172691"/>
            <a:ext cx="8672946" cy="371764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!!! разный анализ собственных процессов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21874"/>
              </p:ext>
            </p:extLst>
          </p:nvPr>
        </p:nvGraphicFramePr>
        <p:xfrm>
          <a:off x="133350" y="3667363"/>
          <a:ext cx="8913668" cy="2983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724"/>
                <a:gridCol w="2975421"/>
                <a:gridCol w="3861523"/>
              </a:tblGrid>
              <a:tr h="323267">
                <a:tc>
                  <a:txBody>
                    <a:bodyPr/>
                    <a:lstStyle/>
                    <a:p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Цепочка поставок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Цепочка ценности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7197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Цель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Удовлетворение клиента</a:t>
                      </a:r>
                    </a:p>
                    <a:p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Получение конкурентного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преимущества</a:t>
                      </a:r>
                    </a:p>
                  </a:txBody>
                  <a:tcPr/>
                </a:tc>
              </a:tr>
              <a:tr h="808168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Основные шаги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 Заказ продукции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2. Цепочка поставок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3. Клиент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 Запрос клиента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2. Цепочка ценности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3. Продукция</a:t>
                      </a:r>
                    </a:p>
                  </a:txBody>
                  <a:tcPr/>
                </a:tc>
              </a:tr>
              <a:tr h="880356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Суть подхода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Оптимизация доставки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Увеличение ценности для клиента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952064"/>
              </p:ext>
            </p:extLst>
          </p:nvPr>
        </p:nvGraphicFramePr>
        <p:xfrm>
          <a:off x="263236" y="1860667"/>
          <a:ext cx="8556914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457"/>
                <a:gridCol w="42784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Цепочка поставок 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Цепочка ценности 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оптимизируем доставку, поэтому можем принимать во внимание некоторые важные шаги процесса 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как из сырья получаем готовый продукт и стремимся оптимизировать ее звенья для получения конкурентного преимущества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81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Пример цепочки ценности в</a:t>
            </a:r>
            <a:br>
              <a:rPr lang="ru-RU" sz="3200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угольной промышленности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10</a:t>
            </a:fld>
            <a:endParaRPr lang="ru-RU"/>
          </a:p>
        </p:txBody>
      </p:sp>
      <p:graphicFrame>
        <p:nvGraphicFramePr>
          <p:cNvPr id="8" name="Объект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917157"/>
              </p:ext>
            </p:extLst>
          </p:nvPr>
        </p:nvGraphicFramePr>
        <p:xfrm>
          <a:off x="290945" y="1607127"/>
          <a:ext cx="8529205" cy="5139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615"/>
                <a:gridCol w="6062590"/>
              </a:tblGrid>
              <a:tr h="430183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Разрез</a:t>
                      </a:r>
                      <a:endParaRPr lang="ru-RU" sz="2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Добыча сырья</a:t>
                      </a:r>
                      <a:endParaRPr lang="ru-RU" sz="2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74330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Обогатительная</a:t>
                      </a:r>
                    </a:p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фабрика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Обогащение сырья</a:t>
                      </a:r>
                    </a:p>
                    <a:p>
                      <a:endParaRPr lang="ru-RU" sz="2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74330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Складские запасы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Управление уровнем запасов и качеством продукции</a:t>
                      </a:r>
                      <a:endParaRPr lang="ru-RU" sz="2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0183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ЖД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Транспортировка продукции до порта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0183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Порт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Управление загрузкой морского транспорта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118477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Доставка морским</a:t>
                      </a:r>
                    </a:p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транспортом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Доставка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материалов в пункт назначения</a:t>
                      </a:r>
                      <a:endParaRPr lang="ru-RU" sz="2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32968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Клиент</a:t>
                      </a:r>
                      <a:endParaRPr lang="ru-RU" sz="2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Передача продукции клиенту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23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Факторы влияния на управление</a:t>
            </a:r>
            <a:br>
              <a:rPr lang="ru-RU" sz="3200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цепочкой ценностью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11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8191500" cy="3653219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Готовность к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изменению бизнес-процессов</a:t>
            </a:r>
          </a:p>
          <a:p>
            <a:pPr marL="0" indent="0">
              <a:buNone/>
            </a:pPr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Готовность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ИТ-инфраструктуры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42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Факторы влияния на управление</a:t>
            </a:r>
            <a:br>
              <a:rPr lang="ru-RU" sz="3200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цепочкой ценностью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1284039"/>
              </p:ext>
            </p:extLst>
          </p:nvPr>
        </p:nvGraphicFramePr>
        <p:xfrm>
          <a:off x="360218" y="1493405"/>
          <a:ext cx="8459932" cy="4862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966"/>
                <a:gridCol w="4229966"/>
              </a:tblGrid>
              <a:tr h="1063769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Подстройка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бизнес-процессов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Готовность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ИТ-инфраструктуры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99176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Готовность менять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процессы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Центр компетенций,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обучающий необходимым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навыкам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Готовность к постепенным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изменениям и гибким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методологиям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Инструменты для сбора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и обеспечения качества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данных по цепочке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ценностей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Продвинутая аналитика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для поддержки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принятия решений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47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Как добиться хороших данных?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13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276834"/>
            <a:ext cx="81915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эффективного решения задачи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планирования нужны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большие массивы данных, в том числе про:</a:t>
            </a:r>
          </a:p>
          <a:p>
            <a:pPr marL="0" indent="45720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▪ Мощности производства и отгрузки</a:t>
            </a:r>
          </a:p>
          <a:p>
            <a:pPr marL="0" indent="45720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▪ Стоимость сырья и перевозок</a:t>
            </a:r>
          </a:p>
          <a:p>
            <a:pPr marL="0" indent="45720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▪ Сроки доставки</a:t>
            </a:r>
          </a:p>
          <a:p>
            <a:pPr marL="0" indent="0" algn="just">
              <a:buNone/>
            </a:pP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!!!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Единая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платформа – необходимость, 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 конкурентное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преимущество</a:t>
            </a:r>
          </a:p>
        </p:txBody>
      </p:sp>
    </p:spTree>
    <p:extLst>
      <p:ext uri="{BB962C8B-B14F-4D97-AF65-F5344CB8AC3E}">
        <p14:creationId xmlns:p14="http://schemas.microsoft.com/office/powerpoint/2010/main" val="202367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Подходы к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управлению цепочкой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ценности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14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6631480"/>
              </p:ext>
            </p:extLst>
          </p:nvPr>
        </p:nvGraphicFramePr>
        <p:xfrm>
          <a:off x="277090" y="1510144"/>
          <a:ext cx="8672946" cy="5056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6473"/>
                <a:gridCol w="4336473"/>
              </a:tblGrid>
              <a:tr h="585031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Супермодель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Блочный подход</a:t>
                      </a:r>
                    </a:p>
                  </a:txBody>
                  <a:tcPr/>
                </a:tc>
              </a:tr>
              <a:tr h="447188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Единая модель,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покрывающая все стадии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от и до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Потенциально позволяет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сформировать сквозное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оптимальное решение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Высокая длительность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расчета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Невозможность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параллельной разработки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Небольшие модели,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покрывающие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отдельный шаг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Быстрый расчет каждой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из таких моделей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Возможность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параллельной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разработки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Возможны проблемы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на «стыках» моделей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12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Методы планирования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6003424"/>
              </p:ext>
            </p:extLst>
          </p:nvPr>
        </p:nvGraphicFramePr>
        <p:xfrm>
          <a:off x="277090" y="1510144"/>
          <a:ext cx="8672946" cy="5056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6473"/>
                <a:gridCol w="4336473"/>
              </a:tblGrid>
              <a:tr h="585031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Симуляция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Блочный подход</a:t>
                      </a:r>
                    </a:p>
                  </a:txBody>
                  <a:tcPr/>
                </a:tc>
              </a:tr>
              <a:tr h="447188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Замена реального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процесса моделью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Эксперименты, даже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когда на реальном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объекте это невозможно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Основана на «цифровых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двойниках»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Анализ «узких мест»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Сценарное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моделирование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Улучшение одного или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нескольких шагов в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цепочке ценности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Должна быть определена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цель оптимизации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▪ Более высокие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требования к качеству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данных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16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Э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тапы 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16</a:t>
            </a:fld>
            <a:endParaRPr lang="ru-RU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982254344"/>
              </p:ext>
            </p:extLst>
          </p:nvPr>
        </p:nvGraphicFramePr>
        <p:xfrm>
          <a:off x="249382" y="1025237"/>
          <a:ext cx="8570768" cy="5569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963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2. Тактическое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планирование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17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7309" y="999742"/>
            <a:ext cx="8182841" cy="856767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Особенности горного планирования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632622517"/>
              </p:ext>
            </p:extLst>
          </p:nvPr>
        </p:nvGraphicFramePr>
        <p:xfrm>
          <a:off x="1523999" y="1731818"/>
          <a:ext cx="6567055" cy="4740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356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Стратегия или тактика?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18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771358"/>
              </p:ext>
            </p:extLst>
          </p:nvPr>
        </p:nvGraphicFramePr>
        <p:xfrm>
          <a:off x="628650" y="1221798"/>
          <a:ext cx="8191500" cy="4312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5750"/>
                <a:gridCol w="4095750"/>
              </a:tblGrid>
              <a:tr h="523875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СТРАТЕГИЯ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ТАКТИКА</a:t>
                      </a:r>
                    </a:p>
                  </a:txBody>
                  <a:tcPr/>
                </a:tc>
              </a:tr>
              <a:tr h="5084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ПОЧЕМУ? КОГДА? 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ГДЕ? КАК?</a:t>
                      </a:r>
                    </a:p>
                  </a:txBody>
                  <a:tcPr/>
                </a:tc>
              </a:tr>
              <a:tr h="508427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Определить цель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Достичь цель</a:t>
                      </a:r>
                    </a:p>
                  </a:txBody>
                  <a:tcPr/>
                </a:tc>
              </a:tr>
              <a:tr h="877559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Добиться максимальной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прибыли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Добиться минимальных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затрат</a:t>
                      </a:r>
                    </a:p>
                  </a:txBody>
                  <a:tcPr/>
                </a:tc>
              </a:tr>
              <a:tr h="508427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Проектировать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Реализовать</a:t>
                      </a:r>
                    </a:p>
                  </a:txBody>
                  <a:tcPr/>
                </a:tc>
              </a:tr>
              <a:tr h="508427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Определить ограничения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Определить ресурсы</a:t>
                      </a:r>
                    </a:p>
                  </a:txBody>
                  <a:tcPr/>
                </a:tc>
              </a:tr>
              <a:tr h="877559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Определить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чувствительность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Проверить влияние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операционных практик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43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Программные комплексы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для стратегического планирования открытых горных работ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19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080400"/>
            <a:ext cx="7886700" cy="3724656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Whittle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Whittle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(чаще под брендом GEOVIA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Whittle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Dassault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Syst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mes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коммерческий программный комплекс для стратегического планирования открытых горных работ.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Его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основная задача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 основе блочной модели руды и экономических/технологических допущений быстро получать экономически обоснованные границы карьера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ultimate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pits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nested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shells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), варианты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стадирования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pushbacks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и показатели, нужные для принятия стратегических решений.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0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Программные комплексы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для стратегического планирования открытых горных работ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20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080400"/>
            <a:ext cx="7886700" cy="371855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Что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делает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Whittle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267528677"/>
              </p:ext>
            </p:extLst>
          </p:nvPr>
        </p:nvGraphicFramePr>
        <p:xfrm>
          <a:off x="429490" y="2496037"/>
          <a:ext cx="839065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491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Программные комплексы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для стратегического планирования открытых горных работ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21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080400"/>
            <a:ext cx="7886700" cy="52425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Whittle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1719867963"/>
              </p:ext>
            </p:extLst>
          </p:nvPr>
        </p:nvGraphicFramePr>
        <p:xfrm>
          <a:off x="318655" y="2482182"/>
          <a:ext cx="8501495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96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Программные продукты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для планирования и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оптимизации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22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56145"/>
            <a:ext cx="7886700" cy="52425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MineSched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84908" y="2261076"/>
            <a:ext cx="803044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MineSched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это коммерческий программный продукт для планирования и оптимизации горно‑добычных работ, в первую очередь для тактического и оперативного (среднесрочного/краткосрочного) планирования карьеров и производства.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Разработан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компанией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Datamine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и широко применяется горными инженерами и планировщиками.</a:t>
            </a:r>
          </a:p>
        </p:txBody>
      </p:sp>
    </p:spTree>
    <p:extLst>
      <p:ext uri="{BB962C8B-B14F-4D97-AF65-F5344CB8AC3E}">
        <p14:creationId xmlns:p14="http://schemas.microsoft.com/office/powerpoint/2010/main" val="253572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Программные продукты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для планирования и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оптимизации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23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56145"/>
            <a:ext cx="7886700" cy="52425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MineSched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84909" y="2080400"/>
            <a:ext cx="80304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Возможности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назначение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4167110227"/>
              </p:ext>
            </p:extLst>
          </p:nvPr>
        </p:nvGraphicFramePr>
        <p:xfrm>
          <a:off x="360217" y="2603620"/>
          <a:ext cx="856210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130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Экспорт результатов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стратегического планирования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24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56944"/>
            <a:ext cx="7886700" cy="75978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Входными данными тактического планирования являются данные стратегического планирования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10" t="30114" r="24184" b="16288"/>
          <a:stretch/>
        </p:blipFill>
        <p:spPr bwMode="auto">
          <a:xfrm>
            <a:off x="500723" y="2184401"/>
            <a:ext cx="2981964" cy="4537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003964" y="2216727"/>
            <a:ext cx="4511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Результат стратегического планирования в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Whittle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Поверхности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оболочек фаз отработки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Объёмные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показатели по добыче и переработке с разбивкой по фазам и периодам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6259657" y="4100945"/>
            <a:ext cx="0" cy="351993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03964" y="4602024"/>
            <a:ext cx="48161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Настройка тактического</a:t>
            </a:r>
          </a:p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сценария в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MineSched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1. Тактическая настройка работ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 фазам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2. Настройка производительности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 фазам в соответствии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 периодами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переработки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фабрике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5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Тактическое планирование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25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84652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▪ Какой блок должен быть добыт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когда,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 соответствии со стратегией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Оперативный анализ тактических вариантов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идей </a:t>
            </a:r>
          </a:p>
          <a:p>
            <a:pPr marL="0" indent="0"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Анализ влияния периодов друг на друга</a:t>
            </a:r>
          </a:p>
        </p:txBody>
      </p:sp>
    </p:spTree>
    <p:extLst>
      <p:ext uri="{BB962C8B-B14F-4D97-AF65-F5344CB8AC3E}">
        <p14:creationId xmlns:p14="http://schemas.microsoft.com/office/powerpoint/2010/main" val="219348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3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Современная концепция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планирования горных работ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26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14" t="36206" r="4162" b="12350"/>
          <a:stretch/>
        </p:blipFill>
        <p:spPr bwMode="auto">
          <a:xfrm>
            <a:off x="628650" y="1321461"/>
            <a:ext cx="7010400" cy="5551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327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3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3. Стратегическое планирование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27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142034" y="986044"/>
            <a:ext cx="2791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Цель планирования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26473" y="1925782"/>
            <a:ext cx="79888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Максимизировать чистый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дисконтированный поток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(NPV*) и рентабельность инвестиций (ROI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**) проекта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 учетом всех ограничивающих факторов.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189018" y="37521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*NPV – Net Present Value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**ROI – Return On Investment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3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3. Стратегическое планирование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28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142034" y="986044"/>
            <a:ext cx="3284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Стратегия или тактика?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31040"/>
              </p:ext>
            </p:extLst>
          </p:nvPr>
        </p:nvGraphicFramePr>
        <p:xfrm>
          <a:off x="789710" y="1715655"/>
          <a:ext cx="7725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2820"/>
                <a:gridCol w="386282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СТРАТЕГИЯ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ТАКТИКА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ПОЧЕМУ? КОГДА? 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ГДЕ? КАК?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Определить цель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Достичь цель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Добиться максимальной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прибыли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Добиться минимальных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затрат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Проектировать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Реализовать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Определить ограничения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Определить ресурсы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Определить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чувствительность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Проверить влияние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операционных практик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75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3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3. Стратегическое планирование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29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316182" y="1216876"/>
            <a:ext cx="6858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Параметры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стратегического планирования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04655" y="2357735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▪ Геологические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Горнотехнические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Металлургические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Экономические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Производственные</a:t>
            </a:r>
          </a:p>
        </p:txBody>
      </p:sp>
    </p:spTree>
    <p:extLst>
      <p:ext uri="{BB962C8B-B14F-4D97-AF65-F5344CB8AC3E}">
        <p14:creationId xmlns:p14="http://schemas.microsoft.com/office/powerpoint/2010/main" val="312388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3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3. Стратегическое планирование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30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95746" y="986044"/>
            <a:ext cx="81049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Последовательность процессов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при планировании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33450" y="2357736"/>
            <a:ext cx="736542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1. Оптимизация и создание оболочек карьеров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2. Стратегическое планирование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3. Выбор этапов отработки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4. Построение технологического карьера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Тактическое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планирование на основе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стратегического плана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95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3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4. Стратегическое планирование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31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898073" y="986044"/>
            <a:ext cx="68025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Расчет вариантов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будущего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57745" y="1706572"/>
            <a:ext cx="69411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Оценка производственной эффективности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сегодня и завтра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3456" y="2799224"/>
            <a:ext cx="819669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Будущее зависит от множества решений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планировании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Текущее положение горных работ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КТГ и КИ оборудования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Подготовленные к выемке запасы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Плечи откатки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Планирование шихты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т.д.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Выбор сценариев при поиски баланса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конфликтующих КПЭ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40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3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4. Стратегическое планирование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33449" y="886690"/>
            <a:ext cx="78866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Процесс интегрированного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горного планирования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75" t="29356" r="2355" b="21970"/>
          <a:stretch/>
        </p:blipFill>
        <p:spPr bwMode="auto">
          <a:xfrm>
            <a:off x="734289" y="1721032"/>
            <a:ext cx="7412184" cy="499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146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3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4. Стратегическое планирование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886690"/>
            <a:ext cx="91439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Автоматизация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процессов </a:t>
            </a:r>
          </a:p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Горно-Геологической Информационной Системой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(ГГИС)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4" t="33240" r="3740" b="23907"/>
          <a:stretch/>
        </p:blipFill>
        <p:spPr bwMode="auto">
          <a:xfrm>
            <a:off x="1012408" y="2091576"/>
            <a:ext cx="7119182" cy="444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338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3"/>
            <a:ext cx="788670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4. Стратегическое планирование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33449" y="886690"/>
            <a:ext cx="78866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Вертикальная интеграция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57200" y="1449011"/>
            <a:ext cx="83629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Интеграция между уровнями планирования – основа понимания и управления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узкими местами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78" t="43182" r="3421" b="23106"/>
          <a:stretch/>
        </p:blipFill>
        <p:spPr bwMode="auto">
          <a:xfrm>
            <a:off x="789708" y="2382982"/>
            <a:ext cx="7924416" cy="3973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022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423565"/>
            <a:ext cx="7886700" cy="65412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Скользящее планирование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35</a:t>
            </a:fld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8" t="34471" r="10342" b="15110"/>
          <a:stretch/>
        </p:blipFill>
        <p:spPr bwMode="auto">
          <a:xfrm>
            <a:off x="429490" y="1077692"/>
            <a:ext cx="8458561" cy="428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4" t="81860" r="53041" b="6415"/>
          <a:stretch/>
        </p:blipFill>
        <p:spPr bwMode="auto">
          <a:xfrm>
            <a:off x="429490" y="5223164"/>
            <a:ext cx="3493866" cy="1257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6989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271165"/>
            <a:ext cx="7886700" cy="65412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Последовательное и скользящее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планирование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84909" y="1673438"/>
            <a:ext cx="82296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Последовательное планирование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формируют план на заданный длительный период один раз (или редко), после чего план либо выполняется без регулярного пересмотра, либо пересматривается только при существенных изменениях.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Часто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это «фиксированный» план: стратегический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ultimate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pit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→ тактический план на год → оперативные задания.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Скользящее 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rolling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планирование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план строят на некоторый прогнозный период (плановое окно), но регулярно (с фиксированной периодичностью) пересматривают и обновляют этот план с учётом новых данных.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этом часть ближайшего горизонта «замораживается»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frozen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window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для исполнения, а остальное окно пересчитывается заново.</a:t>
            </a:r>
          </a:p>
        </p:txBody>
      </p:sp>
    </p:spTree>
    <p:extLst>
      <p:ext uri="{BB962C8B-B14F-4D97-AF65-F5344CB8AC3E}">
        <p14:creationId xmlns:p14="http://schemas.microsoft.com/office/powerpoint/2010/main" val="3176544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271165"/>
            <a:ext cx="7886700" cy="65412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Последовательное и скользящее планирование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84909" y="1424056"/>
            <a:ext cx="8229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Частота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пересмотра: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последовательное 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редко; скользящее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регулярно (ежемесячно/еженедельно).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Адаптивность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скользящее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лучше реагирует на изменения (геология, цены, доступность флота), последовательное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менее гибкое.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Управление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ресурсами: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скользящем проще учитывать реальную доступность техники/запасов; последовательное требует больших запасов безопасности или строгости в исполнении.</a:t>
            </a:r>
          </a:p>
        </p:txBody>
      </p:sp>
    </p:spTree>
    <p:extLst>
      <p:ext uri="{BB962C8B-B14F-4D97-AF65-F5344CB8AC3E}">
        <p14:creationId xmlns:p14="http://schemas.microsoft.com/office/powerpoint/2010/main" val="13177671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423565"/>
            <a:ext cx="8058150" cy="65412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Архитектура решения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– операционное планирование ГР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38</a:t>
            </a:fld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37" t="21970" r="4166" b="24621"/>
          <a:stretch/>
        </p:blipFill>
        <p:spPr bwMode="auto">
          <a:xfrm>
            <a:off x="0" y="1911927"/>
            <a:ext cx="9144000" cy="4119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4869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32565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Связь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оперативного планирования с MES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6255" y="1558128"/>
            <a:ext cx="8778585" cy="425634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Система операционного планирования передает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Время начала операции ▪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Время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окончания операции ▪ Участок ▪ Идентификатор выработки ▪ Тип операции ▪ Идентификатор оборудования ▪ Масса получена ▪ Ожидаемый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%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операционного планирования получает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Участок 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Идентификатор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выработки 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Тип операции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Идентификатор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оборудования 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Началась ли операция?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Да/Нет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Время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начало 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Закончилась ли операция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? Да/нет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Ожидаемое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время окончания 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Время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окончания 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Качество получено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? 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Вес получен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? 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Вес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63682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373346"/>
            <a:ext cx="7886700" cy="13255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5. Интеллектуальное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управление транспортными процессами с использованием технологии цифрового дублирования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2523744"/>
            <a:ext cx="8246919" cy="2062112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Искусственный интеллект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область компьютерных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наук, которая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занимается автоматизацией разумного поведения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ru-RU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Разумное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поведение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совокупность процессов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выработки решений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или осуществления действий, похожих на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действия человека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при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этом максимально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рациональных.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85263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373346"/>
            <a:ext cx="7886700" cy="13255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5. Интеллектуальное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управление транспортными процессами с использованием технологии цифрового дублирования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2523744"/>
            <a:ext cx="8246919" cy="1452511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Горнопромышленное производство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системная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инженерная деятельность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земной коре, являющаяся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совокупностью технологий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функционирующих в рамках целевых установок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41</a:t>
            </a:fld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81" t="62310" r="4592" b="20644"/>
          <a:stretch/>
        </p:blipFill>
        <p:spPr bwMode="auto">
          <a:xfrm>
            <a:off x="263235" y="3934688"/>
            <a:ext cx="8787016" cy="2202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7220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373346"/>
            <a:ext cx="7886700" cy="1663272"/>
          </a:xfrm>
        </p:spPr>
        <p:txBody>
          <a:bodyPr/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5. Интеллектуальное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управление транспортными процессами с использованием технологии цифрового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дублирования - </a:t>
            </a:r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Методы 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 модели </a:t>
            </a:r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выработки управляющих 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решений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90945" y="2191234"/>
            <a:ext cx="8478982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2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Когнитологические</a:t>
            </a:r>
            <a:r>
              <a:rPr lang="ru-RU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модели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основаны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на использовании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знаний профессиональных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экспертов 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ориентированы на работу с разными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видами информационной неопределенности (неточность, неполнота)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Вычислительные 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модели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построены на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принципах аналогии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 нейрофизиологическими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процессами мозга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нейросетевые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модели)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Гибридные 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модели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объединяют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достоинства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когнитологического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 вычислительного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подходов (нечеткие нейронные сети)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Оптимизационные 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модели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реализуют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алгоритмы эволюционной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оптимизации, в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которых используются  аналогии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биологическими процессами (комбинация с перечисленными выше)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4209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373346"/>
            <a:ext cx="7886700" cy="873563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Основные концепции</a:t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интеллектуального управления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90945" y="1359961"/>
            <a:ext cx="8478982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1. Представление всех задач в ходе управления</a:t>
            </a:r>
          </a:p>
          <a:p>
            <a:pPr marL="0" indent="0" algn="just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технологическими процессами в форме «типовых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» задач 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ИИ: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Интерпретация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разнородных и разнотипных данных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Распознавание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состояний объекта управления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для ранжирования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их в числовых дискретных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или лингвистических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 нечетких шкалах.</a:t>
            </a:r>
          </a:p>
          <a:p>
            <a:pPr marL="0" indent="0" algn="just"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Например: «нормально», «опасно», «аварийно»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Прогнозирование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развития ситуаций с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использованием технологий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индуктивного обучения по схеме:</a:t>
            </a:r>
          </a:p>
          <a:p>
            <a:pPr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«выдвижение гипотез – проверка гипотез»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Выработка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управляющих решений,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основанных на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количественном анализе всей совокупности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11957951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222435"/>
            <a:ext cx="7886700" cy="873563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Основные концепции</a:t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интеллектуального управления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44</a:t>
            </a:fld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90945" y="1110579"/>
            <a:ext cx="8478982" cy="3653219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2. Использование технологий,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позволяющих обрабатывать 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и анализировать большие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массивы разнородной 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информации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ИНФОРМАЦИЯ ПОСТУПАЕТ ИЗ РАЗНОТИПНЫХ СЕНСОРНЫХ УСТРОЙСТВ, А ТАКЖЕ ИНТЕГРИРУЕТСЯ С УСЛОВНО СТАЦИОНАРМИ БАЗАМИ ДАННЫХ.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Массивы представлены информационными сущностями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I0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оперативная информация о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параметрах горно-физических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процессов</a:t>
            </a:r>
          </a:p>
          <a:p>
            <a:pPr algn="just">
              <a:spcBef>
                <a:spcPts val="0"/>
              </a:spcBef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оперативная информация о состоянии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узлов 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агрегатов технологического оборудования</a:t>
            </a:r>
          </a:p>
          <a:p>
            <a:pPr algn="just">
              <a:spcBef>
                <a:spcPts val="0"/>
              </a:spcBef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IG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оперативная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гео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-пространственная информация</a:t>
            </a:r>
          </a:p>
          <a:p>
            <a:pPr algn="just">
              <a:spcBef>
                <a:spcPts val="0"/>
              </a:spcBef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IФ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фактическая информация включает: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- геологическое строение месторождения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- технологические схемы ведения горных работ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- характеристики добычного,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транспортного 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вспомогательного оборудования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- планы ведения горных работ</a:t>
            </a:r>
          </a:p>
        </p:txBody>
      </p:sp>
    </p:spTree>
    <p:extLst>
      <p:ext uri="{BB962C8B-B14F-4D97-AF65-F5344CB8AC3E}">
        <p14:creationId xmlns:p14="http://schemas.microsoft.com/office/powerpoint/2010/main" val="38974155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222435"/>
            <a:ext cx="7886700" cy="873563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Основные концепции</a:t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интеллектуального управления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45</a:t>
            </a:fld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90945" y="1110579"/>
            <a:ext cx="8478982" cy="3653219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3. Использование 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агентного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 подхода с участием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следующих возможных типов агентов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Приводит к стандартному описанию данных объектов и обеспечивает автоматическое преобразование данных для сквозного цифрового моделирования объекта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Определяются типы агентов: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AT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технические (мобильные) агенты – объекты горнотранспортного комплекса</a:t>
            </a:r>
          </a:p>
          <a:p>
            <a:pPr algn="just">
              <a:spcBef>
                <a:spcPts val="0"/>
              </a:spcBef>
            </a:pPr>
            <a:r>
              <a:rPr lang="ru-RU" sz="2200" i="1" dirty="0">
                <a:latin typeface="Times New Roman" pitchFamily="18" charset="0"/>
                <a:cs typeface="Times New Roman" pitchFamily="18" charset="0"/>
              </a:rPr>
              <a:t>Большегрузные а/с, вспомогательные ТС, экскаваторы</a:t>
            </a:r>
          </a:p>
          <a:p>
            <a:pPr algn="just">
              <a:spcBef>
                <a:spcPts val="0"/>
              </a:spcBef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инфраструктурные технологические агенты</a:t>
            </a:r>
          </a:p>
          <a:p>
            <a:pPr algn="just">
              <a:spcBef>
                <a:spcPts val="0"/>
              </a:spcBef>
            </a:pPr>
            <a:r>
              <a:rPr lang="ru-RU" sz="2200" i="1" dirty="0">
                <a:latin typeface="Times New Roman" pitchFamily="18" charset="0"/>
                <a:cs typeface="Times New Roman" pitchFamily="18" charset="0"/>
              </a:rPr>
              <a:t>Карьерные дороги, борта карьера, </a:t>
            </a:r>
            <a:r>
              <a:rPr lang="ru-RU" sz="2200" i="1" dirty="0" smtClean="0">
                <a:latin typeface="Times New Roman" pitchFamily="18" charset="0"/>
                <a:cs typeface="Times New Roman" pitchFamily="18" charset="0"/>
              </a:rPr>
              <a:t>экскаваторные и </a:t>
            </a:r>
            <a:r>
              <a:rPr lang="ru-RU" sz="2200" i="1" dirty="0">
                <a:latin typeface="Times New Roman" pitchFamily="18" charset="0"/>
                <a:cs typeface="Times New Roman" pitchFamily="18" charset="0"/>
              </a:rPr>
              <a:t>разгрузочные площадки, другие </a:t>
            </a:r>
            <a:r>
              <a:rPr lang="ru-RU" sz="2200" i="1" dirty="0" smtClean="0">
                <a:latin typeface="Times New Roman" pitchFamily="18" charset="0"/>
                <a:cs typeface="Times New Roman" pitchFamily="18" charset="0"/>
              </a:rPr>
              <a:t>технологические зоны </a:t>
            </a:r>
            <a:r>
              <a:rPr lang="ru-RU" sz="2200" i="1" dirty="0">
                <a:latin typeface="Times New Roman" pitchFamily="18" charset="0"/>
                <a:cs typeface="Times New Roman" pitchFamily="18" charset="0"/>
              </a:rPr>
              <a:t>карьера</a:t>
            </a:r>
          </a:p>
          <a:p>
            <a:pPr algn="just">
              <a:spcBef>
                <a:spcPts val="0"/>
              </a:spcBef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AG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гео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-структурные агенты, элементы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блочного или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фрактального типов, описывающие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структуру месторождения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в формализмах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классических геоинформационных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систем</a:t>
            </a:r>
          </a:p>
        </p:txBody>
      </p:sp>
    </p:spTree>
    <p:extLst>
      <p:ext uri="{BB962C8B-B14F-4D97-AF65-F5344CB8AC3E}">
        <p14:creationId xmlns:p14="http://schemas.microsoft.com/office/powerpoint/2010/main" val="1357076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222435"/>
            <a:ext cx="7886700" cy="873563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Для чего необходимо</a:t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интеллектуальное управление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46</a:t>
            </a:fld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90945" y="1110579"/>
            <a:ext cx="8478982" cy="3653219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Повышение безопасности ведения горных работ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 счет использования робототехнических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устройств 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исключения присутствия людей 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опасных технологических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зонах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Повышение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эффективности горно-технологических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процессов за счет реализации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непрерывных технологических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циклов. Рабочее время: 24х7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Повышение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эффективности и безопасности работ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результате более качественной работы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технической дирекции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 счет использования «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интеллектуальных советующих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 – интеллектуальных супервизоров</a:t>
            </a:r>
          </a:p>
        </p:txBody>
      </p:sp>
    </p:spTree>
    <p:extLst>
      <p:ext uri="{BB962C8B-B14F-4D97-AF65-F5344CB8AC3E}">
        <p14:creationId xmlns:p14="http://schemas.microsoft.com/office/powerpoint/2010/main" val="2425009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222435"/>
            <a:ext cx="7886700" cy="873563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Основная задача</a:t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интеллектуального управления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47</a:t>
            </a:fld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90945" y="1609344"/>
            <a:ext cx="8478982" cy="1923566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Основная задача интеллектуального управления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построение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 правильное использование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киберфизической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способной объединять большие массивы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разной информации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и воспроизвести цифровой двойник реального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горнопромышленного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объекта.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975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222435"/>
            <a:ext cx="7886700" cy="873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Реализация системы</a:t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интеллектуального управления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48</a:t>
            </a:fld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90945" y="1443088"/>
            <a:ext cx="8478982" cy="3653219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Применяются платформы игровой индустрии и виртуальной реальности, например,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Unity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учетом многоступенчатости процесса построения цифровой платформы, использование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агентного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подхода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позволяет разбивать на фрагменты сложную систему «технологическое оборудование – технологическая среда» и рассматривать независимо добычные и транспортные операции</a:t>
            </a:r>
          </a:p>
        </p:txBody>
      </p:sp>
    </p:spTree>
    <p:extLst>
      <p:ext uri="{BB962C8B-B14F-4D97-AF65-F5344CB8AC3E}">
        <p14:creationId xmlns:p14="http://schemas.microsoft.com/office/powerpoint/2010/main" val="42335144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222435"/>
            <a:ext cx="7886700" cy="873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Влияние интеллектуального</a:t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управления на эффективность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49</a:t>
            </a:fld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90945" y="1443088"/>
            <a:ext cx="8478982" cy="967603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Внедрение технологий интеллектуального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управления может обеспечить: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52018750"/>
              </p:ext>
            </p:extLst>
          </p:nvPr>
        </p:nvGraphicFramePr>
        <p:xfrm>
          <a:off x="457199" y="2416698"/>
          <a:ext cx="8312727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43680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Имитационное моделирование горного производства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56543"/>
            <a:ext cx="7886700" cy="148542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Имитационное моделирование – метод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математического моделирования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который позволяет проиграть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времени модель,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спрогнозировать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поведение моделируемой 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21819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Имитационное моделирование горного производства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56543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Задачи имитационного моделирования </a:t>
            </a:r>
            <a:endParaRPr lang="ru-RU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верификация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планов горных работ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расчет оптимального количества ресурсов (оборудования) для исполнения плана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подбор оптимальных параметров технологического цикла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синхронизация работы парных агрегатов, минимизация транспортных коллизий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выбор наиболее эффективных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организационно-технических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мероприятий направленных на повышение операционной эффективности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1604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Имитационное моделирование горного производства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56544"/>
            <a:ext cx="7886700" cy="931238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Что необходимо сделать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техническом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организационном плане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 начала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внедрения системы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8651" y="2694709"/>
            <a:ext cx="81412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Система проектирования горных выработок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Система среднесрочного планирования горных работ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Система управления горно-геологическими данными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Система управления производственными активами и ремонтами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системы-источники данных на предприятии внедрены, необходимо настроить интеграционные потоки в систему имитационного моделирования.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34222243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Имитационное моделирование горного производства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56544"/>
            <a:ext cx="7886700" cy="931238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Факторы выбора ПО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для имитационного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моделирования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53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8651" y="2694709"/>
            <a:ext cx="81412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Локализация на русский язык и наличие офиса поддержки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 территории РФ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Простота поддержки решения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выбирать решения, которые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используют распространенные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языки программирования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будет проще найти экспертов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▪ Скорость расчетов и масштабируемость – при построении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сложных математических моделей необходимо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уделить этому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аспекту особое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77665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Имитационное моделирование горного производства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5013" y="1756544"/>
            <a:ext cx="7886700" cy="501747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Роль ПО в процессе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управления производством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54</a:t>
            </a:fld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035109"/>
              </p:ext>
            </p:extLst>
          </p:nvPr>
        </p:nvGraphicFramePr>
        <p:xfrm>
          <a:off x="277090" y="2521526"/>
          <a:ext cx="8451274" cy="3959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637"/>
                <a:gridCol w="4225637"/>
              </a:tblGrid>
              <a:tr h="517029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Процесс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Задачи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274867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Управление промышленными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активами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Прозрачный расчет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оптимального количества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ресурсов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892407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Среднесрочное 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стратегическое планирование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Проверка гипотез по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модернизации производства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274867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Оперативное планирование и управление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Верификация выполнимости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планов, балансировка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мощностей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792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180107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Имитационное моделирование горного производства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05670"/>
            <a:ext cx="7886700" cy="501747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Изменение бизнес-процессов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55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8650" y="2038050"/>
            <a:ext cx="78867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Наиболее оптимальный вариант – 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формирование в рамках Компании единого центра компетенций по имитационному моделированию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 возложить на него решение следующих задач: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Сопровождение моделей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Расчет экспериментов на имитационных моделях и презентация результатов бизнесу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Развитие системы, поиск новых бизнес-кейсов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Также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важно обеспечить качественную техническую поддержку системы и требуемый уровень сервиса для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бизнес-пользователей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59030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180107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Имитационное моделирование горного производства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05670"/>
            <a:ext cx="7886700" cy="501747"/>
          </a:xfrm>
        </p:spPr>
        <p:txBody>
          <a:bodyPr/>
          <a:lstStyle/>
          <a:p>
            <a:pPr marL="0" indent="0" algn="just">
              <a:buNone/>
            </a:pPr>
            <a:r>
              <a:rPr lang="ru-RU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Выгоды для предприятия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56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8650" y="2522959"/>
            <a:ext cx="78867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Прозрачное планирование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ресурсов</a:t>
            </a:r>
          </a:p>
          <a:p>
            <a:pPr indent="457200"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Проверка выполнимости плана горных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работ</a:t>
            </a:r>
          </a:p>
          <a:p>
            <a:pPr indent="457200"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Проверка стратегических планов 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гипотез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4969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6252</TotalTime>
  <Words>2820</Words>
  <Application>Microsoft Office PowerPoint</Application>
  <PresentationFormat>Экран (4:3)</PresentationFormat>
  <Paragraphs>521</Paragraphs>
  <Slides>57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57</vt:i4>
      </vt:variant>
    </vt:vector>
  </HeadingPairs>
  <TitlesOfParts>
    <vt:vector size="59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Цифровые решения для планирования производственных процессов </vt:lpstr>
      <vt:lpstr>План лекции</vt:lpstr>
      <vt:lpstr>1. Интегрированное оптимальное планирование производства и перевозок в масштабах предприятия</vt:lpstr>
      <vt:lpstr>Интегрированное оптимальное планирование производства и перевозок в масштабах предприятия</vt:lpstr>
      <vt:lpstr>Интегрированное оптимальное планирование производства и перевозок в масштабах предприятия</vt:lpstr>
      <vt:lpstr>Интегрированное оптимальное планирование производства и перевозок в масштабах предприятия</vt:lpstr>
      <vt:lpstr>Интегрированное оптимальное планирование производства и перевозок в масштабах предприятия</vt:lpstr>
      <vt:lpstr>Интегрированное оптимальное планирование производства и перевозок в масштабах предприятия</vt:lpstr>
      <vt:lpstr>Пример цепочки ценности в угольной промышленности</vt:lpstr>
      <vt:lpstr>Факторы влияния на управление цепочкой ценностью</vt:lpstr>
      <vt:lpstr>Факторы влияния на управление цепочкой ценностью</vt:lpstr>
      <vt:lpstr>Как добиться хороших данных?</vt:lpstr>
      <vt:lpstr>Подходы к управлению цепочкой ценности</vt:lpstr>
      <vt:lpstr>Методы планирования</vt:lpstr>
      <vt:lpstr>Этапы </vt:lpstr>
      <vt:lpstr>2. Тактическое планирование  </vt:lpstr>
      <vt:lpstr>Стратегия или тактика?</vt:lpstr>
      <vt:lpstr>Программные комплексы для стратегического планирования открытых горных работ</vt:lpstr>
      <vt:lpstr>Программные комплексы для стратегического планирования открытых горных работ</vt:lpstr>
      <vt:lpstr>Программные комплексы для стратегического планирования открытых горных работ</vt:lpstr>
      <vt:lpstr>Программные продукты для планирования и оптимизации</vt:lpstr>
      <vt:lpstr>Программные продукты для планирования и оптимизации</vt:lpstr>
      <vt:lpstr>Экспорт результатов стратегического планирования</vt:lpstr>
      <vt:lpstr>Тактическое планирование</vt:lpstr>
      <vt:lpstr>Современная концепция планирования горных работ</vt:lpstr>
      <vt:lpstr>3. Стратегическое планирование</vt:lpstr>
      <vt:lpstr>3. Стратегическое планирование</vt:lpstr>
      <vt:lpstr>3. Стратегическое планирование</vt:lpstr>
      <vt:lpstr>3. Стратегическое планирование</vt:lpstr>
      <vt:lpstr>4. Стратегическое планирование</vt:lpstr>
      <vt:lpstr>4. Стратегическое планирование</vt:lpstr>
      <vt:lpstr>4. Стратегическое планирование</vt:lpstr>
      <vt:lpstr>4. Стратегическое планирование</vt:lpstr>
      <vt:lpstr>Скользящее планирование</vt:lpstr>
      <vt:lpstr>Последовательное и скользящее планирование</vt:lpstr>
      <vt:lpstr>Последовательное и скользящее планирование</vt:lpstr>
      <vt:lpstr>Архитектура решения – операционное планирование ГР</vt:lpstr>
      <vt:lpstr>Связь оперативного планирования с MES системами</vt:lpstr>
      <vt:lpstr>5. Интеллектуальное управление транспортными процессами с использованием технологии цифрового дублирования</vt:lpstr>
      <vt:lpstr>5. Интеллектуальное управление транспортными процессами с использованием технологии цифрового дублирования</vt:lpstr>
      <vt:lpstr>5. Интеллектуальное управление транспортными процессами с использованием технологии цифрового дублирования - Методы и модели выработки управляющих решений </vt:lpstr>
      <vt:lpstr>Основные концепции интеллектуального управления</vt:lpstr>
      <vt:lpstr>Основные концепции интеллектуального управления</vt:lpstr>
      <vt:lpstr>Основные концепции интеллектуального управления</vt:lpstr>
      <vt:lpstr>Для чего необходимо интеллектуальное управление</vt:lpstr>
      <vt:lpstr>Основная задача интеллектуального управления</vt:lpstr>
      <vt:lpstr>Реализация системы интеллектуального управления</vt:lpstr>
      <vt:lpstr>Влияние интеллектуального управления на эффективность</vt:lpstr>
      <vt:lpstr>Имитационное моделирование горного производства</vt:lpstr>
      <vt:lpstr>Имитационное моделирование горного производства</vt:lpstr>
      <vt:lpstr>Имитационное моделирование горного производства</vt:lpstr>
      <vt:lpstr>Имитационное моделирование горного производства</vt:lpstr>
      <vt:lpstr>Имитационное моделирование горного производства</vt:lpstr>
      <vt:lpstr>Имитационное моделирование горного производства</vt:lpstr>
      <vt:lpstr>Имитационное моделирование горного производства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392</cp:revision>
  <dcterms:created xsi:type="dcterms:W3CDTF">2015-07-29T11:14:37Z</dcterms:created>
  <dcterms:modified xsi:type="dcterms:W3CDTF">2026-06-26T20:53:04Z</dcterms:modified>
</cp:coreProperties>
</file>