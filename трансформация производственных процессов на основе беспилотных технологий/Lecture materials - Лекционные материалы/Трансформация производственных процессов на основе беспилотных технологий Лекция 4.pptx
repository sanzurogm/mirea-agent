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65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0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69" r:id="rId34"/>
    <p:sldId id="355" r:id="rId35"/>
    <p:sldId id="356" r:id="rId36"/>
    <p:sldId id="357" r:id="rId37"/>
    <p:sldId id="358" r:id="rId38"/>
    <p:sldId id="359" r:id="rId39"/>
    <p:sldId id="361" r:id="rId40"/>
    <p:sldId id="362" r:id="rId41"/>
    <p:sldId id="363" r:id="rId42"/>
    <p:sldId id="364" r:id="rId43"/>
    <p:sldId id="365" r:id="rId44"/>
    <p:sldId id="366" r:id="rId45"/>
    <p:sldId id="368" r:id="rId46"/>
    <p:sldId id="367" r:id="rId47"/>
    <p:sldId id="371" r:id="rId48"/>
    <p:sldId id="370" r:id="rId49"/>
    <p:sldId id="372" r:id="rId50"/>
    <p:sldId id="373" r:id="rId51"/>
    <p:sldId id="374" r:id="rId52"/>
    <p:sldId id="375" r:id="rId53"/>
    <p:sldId id="376" r:id="rId54"/>
    <p:sldId id="378" r:id="rId55"/>
    <p:sldId id="377" r:id="rId56"/>
    <p:sldId id="379" r:id="rId57"/>
    <p:sldId id="380" r:id="rId58"/>
    <p:sldId id="381" r:id="rId59"/>
    <p:sldId id="382" r:id="rId60"/>
    <p:sldId id="383" r:id="rId61"/>
    <p:sldId id="384" r:id="rId62"/>
    <p:sldId id="385" r:id="rId63"/>
    <p:sldId id="264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6218AA-36AF-4F4A-9E2B-1A9ADB8C532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302D5C8-9D0D-4215-AB87-5773F338CC62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зарегистрироваться в реестре операторов персональных данных </a:t>
          </a:r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Роскомнадзора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,</a:t>
          </a:r>
          <a:endParaRPr lang="ru-RU" sz="2400" dirty="0"/>
        </a:p>
      </dgm:t>
    </dgm:pt>
    <dgm:pt modelId="{67C55797-D507-4781-99B6-318A2F0AF672}" type="parTrans" cxnId="{C7C51904-FF82-4B0A-84E8-7AE0AC06E6C0}">
      <dgm:prSet/>
      <dgm:spPr/>
      <dgm:t>
        <a:bodyPr/>
        <a:lstStyle/>
        <a:p>
          <a:endParaRPr lang="ru-RU" sz="3200"/>
        </a:p>
      </dgm:t>
    </dgm:pt>
    <dgm:pt modelId="{512F3521-67A0-40A8-B225-BDBECE168D83}" type="sibTrans" cxnId="{C7C51904-FF82-4B0A-84E8-7AE0AC06E6C0}">
      <dgm:prSet/>
      <dgm:spPr/>
      <dgm:t>
        <a:bodyPr/>
        <a:lstStyle/>
        <a:p>
          <a:endParaRPr lang="ru-RU" sz="3200"/>
        </a:p>
      </dgm:t>
    </dgm:pt>
    <dgm:pt modelId="{C273EEFF-1843-4334-8F3C-719FF7771F0C}">
      <dgm:prSet custT="1"/>
      <dgm:spPr/>
      <dgm:t>
        <a:bodyPr/>
        <a:lstStyle/>
        <a:p>
          <a:r>
            <a:rPr lang="ru-RU" sz="2400" smtClean="0">
              <a:latin typeface="Times New Roman" pitchFamily="18" charset="0"/>
              <a:cs typeface="Times New Roman" pitchFamily="18" charset="0"/>
            </a:rPr>
            <a:t>разместить в открытом доступе политику конфиденциальности,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D5ED2A29-2987-4374-97BA-4C382620BC0A}" type="parTrans" cxnId="{19AF8FDB-CF17-4FDE-9741-CEA7DEBE2684}">
      <dgm:prSet/>
      <dgm:spPr/>
      <dgm:t>
        <a:bodyPr/>
        <a:lstStyle/>
        <a:p>
          <a:endParaRPr lang="ru-RU" sz="3200"/>
        </a:p>
      </dgm:t>
    </dgm:pt>
    <dgm:pt modelId="{0D870222-684D-4BF0-A963-D735E93078BD}" type="sibTrans" cxnId="{19AF8FDB-CF17-4FDE-9741-CEA7DEBE2684}">
      <dgm:prSet/>
      <dgm:spPr/>
      <dgm:t>
        <a:bodyPr/>
        <a:lstStyle/>
        <a:p>
          <a:endParaRPr lang="ru-RU" sz="3200"/>
        </a:p>
      </dgm:t>
    </dgm:pt>
    <dgm:pt modelId="{9E2AE79D-EAD9-40B8-BF10-3677A117B658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решить, как запрашивать письменное согласие клиентов на обработку, хранение и распространение персональных данных.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E27FBA06-C0CD-44A3-B1F8-48D1B89D28AC}" type="parTrans" cxnId="{CAD9A7A5-28F4-4639-B7A3-8E0BE7310553}">
      <dgm:prSet/>
      <dgm:spPr/>
      <dgm:t>
        <a:bodyPr/>
        <a:lstStyle/>
        <a:p>
          <a:endParaRPr lang="ru-RU" sz="3200"/>
        </a:p>
      </dgm:t>
    </dgm:pt>
    <dgm:pt modelId="{760C313D-644F-4D12-BD71-FF3673C70B56}" type="sibTrans" cxnId="{CAD9A7A5-28F4-4639-B7A3-8E0BE7310553}">
      <dgm:prSet/>
      <dgm:spPr/>
      <dgm:t>
        <a:bodyPr/>
        <a:lstStyle/>
        <a:p>
          <a:endParaRPr lang="ru-RU" sz="3200"/>
        </a:p>
      </dgm:t>
    </dgm:pt>
    <dgm:pt modelId="{79CC56F6-84E0-4778-A533-CC8BC9F6DBC1}" type="pres">
      <dgm:prSet presAssocID="{2A6218AA-36AF-4F4A-9E2B-1A9ADB8C532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571E233-6B3D-4D37-9EF7-E0A2E1C8B1BD}" type="pres">
      <dgm:prSet presAssocID="{2302D5C8-9D0D-4215-AB87-5773F338CC62}" presName="parentLin" presStyleCnt="0"/>
      <dgm:spPr/>
    </dgm:pt>
    <dgm:pt modelId="{AB0DCE45-0D32-4B79-948D-3034712DDF23}" type="pres">
      <dgm:prSet presAssocID="{2302D5C8-9D0D-4215-AB87-5773F338CC62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2B457B21-8AFB-4CA8-9F9C-C48164728F13}" type="pres">
      <dgm:prSet presAssocID="{2302D5C8-9D0D-4215-AB87-5773F338CC62}" presName="parentText" presStyleLbl="node1" presStyleIdx="0" presStyleCnt="3" custScaleX="126725" custScaleY="23376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AD6AA3-4B24-4297-8F1E-B61CAC122DE4}" type="pres">
      <dgm:prSet presAssocID="{2302D5C8-9D0D-4215-AB87-5773F338CC62}" presName="negativeSpace" presStyleCnt="0"/>
      <dgm:spPr/>
    </dgm:pt>
    <dgm:pt modelId="{ED6A6A26-FB72-489D-89DB-CE3552F23443}" type="pres">
      <dgm:prSet presAssocID="{2302D5C8-9D0D-4215-AB87-5773F338CC62}" presName="childText" presStyleLbl="conFgAcc1" presStyleIdx="0" presStyleCnt="3">
        <dgm:presLayoutVars>
          <dgm:bulletEnabled val="1"/>
        </dgm:presLayoutVars>
      </dgm:prSet>
      <dgm:spPr/>
    </dgm:pt>
    <dgm:pt modelId="{8A98DD2E-C93C-4D5D-9339-8590AA489C11}" type="pres">
      <dgm:prSet presAssocID="{512F3521-67A0-40A8-B225-BDBECE168D83}" presName="spaceBetweenRectangles" presStyleCnt="0"/>
      <dgm:spPr/>
    </dgm:pt>
    <dgm:pt modelId="{019F47A0-451F-4A92-9C4B-C69B5C3E52DC}" type="pres">
      <dgm:prSet presAssocID="{C273EEFF-1843-4334-8F3C-719FF7771F0C}" presName="parentLin" presStyleCnt="0"/>
      <dgm:spPr/>
    </dgm:pt>
    <dgm:pt modelId="{8AB689B4-A88F-4BF2-BC74-0FCD63B0E9DE}" type="pres">
      <dgm:prSet presAssocID="{C273EEFF-1843-4334-8F3C-719FF7771F0C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6C807322-ABE8-47A7-AFFE-23EBB410688E}" type="pres">
      <dgm:prSet presAssocID="{C273EEFF-1843-4334-8F3C-719FF7771F0C}" presName="parentText" presStyleLbl="node1" presStyleIdx="1" presStyleCnt="3" custScaleX="125025" custScaleY="21240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E16528-E791-4775-AE6A-53BB1487E0CB}" type="pres">
      <dgm:prSet presAssocID="{C273EEFF-1843-4334-8F3C-719FF7771F0C}" presName="negativeSpace" presStyleCnt="0"/>
      <dgm:spPr/>
    </dgm:pt>
    <dgm:pt modelId="{96119851-17A8-4E74-8460-5FC887A8D113}" type="pres">
      <dgm:prSet presAssocID="{C273EEFF-1843-4334-8F3C-719FF7771F0C}" presName="childText" presStyleLbl="conFgAcc1" presStyleIdx="1" presStyleCnt="3">
        <dgm:presLayoutVars>
          <dgm:bulletEnabled val="1"/>
        </dgm:presLayoutVars>
      </dgm:prSet>
      <dgm:spPr/>
    </dgm:pt>
    <dgm:pt modelId="{1034802F-0CFA-4FCE-A294-16F5215CA399}" type="pres">
      <dgm:prSet presAssocID="{0D870222-684D-4BF0-A963-D735E93078BD}" presName="spaceBetweenRectangles" presStyleCnt="0"/>
      <dgm:spPr/>
    </dgm:pt>
    <dgm:pt modelId="{DEB8BF46-6187-4AE9-B38A-7BFD54A20369}" type="pres">
      <dgm:prSet presAssocID="{9E2AE79D-EAD9-40B8-BF10-3677A117B658}" presName="parentLin" presStyleCnt="0"/>
      <dgm:spPr/>
    </dgm:pt>
    <dgm:pt modelId="{0B5D8AA2-455D-45BF-8222-1CF6FB96E428}" type="pres">
      <dgm:prSet presAssocID="{9E2AE79D-EAD9-40B8-BF10-3677A117B658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BD870054-089C-48EC-A7F9-EF52792F47A3}" type="pres">
      <dgm:prSet presAssocID="{9E2AE79D-EAD9-40B8-BF10-3677A117B658}" presName="parentText" presStyleLbl="node1" presStyleIdx="2" presStyleCnt="3" custScaleX="125510" custScaleY="22289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0E80C3-D04C-43CD-9152-7075FF350F1C}" type="pres">
      <dgm:prSet presAssocID="{9E2AE79D-EAD9-40B8-BF10-3677A117B658}" presName="negativeSpace" presStyleCnt="0"/>
      <dgm:spPr/>
    </dgm:pt>
    <dgm:pt modelId="{1B398585-E495-47C1-BEB5-3B2058E7DC8D}" type="pres">
      <dgm:prSet presAssocID="{9E2AE79D-EAD9-40B8-BF10-3677A117B65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2888F86-F5B6-424B-BB4A-BC71C475CD9D}" type="presOf" srcId="{C273EEFF-1843-4334-8F3C-719FF7771F0C}" destId="{8AB689B4-A88F-4BF2-BC74-0FCD63B0E9DE}" srcOrd="0" destOrd="0" presId="urn:microsoft.com/office/officeart/2005/8/layout/list1"/>
    <dgm:cxn modelId="{19AF8FDB-CF17-4FDE-9741-CEA7DEBE2684}" srcId="{2A6218AA-36AF-4F4A-9E2B-1A9ADB8C532A}" destId="{C273EEFF-1843-4334-8F3C-719FF7771F0C}" srcOrd="1" destOrd="0" parTransId="{D5ED2A29-2987-4374-97BA-4C382620BC0A}" sibTransId="{0D870222-684D-4BF0-A963-D735E93078BD}"/>
    <dgm:cxn modelId="{95339A8F-75E0-4579-A748-1620D625EA28}" type="presOf" srcId="{9E2AE79D-EAD9-40B8-BF10-3677A117B658}" destId="{BD870054-089C-48EC-A7F9-EF52792F47A3}" srcOrd="1" destOrd="0" presId="urn:microsoft.com/office/officeart/2005/8/layout/list1"/>
    <dgm:cxn modelId="{C7C51904-FF82-4B0A-84E8-7AE0AC06E6C0}" srcId="{2A6218AA-36AF-4F4A-9E2B-1A9ADB8C532A}" destId="{2302D5C8-9D0D-4215-AB87-5773F338CC62}" srcOrd="0" destOrd="0" parTransId="{67C55797-D507-4781-99B6-318A2F0AF672}" sibTransId="{512F3521-67A0-40A8-B225-BDBECE168D83}"/>
    <dgm:cxn modelId="{EE3CABA8-070A-43DD-BC85-EDBA4276A0A8}" type="presOf" srcId="{C273EEFF-1843-4334-8F3C-719FF7771F0C}" destId="{6C807322-ABE8-47A7-AFFE-23EBB410688E}" srcOrd="1" destOrd="0" presId="urn:microsoft.com/office/officeart/2005/8/layout/list1"/>
    <dgm:cxn modelId="{D3A27E3A-99CF-4697-B003-6A7938B1BA1B}" type="presOf" srcId="{2302D5C8-9D0D-4215-AB87-5773F338CC62}" destId="{AB0DCE45-0D32-4B79-948D-3034712DDF23}" srcOrd="0" destOrd="0" presId="urn:microsoft.com/office/officeart/2005/8/layout/list1"/>
    <dgm:cxn modelId="{BEADA768-8C02-47A9-96D7-E7D1BC085314}" type="presOf" srcId="{9E2AE79D-EAD9-40B8-BF10-3677A117B658}" destId="{0B5D8AA2-455D-45BF-8222-1CF6FB96E428}" srcOrd="0" destOrd="0" presId="urn:microsoft.com/office/officeart/2005/8/layout/list1"/>
    <dgm:cxn modelId="{A8C69912-3DE4-4C37-9854-21A2B00FBE4F}" type="presOf" srcId="{2302D5C8-9D0D-4215-AB87-5773F338CC62}" destId="{2B457B21-8AFB-4CA8-9F9C-C48164728F13}" srcOrd="1" destOrd="0" presId="urn:microsoft.com/office/officeart/2005/8/layout/list1"/>
    <dgm:cxn modelId="{CAD9A7A5-28F4-4639-B7A3-8E0BE7310553}" srcId="{2A6218AA-36AF-4F4A-9E2B-1A9ADB8C532A}" destId="{9E2AE79D-EAD9-40B8-BF10-3677A117B658}" srcOrd="2" destOrd="0" parTransId="{E27FBA06-C0CD-44A3-B1F8-48D1B89D28AC}" sibTransId="{760C313D-644F-4D12-BD71-FF3673C70B56}"/>
    <dgm:cxn modelId="{7F885C83-617B-477F-BB16-9D193C43A27E}" type="presOf" srcId="{2A6218AA-36AF-4F4A-9E2B-1A9ADB8C532A}" destId="{79CC56F6-84E0-4778-A533-CC8BC9F6DBC1}" srcOrd="0" destOrd="0" presId="urn:microsoft.com/office/officeart/2005/8/layout/list1"/>
    <dgm:cxn modelId="{8B4D4CEF-4B60-469A-AB8E-B428AD208AF9}" type="presParOf" srcId="{79CC56F6-84E0-4778-A533-CC8BC9F6DBC1}" destId="{7571E233-6B3D-4D37-9EF7-E0A2E1C8B1BD}" srcOrd="0" destOrd="0" presId="urn:microsoft.com/office/officeart/2005/8/layout/list1"/>
    <dgm:cxn modelId="{DC0ABC76-BC28-4640-AAA7-428A32FDE118}" type="presParOf" srcId="{7571E233-6B3D-4D37-9EF7-E0A2E1C8B1BD}" destId="{AB0DCE45-0D32-4B79-948D-3034712DDF23}" srcOrd="0" destOrd="0" presId="urn:microsoft.com/office/officeart/2005/8/layout/list1"/>
    <dgm:cxn modelId="{3F338FB7-A179-4CD2-B34B-EC71121784A3}" type="presParOf" srcId="{7571E233-6B3D-4D37-9EF7-E0A2E1C8B1BD}" destId="{2B457B21-8AFB-4CA8-9F9C-C48164728F13}" srcOrd="1" destOrd="0" presId="urn:microsoft.com/office/officeart/2005/8/layout/list1"/>
    <dgm:cxn modelId="{DF586F27-E444-4786-A109-7155003CD2BB}" type="presParOf" srcId="{79CC56F6-84E0-4778-A533-CC8BC9F6DBC1}" destId="{59AD6AA3-4B24-4297-8F1E-B61CAC122DE4}" srcOrd="1" destOrd="0" presId="urn:microsoft.com/office/officeart/2005/8/layout/list1"/>
    <dgm:cxn modelId="{98E1E17F-4487-43CD-A74F-DEDD41A5DB4F}" type="presParOf" srcId="{79CC56F6-84E0-4778-A533-CC8BC9F6DBC1}" destId="{ED6A6A26-FB72-489D-89DB-CE3552F23443}" srcOrd="2" destOrd="0" presId="urn:microsoft.com/office/officeart/2005/8/layout/list1"/>
    <dgm:cxn modelId="{D13D28BC-6652-4E9F-847B-36F7286AEEE8}" type="presParOf" srcId="{79CC56F6-84E0-4778-A533-CC8BC9F6DBC1}" destId="{8A98DD2E-C93C-4D5D-9339-8590AA489C11}" srcOrd="3" destOrd="0" presId="urn:microsoft.com/office/officeart/2005/8/layout/list1"/>
    <dgm:cxn modelId="{F3C71A95-6BAF-414E-954C-F48DF9F28A13}" type="presParOf" srcId="{79CC56F6-84E0-4778-A533-CC8BC9F6DBC1}" destId="{019F47A0-451F-4A92-9C4B-C69B5C3E52DC}" srcOrd="4" destOrd="0" presId="urn:microsoft.com/office/officeart/2005/8/layout/list1"/>
    <dgm:cxn modelId="{414FC415-2834-4916-B6BE-E9225C111DF8}" type="presParOf" srcId="{019F47A0-451F-4A92-9C4B-C69B5C3E52DC}" destId="{8AB689B4-A88F-4BF2-BC74-0FCD63B0E9DE}" srcOrd="0" destOrd="0" presId="urn:microsoft.com/office/officeart/2005/8/layout/list1"/>
    <dgm:cxn modelId="{16FEE8C7-574F-4C6A-B8A7-73CF491AD15E}" type="presParOf" srcId="{019F47A0-451F-4A92-9C4B-C69B5C3E52DC}" destId="{6C807322-ABE8-47A7-AFFE-23EBB410688E}" srcOrd="1" destOrd="0" presId="urn:microsoft.com/office/officeart/2005/8/layout/list1"/>
    <dgm:cxn modelId="{00CF0C99-42E9-4DE7-B8A9-E36E2AEC9238}" type="presParOf" srcId="{79CC56F6-84E0-4778-A533-CC8BC9F6DBC1}" destId="{C1E16528-E791-4775-AE6A-53BB1487E0CB}" srcOrd="5" destOrd="0" presId="urn:microsoft.com/office/officeart/2005/8/layout/list1"/>
    <dgm:cxn modelId="{D495AD89-BD50-4B42-BADC-AB76F8EE02F0}" type="presParOf" srcId="{79CC56F6-84E0-4778-A533-CC8BC9F6DBC1}" destId="{96119851-17A8-4E74-8460-5FC887A8D113}" srcOrd="6" destOrd="0" presId="urn:microsoft.com/office/officeart/2005/8/layout/list1"/>
    <dgm:cxn modelId="{4C207D29-D2DB-40ED-8A19-4117AE18BA24}" type="presParOf" srcId="{79CC56F6-84E0-4778-A533-CC8BC9F6DBC1}" destId="{1034802F-0CFA-4FCE-A294-16F5215CA399}" srcOrd="7" destOrd="0" presId="urn:microsoft.com/office/officeart/2005/8/layout/list1"/>
    <dgm:cxn modelId="{1ED32C98-628A-4321-9AA7-09352CA4A9CF}" type="presParOf" srcId="{79CC56F6-84E0-4778-A533-CC8BC9F6DBC1}" destId="{DEB8BF46-6187-4AE9-B38A-7BFD54A20369}" srcOrd="8" destOrd="0" presId="urn:microsoft.com/office/officeart/2005/8/layout/list1"/>
    <dgm:cxn modelId="{98E6D1DC-B31E-40D8-A626-5B8E3E2C2B33}" type="presParOf" srcId="{DEB8BF46-6187-4AE9-B38A-7BFD54A20369}" destId="{0B5D8AA2-455D-45BF-8222-1CF6FB96E428}" srcOrd="0" destOrd="0" presId="urn:microsoft.com/office/officeart/2005/8/layout/list1"/>
    <dgm:cxn modelId="{93205687-6330-4873-9638-291C299969B8}" type="presParOf" srcId="{DEB8BF46-6187-4AE9-B38A-7BFD54A20369}" destId="{BD870054-089C-48EC-A7F9-EF52792F47A3}" srcOrd="1" destOrd="0" presId="urn:microsoft.com/office/officeart/2005/8/layout/list1"/>
    <dgm:cxn modelId="{8839F8BD-D08A-4EA9-92AD-39BE94D3EFF1}" type="presParOf" srcId="{79CC56F6-84E0-4778-A533-CC8BC9F6DBC1}" destId="{620E80C3-D04C-43CD-9152-7075FF350F1C}" srcOrd="9" destOrd="0" presId="urn:microsoft.com/office/officeart/2005/8/layout/list1"/>
    <dgm:cxn modelId="{7D3DD15D-C834-4E80-BB9D-6BFC4920AD93}" type="presParOf" srcId="{79CC56F6-84E0-4778-A533-CC8BC9F6DBC1}" destId="{1B398585-E495-47C1-BEB5-3B2058E7DC8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B4E966-4FB2-4592-838E-EB6B330E806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131DC0B-F9B9-4CD8-B276-3F76F4563E9C}">
      <dgm:prSet phldrT="[Текст]"/>
      <dgm:spPr/>
      <dgm:t>
        <a:bodyPr/>
        <a:lstStyle/>
        <a:p>
          <a:r>
            <a: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Неограниченные ресурсы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Облачные технологии открывают доступ к мощным серверам, масштабным дата-центрам и базам данных.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Например, с помощью облачного сервера несколько тысяч удалённых сотрудников хранят и обрабатывают данные, выгружают отчёты и запускают приложения из любой точки мира.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3BC2067-0922-499D-BC48-59A4720B6641}" type="parTrans" cxnId="{DCB26050-F577-4999-86A3-E466922C3A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6F23EE-6897-45E4-8561-FDF6B1888CA6}" type="sibTrans" cxnId="{DCB26050-F577-4999-86A3-E466922C3A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D85B24B-73BD-4E67-B99B-83EBDB99C09B}">
      <dgm:prSet/>
      <dgm:spPr/>
      <dgm:t>
        <a:bodyPr/>
        <a:lstStyle/>
        <a:p>
          <a:r>
            <a: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Экономия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Облачные технологии работают по модели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Pay-as-You-Go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Клиенты платят только за объём услуг, который получили.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Например, компания разработала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Telegram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-бот и запустила его в облаке. Если в один день бот обработал 500 запросов, а в другой - 0, платить за время простоя не придётся. А за аренду физического сервера нужно платить регулярно, независимо от нагрузки.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4E75945-AF08-48D9-B099-768042FBBECF}" type="parTrans" cxnId="{69183C1A-A8D5-49EE-98FD-91A0553A272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970B5AC-93C1-4732-BCEB-E994EEF74E1F}" type="sibTrans" cxnId="{69183C1A-A8D5-49EE-98FD-91A0553A272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C9AE79D-F92D-4195-97C6-15B554C926B3}" type="pres">
      <dgm:prSet presAssocID="{04B4E966-4FB2-4592-838E-EB6B330E806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CA4DED5-61C9-45CB-8520-0DF763CBECB4}" type="pres">
      <dgm:prSet presAssocID="{D131DC0B-F9B9-4CD8-B276-3F76F4563E9C}" presName="node" presStyleLbl="node1" presStyleIdx="0" presStyleCnt="2" custScaleY="21146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1907DF-B2BD-490A-A4AB-87C88B299BA7}" type="pres">
      <dgm:prSet presAssocID="{C26F23EE-6897-45E4-8561-FDF6B1888CA6}" presName="sibTrans" presStyleCnt="0"/>
      <dgm:spPr/>
    </dgm:pt>
    <dgm:pt modelId="{3C3572BA-0D4C-430E-BB93-53AE667285ED}" type="pres">
      <dgm:prSet presAssocID="{1D85B24B-73BD-4E67-B99B-83EBDB99C09B}" presName="node" presStyleLbl="node1" presStyleIdx="1" presStyleCnt="2" custScaleY="21168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B4CCF7F-DE03-4052-94EA-CF144860854D}" type="presOf" srcId="{1D85B24B-73BD-4E67-B99B-83EBDB99C09B}" destId="{3C3572BA-0D4C-430E-BB93-53AE667285ED}" srcOrd="0" destOrd="0" presId="urn:microsoft.com/office/officeart/2005/8/layout/default"/>
    <dgm:cxn modelId="{0FB18158-D743-4352-8BDF-44CFFA128ADF}" type="presOf" srcId="{D131DC0B-F9B9-4CD8-B276-3F76F4563E9C}" destId="{FCA4DED5-61C9-45CB-8520-0DF763CBECB4}" srcOrd="0" destOrd="0" presId="urn:microsoft.com/office/officeart/2005/8/layout/default"/>
    <dgm:cxn modelId="{DCB26050-F577-4999-86A3-E466922C3A56}" srcId="{04B4E966-4FB2-4592-838E-EB6B330E8065}" destId="{D131DC0B-F9B9-4CD8-B276-3F76F4563E9C}" srcOrd="0" destOrd="0" parTransId="{C3BC2067-0922-499D-BC48-59A4720B6641}" sibTransId="{C26F23EE-6897-45E4-8561-FDF6B1888CA6}"/>
    <dgm:cxn modelId="{B8818088-15D4-4DC9-AA7F-9688C995DA82}" type="presOf" srcId="{04B4E966-4FB2-4592-838E-EB6B330E8065}" destId="{0C9AE79D-F92D-4195-97C6-15B554C926B3}" srcOrd="0" destOrd="0" presId="urn:microsoft.com/office/officeart/2005/8/layout/default"/>
    <dgm:cxn modelId="{69183C1A-A8D5-49EE-98FD-91A0553A272E}" srcId="{04B4E966-4FB2-4592-838E-EB6B330E8065}" destId="{1D85B24B-73BD-4E67-B99B-83EBDB99C09B}" srcOrd="1" destOrd="0" parTransId="{64E75945-AF08-48D9-B099-768042FBBECF}" sibTransId="{0970B5AC-93C1-4732-BCEB-E994EEF74E1F}"/>
    <dgm:cxn modelId="{F37B6FC2-7AF0-4B1D-98D0-2588785B478B}" type="presParOf" srcId="{0C9AE79D-F92D-4195-97C6-15B554C926B3}" destId="{FCA4DED5-61C9-45CB-8520-0DF763CBECB4}" srcOrd="0" destOrd="0" presId="urn:microsoft.com/office/officeart/2005/8/layout/default"/>
    <dgm:cxn modelId="{99EC8351-D7B2-4DA8-A642-D1DC033A4CC9}" type="presParOf" srcId="{0C9AE79D-F92D-4195-97C6-15B554C926B3}" destId="{EF1907DF-B2BD-490A-A4AB-87C88B299BA7}" srcOrd="1" destOrd="0" presId="urn:microsoft.com/office/officeart/2005/8/layout/default"/>
    <dgm:cxn modelId="{96F5A608-CB7E-413D-BDE1-07226FE2356D}" type="presParOf" srcId="{0C9AE79D-F92D-4195-97C6-15B554C926B3}" destId="{3C3572BA-0D4C-430E-BB93-53AE667285E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B4E966-4FB2-4592-838E-EB6B330E806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131DC0B-F9B9-4CD8-B276-3F76F4563E9C}">
      <dgm:prSet phldrT="[Текст]"/>
      <dgm:spPr/>
      <dgm:t>
        <a:bodyPr/>
        <a:lstStyle/>
        <a:p>
          <a:r>
            <a:rPr lang="ru-RU" b="1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Регулируемый масштаб</a:t>
          </a:r>
        </a:p>
        <a:p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/>
          </a:r>
          <a:br>
            <a:rPr lang="ru-RU" b="0" i="0" dirty="0" smtClean="0">
              <a:latin typeface="Times New Roman" pitchFamily="18" charset="0"/>
              <a:cs typeface="Times New Roman" pitchFamily="18" charset="0"/>
            </a:rPr>
          </a:b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Объём хранилища или виртуальной сети можно без больших затрат увеличить в любой момент. </a:t>
          </a:r>
        </a:p>
        <a:p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Например, компания нанимает 50 новых сотрудников. Чтобы не настраивать для каждого пакет приложений и сервисов и доступ к базам данных и отчётам, их подключают к корпоративному облаку. </a:t>
          </a:r>
        </a:p>
        <a:p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Так они сразу могут приступить к работе.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3BC2067-0922-499D-BC48-59A4720B6641}" type="parTrans" cxnId="{DCB26050-F577-4999-86A3-E466922C3A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6F23EE-6897-45E4-8561-FDF6B1888CA6}" type="sibTrans" cxnId="{DCB26050-F577-4999-86A3-E466922C3A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2B03CF9-AFC3-48D2-AF63-E03033D7BDBB}">
      <dgm:prSet/>
      <dgm:spPr/>
      <dgm:t>
        <a:bodyPr/>
        <a:lstStyle/>
        <a:p>
          <a:r>
            <a:rPr lang="ru-RU" b="1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Надёжность и безопасность</a:t>
          </a:r>
        </a:p>
        <a:p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/>
          </a:r>
          <a:br>
            <a:rPr lang="ru-RU" b="0" i="0" dirty="0" smtClean="0">
              <a:latin typeface="Times New Roman" pitchFamily="18" charset="0"/>
              <a:cs typeface="Times New Roman" pitchFamily="18" charset="0"/>
            </a:rPr>
          </a:b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Данные распределяются между множеством серверов. Это снижает риск отказа или взлома оборудования. Крупные облачные провайдеры применяют продвинутые методы шифрования и регулярно обновляют политику </a:t>
          </a:r>
          <a:r>
            <a:rPr lang="ru-RU" b="0" i="0" dirty="0" err="1" smtClean="0">
              <a:latin typeface="Times New Roman" pitchFamily="18" charset="0"/>
              <a:cs typeface="Times New Roman" pitchFamily="18" charset="0"/>
            </a:rPr>
            <a:t>кибербезопасности</a:t>
          </a: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 своих сервисов.</a:t>
          </a:r>
          <a:endParaRPr lang="ru-RU" b="0" i="0" dirty="0">
            <a:latin typeface="Times New Roman" pitchFamily="18" charset="0"/>
            <a:cs typeface="Times New Roman" pitchFamily="18" charset="0"/>
          </a:endParaRPr>
        </a:p>
      </dgm:t>
    </dgm:pt>
    <dgm:pt modelId="{868D050D-803D-49FF-B688-5096127FB781}" type="parTrans" cxnId="{7698283D-1298-4423-9B5C-584FDC91F97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E26C6CE-E06A-41D1-B447-0400F286105C}" type="sibTrans" cxnId="{7698283D-1298-4423-9B5C-584FDC91F97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C9AE79D-F92D-4195-97C6-15B554C926B3}" type="pres">
      <dgm:prSet presAssocID="{04B4E966-4FB2-4592-838E-EB6B330E806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CA4DED5-61C9-45CB-8520-0DF763CBECB4}" type="pres">
      <dgm:prSet presAssocID="{D131DC0B-F9B9-4CD8-B276-3F76F4563E9C}" presName="node" presStyleLbl="node1" presStyleIdx="0" presStyleCnt="2" custScaleY="21146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1907DF-B2BD-490A-A4AB-87C88B299BA7}" type="pres">
      <dgm:prSet presAssocID="{C26F23EE-6897-45E4-8561-FDF6B1888CA6}" presName="sibTrans" presStyleCnt="0"/>
      <dgm:spPr/>
    </dgm:pt>
    <dgm:pt modelId="{59D3F981-3138-4B92-B392-0AB7A02BFBE9}" type="pres">
      <dgm:prSet presAssocID="{E2B03CF9-AFC3-48D2-AF63-E03033D7BDBB}" presName="node" presStyleLbl="node1" presStyleIdx="1" presStyleCnt="2" custScaleY="21168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85DAE63-7BA8-495E-82C1-5B7E1B884A42}" type="presOf" srcId="{E2B03CF9-AFC3-48D2-AF63-E03033D7BDBB}" destId="{59D3F981-3138-4B92-B392-0AB7A02BFBE9}" srcOrd="0" destOrd="0" presId="urn:microsoft.com/office/officeart/2005/8/layout/default"/>
    <dgm:cxn modelId="{67D7581C-1311-406D-BACC-17868B668803}" type="presOf" srcId="{D131DC0B-F9B9-4CD8-B276-3F76F4563E9C}" destId="{FCA4DED5-61C9-45CB-8520-0DF763CBECB4}" srcOrd="0" destOrd="0" presId="urn:microsoft.com/office/officeart/2005/8/layout/default"/>
    <dgm:cxn modelId="{DCB26050-F577-4999-86A3-E466922C3A56}" srcId="{04B4E966-4FB2-4592-838E-EB6B330E8065}" destId="{D131DC0B-F9B9-4CD8-B276-3F76F4563E9C}" srcOrd="0" destOrd="0" parTransId="{C3BC2067-0922-499D-BC48-59A4720B6641}" sibTransId="{C26F23EE-6897-45E4-8561-FDF6B1888CA6}"/>
    <dgm:cxn modelId="{4317A4AE-D3BC-45BB-8B26-F62194613C22}" type="presOf" srcId="{04B4E966-4FB2-4592-838E-EB6B330E8065}" destId="{0C9AE79D-F92D-4195-97C6-15B554C926B3}" srcOrd="0" destOrd="0" presId="urn:microsoft.com/office/officeart/2005/8/layout/default"/>
    <dgm:cxn modelId="{7698283D-1298-4423-9B5C-584FDC91F97F}" srcId="{04B4E966-4FB2-4592-838E-EB6B330E8065}" destId="{E2B03CF9-AFC3-48D2-AF63-E03033D7BDBB}" srcOrd="1" destOrd="0" parTransId="{868D050D-803D-49FF-B688-5096127FB781}" sibTransId="{CE26C6CE-E06A-41D1-B447-0400F286105C}"/>
    <dgm:cxn modelId="{9B5C00CE-A2DE-4BD7-89FF-B6249AFD657B}" type="presParOf" srcId="{0C9AE79D-F92D-4195-97C6-15B554C926B3}" destId="{FCA4DED5-61C9-45CB-8520-0DF763CBECB4}" srcOrd="0" destOrd="0" presId="urn:microsoft.com/office/officeart/2005/8/layout/default"/>
    <dgm:cxn modelId="{4936291C-6DE6-400B-9D90-8CDEC96EE5B0}" type="presParOf" srcId="{0C9AE79D-F92D-4195-97C6-15B554C926B3}" destId="{EF1907DF-B2BD-490A-A4AB-87C88B299BA7}" srcOrd="1" destOrd="0" presId="urn:microsoft.com/office/officeart/2005/8/layout/default"/>
    <dgm:cxn modelId="{6AB4015D-C69B-4E8B-A2C5-4C24A32BDDCB}" type="presParOf" srcId="{0C9AE79D-F92D-4195-97C6-15B554C926B3}" destId="{59D3F981-3138-4B92-B392-0AB7A02BFBE9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B4E966-4FB2-4592-838E-EB6B330E806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131DC0B-F9B9-4CD8-B276-3F76F4563E9C}">
      <dgm:prSet phldrT="[Текст]"/>
      <dgm:spPr/>
      <dgm:t>
        <a:bodyPr/>
        <a:lstStyle/>
        <a:p>
          <a:r>
            <a:rPr lang="ru-RU" b="1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Универсальные решения</a:t>
          </a: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/>
          </a:r>
          <a:br>
            <a:rPr lang="ru-RU" b="0" i="0" dirty="0" smtClean="0">
              <a:latin typeface="Times New Roman" pitchFamily="18" charset="0"/>
              <a:cs typeface="Times New Roman" pitchFamily="18" charset="0"/>
            </a:rPr>
          </a:b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Облачные провайдеры предоставляют широкий выбор сервисов: от хранения данных до виртуального ПО. Например, технологии облачных решений используют и разрабатывают </a:t>
          </a:r>
          <a:r>
            <a:rPr lang="ru-RU" b="0" i="0" dirty="0" err="1" smtClean="0">
              <a:latin typeface="Times New Roman" pitchFamily="18" charset="0"/>
              <a:cs typeface="Times New Roman" pitchFamily="18" charset="0"/>
            </a:rPr>
            <a:t>Apple</a:t>
          </a: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b="0" i="0" dirty="0" err="1" smtClean="0">
              <a:latin typeface="Times New Roman" pitchFamily="18" charset="0"/>
              <a:cs typeface="Times New Roman" pitchFamily="18" charset="0"/>
            </a:rPr>
            <a:t>Google</a:t>
          </a: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b="0" i="0" dirty="0" err="1" smtClean="0">
              <a:latin typeface="Times New Roman" pitchFamily="18" charset="0"/>
              <a:cs typeface="Times New Roman" pitchFamily="18" charset="0"/>
            </a:rPr>
            <a:t>Microsoft</a:t>
          </a: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 и </a:t>
          </a:r>
          <a:r>
            <a:rPr lang="ru-RU" b="0" i="0" dirty="0" err="1" smtClean="0">
              <a:latin typeface="Times New Roman" pitchFamily="18" charset="0"/>
              <a:cs typeface="Times New Roman" pitchFamily="18" charset="0"/>
            </a:rPr>
            <a:t>Amazon</a:t>
          </a:r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. Облака помогают тестировать и запускать высоконагруженные сервисы, объединять разветвлённую IT-инфраструктуру в глобальную сеть, хранить и обрабатывать огромные массивы данных.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3BC2067-0922-499D-BC48-59A4720B6641}" type="parTrans" cxnId="{DCB26050-F577-4999-86A3-E466922C3A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6F23EE-6897-45E4-8561-FDF6B1888CA6}" type="sibTrans" cxnId="{DCB26050-F577-4999-86A3-E466922C3A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27925AE-6917-4F6E-90AB-2AA1E011490B}">
      <dgm:prSet/>
      <dgm:spPr/>
      <dgm:t>
        <a:bodyPr/>
        <a:lstStyle/>
        <a:p>
          <a:r>
            <a:rPr lang="ru-RU" b="1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Безопасный запуск новых</a:t>
          </a:r>
          <a:r>
            <a:rPr lang="ru-RU" b="0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/>
          </a:r>
          <a:br>
            <a:rPr lang="ru-RU" b="0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</a:br>
          <a:r>
            <a:rPr lang="ru-RU" b="1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продуктов</a:t>
          </a:r>
          <a:r>
            <a:rPr lang="ru-RU" b="0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 </a:t>
          </a:r>
        </a:p>
        <a:p>
          <a:r>
            <a:rPr lang="ru-RU" b="0" i="0" dirty="0" smtClean="0">
              <a:latin typeface="Times New Roman" pitchFamily="18" charset="0"/>
              <a:cs typeface="Times New Roman" pitchFamily="18" charset="0"/>
            </a:rPr>
            <a:t>С помощью облачных сервисов можно быстро запустить интернет-магазин или онлайн-портал без перегрузки IT-инфраструктуры.</a:t>
          </a:r>
          <a:endParaRPr lang="ru-RU" b="0" i="0" dirty="0">
            <a:latin typeface="Times New Roman" pitchFamily="18" charset="0"/>
            <a:cs typeface="Times New Roman" pitchFamily="18" charset="0"/>
          </a:endParaRPr>
        </a:p>
      </dgm:t>
    </dgm:pt>
    <dgm:pt modelId="{BE7CCB81-D8D9-459F-8745-1412C0877CA0}" type="parTrans" cxnId="{14374C3B-179D-4B01-9FAE-F4EE28D7B5F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69C9F56-D14A-4A8D-9839-2F2D3DB99430}" type="sibTrans" cxnId="{14374C3B-179D-4B01-9FAE-F4EE28D7B5F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C9AE79D-F92D-4195-97C6-15B554C926B3}" type="pres">
      <dgm:prSet presAssocID="{04B4E966-4FB2-4592-838E-EB6B330E806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CA4DED5-61C9-45CB-8520-0DF763CBECB4}" type="pres">
      <dgm:prSet presAssocID="{D131DC0B-F9B9-4CD8-B276-3F76F4563E9C}" presName="node" presStyleLbl="node1" presStyleIdx="0" presStyleCnt="2" custScaleY="21146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1907DF-B2BD-490A-A4AB-87C88B299BA7}" type="pres">
      <dgm:prSet presAssocID="{C26F23EE-6897-45E4-8561-FDF6B1888CA6}" presName="sibTrans" presStyleCnt="0"/>
      <dgm:spPr/>
    </dgm:pt>
    <dgm:pt modelId="{097A9AD5-F8B8-4E5D-8CF4-13EFB364D271}" type="pres">
      <dgm:prSet presAssocID="{C27925AE-6917-4F6E-90AB-2AA1E011490B}" presName="node" presStyleLbl="node1" presStyleIdx="1" presStyleCnt="2" custScaleY="21168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EB6ED05-E893-47C1-BABC-1AD4B384F690}" type="presOf" srcId="{C27925AE-6917-4F6E-90AB-2AA1E011490B}" destId="{097A9AD5-F8B8-4E5D-8CF4-13EFB364D271}" srcOrd="0" destOrd="0" presId="urn:microsoft.com/office/officeart/2005/8/layout/default"/>
    <dgm:cxn modelId="{31131138-C483-40AA-B97D-7A8B46C2F579}" type="presOf" srcId="{04B4E966-4FB2-4592-838E-EB6B330E8065}" destId="{0C9AE79D-F92D-4195-97C6-15B554C926B3}" srcOrd="0" destOrd="0" presId="urn:microsoft.com/office/officeart/2005/8/layout/default"/>
    <dgm:cxn modelId="{14374C3B-179D-4B01-9FAE-F4EE28D7B5F2}" srcId="{04B4E966-4FB2-4592-838E-EB6B330E8065}" destId="{C27925AE-6917-4F6E-90AB-2AA1E011490B}" srcOrd="1" destOrd="0" parTransId="{BE7CCB81-D8D9-459F-8745-1412C0877CA0}" sibTransId="{E69C9F56-D14A-4A8D-9839-2F2D3DB99430}"/>
    <dgm:cxn modelId="{DCB26050-F577-4999-86A3-E466922C3A56}" srcId="{04B4E966-4FB2-4592-838E-EB6B330E8065}" destId="{D131DC0B-F9B9-4CD8-B276-3F76F4563E9C}" srcOrd="0" destOrd="0" parTransId="{C3BC2067-0922-499D-BC48-59A4720B6641}" sibTransId="{C26F23EE-6897-45E4-8561-FDF6B1888CA6}"/>
    <dgm:cxn modelId="{35AF5374-F2A3-44BA-A89C-86E1E23892F8}" type="presOf" srcId="{D131DC0B-F9B9-4CD8-B276-3F76F4563E9C}" destId="{FCA4DED5-61C9-45CB-8520-0DF763CBECB4}" srcOrd="0" destOrd="0" presId="urn:microsoft.com/office/officeart/2005/8/layout/default"/>
    <dgm:cxn modelId="{C9D171CE-24BE-4503-B087-BA4F3453E197}" type="presParOf" srcId="{0C9AE79D-F92D-4195-97C6-15B554C926B3}" destId="{FCA4DED5-61C9-45CB-8520-0DF763CBECB4}" srcOrd="0" destOrd="0" presId="urn:microsoft.com/office/officeart/2005/8/layout/default"/>
    <dgm:cxn modelId="{B18901D6-6761-48AB-8A92-BB209829ED5B}" type="presParOf" srcId="{0C9AE79D-F92D-4195-97C6-15B554C926B3}" destId="{EF1907DF-B2BD-490A-A4AB-87C88B299BA7}" srcOrd="1" destOrd="0" presId="urn:microsoft.com/office/officeart/2005/8/layout/default"/>
    <dgm:cxn modelId="{3437C8A5-FBF4-473E-A11F-B68E43ABF4CE}" type="presParOf" srcId="{0C9AE79D-F92D-4195-97C6-15B554C926B3}" destId="{097A9AD5-F8B8-4E5D-8CF4-13EFB364D27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14DCDA-6AD2-4D56-A285-7B99F7885DF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0E763A8-CC57-4701-A5AF-0C31012C2F34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управлять автоматизированными технологическими процессами;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4B26601-01EA-4425-8F0A-3E635EDB5BF6}" type="parTrans" cxnId="{31BF8B2A-A292-4CE5-938E-35233C74898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8F72F3B-12CF-4F12-908A-B51E884379E5}" type="sibTrans" cxnId="{31BF8B2A-A292-4CE5-938E-35233C74898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B1133D6-1354-464C-9CE5-451BCA62B166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собирать и обрабатывать данные в реальном времени;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649BEAD-6D78-4E4F-A6A4-5AB43A829EEC}" type="parTrans" cxnId="{C2E7E24A-1F72-463B-985D-C4CEEB1E7B8B}">
      <dgm:prSet/>
      <dgm:spPr/>
    </dgm:pt>
    <dgm:pt modelId="{14C94E8F-A772-4153-8FE7-C6157E147AC9}" type="sibTrans" cxnId="{C2E7E24A-1F72-463B-985D-C4CEEB1E7B8B}">
      <dgm:prSet/>
      <dgm:spPr/>
    </dgm:pt>
    <dgm:pt modelId="{7A89BB4B-D13A-400C-AD43-6AC94ED70052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отслеживать состояние техники и ход работы;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48863A7-ABF3-4A83-A86A-798A29FD9E7C}" type="parTrans" cxnId="{A86F89C0-DB69-4E67-A921-212C89DD18D7}">
      <dgm:prSet/>
      <dgm:spPr/>
    </dgm:pt>
    <dgm:pt modelId="{DA385C3D-E0F8-41AC-A0A4-38B41C53053B}" type="sibTrans" cxnId="{A86F89C0-DB69-4E67-A921-212C89DD18D7}">
      <dgm:prSet/>
      <dgm:spPr/>
    </dgm:pt>
    <dgm:pt modelId="{AECE2D6C-8A2D-4242-ABC5-44877C22303B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настраивать 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сигнализации и быстро реагировать на неполадки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C5671A0-7852-4353-9236-0800F92B7B06}" type="parTrans" cxnId="{9158AD6D-6AF6-4E5F-8D29-0D4A45B3B5B1}">
      <dgm:prSet/>
      <dgm:spPr/>
    </dgm:pt>
    <dgm:pt modelId="{0B26A79A-7C7B-47EA-A820-E82B27303A4D}" type="sibTrans" cxnId="{9158AD6D-6AF6-4E5F-8D29-0D4A45B3B5B1}">
      <dgm:prSet/>
      <dgm:spPr/>
    </dgm:pt>
    <dgm:pt modelId="{6F8CC864-33ED-4071-877F-5727F616E2B9}" type="pres">
      <dgm:prSet presAssocID="{A414DCDA-6AD2-4D56-A285-7B99F7885DF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FE60D98-C447-47C1-83EB-9AB6CEE7E749}" type="pres">
      <dgm:prSet presAssocID="{80E763A8-CC57-4701-A5AF-0C31012C2F34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2C7637-C051-483A-9F27-078F9F5DD853}" type="pres">
      <dgm:prSet presAssocID="{A8F72F3B-12CF-4F12-908A-B51E884379E5}" presName="sibTrans" presStyleCnt="0"/>
      <dgm:spPr/>
    </dgm:pt>
    <dgm:pt modelId="{DCC90DCC-C3FC-490D-A0E4-D15425C2886B}" type="pres">
      <dgm:prSet presAssocID="{8B1133D6-1354-464C-9CE5-451BCA62B16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251021-703A-46AA-9A03-9FAD6177A958}" type="pres">
      <dgm:prSet presAssocID="{14C94E8F-A772-4153-8FE7-C6157E147AC9}" presName="sibTrans" presStyleCnt="0"/>
      <dgm:spPr/>
    </dgm:pt>
    <dgm:pt modelId="{7EC95525-2938-4AF3-A9F0-057E137344F3}" type="pres">
      <dgm:prSet presAssocID="{7A89BB4B-D13A-400C-AD43-6AC94ED70052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C8A9EF0-70C2-44A0-BB26-84582DFCCE07}" type="pres">
      <dgm:prSet presAssocID="{DA385C3D-E0F8-41AC-A0A4-38B41C53053B}" presName="sibTrans" presStyleCnt="0"/>
      <dgm:spPr/>
    </dgm:pt>
    <dgm:pt modelId="{599083BB-92DB-4C5C-AAC5-4D78C38A1625}" type="pres">
      <dgm:prSet presAssocID="{AECE2D6C-8A2D-4242-ABC5-44877C22303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02D9B2D-AEFC-439F-85B1-96132F4D91DE}" type="presOf" srcId="{A414DCDA-6AD2-4D56-A285-7B99F7885DF1}" destId="{6F8CC864-33ED-4071-877F-5727F616E2B9}" srcOrd="0" destOrd="0" presId="urn:microsoft.com/office/officeart/2005/8/layout/default"/>
    <dgm:cxn modelId="{EF2680BF-6702-46A3-B235-58C40FE7D6F0}" type="presOf" srcId="{80E763A8-CC57-4701-A5AF-0C31012C2F34}" destId="{CFE60D98-C447-47C1-83EB-9AB6CEE7E749}" srcOrd="0" destOrd="0" presId="urn:microsoft.com/office/officeart/2005/8/layout/default"/>
    <dgm:cxn modelId="{15C6E75A-98EB-4C64-A8AE-0824C10224F7}" type="presOf" srcId="{8B1133D6-1354-464C-9CE5-451BCA62B166}" destId="{DCC90DCC-C3FC-490D-A0E4-D15425C2886B}" srcOrd="0" destOrd="0" presId="urn:microsoft.com/office/officeart/2005/8/layout/default"/>
    <dgm:cxn modelId="{BE92CB84-A73B-4999-A028-7311461EA5FA}" type="presOf" srcId="{AECE2D6C-8A2D-4242-ABC5-44877C22303B}" destId="{599083BB-92DB-4C5C-AAC5-4D78C38A1625}" srcOrd="0" destOrd="0" presId="urn:microsoft.com/office/officeart/2005/8/layout/default"/>
    <dgm:cxn modelId="{C2E7E24A-1F72-463B-985D-C4CEEB1E7B8B}" srcId="{A414DCDA-6AD2-4D56-A285-7B99F7885DF1}" destId="{8B1133D6-1354-464C-9CE5-451BCA62B166}" srcOrd="1" destOrd="0" parTransId="{0649BEAD-6D78-4E4F-A6A4-5AB43A829EEC}" sibTransId="{14C94E8F-A772-4153-8FE7-C6157E147AC9}"/>
    <dgm:cxn modelId="{A86F89C0-DB69-4E67-A921-212C89DD18D7}" srcId="{A414DCDA-6AD2-4D56-A285-7B99F7885DF1}" destId="{7A89BB4B-D13A-400C-AD43-6AC94ED70052}" srcOrd="2" destOrd="0" parTransId="{048863A7-ABF3-4A83-A86A-798A29FD9E7C}" sibTransId="{DA385C3D-E0F8-41AC-A0A4-38B41C53053B}"/>
    <dgm:cxn modelId="{9158AD6D-6AF6-4E5F-8D29-0D4A45B3B5B1}" srcId="{A414DCDA-6AD2-4D56-A285-7B99F7885DF1}" destId="{AECE2D6C-8A2D-4242-ABC5-44877C22303B}" srcOrd="3" destOrd="0" parTransId="{0C5671A0-7852-4353-9236-0800F92B7B06}" sibTransId="{0B26A79A-7C7B-47EA-A820-E82B27303A4D}"/>
    <dgm:cxn modelId="{1C56FBFD-175A-409E-9531-B3DEE9AF6BDA}" type="presOf" srcId="{7A89BB4B-D13A-400C-AD43-6AC94ED70052}" destId="{7EC95525-2938-4AF3-A9F0-057E137344F3}" srcOrd="0" destOrd="0" presId="urn:microsoft.com/office/officeart/2005/8/layout/default"/>
    <dgm:cxn modelId="{31BF8B2A-A292-4CE5-938E-35233C748986}" srcId="{A414DCDA-6AD2-4D56-A285-7B99F7885DF1}" destId="{80E763A8-CC57-4701-A5AF-0C31012C2F34}" srcOrd="0" destOrd="0" parTransId="{64B26601-01EA-4425-8F0A-3E635EDB5BF6}" sibTransId="{A8F72F3B-12CF-4F12-908A-B51E884379E5}"/>
    <dgm:cxn modelId="{9DA34C68-D7C3-4D0B-A5F1-00D532553F4A}" type="presParOf" srcId="{6F8CC864-33ED-4071-877F-5727F616E2B9}" destId="{CFE60D98-C447-47C1-83EB-9AB6CEE7E749}" srcOrd="0" destOrd="0" presId="urn:microsoft.com/office/officeart/2005/8/layout/default"/>
    <dgm:cxn modelId="{3B711880-E0A5-4520-9B49-823B1B35AF05}" type="presParOf" srcId="{6F8CC864-33ED-4071-877F-5727F616E2B9}" destId="{D72C7637-C051-483A-9F27-078F9F5DD853}" srcOrd="1" destOrd="0" presId="urn:microsoft.com/office/officeart/2005/8/layout/default"/>
    <dgm:cxn modelId="{E5BAF8E2-085C-49B2-83B9-0DA6B411B52A}" type="presParOf" srcId="{6F8CC864-33ED-4071-877F-5727F616E2B9}" destId="{DCC90DCC-C3FC-490D-A0E4-D15425C2886B}" srcOrd="2" destOrd="0" presId="urn:microsoft.com/office/officeart/2005/8/layout/default"/>
    <dgm:cxn modelId="{D3A5D34B-9FFA-41DE-9BC2-F15DC615A4E6}" type="presParOf" srcId="{6F8CC864-33ED-4071-877F-5727F616E2B9}" destId="{E8251021-703A-46AA-9A03-9FAD6177A958}" srcOrd="3" destOrd="0" presId="urn:microsoft.com/office/officeart/2005/8/layout/default"/>
    <dgm:cxn modelId="{B2E8767F-1FFD-4525-B7BE-78BA75E80D1F}" type="presParOf" srcId="{6F8CC864-33ED-4071-877F-5727F616E2B9}" destId="{7EC95525-2938-4AF3-A9F0-057E137344F3}" srcOrd="4" destOrd="0" presId="urn:microsoft.com/office/officeart/2005/8/layout/default"/>
    <dgm:cxn modelId="{952CC0EC-F9F6-4CA5-86F5-85F57BC571CE}" type="presParOf" srcId="{6F8CC864-33ED-4071-877F-5727F616E2B9}" destId="{EC8A9EF0-70C2-44A0-BB26-84582DFCCE07}" srcOrd="5" destOrd="0" presId="urn:microsoft.com/office/officeart/2005/8/layout/default"/>
    <dgm:cxn modelId="{81CE4652-151A-4BB3-8D4E-80BE4CCD29F4}" type="presParOf" srcId="{6F8CC864-33ED-4071-877F-5727F616E2B9}" destId="{599083BB-92DB-4C5C-AAC5-4D78C38A162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B45327-5F54-499E-81FE-E1D5AB43C89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C1A844-F8F8-40A3-B4A2-4019F8C0600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Первый – это структуризация процесса разработки, которая позволяет команде двигаться по четкому плану.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3B8B5A24-3CC3-43CA-AE3B-5C38642A87A9}" type="parTrans" cxnId="{D9187018-7AD9-4F67-BBFC-6D129E1A624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749DFD-AC1B-4914-90E4-B3BC900D9B2C}" type="sibTrans" cxnId="{D9187018-7AD9-4F67-BBFC-6D129E1A624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B86CFC1-6713-433B-81FE-12A636CE16E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Второй – систематическая оценка проекта на каждом этапе, что помогает своевременно выявлять проблемы и корректировать курс. 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FE3FD1-7764-4DA6-8CE6-B5A7DB0A413E}" type="parTrans" cxnId="{446AB6C6-F4E2-4E26-B64E-3F0056F360E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3FB87D1-DB96-48AA-A18D-88BEEA1A77C8}" type="sibTrans" cxnId="{446AB6C6-F4E2-4E26-B64E-3F0056F360E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7EDE268-3BDD-46CB-A90D-12E8C12C76E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Третий – гибкость системы, позволяющая адаптировать процесс под специфику конкретного проекта или организации.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72E13A7-F7BB-4CAE-AD97-3B4A8DE466A6}" type="parTrans" cxnId="{DC9CE3A9-362E-4A15-9662-5A39CF0B56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98BFFD0-58C6-4968-8D65-9E66F5E6841E}" type="sibTrans" cxnId="{DC9CE3A9-362E-4A15-9662-5A39CF0B56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37398D4-462E-4700-B3A5-543AA194E801}" type="pres">
      <dgm:prSet presAssocID="{B7B45327-5F54-499E-81FE-E1D5AB43C89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C626EAE-2861-49A3-B096-CCCD56225A65}" type="pres">
      <dgm:prSet presAssocID="{57C1A844-F8F8-40A3-B4A2-4019F8C0600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083D76-89B9-4A62-8F1A-31D75BF0C3E8}" type="pres">
      <dgm:prSet presAssocID="{C3749DFD-AC1B-4914-90E4-B3BC900D9B2C}" presName="sibTrans" presStyleCnt="0"/>
      <dgm:spPr/>
    </dgm:pt>
    <dgm:pt modelId="{7CA068C7-B5F7-42CF-A05A-5F18FC79F55B}" type="pres">
      <dgm:prSet presAssocID="{AB86CFC1-6713-433B-81FE-12A636CE16E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D779F5E-B2D7-4412-A596-E4CEFB9E35B1}" type="pres">
      <dgm:prSet presAssocID="{33FB87D1-DB96-48AA-A18D-88BEEA1A77C8}" presName="sibTrans" presStyleCnt="0"/>
      <dgm:spPr/>
    </dgm:pt>
    <dgm:pt modelId="{BF3C9E5A-94BA-4652-AE23-E21AE466C9A9}" type="pres">
      <dgm:prSet presAssocID="{A7EDE268-3BDD-46CB-A90D-12E8C12C76E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93D0C50-7E3C-4D86-BCD6-15C778326835}" type="presOf" srcId="{A7EDE268-3BDD-46CB-A90D-12E8C12C76EC}" destId="{BF3C9E5A-94BA-4652-AE23-E21AE466C9A9}" srcOrd="0" destOrd="0" presId="urn:microsoft.com/office/officeart/2005/8/layout/default"/>
    <dgm:cxn modelId="{D7193D5B-4560-4549-A1A0-71447D527E36}" type="presOf" srcId="{AB86CFC1-6713-433B-81FE-12A636CE16EC}" destId="{7CA068C7-B5F7-42CF-A05A-5F18FC79F55B}" srcOrd="0" destOrd="0" presId="urn:microsoft.com/office/officeart/2005/8/layout/default"/>
    <dgm:cxn modelId="{446AB6C6-F4E2-4E26-B64E-3F0056F360EC}" srcId="{B7B45327-5F54-499E-81FE-E1D5AB43C89C}" destId="{AB86CFC1-6713-433B-81FE-12A636CE16EC}" srcOrd="1" destOrd="0" parTransId="{0FFE3FD1-7764-4DA6-8CE6-B5A7DB0A413E}" sibTransId="{33FB87D1-DB96-48AA-A18D-88BEEA1A77C8}"/>
    <dgm:cxn modelId="{D9187018-7AD9-4F67-BBFC-6D129E1A624C}" srcId="{B7B45327-5F54-499E-81FE-E1D5AB43C89C}" destId="{57C1A844-F8F8-40A3-B4A2-4019F8C0600F}" srcOrd="0" destOrd="0" parTransId="{3B8B5A24-3CC3-43CA-AE3B-5C38642A87A9}" sibTransId="{C3749DFD-AC1B-4914-90E4-B3BC900D9B2C}"/>
    <dgm:cxn modelId="{BA65CBA1-F175-475B-B015-E637A5A8BBA3}" type="presOf" srcId="{57C1A844-F8F8-40A3-B4A2-4019F8C0600F}" destId="{DC626EAE-2861-49A3-B096-CCCD56225A65}" srcOrd="0" destOrd="0" presId="urn:microsoft.com/office/officeart/2005/8/layout/default"/>
    <dgm:cxn modelId="{DC9CE3A9-362E-4A15-9662-5A39CF0B5607}" srcId="{B7B45327-5F54-499E-81FE-E1D5AB43C89C}" destId="{A7EDE268-3BDD-46CB-A90D-12E8C12C76EC}" srcOrd="2" destOrd="0" parTransId="{872E13A7-F7BB-4CAE-AD97-3B4A8DE466A6}" sibTransId="{998BFFD0-58C6-4968-8D65-9E66F5E6841E}"/>
    <dgm:cxn modelId="{B6FFF260-6579-4179-8825-8D4A8DC2B2B0}" type="presOf" srcId="{B7B45327-5F54-499E-81FE-E1D5AB43C89C}" destId="{A37398D4-462E-4700-B3A5-543AA194E801}" srcOrd="0" destOrd="0" presId="urn:microsoft.com/office/officeart/2005/8/layout/default"/>
    <dgm:cxn modelId="{73575197-8C2D-49F2-ADE1-98D9F8B5C9A1}" type="presParOf" srcId="{A37398D4-462E-4700-B3A5-543AA194E801}" destId="{DC626EAE-2861-49A3-B096-CCCD56225A65}" srcOrd="0" destOrd="0" presId="urn:microsoft.com/office/officeart/2005/8/layout/default"/>
    <dgm:cxn modelId="{4A9FE6D3-8722-4B9A-A840-2012DD82CCED}" type="presParOf" srcId="{A37398D4-462E-4700-B3A5-543AA194E801}" destId="{C9083D76-89B9-4A62-8F1A-31D75BF0C3E8}" srcOrd="1" destOrd="0" presId="urn:microsoft.com/office/officeart/2005/8/layout/default"/>
    <dgm:cxn modelId="{1292CE6C-CB5D-4A1C-94F8-63AB47F4C5DD}" type="presParOf" srcId="{A37398D4-462E-4700-B3A5-543AA194E801}" destId="{7CA068C7-B5F7-42CF-A05A-5F18FC79F55B}" srcOrd="2" destOrd="0" presId="urn:microsoft.com/office/officeart/2005/8/layout/default"/>
    <dgm:cxn modelId="{D48561C3-01F4-42DC-A599-D1C81A112B87}" type="presParOf" srcId="{A37398D4-462E-4700-B3A5-543AA194E801}" destId="{3D779F5E-B2D7-4412-A596-E4CEFB9E35B1}" srcOrd="3" destOrd="0" presId="urn:microsoft.com/office/officeart/2005/8/layout/default"/>
    <dgm:cxn modelId="{3757E5EB-F4CB-4328-9210-A77D3EEB2620}" type="presParOf" srcId="{A37398D4-462E-4700-B3A5-543AA194E801}" destId="{BF3C9E5A-94BA-4652-AE23-E21AE466C9A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521BBC-E55E-481E-9F08-5AC5D4D4F8D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9152636-DDFF-4E40-9C6C-FFC134EC4FA2}">
      <dgm:prSet phldrT="[Текст]"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разработка и внедрение методологий для проектного управления;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C80C33DA-AD43-45B1-A476-BBE41C544075}" type="parTrans" cxnId="{B05E644E-2483-4786-AD77-00E812F2A416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23C44BEB-C9D0-4418-A4EE-2E72E5347F5A}" type="sibTrans" cxnId="{B05E644E-2483-4786-AD77-00E812F2A416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BCA47C1F-C90D-4B84-BF38-9BB4865CCAB0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обеспечение стандартизации и оптимизации процессов проектной деятельности;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3C295D50-A7E1-408C-BA6F-0EC0F4BCC3C1}" type="parTrans" cxnId="{9B569D1A-5E4B-4A82-A2E9-47022E7BE9C3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9220E44F-AA35-4BE4-824C-62F0C90B7CB3}" type="sibTrans" cxnId="{9B569D1A-5E4B-4A82-A2E9-47022E7BE9C3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091E0CD2-75AC-4082-B60C-2414F8AA8499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постоянное совершенствование процессов работы проектного офиса,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DB9A935A-EA55-4DD2-8996-94BC63708B50}" type="parTrans" cxnId="{8D16CBEC-BB49-40AA-B5FE-081305D03768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BB06CEA6-1806-4C1A-9F69-2093BFE77155}" type="sibTrans" cxnId="{8D16CBEC-BB49-40AA-B5FE-081305D03768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BE302815-51CE-4318-B800-FFBA346EBDE4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участие в формировании стратегии развития проектной деятельности в организации,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E67A1784-B38F-4FDE-8A53-361E16E708F5}" type="parTrans" cxnId="{30C8270D-3EA1-4988-AD51-05F4B1BB20E1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4E59AF48-1F17-4C05-8859-DC53A9A210F7}" type="sibTrans" cxnId="{30C8270D-3EA1-4988-AD51-05F4B1BB20E1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8C344166-992A-4A10-A538-DA19068E2472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участие в процессе планирования проектов организации,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3C413C99-DB27-4F43-AB76-C6D9C82419C3}" type="parTrans" cxnId="{C459BF7D-687E-44CA-980F-5CDE7F321789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AE0FF0D1-287C-49D1-AE47-6AF5486D0582}" type="sibTrans" cxnId="{C459BF7D-687E-44CA-980F-5CDE7F321789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FC4E5F1F-DB65-4794-8CD5-F4F0AFFE6DBC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поддержка внедрения новых технологий и инструментов, необходимых для управления проектами,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EAE15B48-AFB1-45A9-8D51-7B6BB93BDC4E}" type="parTrans" cxnId="{EAAE6A15-3DA1-4D56-B7A5-377D3498C5FE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0998D4CE-12C8-42CC-B670-3064539F01A3}" type="sibTrans" cxnId="{EAAE6A15-3DA1-4D56-B7A5-377D3498C5FE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5A3886F3-D9A3-4BD6-A708-7B4437ABE036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выстраивание правильных коммуникаций с заказчиками проекта,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1877E12F-02AF-4F6D-88C6-7159C4D256AE}" type="parTrans" cxnId="{F19C8DB6-A757-4C9A-8473-AB5E71F90DBE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F4A782D4-73BA-40A5-B554-19AD775B971B}" type="sibTrans" cxnId="{F19C8DB6-A757-4C9A-8473-AB5E71F90DBE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362A45F2-50B4-4994-B488-2587F37C974A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обучение проектных специалистов: ассистентов, менеджеров, руководителей и других;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DB20D105-4227-4AA9-B055-29A9E1EAFED3}" type="parTrans" cxnId="{CF860008-D9A8-4674-8562-FD5245EBC546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D27E48A4-C77D-4C63-A70B-8CC7ACE4C7D7}" type="sibTrans" cxnId="{CF860008-D9A8-4674-8562-FD5245EBC546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0ECC904D-5E16-44EC-B3DA-2D61E6DF0C37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управление программами и портфелем проектов;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227D9C07-E38F-47CD-8E01-B59C74771136}" type="parTrans" cxnId="{2BF0C1ED-26B2-4A05-8985-F217C293F45F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7BE56C04-8581-4E5F-BCB0-EC5506141EA2}" type="sibTrans" cxnId="{2BF0C1ED-26B2-4A05-8985-F217C293F45F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2039E497-6147-4C12-BDD8-B04C9BA108B1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управление рисками и качеством проектов;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4BEFA542-39A3-4AA4-B7EB-4C242F7FFF15}" type="parTrans" cxnId="{61094031-0E86-4A79-9B11-79E78E3F6BD3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83682F66-6F95-4A38-B979-CE8FC7C84981}" type="sibTrans" cxnId="{61094031-0E86-4A79-9B11-79E78E3F6BD3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2DF00EFB-2A0D-4D5A-B062-FFE6DF35905C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мониторинг, анализ и оценка эффективности проектов;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A35B9069-D0CA-479C-AA35-88617D8913CE}" type="parTrans" cxnId="{E70A71D6-A7DE-427E-85BC-8B14AA16DACA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4F5B3204-3FB6-47EA-BBEA-DAD79D21BBAB}" type="sibTrans" cxnId="{E70A71D6-A7DE-427E-85BC-8B14AA16DACA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30A1D439-37DF-4527-A32F-9B44F593FC4E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повышение информированности о проектах и создание открытой, прозрачной среды внутри компании;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F63741F7-6BE7-4858-96FB-501E9CB1AC33}" type="parTrans" cxnId="{42094A66-EEDB-479D-A9CD-EA0656F58D42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C002A4AA-33C9-45FB-9D9B-3D23F65D9F8E}" type="sibTrans" cxnId="{42094A66-EEDB-479D-A9CD-EA0656F58D42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03299011-923E-41D7-9A27-0807F6266CC0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другие задачи из области проектного управления, необходимые для компании.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47D80934-E7D3-43B5-89FE-6445C6DE6090}" type="parTrans" cxnId="{AB7710B4-3170-4D38-9B8F-FDF2BF0B2CFC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AA1F30DA-E270-4ED9-9F20-B3938063A96B}" type="sibTrans" cxnId="{AB7710B4-3170-4D38-9B8F-FDF2BF0B2CFC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93D76EDF-7CF6-42FE-8CB6-69575B691139}" type="pres">
      <dgm:prSet presAssocID="{F9521BBC-E55E-481E-9F08-5AC5D4D4F8D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2AFCAEF-BE6C-42F6-993B-67FFC3F7965E}" type="pres">
      <dgm:prSet presAssocID="{49152636-DDFF-4E40-9C6C-FFC134EC4FA2}" presName="node" presStyleLbl="node1" presStyleIdx="0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87CA8-8C63-4BDA-B780-67BBAF7EA342}" type="pres">
      <dgm:prSet presAssocID="{23C44BEB-C9D0-4418-A4EE-2E72E5347F5A}" presName="sibTrans" presStyleCnt="0"/>
      <dgm:spPr/>
    </dgm:pt>
    <dgm:pt modelId="{AAFF00A9-E5EF-40AF-A760-DFF094DE0006}" type="pres">
      <dgm:prSet presAssocID="{BCA47C1F-C90D-4B84-BF38-9BB4865CCAB0}" presName="node" presStyleLbl="node1" presStyleIdx="1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080BFD-E305-4C70-B55C-4E2B05D54F5A}" type="pres">
      <dgm:prSet presAssocID="{9220E44F-AA35-4BE4-824C-62F0C90B7CB3}" presName="sibTrans" presStyleCnt="0"/>
      <dgm:spPr/>
    </dgm:pt>
    <dgm:pt modelId="{180F4E02-6E27-497C-B756-09FB5EBA8FFD}" type="pres">
      <dgm:prSet presAssocID="{091E0CD2-75AC-4082-B60C-2414F8AA8499}" presName="node" presStyleLbl="node1" presStyleIdx="2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75DF567-AB6C-4C6F-91C8-6E18E232FAF3}" type="pres">
      <dgm:prSet presAssocID="{BB06CEA6-1806-4C1A-9F69-2093BFE77155}" presName="sibTrans" presStyleCnt="0"/>
      <dgm:spPr/>
    </dgm:pt>
    <dgm:pt modelId="{7CDB08FA-7253-4B2B-BA8D-064A35162176}" type="pres">
      <dgm:prSet presAssocID="{BE302815-51CE-4318-B800-FFBA346EBDE4}" presName="node" presStyleLbl="node1" presStyleIdx="3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0CFB17-4AEA-4F73-92CE-9B6F03E4CD64}" type="pres">
      <dgm:prSet presAssocID="{4E59AF48-1F17-4C05-8859-DC53A9A210F7}" presName="sibTrans" presStyleCnt="0"/>
      <dgm:spPr/>
    </dgm:pt>
    <dgm:pt modelId="{FED5273F-E7B0-4812-BBEF-5795783AB7B3}" type="pres">
      <dgm:prSet presAssocID="{8C344166-992A-4A10-A538-DA19068E2472}" presName="node" presStyleLbl="node1" presStyleIdx="4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35FA13-0EB8-406A-8255-B0900B77205C}" type="pres">
      <dgm:prSet presAssocID="{AE0FF0D1-287C-49D1-AE47-6AF5486D0582}" presName="sibTrans" presStyleCnt="0"/>
      <dgm:spPr/>
    </dgm:pt>
    <dgm:pt modelId="{63C63FDB-8456-4F4D-97CE-A1637BC7B612}" type="pres">
      <dgm:prSet presAssocID="{FC4E5F1F-DB65-4794-8CD5-F4F0AFFE6DBC}" presName="node" presStyleLbl="node1" presStyleIdx="5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158F2F-78C6-46E0-B5D8-88285A6B171F}" type="pres">
      <dgm:prSet presAssocID="{0998D4CE-12C8-42CC-B670-3064539F01A3}" presName="sibTrans" presStyleCnt="0"/>
      <dgm:spPr/>
    </dgm:pt>
    <dgm:pt modelId="{CF45355F-2169-45F6-8E9B-D4F8C8CA90DC}" type="pres">
      <dgm:prSet presAssocID="{5A3886F3-D9A3-4BD6-A708-7B4437ABE036}" presName="node" presStyleLbl="node1" presStyleIdx="6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15AD8B-DCC1-4E36-8250-F24D9AB444FF}" type="pres">
      <dgm:prSet presAssocID="{F4A782D4-73BA-40A5-B554-19AD775B971B}" presName="sibTrans" presStyleCnt="0"/>
      <dgm:spPr/>
    </dgm:pt>
    <dgm:pt modelId="{C7D05FC5-5E08-4285-B389-225E4381058A}" type="pres">
      <dgm:prSet presAssocID="{362A45F2-50B4-4994-B488-2587F37C974A}" presName="node" presStyleLbl="node1" presStyleIdx="7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7B7E1E-9702-4BC6-9707-FF8619D95D3A}" type="pres">
      <dgm:prSet presAssocID="{D27E48A4-C77D-4C63-A70B-8CC7ACE4C7D7}" presName="sibTrans" presStyleCnt="0"/>
      <dgm:spPr/>
    </dgm:pt>
    <dgm:pt modelId="{0CAB3418-AB83-4A81-95C9-5CF6DC91AC5F}" type="pres">
      <dgm:prSet presAssocID="{0ECC904D-5E16-44EC-B3DA-2D61E6DF0C37}" presName="node" presStyleLbl="node1" presStyleIdx="8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C69308-F4F0-49CF-97A7-4223659959B1}" type="pres">
      <dgm:prSet presAssocID="{7BE56C04-8581-4E5F-BCB0-EC5506141EA2}" presName="sibTrans" presStyleCnt="0"/>
      <dgm:spPr/>
    </dgm:pt>
    <dgm:pt modelId="{7B5D4B9E-D73A-4BD9-9C51-3406D3464237}" type="pres">
      <dgm:prSet presAssocID="{2039E497-6147-4C12-BDD8-B04C9BA108B1}" presName="node" presStyleLbl="node1" presStyleIdx="9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2D032A-1E2A-4D28-A44D-9138D54AF0A4}" type="pres">
      <dgm:prSet presAssocID="{83682F66-6F95-4A38-B979-CE8FC7C84981}" presName="sibTrans" presStyleCnt="0"/>
      <dgm:spPr/>
    </dgm:pt>
    <dgm:pt modelId="{B7A97550-FFC4-4ACF-B31C-1C1526F09B9B}" type="pres">
      <dgm:prSet presAssocID="{2DF00EFB-2A0D-4D5A-B062-FFE6DF35905C}" presName="node" presStyleLbl="node1" presStyleIdx="10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08E744-F466-4611-AE02-E66C5CDEA5F7}" type="pres">
      <dgm:prSet presAssocID="{4F5B3204-3FB6-47EA-BBEA-DAD79D21BBAB}" presName="sibTrans" presStyleCnt="0"/>
      <dgm:spPr/>
    </dgm:pt>
    <dgm:pt modelId="{C7361885-64B0-41A2-9A2B-55228F2133FF}" type="pres">
      <dgm:prSet presAssocID="{30A1D439-37DF-4527-A32F-9B44F593FC4E}" presName="node" presStyleLbl="node1" presStyleIdx="11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F3D5F7-D22B-458D-9BDA-53F6B19277B3}" type="pres">
      <dgm:prSet presAssocID="{C002A4AA-33C9-45FB-9D9B-3D23F65D9F8E}" presName="sibTrans" presStyleCnt="0"/>
      <dgm:spPr/>
    </dgm:pt>
    <dgm:pt modelId="{FE820256-E318-49AD-8110-27BC9A8B3DAF}" type="pres">
      <dgm:prSet presAssocID="{03299011-923E-41D7-9A27-0807F6266CC0}" presName="node" presStyleLbl="node1" presStyleIdx="12" presStyleCnt="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AE6A15-3DA1-4D56-B7A5-377D3498C5FE}" srcId="{F9521BBC-E55E-481E-9F08-5AC5D4D4F8D6}" destId="{FC4E5F1F-DB65-4794-8CD5-F4F0AFFE6DBC}" srcOrd="5" destOrd="0" parTransId="{EAE15B48-AFB1-45A9-8D51-7B6BB93BDC4E}" sibTransId="{0998D4CE-12C8-42CC-B670-3064539F01A3}"/>
    <dgm:cxn modelId="{51112E5A-6B39-402C-8C72-D3F6A35DF99A}" type="presOf" srcId="{F9521BBC-E55E-481E-9F08-5AC5D4D4F8D6}" destId="{93D76EDF-7CF6-42FE-8CB6-69575B691139}" srcOrd="0" destOrd="0" presId="urn:microsoft.com/office/officeart/2005/8/layout/default"/>
    <dgm:cxn modelId="{780C5BF2-F0F8-4364-A23F-B194E31D5891}" type="presOf" srcId="{03299011-923E-41D7-9A27-0807F6266CC0}" destId="{FE820256-E318-49AD-8110-27BC9A8B3DAF}" srcOrd="0" destOrd="0" presId="urn:microsoft.com/office/officeart/2005/8/layout/default"/>
    <dgm:cxn modelId="{61094031-0E86-4A79-9B11-79E78E3F6BD3}" srcId="{F9521BBC-E55E-481E-9F08-5AC5D4D4F8D6}" destId="{2039E497-6147-4C12-BDD8-B04C9BA108B1}" srcOrd="9" destOrd="0" parTransId="{4BEFA542-39A3-4AA4-B7EB-4C242F7FFF15}" sibTransId="{83682F66-6F95-4A38-B979-CE8FC7C84981}"/>
    <dgm:cxn modelId="{318398B6-F9DC-4DF9-B740-532B244F6542}" type="presOf" srcId="{362A45F2-50B4-4994-B488-2587F37C974A}" destId="{C7D05FC5-5E08-4285-B389-225E4381058A}" srcOrd="0" destOrd="0" presId="urn:microsoft.com/office/officeart/2005/8/layout/default"/>
    <dgm:cxn modelId="{D3D34B24-4687-4836-BE7D-4D85E3FB8102}" type="presOf" srcId="{2DF00EFB-2A0D-4D5A-B062-FFE6DF35905C}" destId="{B7A97550-FFC4-4ACF-B31C-1C1526F09B9B}" srcOrd="0" destOrd="0" presId="urn:microsoft.com/office/officeart/2005/8/layout/default"/>
    <dgm:cxn modelId="{64F2775C-7044-4E57-A055-138EC7856130}" type="presOf" srcId="{BCA47C1F-C90D-4B84-BF38-9BB4865CCAB0}" destId="{AAFF00A9-E5EF-40AF-A760-DFF094DE0006}" srcOrd="0" destOrd="0" presId="urn:microsoft.com/office/officeart/2005/8/layout/default"/>
    <dgm:cxn modelId="{0CF8B0F3-6093-48A4-A940-F4608272F0A1}" type="presOf" srcId="{0ECC904D-5E16-44EC-B3DA-2D61E6DF0C37}" destId="{0CAB3418-AB83-4A81-95C9-5CF6DC91AC5F}" srcOrd="0" destOrd="0" presId="urn:microsoft.com/office/officeart/2005/8/layout/default"/>
    <dgm:cxn modelId="{82B027D9-F2F4-41B4-9D27-434D355DF237}" type="presOf" srcId="{091E0CD2-75AC-4082-B60C-2414F8AA8499}" destId="{180F4E02-6E27-497C-B756-09FB5EBA8FFD}" srcOrd="0" destOrd="0" presId="urn:microsoft.com/office/officeart/2005/8/layout/default"/>
    <dgm:cxn modelId="{C459BF7D-687E-44CA-980F-5CDE7F321789}" srcId="{F9521BBC-E55E-481E-9F08-5AC5D4D4F8D6}" destId="{8C344166-992A-4A10-A538-DA19068E2472}" srcOrd="4" destOrd="0" parTransId="{3C413C99-DB27-4F43-AB76-C6D9C82419C3}" sibTransId="{AE0FF0D1-287C-49D1-AE47-6AF5486D0582}"/>
    <dgm:cxn modelId="{1A902762-4FB7-42EE-BD71-B4284E3403B2}" type="presOf" srcId="{8C344166-992A-4A10-A538-DA19068E2472}" destId="{FED5273F-E7B0-4812-BBEF-5795783AB7B3}" srcOrd="0" destOrd="0" presId="urn:microsoft.com/office/officeart/2005/8/layout/default"/>
    <dgm:cxn modelId="{8D16CBEC-BB49-40AA-B5FE-081305D03768}" srcId="{F9521BBC-E55E-481E-9F08-5AC5D4D4F8D6}" destId="{091E0CD2-75AC-4082-B60C-2414F8AA8499}" srcOrd="2" destOrd="0" parTransId="{DB9A935A-EA55-4DD2-8996-94BC63708B50}" sibTransId="{BB06CEA6-1806-4C1A-9F69-2093BFE77155}"/>
    <dgm:cxn modelId="{B05E644E-2483-4786-AD77-00E812F2A416}" srcId="{F9521BBC-E55E-481E-9F08-5AC5D4D4F8D6}" destId="{49152636-DDFF-4E40-9C6C-FFC134EC4FA2}" srcOrd="0" destOrd="0" parTransId="{C80C33DA-AD43-45B1-A476-BBE41C544075}" sibTransId="{23C44BEB-C9D0-4418-A4EE-2E72E5347F5A}"/>
    <dgm:cxn modelId="{F19C8DB6-A757-4C9A-8473-AB5E71F90DBE}" srcId="{F9521BBC-E55E-481E-9F08-5AC5D4D4F8D6}" destId="{5A3886F3-D9A3-4BD6-A708-7B4437ABE036}" srcOrd="6" destOrd="0" parTransId="{1877E12F-02AF-4F6D-88C6-7159C4D256AE}" sibTransId="{F4A782D4-73BA-40A5-B554-19AD775B971B}"/>
    <dgm:cxn modelId="{30C8270D-3EA1-4988-AD51-05F4B1BB20E1}" srcId="{F9521BBC-E55E-481E-9F08-5AC5D4D4F8D6}" destId="{BE302815-51CE-4318-B800-FFBA346EBDE4}" srcOrd="3" destOrd="0" parTransId="{E67A1784-B38F-4FDE-8A53-361E16E708F5}" sibTransId="{4E59AF48-1F17-4C05-8859-DC53A9A210F7}"/>
    <dgm:cxn modelId="{2BF0C1ED-26B2-4A05-8985-F217C293F45F}" srcId="{F9521BBC-E55E-481E-9F08-5AC5D4D4F8D6}" destId="{0ECC904D-5E16-44EC-B3DA-2D61E6DF0C37}" srcOrd="8" destOrd="0" parTransId="{227D9C07-E38F-47CD-8E01-B59C74771136}" sibTransId="{7BE56C04-8581-4E5F-BCB0-EC5506141EA2}"/>
    <dgm:cxn modelId="{A0970C52-363F-4A57-8FAA-80F0352DCF49}" type="presOf" srcId="{30A1D439-37DF-4527-A32F-9B44F593FC4E}" destId="{C7361885-64B0-41A2-9A2B-55228F2133FF}" srcOrd="0" destOrd="0" presId="urn:microsoft.com/office/officeart/2005/8/layout/default"/>
    <dgm:cxn modelId="{09B49135-8775-4491-8C8A-31FA4BAD580B}" type="presOf" srcId="{FC4E5F1F-DB65-4794-8CD5-F4F0AFFE6DBC}" destId="{63C63FDB-8456-4F4D-97CE-A1637BC7B612}" srcOrd="0" destOrd="0" presId="urn:microsoft.com/office/officeart/2005/8/layout/default"/>
    <dgm:cxn modelId="{42094A66-EEDB-479D-A9CD-EA0656F58D42}" srcId="{F9521BBC-E55E-481E-9F08-5AC5D4D4F8D6}" destId="{30A1D439-37DF-4527-A32F-9B44F593FC4E}" srcOrd="11" destOrd="0" parTransId="{F63741F7-6BE7-4858-96FB-501E9CB1AC33}" sibTransId="{C002A4AA-33C9-45FB-9D9B-3D23F65D9F8E}"/>
    <dgm:cxn modelId="{E70A71D6-A7DE-427E-85BC-8B14AA16DACA}" srcId="{F9521BBC-E55E-481E-9F08-5AC5D4D4F8D6}" destId="{2DF00EFB-2A0D-4D5A-B062-FFE6DF35905C}" srcOrd="10" destOrd="0" parTransId="{A35B9069-D0CA-479C-AA35-88617D8913CE}" sibTransId="{4F5B3204-3FB6-47EA-BBEA-DAD79D21BBAB}"/>
    <dgm:cxn modelId="{6AECF52F-A65A-471B-A671-1B0524B74170}" type="presOf" srcId="{BE302815-51CE-4318-B800-FFBA346EBDE4}" destId="{7CDB08FA-7253-4B2B-BA8D-064A35162176}" srcOrd="0" destOrd="0" presId="urn:microsoft.com/office/officeart/2005/8/layout/default"/>
    <dgm:cxn modelId="{8E1753AA-D77A-4DF9-9864-E2F47CF81DF3}" type="presOf" srcId="{5A3886F3-D9A3-4BD6-A708-7B4437ABE036}" destId="{CF45355F-2169-45F6-8E9B-D4F8C8CA90DC}" srcOrd="0" destOrd="0" presId="urn:microsoft.com/office/officeart/2005/8/layout/default"/>
    <dgm:cxn modelId="{F9605F30-6313-4D4E-8A72-72B2A9B92C53}" type="presOf" srcId="{2039E497-6147-4C12-BDD8-B04C9BA108B1}" destId="{7B5D4B9E-D73A-4BD9-9C51-3406D3464237}" srcOrd="0" destOrd="0" presId="urn:microsoft.com/office/officeart/2005/8/layout/default"/>
    <dgm:cxn modelId="{9B569D1A-5E4B-4A82-A2E9-47022E7BE9C3}" srcId="{F9521BBC-E55E-481E-9F08-5AC5D4D4F8D6}" destId="{BCA47C1F-C90D-4B84-BF38-9BB4865CCAB0}" srcOrd="1" destOrd="0" parTransId="{3C295D50-A7E1-408C-BA6F-0EC0F4BCC3C1}" sibTransId="{9220E44F-AA35-4BE4-824C-62F0C90B7CB3}"/>
    <dgm:cxn modelId="{CF860008-D9A8-4674-8562-FD5245EBC546}" srcId="{F9521BBC-E55E-481E-9F08-5AC5D4D4F8D6}" destId="{362A45F2-50B4-4994-B488-2587F37C974A}" srcOrd="7" destOrd="0" parTransId="{DB20D105-4227-4AA9-B055-29A9E1EAFED3}" sibTransId="{D27E48A4-C77D-4C63-A70B-8CC7ACE4C7D7}"/>
    <dgm:cxn modelId="{E56F2342-8234-49E0-9892-7E54213ADF38}" type="presOf" srcId="{49152636-DDFF-4E40-9C6C-FFC134EC4FA2}" destId="{02AFCAEF-BE6C-42F6-993B-67FFC3F7965E}" srcOrd="0" destOrd="0" presId="urn:microsoft.com/office/officeart/2005/8/layout/default"/>
    <dgm:cxn modelId="{AB7710B4-3170-4D38-9B8F-FDF2BF0B2CFC}" srcId="{F9521BBC-E55E-481E-9F08-5AC5D4D4F8D6}" destId="{03299011-923E-41D7-9A27-0807F6266CC0}" srcOrd="12" destOrd="0" parTransId="{47D80934-E7D3-43B5-89FE-6445C6DE6090}" sibTransId="{AA1F30DA-E270-4ED9-9F20-B3938063A96B}"/>
    <dgm:cxn modelId="{4C86F1D8-7EB6-4EFB-A6BB-E20E2DE995F9}" type="presParOf" srcId="{93D76EDF-7CF6-42FE-8CB6-69575B691139}" destId="{02AFCAEF-BE6C-42F6-993B-67FFC3F7965E}" srcOrd="0" destOrd="0" presId="urn:microsoft.com/office/officeart/2005/8/layout/default"/>
    <dgm:cxn modelId="{6BDDC669-58C6-4C94-A224-C5C6A1874C8E}" type="presParOf" srcId="{93D76EDF-7CF6-42FE-8CB6-69575B691139}" destId="{F4187CA8-8C63-4BDA-B780-67BBAF7EA342}" srcOrd="1" destOrd="0" presId="urn:microsoft.com/office/officeart/2005/8/layout/default"/>
    <dgm:cxn modelId="{8C76858F-CF3E-48E1-A452-DCBEC5E5DA21}" type="presParOf" srcId="{93D76EDF-7CF6-42FE-8CB6-69575B691139}" destId="{AAFF00A9-E5EF-40AF-A760-DFF094DE0006}" srcOrd="2" destOrd="0" presId="urn:microsoft.com/office/officeart/2005/8/layout/default"/>
    <dgm:cxn modelId="{448C0300-1706-428C-9A92-6401DDE3436C}" type="presParOf" srcId="{93D76EDF-7CF6-42FE-8CB6-69575B691139}" destId="{E7080BFD-E305-4C70-B55C-4E2B05D54F5A}" srcOrd="3" destOrd="0" presId="urn:microsoft.com/office/officeart/2005/8/layout/default"/>
    <dgm:cxn modelId="{B1939F8D-AD55-4013-8D5F-50134415D711}" type="presParOf" srcId="{93D76EDF-7CF6-42FE-8CB6-69575B691139}" destId="{180F4E02-6E27-497C-B756-09FB5EBA8FFD}" srcOrd="4" destOrd="0" presId="urn:microsoft.com/office/officeart/2005/8/layout/default"/>
    <dgm:cxn modelId="{D11BEE19-F999-4367-940E-CFACC68573D2}" type="presParOf" srcId="{93D76EDF-7CF6-42FE-8CB6-69575B691139}" destId="{775DF567-AB6C-4C6F-91C8-6E18E232FAF3}" srcOrd="5" destOrd="0" presId="urn:microsoft.com/office/officeart/2005/8/layout/default"/>
    <dgm:cxn modelId="{593BAC17-4FAE-4792-9811-2CF1F779523D}" type="presParOf" srcId="{93D76EDF-7CF6-42FE-8CB6-69575B691139}" destId="{7CDB08FA-7253-4B2B-BA8D-064A35162176}" srcOrd="6" destOrd="0" presId="urn:microsoft.com/office/officeart/2005/8/layout/default"/>
    <dgm:cxn modelId="{04094D8D-D67B-45BC-BA68-598D8EF8784B}" type="presParOf" srcId="{93D76EDF-7CF6-42FE-8CB6-69575B691139}" destId="{100CFB17-4AEA-4F73-92CE-9B6F03E4CD64}" srcOrd="7" destOrd="0" presId="urn:microsoft.com/office/officeart/2005/8/layout/default"/>
    <dgm:cxn modelId="{85F5F2BA-CB48-4E47-B2E7-E7A93A82A116}" type="presParOf" srcId="{93D76EDF-7CF6-42FE-8CB6-69575B691139}" destId="{FED5273F-E7B0-4812-BBEF-5795783AB7B3}" srcOrd="8" destOrd="0" presId="urn:microsoft.com/office/officeart/2005/8/layout/default"/>
    <dgm:cxn modelId="{E8BEF6CA-3549-4412-8479-537463A2D907}" type="presParOf" srcId="{93D76EDF-7CF6-42FE-8CB6-69575B691139}" destId="{0F35FA13-0EB8-406A-8255-B0900B77205C}" srcOrd="9" destOrd="0" presId="urn:microsoft.com/office/officeart/2005/8/layout/default"/>
    <dgm:cxn modelId="{F2B92F99-F9B1-40B7-BF26-80E01FCAFBAB}" type="presParOf" srcId="{93D76EDF-7CF6-42FE-8CB6-69575B691139}" destId="{63C63FDB-8456-4F4D-97CE-A1637BC7B612}" srcOrd="10" destOrd="0" presId="urn:microsoft.com/office/officeart/2005/8/layout/default"/>
    <dgm:cxn modelId="{845BDDCB-8024-4B96-80DB-54435BB081EC}" type="presParOf" srcId="{93D76EDF-7CF6-42FE-8CB6-69575B691139}" destId="{71158F2F-78C6-46E0-B5D8-88285A6B171F}" srcOrd="11" destOrd="0" presId="urn:microsoft.com/office/officeart/2005/8/layout/default"/>
    <dgm:cxn modelId="{1DE5FC99-F735-4E23-977C-0F52C8CC768E}" type="presParOf" srcId="{93D76EDF-7CF6-42FE-8CB6-69575B691139}" destId="{CF45355F-2169-45F6-8E9B-D4F8C8CA90DC}" srcOrd="12" destOrd="0" presId="urn:microsoft.com/office/officeart/2005/8/layout/default"/>
    <dgm:cxn modelId="{85852BB8-446A-46DB-A61C-3B5C3D6E5419}" type="presParOf" srcId="{93D76EDF-7CF6-42FE-8CB6-69575B691139}" destId="{2615AD8B-DCC1-4E36-8250-F24D9AB444FF}" srcOrd="13" destOrd="0" presId="urn:microsoft.com/office/officeart/2005/8/layout/default"/>
    <dgm:cxn modelId="{D79358EE-4101-413F-A733-7E33017C549C}" type="presParOf" srcId="{93D76EDF-7CF6-42FE-8CB6-69575B691139}" destId="{C7D05FC5-5E08-4285-B389-225E4381058A}" srcOrd="14" destOrd="0" presId="urn:microsoft.com/office/officeart/2005/8/layout/default"/>
    <dgm:cxn modelId="{42D875E4-51B3-4B72-8674-929B231FFA83}" type="presParOf" srcId="{93D76EDF-7CF6-42FE-8CB6-69575B691139}" destId="{E57B7E1E-9702-4BC6-9707-FF8619D95D3A}" srcOrd="15" destOrd="0" presId="urn:microsoft.com/office/officeart/2005/8/layout/default"/>
    <dgm:cxn modelId="{DC3B85AC-6401-4210-8A23-76F4CDDEB9C9}" type="presParOf" srcId="{93D76EDF-7CF6-42FE-8CB6-69575B691139}" destId="{0CAB3418-AB83-4A81-95C9-5CF6DC91AC5F}" srcOrd="16" destOrd="0" presId="urn:microsoft.com/office/officeart/2005/8/layout/default"/>
    <dgm:cxn modelId="{F98933EC-79A9-4CAA-B181-79FBDDDFE3DB}" type="presParOf" srcId="{93D76EDF-7CF6-42FE-8CB6-69575B691139}" destId="{BCC69308-F4F0-49CF-97A7-4223659959B1}" srcOrd="17" destOrd="0" presId="urn:microsoft.com/office/officeart/2005/8/layout/default"/>
    <dgm:cxn modelId="{1CEBD561-FC3A-4681-ADB9-A5EAEB15EAEC}" type="presParOf" srcId="{93D76EDF-7CF6-42FE-8CB6-69575B691139}" destId="{7B5D4B9E-D73A-4BD9-9C51-3406D3464237}" srcOrd="18" destOrd="0" presId="urn:microsoft.com/office/officeart/2005/8/layout/default"/>
    <dgm:cxn modelId="{631C4302-86EF-4329-901D-2EAD1A7FF271}" type="presParOf" srcId="{93D76EDF-7CF6-42FE-8CB6-69575B691139}" destId="{422D032A-1E2A-4D28-A44D-9138D54AF0A4}" srcOrd="19" destOrd="0" presId="urn:microsoft.com/office/officeart/2005/8/layout/default"/>
    <dgm:cxn modelId="{FE6C5FF0-4E18-4FA3-B9EB-0BF07B51DA77}" type="presParOf" srcId="{93D76EDF-7CF6-42FE-8CB6-69575B691139}" destId="{B7A97550-FFC4-4ACF-B31C-1C1526F09B9B}" srcOrd="20" destOrd="0" presId="urn:microsoft.com/office/officeart/2005/8/layout/default"/>
    <dgm:cxn modelId="{4F1031C1-EBEC-4279-A677-FB6899F6ABB5}" type="presParOf" srcId="{93D76EDF-7CF6-42FE-8CB6-69575B691139}" destId="{7008E744-F466-4611-AE02-E66C5CDEA5F7}" srcOrd="21" destOrd="0" presId="urn:microsoft.com/office/officeart/2005/8/layout/default"/>
    <dgm:cxn modelId="{3054485D-3F78-445E-B1D5-60AEADE16D66}" type="presParOf" srcId="{93D76EDF-7CF6-42FE-8CB6-69575B691139}" destId="{C7361885-64B0-41A2-9A2B-55228F2133FF}" srcOrd="22" destOrd="0" presId="urn:microsoft.com/office/officeart/2005/8/layout/default"/>
    <dgm:cxn modelId="{1244CED4-BDCF-40EC-B2AE-A9844AF08FB6}" type="presParOf" srcId="{93D76EDF-7CF6-42FE-8CB6-69575B691139}" destId="{63F3D5F7-D22B-458D-9BDA-53F6B19277B3}" srcOrd="23" destOrd="0" presId="urn:microsoft.com/office/officeart/2005/8/layout/default"/>
    <dgm:cxn modelId="{A3947CE4-BA6D-4B58-9442-C556B8B2130F}" type="presParOf" srcId="{93D76EDF-7CF6-42FE-8CB6-69575B691139}" destId="{FE820256-E318-49AD-8110-27BC9A8B3DAF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521BBC-E55E-481E-9F08-5AC5D4D4F8D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E200FAA-AAE1-4578-B385-67B65CC3181F}">
      <dgm:prSet custT="1"/>
      <dgm:spPr/>
      <dgm:t>
        <a:bodyPr/>
        <a:lstStyle/>
        <a:p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Развитие методологий и внедрение инструментов управления проектами. </a:t>
          </a:r>
        </a:p>
        <a:p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Поддерживающий проектный офис занимается постоянным улучшением и адаптацией проектных методологий, он следит за соответствием современным требованиям и стандартам.</a:t>
          </a:r>
          <a:endParaRPr lang="ru-RU" sz="1600" b="0" i="0" dirty="0">
            <a:latin typeface="Times New Roman" pitchFamily="18" charset="0"/>
            <a:cs typeface="Times New Roman" pitchFamily="18" charset="0"/>
          </a:endParaRPr>
        </a:p>
      </dgm:t>
    </dgm:pt>
    <dgm:pt modelId="{34388F1A-7559-467F-9D95-87A1BBA2D95D}" type="parTrans" cxnId="{043EADAE-D8AB-4975-8F2A-AC1773F6A8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926A367F-0351-424B-BC7E-0BC859E23D62}" type="sibTrans" cxnId="{043EADAE-D8AB-4975-8F2A-AC1773F6A8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21E5EA57-87BD-45EE-A01A-AD302474A746}">
      <dgm:prSet custT="1"/>
      <dgm:spPr/>
      <dgm:t>
        <a:bodyPr/>
        <a:lstStyle/>
        <a:p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Обучение сотрудников. </a:t>
          </a:r>
        </a:p>
        <a:p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ППО проводит обучающие мероприятия, семинары и тренинги по проектной работе для сотрудников организации. Это помогает повысить квалификацию персонала и обеспечить их готовность к эффективной работе над проектами.</a:t>
          </a:r>
          <a:endParaRPr lang="ru-RU" sz="1600" b="0" i="0" dirty="0">
            <a:latin typeface="Times New Roman" pitchFamily="18" charset="0"/>
            <a:cs typeface="Times New Roman" pitchFamily="18" charset="0"/>
          </a:endParaRPr>
        </a:p>
      </dgm:t>
    </dgm:pt>
    <dgm:pt modelId="{10A39F75-739E-490C-BE49-E3A5C7E8BAB5}" type="parTrans" cxnId="{DFF3529C-3E38-4C2C-B83A-98601E7B0258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BDA4CB4-3466-4B7D-B428-4DF38217AA1D}" type="sibTrans" cxnId="{DFF3529C-3E38-4C2C-B83A-98601E7B0258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3640A71-8006-43A7-83CE-C9A45142974B}">
      <dgm:prSet custT="1"/>
      <dgm:spPr/>
      <dgm:t>
        <a:bodyPr/>
        <a:lstStyle/>
        <a:p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Сбор и анализ данных о проектах. </a:t>
          </a:r>
        </a:p>
        <a:p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ППО отслеживает и анализирует основные показатели и данные по проектам в организации. Это позволяет выявлять проблемные моменты, проводить анализ эффективности, а также изменять методологию и подходы к проектной работе в будущем.</a:t>
          </a:r>
          <a:endParaRPr lang="ru-RU" sz="1600" b="0" i="0" dirty="0">
            <a:latin typeface="Times New Roman" pitchFamily="18" charset="0"/>
            <a:cs typeface="Times New Roman" pitchFamily="18" charset="0"/>
          </a:endParaRPr>
        </a:p>
      </dgm:t>
    </dgm:pt>
    <dgm:pt modelId="{E381C2CE-04A6-4F00-80F9-3E4210368DF3}" type="parTrans" cxnId="{A974826E-0060-443B-8489-D9941B8F727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EEEDB5F-8567-4433-9D2B-8FE910C84822}" type="sibTrans" cxnId="{A974826E-0060-443B-8489-D9941B8F727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93D76EDF-7CF6-42FE-8CB6-69575B691139}" type="pres">
      <dgm:prSet presAssocID="{F9521BBC-E55E-481E-9F08-5AC5D4D4F8D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9AB0F5F-6CA3-4C52-AA6F-1D2AD1DCE9E1}" type="pres">
      <dgm:prSet presAssocID="{1E200FAA-AAE1-4578-B385-67B65CC3181F}" presName="node" presStyleLbl="node1" presStyleIdx="0" presStyleCnt="3" custScaleY="18679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203EC0-6C6A-4F20-8CE7-ECADD8E97ABE}" type="pres">
      <dgm:prSet presAssocID="{926A367F-0351-424B-BC7E-0BC859E23D62}" presName="sibTrans" presStyleCnt="0"/>
      <dgm:spPr/>
    </dgm:pt>
    <dgm:pt modelId="{11801D9B-A39B-4EF9-B860-801E5524860F}" type="pres">
      <dgm:prSet presAssocID="{21E5EA57-87BD-45EE-A01A-AD302474A746}" presName="node" presStyleLbl="node1" presStyleIdx="1" presStyleCnt="3" custScaleY="18679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9D56D4-279C-4F37-9A3D-C2F4A5E6C2E7}" type="pres">
      <dgm:prSet presAssocID="{DBDA4CB4-3466-4B7D-B428-4DF38217AA1D}" presName="sibTrans" presStyleCnt="0"/>
      <dgm:spPr/>
    </dgm:pt>
    <dgm:pt modelId="{CA1EEAD4-EF4E-4634-971A-07EF02EDC011}" type="pres">
      <dgm:prSet presAssocID="{13640A71-8006-43A7-83CE-C9A45142974B}" presName="node" presStyleLbl="node1" presStyleIdx="2" presStyleCnt="3" custScaleY="18679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43EADAE-D8AB-4975-8F2A-AC1773F6A8EB}" srcId="{F9521BBC-E55E-481E-9F08-5AC5D4D4F8D6}" destId="{1E200FAA-AAE1-4578-B385-67B65CC3181F}" srcOrd="0" destOrd="0" parTransId="{34388F1A-7559-467F-9D95-87A1BBA2D95D}" sibTransId="{926A367F-0351-424B-BC7E-0BC859E23D62}"/>
    <dgm:cxn modelId="{DFF3529C-3E38-4C2C-B83A-98601E7B0258}" srcId="{F9521BBC-E55E-481E-9F08-5AC5D4D4F8D6}" destId="{21E5EA57-87BD-45EE-A01A-AD302474A746}" srcOrd="1" destOrd="0" parTransId="{10A39F75-739E-490C-BE49-E3A5C7E8BAB5}" sibTransId="{DBDA4CB4-3466-4B7D-B428-4DF38217AA1D}"/>
    <dgm:cxn modelId="{0328E905-13B5-401C-A060-19FF56F1841E}" type="presOf" srcId="{1E200FAA-AAE1-4578-B385-67B65CC3181F}" destId="{B9AB0F5F-6CA3-4C52-AA6F-1D2AD1DCE9E1}" srcOrd="0" destOrd="0" presId="urn:microsoft.com/office/officeart/2005/8/layout/default"/>
    <dgm:cxn modelId="{C8EF4688-DDD5-4590-872B-1742C9CD37FD}" type="presOf" srcId="{13640A71-8006-43A7-83CE-C9A45142974B}" destId="{CA1EEAD4-EF4E-4634-971A-07EF02EDC011}" srcOrd="0" destOrd="0" presId="urn:microsoft.com/office/officeart/2005/8/layout/default"/>
    <dgm:cxn modelId="{98CD91B0-9A41-42FB-8C83-44C5FA869206}" type="presOf" srcId="{21E5EA57-87BD-45EE-A01A-AD302474A746}" destId="{11801D9B-A39B-4EF9-B860-801E5524860F}" srcOrd="0" destOrd="0" presId="urn:microsoft.com/office/officeart/2005/8/layout/default"/>
    <dgm:cxn modelId="{A974826E-0060-443B-8489-D9941B8F7272}" srcId="{F9521BBC-E55E-481E-9F08-5AC5D4D4F8D6}" destId="{13640A71-8006-43A7-83CE-C9A45142974B}" srcOrd="2" destOrd="0" parTransId="{E381C2CE-04A6-4F00-80F9-3E4210368DF3}" sibTransId="{FEEEDB5F-8567-4433-9D2B-8FE910C84822}"/>
    <dgm:cxn modelId="{232F0C7F-E342-404A-9B96-7CD93C9E6DC9}" type="presOf" srcId="{F9521BBC-E55E-481E-9F08-5AC5D4D4F8D6}" destId="{93D76EDF-7CF6-42FE-8CB6-69575B691139}" srcOrd="0" destOrd="0" presId="urn:microsoft.com/office/officeart/2005/8/layout/default"/>
    <dgm:cxn modelId="{0D40DF0C-6739-4696-8F9A-459403A96772}" type="presParOf" srcId="{93D76EDF-7CF6-42FE-8CB6-69575B691139}" destId="{B9AB0F5F-6CA3-4C52-AA6F-1D2AD1DCE9E1}" srcOrd="0" destOrd="0" presId="urn:microsoft.com/office/officeart/2005/8/layout/default"/>
    <dgm:cxn modelId="{E124FC06-3C6C-4FD6-A2C4-13439DA174DD}" type="presParOf" srcId="{93D76EDF-7CF6-42FE-8CB6-69575B691139}" destId="{9B203EC0-6C6A-4F20-8CE7-ECADD8E97ABE}" srcOrd="1" destOrd="0" presId="urn:microsoft.com/office/officeart/2005/8/layout/default"/>
    <dgm:cxn modelId="{DD455724-48CE-4D93-BFB4-5739D6BF44D5}" type="presParOf" srcId="{93D76EDF-7CF6-42FE-8CB6-69575B691139}" destId="{11801D9B-A39B-4EF9-B860-801E5524860F}" srcOrd="2" destOrd="0" presId="urn:microsoft.com/office/officeart/2005/8/layout/default"/>
    <dgm:cxn modelId="{E2747683-F005-43EA-B2B1-248E3756BF62}" type="presParOf" srcId="{93D76EDF-7CF6-42FE-8CB6-69575B691139}" destId="{2E9D56D4-279C-4F37-9A3D-C2F4A5E6C2E7}" srcOrd="3" destOrd="0" presId="urn:microsoft.com/office/officeart/2005/8/layout/default"/>
    <dgm:cxn modelId="{7B4974BD-66C5-4E8A-A5D4-0E7705DDCD2C}" type="presParOf" srcId="{93D76EDF-7CF6-42FE-8CB6-69575B691139}" destId="{CA1EEAD4-EF4E-4634-971A-07EF02EDC01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9521BBC-E55E-481E-9F08-5AC5D4D4F8D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619FF35-E646-4CB3-B2D8-491669922B66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Управление стандартами.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Управляющий проектный офис также, как и поддерживающий устанавливает стандарты и процедуры управления проектами для обеспечения единообразия и согласованности подходов в рамках организации.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FB7A6BA5-D33B-4CC4-BE3B-976546C9E272}" type="parTrans" cxnId="{DF7BE63C-F452-4B7C-BA3C-EDBF018A09F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5260D57-F377-4509-8B35-320190675483}" type="sibTrans" cxnId="{DF7BE63C-F452-4B7C-BA3C-EDBF018A09F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34D7114-34E3-4C7B-A448-B14AF675A5D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Контроль за выполнением проектов.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УПО осуществляет контроль за процессами выполнения проектов, отслеживает сроки, бюджет, качество и другие ключевые показатели, чтобы обеспечить выполнение поставленных задач.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525A3C5-64B2-4189-86CA-395FA9D2A76F}" type="parTrans" cxnId="{2CA197F0-35EB-4E43-B2AC-0E39A99EF68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12A0B70-2F5C-48B7-9176-B15766311FFD}" type="sibTrans" cxnId="{2CA197F0-35EB-4E43-B2AC-0E39A99EF68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843F5C4-5393-4AEB-9FD9-86B30D0F78B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Риск-менеджмент.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Управляющий проектный офис управляет проектными рисками, занимается постоянным анализом и работает над снижением вероятных проблем.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08A787D-D15F-4FA3-9BDA-F3C8570E352E}" type="parTrans" cxnId="{DB85B68B-591F-49D8-8320-27005F0ED8D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8E2F2E5-989C-418A-8D14-C43BCB1EDB5A}" type="sibTrans" cxnId="{DB85B68B-591F-49D8-8320-27005F0ED8D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68D7DBD-8CEF-4551-89D3-B0C06DC0087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Распределение ресурсов для оптимального выполнения проектных задач.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УПО ответственен за назначение и оценку проектных менеджеров, их поддержку, развитие и качественную работу с их стороны.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62B57E9-28B6-49A0-8999-14B16FC0D81E}" type="parTrans" cxnId="{6CB69213-5DD6-4F3C-B9BF-CD1BFFC188F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D36EB46-1383-4D1A-A4FA-C10D7FD77496}" type="sibTrans" cxnId="{6CB69213-5DD6-4F3C-B9BF-CD1BFFC188F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3D76EDF-7CF6-42FE-8CB6-69575B691139}" type="pres">
      <dgm:prSet presAssocID="{F9521BBC-E55E-481E-9F08-5AC5D4D4F8D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9970989-2A34-455B-B6AD-8D85F1713027}" type="pres">
      <dgm:prSet presAssocID="{6619FF35-E646-4CB3-B2D8-491669922B66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697EB2-6213-45F8-8687-334E654F7A4E}" type="pres">
      <dgm:prSet presAssocID="{85260D57-F377-4509-8B35-320190675483}" presName="sibTrans" presStyleCnt="0"/>
      <dgm:spPr/>
    </dgm:pt>
    <dgm:pt modelId="{3C2D4228-E2D6-4F9E-9445-35DF87E19484}" type="pres">
      <dgm:prSet presAssocID="{134D7114-34E3-4C7B-A448-B14AF675A5D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1B7077-D31F-4459-AB26-FF33C8D17C84}" type="pres">
      <dgm:prSet presAssocID="{C12A0B70-2F5C-48B7-9176-B15766311FFD}" presName="sibTrans" presStyleCnt="0"/>
      <dgm:spPr/>
    </dgm:pt>
    <dgm:pt modelId="{75A95B41-796C-4998-BEC9-79D5649E3045}" type="pres">
      <dgm:prSet presAssocID="{7843F5C4-5393-4AEB-9FD9-86B30D0F78B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C5206A-2B3B-45F7-BB79-834254AF7526}" type="pres">
      <dgm:prSet presAssocID="{F8E2F2E5-989C-418A-8D14-C43BCB1EDB5A}" presName="sibTrans" presStyleCnt="0"/>
      <dgm:spPr/>
    </dgm:pt>
    <dgm:pt modelId="{DEC40E22-BF4D-4ACC-BF3C-B54A4CB3655F}" type="pres">
      <dgm:prSet presAssocID="{468D7DBD-8CEF-4551-89D3-B0C06DC0087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98E5FD2-D4ED-492C-A523-6165DE1CA74D}" type="presOf" srcId="{134D7114-34E3-4C7B-A448-B14AF675A5DC}" destId="{3C2D4228-E2D6-4F9E-9445-35DF87E19484}" srcOrd="0" destOrd="0" presId="urn:microsoft.com/office/officeart/2005/8/layout/default"/>
    <dgm:cxn modelId="{2CA197F0-35EB-4E43-B2AC-0E39A99EF687}" srcId="{F9521BBC-E55E-481E-9F08-5AC5D4D4F8D6}" destId="{134D7114-34E3-4C7B-A448-B14AF675A5DC}" srcOrd="1" destOrd="0" parTransId="{C525A3C5-64B2-4189-86CA-395FA9D2A76F}" sibTransId="{C12A0B70-2F5C-48B7-9176-B15766311FFD}"/>
    <dgm:cxn modelId="{DB85B68B-591F-49D8-8320-27005F0ED8DF}" srcId="{F9521BBC-E55E-481E-9F08-5AC5D4D4F8D6}" destId="{7843F5C4-5393-4AEB-9FD9-86B30D0F78B8}" srcOrd="2" destOrd="0" parTransId="{508A787D-D15F-4FA3-9BDA-F3C8570E352E}" sibTransId="{F8E2F2E5-989C-418A-8D14-C43BCB1EDB5A}"/>
    <dgm:cxn modelId="{6CB69213-5DD6-4F3C-B9BF-CD1BFFC188F4}" srcId="{F9521BBC-E55E-481E-9F08-5AC5D4D4F8D6}" destId="{468D7DBD-8CEF-4551-89D3-B0C06DC00877}" srcOrd="3" destOrd="0" parTransId="{462B57E9-28B6-49A0-8999-14B16FC0D81E}" sibTransId="{4D36EB46-1383-4D1A-A4FA-C10D7FD77496}"/>
    <dgm:cxn modelId="{CDCC949B-FA3D-4D4C-B5FB-B3A709295DF2}" type="presOf" srcId="{F9521BBC-E55E-481E-9F08-5AC5D4D4F8D6}" destId="{93D76EDF-7CF6-42FE-8CB6-69575B691139}" srcOrd="0" destOrd="0" presId="urn:microsoft.com/office/officeart/2005/8/layout/default"/>
    <dgm:cxn modelId="{5CA1A999-D9E9-48DB-B7EF-CFC64B113397}" type="presOf" srcId="{468D7DBD-8CEF-4551-89D3-B0C06DC00877}" destId="{DEC40E22-BF4D-4ACC-BF3C-B54A4CB3655F}" srcOrd="0" destOrd="0" presId="urn:microsoft.com/office/officeart/2005/8/layout/default"/>
    <dgm:cxn modelId="{DF7BE63C-F452-4B7C-BA3C-EDBF018A09FA}" srcId="{F9521BBC-E55E-481E-9F08-5AC5D4D4F8D6}" destId="{6619FF35-E646-4CB3-B2D8-491669922B66}" srcOrd="0" destOrd="0" parTransId="{FB7A6BA5-D33B-4CC4-BE3B-976546C9E272}" sibTransId="{85260D57-F377-4509-8B35-320190675483}"/>
    <dgm:cxn modelId="{AAFDC2D1-1EBA-44C9-AEA3-0DC6E0B528F0}" type="presOf" srcId="{7843F5C4-5393-4AEB-9FD9-86B30D0F78B8}" destId="{75A95B41-796C-4998-BEC9-79D5649E3045}" srcOrd="0" destOrd="0" presId="urn:microsoft.com/office/officeart/2005/8/layout/default"/>
    <dgm:cxn modelId="{352F43C4-B5A7-491A-8006-E78912999AC3}" type="presOf" srcId="{6619FF35-E646-4CB3-B2D8-491669922B66}" destId="{79970989-2A34-455B-B6AD-8D85F1713027}" srcOrd="0" destOrd="0" presId="urn:microsoft.com/office/officeart/2005/8/layout/default"/>
    <dgm:cxn modelId="{F4CDAB83-3166-48FC-95AB-D8A07BA58063}" type="presParOf" srcId="{93D76EDF-7CF6-42FE-8CB6-69575B691139}" destId="{79970989-2A34-455B-B6AD-8D85F1713027}" srcOrd="0" destOrd="0" presId="urn:microsoft.com/office/officeart/2005/8/layout/default"/>
    <dgm:cxn modelId="{B009F83D-94B2-4A46-8557-5BD608C70344}" type="presParOf" srcId="{93D76EDF-7CF6-42FE-8CB6-69575B691139}" destId="{F0697EB2-6213-45F8-8687-334E654F7A4E}" srcOrd="1" destOrd="0" presId="urn:microsoft.com/office/officeart/2005/8/layout/default"/>
    <dgm:cxn modelId="{0F770E82-AC29-48E9-A71A-EE5E4DB0C86B}" type="presParOf" srcId="{93D76EDF-7CF6-42FE-8CB6-69575B691139}" destId="{3C2D4228-E2D6-4F9E-9445-35DF87E19484}" srcOrd="2" destOrd="0" presId="urn:microsoft.com/office/officeart/2005/8/layout/default"/>
    <dgm:cxn modelId="{9D9A2082-E803-49AD-AE57-EE9646DFAFCA}" type="presParOf" srcId="{93D76EDF-7CF6-42FE-8CB6-69575B691139}" destId="{8C1B7077-D31F-4459-AB26-FF33C8D17C84}" srcOrd="3" destOrd="0" presId="urn:microsoft.com/office/officeart/2005/8/layout/default"/>
    <dgm:cxn modelId="{FC7DEFD4-7ABC-4334-9C39-2549217E58EE}" type="presParOf" srcId="{93D76EDF-7CF6-42FE-8CB6-69575B691139}" destId="{75A95B41-796C-4998-BEC9-79D5649E3045}" srcOrd="4" destOrd="0" presId="urn:microsoft.com/office/officeart/2005/8/layout/default"/>
    <dgm:cxn modelId="{D7D8B800-7F4D-437A-A45C-58D471A267D9}" type="presParOf" srcId="{93D76EDF-7CF6-42FE-8CB6-69575B691139}" destId="{5AC5206A-2B3B-45F7-BB79-834254AF7526}" srcOrd="5" destOrd="0" presId="urn:microsoft.com/office/officeart/2005/8/layout/default"/>
    <dgm:cxn modelId="{3345517D-490D-498A-BA15-C88D4CE7B682}" type="presParOf" srcId="{93D76EDF-7CF6-42FE-8CB6-69575B691139}" destId="{DEC40E22-BF4D-4ACC-BF3C-B54A4CB3655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9521BBC-E55E-481E-9F08-5AC5D4D4F8D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065A1D3-5AE1-4CD7-A76B-C9D0ABCE9692}">
      <dgm:prSet custT="1"/>
      <dgm:spPr/>
      <dgm:t>
        <a:bodyPr/>
        <a:lstStyle/>
        <a:p>
          <a:r>
            <a:rPr lang="ru-RU" sz="1200" smtClean="0">
              <a:latin typeface="Times New Roman" pitchFamily="18" charset="0"/>
              <a:cs typeface="Times New Roman" pitchFamily="18" charset="0"/>
            </a:rPr>
            <a:t>Мониторинг и контроль. Контролирующий проектный офис активно следит за процессами выполнения проектов, проводит анализ эффективности, определяет отклонения от планов и принимает меры по устранению проблем для достижения поставленных целей.</a:t>
          </a:r>
          <a:endParaRPr lang="ru-RU" sz="1200">
            <a:latin typeface="Times New Roman" pitchFamily="18" charset="0"/>
            <a:cs typeface="Times New Roman" pitchFamily="18" charset="0"/>
          </a:endParaRPr>
        </a:p>
      </dgm:t>
    </dgm:pt>
    <dgm:pt modelId="{D6B829B3-EE2B-4C78-BECF-C337A2DD9F01}" type="parTrans" cxnId="{E9F97AB9-538F-40E9-A526-A5D3EE68A44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D63FA4B-45FD-4207-9C92-B1222741BB90}" type="sibTrans" cxnId="{E9F97AB9-538F-40E9-A526-A5D3EE68A44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13299D7-993F-43B1-BB17-BA0E598C057A}">
      <dgm:prSet custT="1"/>
      <dgm:spPr/>
      <dgm:t>
        <a:bodyPr/>
        <a:lstStyle/>
        <a:p>
          <a:r>
            <a:rPr lang="ru-RU" sz="1200" smtClean="0">
              <a:latin typeface="Times New Roman" pitchFamily="18" charset="0"/>
              <a:cs typeface="Times New Roman" pitchFamily="18" charset="0"/>
            </a:rPr>
            <a:t>Управление бюджетом и ресурсами. КПО отслеживает расходы проектов, анализирует затраты и эффективность использования ресурсов, оптимизирует бюджет и обеспечивает эффективное распределение активов между проектами.</a:t>
          </a:r>
          <a:endParaRPr lang="ru-RU" sz="1200">
            <a:latin typeface="Times New Roman" pitchFamily="18" charset="0"/>
            <a:cs typeface="Times New Roman" pitchFamily="18" charset="0"/>
          </a:endParaRPr>
        </a:p>
      </dgm:t>
    </dgm:pt>
    <dgm:pt modelId="{A9346565-A635-4380-A2DD-088DF042144B}" type="parTrans" cxnId="{C969A35E-AE4B-4496-AE43-67B049767B6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654632E-A71E-4944-A134-C3C72E08A891}" type="sibTrans" cxnId="{C969A35E-AE4B-4496-AE43-67B049767B6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CC24BD1-E544-48A6-BEF1-FD6B1F11FF06}">
      <dgm:prSet custT="1"/>
      <dgm:spPr/>
      <dgm:t>
        <a:bodyPr/>
        <a:lstStyle/>
        <a:p>
          <a:r>
            <a:rPr lang="ru-RU" sz="1200" smtClean="0">
              <a:latin typeface="Times New Roman" pitchFamily="18" charset="0"/>
              <a:cs typeface="Times New Roman" pitchFamily="18" charset="0"/>
            </a:rPr>
            <a:t>Риск-менеджмент. Контролирующий проектный офис должен минимизировать возможные негативные последствия и обеспечить успешное завершение проектов, программ и портфеля.</a:t>
          </a:r>
          <a:endParaRPr lang="ru-RU" sz="1200">
            <a:latin typeface="Times New Roman" pitchFamily="18" charset="0"/>
            <a:cs typeface="Times New Roman" pitchFamily="18" charset="0"/>
          </a:endParaRPr>
        </a:p>
      </dgm:t>
    </dgm:pt>
    <dgm:pt modelId="{9CF0C1C0-7742-4E38-A611-64853B2FC3D9}" type="parTrans" cxnId="{61E6C198-48AF-487E-8C3A-AA65E3E904B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6DC0BCD-6404-4C26-8AAF-CC550C8D5323}" type="sibTrans" cxnId="{61E6C198-48AF-487E-8C3A-AA65E3E904B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D2792DE-B1ED-486C-97C7-659AB8722E40}">
      <dgm:prSet custT="1"/>
      <dgm:spPr/>
      <dgm:t>
        <a:bodyPr/>
        <a:lstStyle/>
        <a:p>
          <a:r>
            <a:rPr lang="ru-RU" sz="1200" smtClean="0">
              <a:latin typeface="Times New Roman" pitchFamily="18" charset="0"/>
              <a:cs typeface="Times New Roman" pitchFamily="18" charset="0"/>
            </a:rPr>
            <a:t>Отчетность и коммуникации. КПО отвечает за предоставление своевременной отчетности о выполнении проектов стейкхолдерам и за установление эффективной коммуникации между заказчиками и всеми участниками проектов.</a:t>
          </a:r>
          <a:endParaRPr lang="ru-RU" sz="1200">
            <a:latin typeface="Times New Roman" pitchFamily="18" charset="0"/>
            <a:cs typeface="Times New Roman" pitchFamily="18" charset="0"/>
          </a:endParaRPr>
        </a:p>
      </dgm:t>
    </dgm:pt>
    <dgm:pt modelId="{F977C419-3B6A-4EF4-91DB-0E2CC88DDB43}" type="parTrans" cxnId="{0AE70382-007F-4C6A-B84D-1E18DF273B3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2EF8182-E3CF-4958-825F-D81CCF9CC3BE}" type="sibTrans" cxnId="{0AE70382-007F-4C6A-B84D-1E18DF273B3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A90D7BC-2D5D-407F-9E17-35B7C02311B9}">
      <dgm:prSet custT="1"/>
      <dgm:spPr/>
      <dgm:t>
        <a:bodyPr/>
        <a:lstStyle/>
        <a:p>
          <a:r>
            <a:rPr lang="ru-RU" sz="1200" dirty="0" smtClean="0">
              <a:latin typeface="Times New Roman" pitchFamily="18" charset="0"/>
              <a:cs typeface="Times New Roman" pitchFamily="18" charset="0"/>
            </a:rPr>
            <a:t>Развитие. Контролирующий проектный офис стремится к постоянному улучшению процессов управления проектами, а также способствует накоплению опыта и обмену лучшими практиками. Как контролирующая инфраструктура, он обычно создает единую методологическую базу для всех проектов внутри компании и строго следит за тем, чтобы сотрудники работали в соответствии со стандартами.</a:t>
          </a:r>
          <a:endParaRPr lang="ru-RU" sz="1200" dirty="0">
            <a:latin typeface="Times New Roman" pitchFamily="18" charset="0"/>
            <a:cs typeface="Times New Roman" pitchFamily="18" charset="0"/>
          </a:endParaRPr>
        </a:p>
      </dgm:t>
    </dgm:pt>
    <dgm:pt modelId="{E4722580-BD0D-49E6-8CD1-7D704ADD4A4A}" type="parTrans" cxnId="{899876F1-0F50-4E21-B745-7AA3AEB8A94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7D38C56-AB47-4A81-8C53-2A472C96465D}" type="sibTrans" cxnId="{899876F1-0F50-4E21-B745-7AA3AEB8A94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3D76EDF-7CF6-42FE-8CB6-69575B691139}" type="pres">
      <dgm:prSet presAssocID="{F9521BBC-E55E-481E-9F08-5AC5D4D4F8D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B0880C-BE44-48E8-8C13-23259995E628}" type="pres">
      <dgm:prSet presAssocID="{C065A1D3-5AE1-4CD7-A76B-C9D0ABCE9692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362905-5E94-4E03-904C-6D77C912E1CC}" type="pres">
      <dgm:prSet presAssocID="{9D63FA4B-45FD-4207-9C92-B1222741BB90}" presName="sibTrans" presStyleCnt="0"/>
      <dgm:spPr/>
    </dgm:pt>
    <dgm:pt modelId="{363131DB-7298-43C1-9E75-9038EA6FCFE8}" type="pres">
      <dgm:prSet presAssocID="{413299D7-993F-43B1-BB17-BA0E598C057A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4FCFE8-FD61-4BA1-AF02-B77654E568C6}" type="pres">
      <dgm:prSet presAssocID="{1654632E-A71E-4944-A134-C3C72E08A891}" presName="sibTrans" presStyleCnt="0"/>
      <dgm:spPr/>
    </dgm:pt>
    <dgm:pt modelId="{D82018F1-C89F-4D24-8795-604E9C12D78B}" type="pres">
      <dgm:prSet presAssocID="{3CC24BD1-E544-48A6-BEF1-FD6B1F11FF0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7137EC-B52B-4FB8-8E8F-537AF9AD3E58}" type="pres">
      <dgm:prSet presAssocID="{96DC0BCD-6404-4C26-8AAF-CC550C8D5323}" presName="sibTrans" presStyleCnt="0"/>
      <dgm:spPr/>
    </dgm:pt>
    <dgm:pt modelId="{6774301C-45D8-49A9-BAF6-7464A6AC1400}" type="pres">
      <dgm:prSet presAssocID="{FD2792DE-B1ED-486C-97C7-659AB8722E40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3C2F76-0F92-418C-9A53-B1B39C203527}" type="pres">
      <dgm:prSet presAssocID="{02EF8182-E3CF-4958-825F-D81CCF9CC3BE}" presName="sibTrans" presStyleCnt="0"/>
      <dgm:spPr/>
    </dgm:pt>
    <dgm:pt modelId="{9A486E74-48D8-448A-B339-E23F598AB604}" type="pres">
      <dgm:prSet presAssocID="{AA90D7BC-2D5D-407F-9E17-35B7C02311B9}" presName="node" presStyleLbl="node1" presStyleIdx="4" presStyleCnt="5" custScaleX="12179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B7F9EF4-377F-4F31-8038-6FF730053EF1}" type="presOf" srcId="{F9521BBC-E55E-481E-9F08-5AC5D4D4F8D6}" destId="{93D76EDF-7CF6-42FE-8CB6-69575B691139}" srcOrd="0" destOrd="0" presId="urn:microsoft.com/office/officeart/2005/8/layout/default"/>
    <dgm:cxn modelId="{4EBAB045-E307-4C9A-96CC-1E4FF6CF90FD}" type="presOf" srcId="{AA90D7BC-2D5D-407F-9E17-35B7C02311B9}" destId="{9A486E74-48D8-448A-B339-E23F598AB604}" srcOrd="0" destOrd="0" presId="urn:microsoft.com/office/officeart/2005/8/layout/default"/>
    <dgm:cxn modelId="{0724B725-3ABD-420C-A8A8-BDA5C38C157A}" type="presOf" srcId="{FD2792DE-B1ED-486C-97C7-659AB8722E40}" destId="{6774301C-45D8-49A9-BAF6-7464A6AC1400}" srcOrd="0" destOrd="0" presId="urn:microsoft.com/office/officeart/2005/8/layout/default"/>
    <dgm:cxn modelId="{E9F97AB9-538F-40E9-A526-A5D3EE68A44B}" srcId="{F9521BBC-E55E-481E-9F08-5AC5D4D4F8D6}" destId="{C065A1D3-5AE1-4CD7-A76B-C9D0ABCE9692}" srcOrd="0" destOrd="0" parTransId="{D6B829B3-EE2B-4C78-BECF-C337A2DD9F01}" sibTransId="{9D63FA4B-45FD-4207-9C92-B1222741BB90}"/>
    <dgm:cxn modelId="{28F89953-76E1-4593-AF91-F14C64C6912F}" type="presOf" srcId="{413299D7-993F-43B1-BB17-BA0E598C057A}" destId="{363131DB-7298-43C1-9E75-9038EA6FCFE8}" srcOrd="0" destOrd="0" presId="urn:microsoft.com/office/officeart/2005/8/layout/default"/>
    <dgm:cxn modelId="{0AE70382-007F-4C6A-B84D-1E18DF273B3B}" srcId="{F9521BBC-E55E-481E-9F08-5AC5D4D4F8D6}" destId="{FD2792DE-B1ED-486C-97C7-659AB8722E40}" srcOrd="3" destOrd="0" parTransId="{F977C419-3B6A-4EF4-91DB-0E2CC88DDB43}" sibTransId="{02EF8182-E3CF-4958-825F-D81CCF9CC3BE}"/>
    <dgm:cxn modelId="{D2B6B790-CCDF-40D7-B3D9-ED1A19EB4711}" type="presOf" srcId="{C065A1D3-5AE1-4CD7-A76B-C9D0ABCE9692}" destId="{74B0880C-BE44-48E8-8C13-23259995E628}" srcOrd="0" destOrd="0" presId="urn:microsoft.com/office/officeart/2005/8/layout/default"/>
    <dgm:cxn modelId="{899876F1-0F50-4E21-B745-7AA3AEB8A94A}" srcId="{F9521BBC-E55E-481E-9F08-5AC5D4D4F8D6}" destId="{AA90D7BC-2D5D-407F-9E17-35B7C02311B9}" srcOrd="4" destOrd="0" parTransId="{E4722580-BD0D-49E6-8CD1-7D704ADD4A4A}" sibTransId="{47D38C56-AB47-4A81-8C53-2A472C96465D}"/>
    <dgm:cxn modelId="{54B084E2-36EA-49C5-BE02-4B52D137EAED}" type="presOf" srcId="{3CC24BD1-E544-48A6-BEF1-FD6B1F11FF06}" destId="{D82018F1-C89F-4D24-8795-604E9C12D78B}" srcOrd="0" destOrd="0" presId="urn:microsoft.com/office/officeart/2005/8/layout/default"/>
    <dgm:cxn modelId="{61E6C198-48AF-487E-8C3A-AA65E3E904B8}" srcId="{F9521BBC-E55E-481E-9F08-5AC5D4D4F8D6}" destId="{3CC24BD1-E544-48A6-BEF1-FD6B1F11FF06}" srcOrd="2" destOrd="0" parTransId="{9CF0C1C0-7742-4E38-A611-64853B2FC3D9}" sibTransId="{96DC0BCD-6404-4C26-8AAF-CC550C8D5323}"/>
    <dgm:cxn modelId="{C969A35E-AE4B-4496-AE43-67B049767B68}" srcId="{F9521BBC-E55E-481E-9F08-5AC5D4D4F8D6}" destId="{413299D7-993F-43B1-BB17-BA0E598C057A}" srcOrd="1" destOrd="0" parTransId="{A9346565-A635-4380-A2DD-088DF042144B}" sibTransId="{1654632E-A71E-4944-A134-C3C72E08A891}"/>
    <dgm:cxn modelId="{4D0E3091-82E3-4CF9-BA6B-F7EDD89E1DA3}" type="presParOf" srcId="{93D76EDF-7CF6-42FE-8CB6-69575B691139}" destId="{74B0880C-BE44-48E8-8C13-23259995E628}" srcOrd="0" destOrd="0" presId="urn:microsoft.com/office/officeart/2005/8/layout/default"/>
    <dgm:cxn modelId="{376FEBCB-9C2B-4E25-AD2D-3B7241045A98}" type="presParOf" srcId="{93D76EDF-7CF6-42FE-8CB6-69575B691139}" destId="{6F362905-5E94-4E03-904C-6D77C912E1CC}" srcOrd="1" destOrd="0" presId="urn:microsoft.com/office/officeart/2005/8/layout/default"/>
    <dgm:cxn modelId="{FD2E7123-4479-4B77-9DF9-A64B4353D9B3}" type="presParOf" srcId="{93D76EDF-7CF6-42FE-8CB6-69575B691139}" destId="{363131DB-7298-43C1-9E75-9038EA6FCFE8}" srcOrd="2" destOrd="0" presId="urn:microsoft.com/office/officeart/2005/8/layout/default"/>
    <dgm:cxn modelId="{8DA12894-596D-4B53-B24A-EC464B53949E}" type="presParOf" srcId="{93D76EDF-7CF6-42FE-8CB6-69575B691139}" destId="{814FCFE8-FD61-4BA1-AF02-B77654E568C6}" srcOrd="3" destOrd="0" presId="urn:microsoft.com/office/officeart/2005/8/layout/default"/>
    <dgm:cxn modelId="{7634F59F-1F69-4FA6-80F2-7C06BCB2036B}" type="presParOf" srcId="{93D76EDF-7CF6-42FE-8CB6-69575B691139}" destId="{D82018F1-C89F-4D24-8795-604E9C12D78B}" srcOrd="4" destOrd="0" presId="urn:microsoft.com/office/officeart/2005/8/layout/default"/>
    <dgm:cxn modelId="{54F98F00-4F8D-4B70-82AD-84466B8E7C3E}" type="presParOf" srcId="{93D76EDF-7CF6-42FE-8CB6-69575B691139}" destId="{707137EC-B52B-4FB8-8E8F-537AF9AD3E58}" srcOrd="5" destOrd="0" presId="urn:microsoft.com/office/officeart/2005/8/layout/default"/>
    <dgm:cxn modelId="{96DC316E-3EAE-4ADD-BCA6-9763118AE185}" type="presParOf" srcId="{93D76EDF-7CF6-42FE-8CB6-69575B691139}" destId="{6774301C-45D8-49A9-BAF6-7464A6AC1400}" srcOrd="6" destOrd="0" presId="urn:microsoft.com/office/officeart/2005/8/layout/default"/>
    <dgm:cxn modelId="{AEC6EC7A-9675-4C61-8B21-087E059D889B}" type="presParOf" srcId="{93D76EDF-7CF6-42FE-8CB6-69575B691139}" destId="{183C2F76-0F92-418C-9A53-B1B39C203527}" srcOrd="7" destOrd="0" presId="urn:microsoft.com/office/officeart/2005/8/layout/default"/>
    <dgm:cxn modelId="{F3B2B73E-2811-43FB-BC67-EE316D29ECFB}" type="presParOf" srcId="{93D76EDF-7CF6-42FE-8CB6-69575B691139}" destId="{9A486E74-48D8-448A-B339-E23F598AB60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A6A26-FB72-489D-89DB-CE3552F23443}">
      <dsp:nvSpPr>
        <dsp:cNvPr id="0" name=""/>
        <dsp:cNvSpPr/>
      </dsp:nvSpPr>
      <dsp:spPr>
        <a:xfrm>
          <a:off x="0" y="1063759"/>
          <a:ext cx="814647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57B21-8AFB-4CA8-9F9C-C48164728F13}">
      <dsp:nvSpPr>
        <dsp:cNvPr id="0" name=""/>
        <dsp:cNvSpPr/>
      </dsp:nvSpPr>
      <dsp:spPr>
        <a:xfrm>
          <a:off x="407323" y="87300"/>
          <a:ext cx="7226532" cy="12421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542" tIns="0" rIns="215542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зарегистрироваться в реестре операторов персональных данных </a:t>
          </a:r>
          <a:r>
            <a:rPr lang="ru-RU" sz="2400" kern="1200" dirty="0" err="1" smtClean="0">
              <a:latin typeface="Times New Roman" pitchFamily="18" charset="0"/>
              <a:cs typeface="Times New Roman" pitchFamily="18" charset="0"/>
            </a:rPr>
            <a:t>Роскомнадзора</a:t>
          </a: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,</a:t>
          </a:r>
          <a:endParaRPr lang="ru-RU" sz="2400" kern="1200" dirty="0"/>
        </a:p>
      </dsp:txBody>
      <dsp:txXfrm>
        <a:off x="467959" y="147936"/>
        <a:ext cx="7105260" cy="1120867"/>
      </dsp:txXfrm>
    </dsp:sp>
    <dsp:sp modelId="{96119851-17A8-4E74-8460-5FC887A8D113}">
      <dsp:nvSpPr>
        <dsp:cNvPr id="0" name=""/>
        <dsp:cNvSpPr/>
      </dsp:nvSpPr>
      <dsp:spPr>
        <a:xfrm>
          <a:off x="0" y="2477536"/>
          <a:ext cx="814647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07322-ABE8-47A7-AFFE-23EBB410688E}">
      <dsp:nvSpPr>
        <dsp:cNvPr id="0" name=""/>
        <dsp:cNvSpPr/>
      </dsp:nvSpPr>
      <dsp:spPr>
        <a:xfrm>
          <a:off x="407323" y="1614559"/>
          <a:ext cx="7129589" cy="11286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542" tIns="0" rIns="215542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разместить в открытом доступе политику конфиденциальности,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62419" y="1669655"/>
        <a:ext cx="7019397" cy="1018464"/>
      </dsp:txXfrm>
    </dsp:sp>
    <dsp:sp modelId="{1B398585-E495-47C1-BEB5-3B2058E7DC8D}">
      <dsp:nvSpPr>
        <dsp:cNvPr id="0" name=""/>
        <dsp:cNvSpPr/>
      </dsp:nvSpPr>
      <dsp:spPr>
        <a:xfrm>
          <a:off x="0" y="3947052"/>
          <a:ext cx="814647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70054-089C-48EC-A7F9-EF52792F47A3}">
      <dsp:nvSpPr>
        <dsp:cNvPr id="0" name=""/>
        <dsp:cNvSpPr/>
      </dsp:nvSpPr>
      <dsp:spPr>
        <a:xfrm>
          <a:off x="407323" y="3028336"/>
          <a:ext cx="7157246" cy="1184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542" tIns="0" rIns="215542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решить, как запрашивать письменное согласие клиентов на обработку, хранение и распространение персональных данных.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65140" y="3086153"/>
        <a:ext cx="7041612" cy="10687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4DED5-61C9-45CB-8520-0DF763CBECB4}">
      <dsp:nvSpPr>
        <dsp:cNvPr id="0" name=""/>
        <dsp:cNvSpPr/>
      </dsp:nvSpPr>
      <dsp:spPr>
        <a:xfrm>
          <a:off x="9727" y="5246"/>
          <a:ext cx="4027658" cy="51102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Неограниченные ресурсы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Облачные технологии открывают доступ к мощным серверам, масштабным дата-центрам и базам данных.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Например, с помощью облачного сервера несколько тысяч удалённых сотрудников хранят и обрабатывают данные, выгружают отчёты и запускают приложения из любой точки мира.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727" y="5246"/>
        <a:ext cx="4027658" cy="5110205"/>
      </dsp:txXfrm>
    </dsp:sp>
    <dsp:sp modelId="{3C3572BA-0D4C-430E-BB93-53AE667285ED}">
      <dsp:nvSpPr>
        <dsp:cNvPr id="0" name=""/>
        <dsp:cNvSpPr/>
      </dsp:nvSpPr>
      <dsp:spPr>
        <a:xfrm>
          <a:off x="4440152" y="2624"/>
          <a:ext cx="4027658" cy="511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Экономия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Облачные технологии работают по модели </a:t>
          </a:r>
          <a:r>
            <a:rPr lang="ru-RU" sz="2200" kern="1200" dirty="0" err="1" smtClean="0">
              <a:latin typeface="Times New Roman" pitchFamily="18" charset="0"/>
              <a:cs typeface="Times New Roman" pitchFamily="18" charset="0"/>
            </a:rPr>
            <a:t>Pay-as-You-Go</a:t>
          </a: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.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Клиенты платят только за объём услуг, который получили.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Например, компания разработала </a:t>
          </a:r>
          <a:r>
            <a:rPr lang="ru-RU" sz="2200" kern="1200" dirty="0" err="1" smtClean="0">
              <a:latin typeface="Times New Roman" pitchFamily="18" charset="0"/>
              <a:cs typeface="Times New Roman" pitchFamily="18" charset="0"/>
            </a:rPr>
            <a:t>Telegram</a:t>
          </a: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-бот и запустила его в облаке. Если в один день бот обработал 500 запросов, а в другой - 0, платить за время простоя не придётся. А за аренду физического сервера нужно платить регулярно, независимо от нагрузки. 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40152" y="2624"/>
        <a:ext cx="4027658" cy="51154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4DED5-61C9-45CB-8520-0DF763CBECB4}">
      <dsp:nvSpPr>
        <dsp:cNvPr id="0" name=""/>
        <dsp:cNvSpPr/>
      </dsp:nvSpPr>
      <dsp:spPr>
        <a:xfrm>
          <a:off x="9727" y="5246"/>
          <a:ext cx="4027658" cy="51102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Регулируемый масштаб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/>
          </a:r>
          <a:b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</a:b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Объём хранилища или виртуальной сети можно без больших затрат увеличить в любой момент. 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Например, компания нанимает 50 новых сотрудников. Чтобы не настраивать для каждого пакет приложений и сервисов и доступ к базам данных и отчётам, их подключают к корпоративному облаку. 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Так они сразу могут приступить к работе.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727" y="5246"/>
        <a:ext cx="4027658" cy="5110205"/>
      </dsp:txXfrm>
    </dsp:sp>
    <dsp:sp modelId="{59D3F981-3138-4B92-B392-0AB7A02BFBE9}">
      <dsp:nvSpPr>
        <dsp:cNvPr id="0" name=""/>
        <dsp:cNvSpPr/>
      </dsp:nvSpPr>
      <dsp:spPr>
        <a:xfrm>
          <a:off x="4440152" y="2624"/>
          <a:ext cx="4027658" cy="511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Надёжность и безопасность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/>
          </a:r>
          <a:b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</a:b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Данные распределяются между множеством серверов. Это снижает риск отказа или взлома оборудования. Крупные облачные провайдеры применяют продвинутые методы шифрования и регулярно обновляют политику </a:t>
          </a:r>
          <a:r>
            <a:rPr lang="ru-RU" sz="2300" b="0" i="0" kern="1200" dirty="0" err="1" smtClean="0">
              <a:latin typeface="Times New Roman" pitchFamily="18" charset="0"/>
              <a:cs typeface="Times New Roman" pitchFamily="18" charset="0"/>
            </a:rPr>
            <a:t>кибербезопасности</a:t>
          </a: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 своих сервисов.</a:t>
          </a:r>
          <a:endParaRPr lang="ru-RU" sz="2300" b="0" i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40152" y="2624"/>
        <a:ext cx="4027658" cy="51154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4DED5-61C9-45CB-8520-0DF763CBECB4}">
      <dsp:nvSpPr>
        <dsp:cNvPr id="0" name=""/>
        <dsp:cNvSpPr/>
      </dsp:nvSpPr>
      <dsp:spPr>
        <a:xfrm>
          <a:off x="9727" y="5246"/>
          <a:ext cx="4027658" cy="51102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Универсальные решения</a:t>
          </a: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/>
          </a:r>
          <a:b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</a:b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Облачные провайдеры предоставляют широкий выбор сервисов: от хранения данных до виртуального ПО. Например, технологии облачных решений используют и разрабатывают </a:t>
          </a:r>
          <a:r>
            <a:rPr lang="ru-RU" sz="2300" b="0" i="0" kern="1200" dirty="0" err="1" smtClean="0">
              <a:latin typeface="Times New Roman" pitchFamily="18" charset="0"/>
              <a:cs typeface="Times New Roman" pitchFamily="18" charset="0"/>
            </a:rPr>
            <a:t>Apple</a:t>
          </a: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sz="2300" b="0" i="0" kern="1200" dirty="0" err="1" smtClean="0">
              <a:latin typeface="Times New Roman" pitchFamily="18" charset="0"/>
              <a:cs typeface="Times New Roman" pitchFamily="18" charset="0"/>
            </a:rPr>
            <a:t>Google</a:t>
          </a: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sz="2300" b="0" i="0" kern="1200" dirty="0" err="1" smtClean="0">
              <a:latin typeface="Times New Roman" pitchFamily="18" charset="0"/>
              <a:cs typeface="Times New Roman" pitchFamily="18" charset="0"/>
            </a:rPr>
            <a:t>Microsoft</a:t>
          </a: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 и </a:t>
          </a:r>
          <a:r>
            <a:rPr lang="ru-RU" sz="2300" b="0" i="0" kern="1200" dirty="0" err="1" smtClean="0">
              <a:latin typeface="Times New Roman" pitchFamily="18" charset="0"/>
              <a:cs typeface="Times New Roman" pitchFamily="18" charset="0"/>
            </a:rPr>
            <a:t>Amazon</a:t>
          </a: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. Облака помогают тестировать и запускать высоконагруженные сервисы, объединять разветвлённую IT-инфраструктуру в глобальную сеть, хранить и обрабатывать огромные массивы данных.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727" y="5246"/>
        <a:ext cx="4027658" cy="5110205"/>
      </dsp:txXfrm>
    </dsp:sp>
    <dsp:sp modelId="{097A9AD5-F8B8-4E5D-8CF4-13EFB364D271}">
      <dsp:nvSpPr>
        <dsp:cNvPr id="0" name=""/>
        <dsp:cNvSpPr/>
      </dsp:nvSpPr>
      <dsp:spPr>
        <a:xfrm>
          <a:off x="4440152" y="2624"/>
          <a:ext cx="4027658" cy="511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1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Безопасный запуск новых</a:t>
          </a:r>
          <a:r>
            <a:rPr lang="ru-RU" sz="2300" b="0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/>
          </a:r>
          <a:br>
            <a:rPr lang="ru-RU" sz="2300" b="0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</a:br>
          <a:r>
            <a:rPr lang="ru-RU" sz="2300" b="1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продуктов</a:t>
          </a:r>
          <a:r>
            <a:rPr lang="ru-RU" sz="2300" b="0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 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smtClean="0">
              <a:latin typeface="Times New Roman" pitchFamily="18" charset="0"/>
              <a:cs typeface="Times New Roman" pitchFamily="18" charset="0"/>
            </a:rPr>
            <a:t>С помощью облачных сервисов можно быстро запустить интернет-магазин или онлайн-портал без перегрузки IT-инфраструктуры.</a:t>
          </a:r>
          <a:endParaRPr lang="ru-RU" sz="2300" b="0" i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40152" y="2624"/>
        <a:ext cx="4027658" cy="51154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1911928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IT инструменты трансформации производственных процессов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CRM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Технологии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облачного сервиса.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Доступ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on-line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информации о состоянии различных объектов.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Stage-Gate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Структурированный PMO.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398798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CRM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080654"/>
            <a:ext cx="8168986" cy="5400043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CRM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customer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relationship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«управление взаимоотношениями с клиентами».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CRM-система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для бизнеса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программное обеспечение, которое помогает работать с клиентской базой, собирать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лиды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отслеживать действия клиентов и сотрудников и автоматизировать рутинные операции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 CRM-система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программа или онлайн-сервис, которая помогает бизнесу собирать, хранить, систематизировать информацию о клиентах и управлять взаимоотношениями с ними на всех этапах: от первого контакта до повторных продаж.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0476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398798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CRM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024963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Лид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(от англ.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lead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в продажах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потенциальный клиент, который проявил интерес к продукту или услуге и оставил свои контактные данные.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это может быть человек, который заполнил форму на сайте, подписался на рассылку или позвонил по номеру, указанному в рекламе.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505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398798"/>
            <a:ext cx="6811217" cy="90352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566255"/>
              </p:ext>
            </p:extLst>
          </p:nvPr>
        </p:nvGraphicFramePr>
        <p:xfrm>
          <a:off x="374072" y="1102364"/>
          <a:ext cx="8409710" cy="5284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4855"/>
                <a:gridCol w="4204855"/>
              </a:tblGrid>
              <a:tr h="5284581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Локальные (коробочные) CRM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устанавливаются на компьютер, данные о клиентах хранятся на собственном сервере компании или другом доверенном. </a:t>
                      </a:r>
                    </a:p>
                    <a:p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Чтобы использовать такую CRM-систему, необходимо купить программное обеспечение и лицензию на него, самостоятельно устанавливать обновления. Доступ в интернет тоже понадобится.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Облачные CRM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хранят все данные о клиентах на удалённом сервере («в облаке»), управляемом </a:t>
                      </a:r>
                      <a:r>
                        <a:rPr lang="ru-RU" sz="2400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хостинговой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компанией. Обновлением и обслуживанием занимается компания, которая предоставляет CRM-систему. Она же даёт гарантии безопасности хранения данных.</a:t>
                      </a:r>
                    </a:p>
                    <a:p>
                      <a:endParaRPr lang="ru-RU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80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398798"/>
            <a:ext cx="6811217" cy="90352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712858"/>
              </p:ext>
            </p:extLst>
          </p:nvPr>
        </p:nvGraphicFramePr>
        <p:xfrm>
          <a:off x="374072" y="1337891"/>
          <a:ext cx="8409710" cy="4258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4855"/>
                <a:gridCol w="4204855"/>
              </a:tblGrid>
              <a:tr h="4258714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Универсальные 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подойдут большинству типов бизнеса.</a:t>
                      </a:r>
                    </a:p>
                    <a:p>
                      <a:endParaRPr lang="ru-RU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Отраслевые 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4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помогут в решении конкретных отраслевых задачах.</a:t>
                      </a:r>
                      <a:endParaRPr lang="ru-RU" sz="2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37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398798"/>
            <a:ext cx="7559362" cy="903529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системы решают задачи: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276834"/>
            <a:ext cx="8340438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1. Собрать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клиентскую базу в одном месте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CRM поможет систематизировать и упорядочить данные о клиентах и собрать информацию по каждому из них: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И. О.,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дату рождения,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контактные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данные,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последние визиты на сайт,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историю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покупок,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сумму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среднего чека и индивидуальные предпочтения.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регистрирует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лиды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потенциальных клиентов, которые оставляют свои контактные данные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чтобы сотрудники в дальнейшем могли с ними работать.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818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398798"/>
            <a:ext cx="7559362" cy="90352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276834"/>
            <a:ext cx="8340438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Отслеживать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весь клиентский путь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CRM регистрируют входящий трафик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звонки, письма, заявки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 формируют карточку для каждого клиента.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51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373305"/>
            <a:ext cx="7559362" cy="90352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068002"/>
            <a:ext cx="8340438" cy="542876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3. Отслеживать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метрики бизнеса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CRM автоматизирует расчёты и сохраняет все данные.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Можно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видеть: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какие товары и услуги пользуются большим спросом,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сезонность,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количество продаж,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эффективность работы сотрудников,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понять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на каком этапе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теряются клиенты,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 дальше целенаправленно работать над этим показателем.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Есть решения, которые позволяет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следить за процессами не только своего бизнеса, но и отрасли в целом.</a:t>
            </a:r>
            <a:endParaRPr lang="ru-RU" sz="2400" b="0" i="0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23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373305"/>
            <a:ext cx="7559362" cy="90352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068002"/>
            <a:ext cx="8340438" cy="542876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4. Планировать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маркетинговые активности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CRM-система сама формирует отчёты: какая конверсия, какой цикл сделки, сколько денег сгенерировал отдел продаж и каждый продавец. </a:t>
            </a: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З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адача -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грамотно использовать отчёт, сегментировать клиентскую базу и выстроить воронку продаж для каждого сегмента. </a:t>
            </a:r>
            <a:endParaRPr lang="ru-RU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Можно </a:t>
            </a: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настроить систему так, чтобы видеть, откуда приходят клиенты и фиксировать это, отказываясь от неэффективных рекламных каналов.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i="0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646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262465"/>
            <a:ext cx="7559362" cy="90352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860177"/>
            <a:ext cx="8340438" cy="542876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5. Следить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за эффективностью работы сотрудников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CRM-системы позволяют ставить сотрудникам задачи 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вручную или автоматически 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 следить за их статусом. </a:t>
            </a: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в решении для управления продажами алгоритмы ставят задачи автоматически и контролируют показатели, которые влияют на эффективность продаж.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Руководитель может отслеживать, кто из сотрудников работает более эффективно, по количеству закрытых сделок. </a:t>
            </a:r>
            <a:endParaRPr lang="ru-RU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Все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действия сотрудников 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закреплённые за ними контакты, записи разговоров, пометки, поставленные задачи 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сохраняются. Благодаря этому можно выяснить, на каком моменте в общении с клиентом что-то пошло не так.</a:t>
            </a:r>
            <a:endParaRPr lang="ru-RU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800" i="0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78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262465"/>
            <a:ext cx="7559362" cy="90352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051932"/>
            <a:ext cx="8340438" cy="5428766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6. Упростить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работу с документами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CRM-системы будут автоматически подтягивать данные клиентов, что ускорит работу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не придётся каждый раз вводить вручную реквизиты.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Сотрудники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смогут обмениваться информацией и документами между отделами через систему.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 CRM-систему можно интегрировать программу бухгалтерского учёта, например 1С: бухгалтерия, и тогда CRM будет автоматически формировать отчёты и автоматически подставлять данные.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400" i="0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293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2965" y="262465"/>
            <a:ext cx="7559362" cy="90352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Как выбрать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систему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051932"/>
            <a:ext cx="8340438" cy="5428766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чего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необходима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CRM-система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Например: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увеличения общего объёма продаж;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выстраивания и ведения клиента по воронке продаж;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продвижения нового продукта;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автоматизации задач и ликвидации рутины;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чтобы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получать подробную комплексную аналитику;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увеличения конверсии потенциального клиента в покупателя;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контроля сотрудников;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создания единой системы отображения ваших бизнес-процессов;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выхода на новый рынок.</a:t>
            </a:r>
            <a:endParaRPr lang="ru-RU" sz="1200" i="0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098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2465"/>
            <a:ext cx="8132618" cy="903529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Критерии для выбора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913389"/>
            <a:ext cx="8340438" cy="5428766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Необходимый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функционал, который можно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масштабировать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карточка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клиента и компании, ведение сделок и проектов внутри CRM, выставление задач, аналитика и др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Стоимость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использования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(как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правило, CRM-системы предлагают тарифы с ежемесячной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оплатой).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Наличие мобильной версии.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Безопасность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данных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(как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часто делается резервное копирование, сколько уровней защиты при авторизации, можно ли хранить информацию на нескольких серверах в разных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странах).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Период тестирования.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Даже несмотря на тщательный выбор CRM-системы, она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может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 подойти, и хорошо, если компания на старте предложит тестовый период по минимальной стоимости или вовсе бесплатный.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Список возможных интеграций.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Обучение работе с системой. 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Количество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сотрудников и возможность разграничивать доступ к данным.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Сколько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сотрудников можно подключить к CRM. Нередко стоимость CRM зависит от количества подключённых.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Разграничение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доступа, чтобы в зависимости от полномочий конкретного человека ему были доступны только необходимые разделы.</a:t>
            </a:r>
          </a:p>
        </p:txBody>
      </p:sp>
    </p:spTree>
    <p:extLst>
      <p:ext uri="{BB962C8B-B14F-4D97-AF65-F5344CB8AC3E}">
        <p14:creationId xmlns:p14="http://schemas.microsoft.com/office/powerpoint/2010/main" val="2534746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2465"/>
            <a:ext cx="8132618" cy="90352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Персональные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данные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1402191"/>
            <a:ext cx="8340438" cy="182591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Работа CRM-системы строится вокруг клиента и его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данных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ФЗ «О персональных данных»</a:t>
            </a:r>
          </a:p>
        </p:txBody>
      </p:sp>
    </p:spTree>
    <p:extLst>
      <p:ext uri="{BB962C8B-B14F-4D97-AF65-F5344CB8AC3E}">
        <p14:creationId xmlns:p14="http://schemas.microsoft.com/office/powerpoint/2010/main" val="4138727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2465"/>
            <a:ext cx="8132618" cy="903529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Персональные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данные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5636" y="913389"/>
            <a:ext cx="8340438" cy="542876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персональным данным относятся: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И. О.,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дата рождения,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номер телефона,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адрес электронной почты,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адрес,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cookies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данные из 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соцсетей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другая информация об образовании, убеждениях и особенностях, которые помогают идентифицировать человека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354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2465"/>
            <a:ext cx="8132618" cy="90352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Персональные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данные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6618" y="1122218"/>
            <a:ext cx="4668982" cy="55418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Сбор информации законно: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835971035"/>
              </p:ext>
            </p:extLst>
          </p:nvPr>
        </p:nvGraphicFramePr>
        <p:xfrm>
          <a:off x="415636" y="1992745"/>
          <a:ext cx="8146473" cy="4487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4843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2465"/>
            <a:ext cx="8132618" cy="903529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Внедрение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системы и ее эксплуатация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6581" y="888902"/>
            <a:ext cx="8007928" cy="541491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Этап 1. Техническая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настройка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аккаунт в CRM,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азработать воронки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продаж под каждый бизнес-процесс,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астроить этапы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воронки и поля квалификации,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добавить пользователей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настроить права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подключить электронные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ящики и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настроить синхронизацию почты,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настроить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нужные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интеграции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CRM-системе (интеграция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 сайтом, системой 1С, телефонией и почтой,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соцсетями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службами доставки и др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882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2465"/>
            <a:ext cx="8132618" cy="903529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Внедрение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системы и ее эксплуатация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6581" y="888902"/>
            <a:ext cx="8007928" cy="5414915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Этап 2. Обучение сотрудников.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Обучить сотрудников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работать с программой, заносить в неё нужные данные, менять статусы и пр. 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Способы обучения: 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предоставлять скрипты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проводить обучение, 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предоставлять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доступ к библиотеке курсов по работе с системой.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315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2465"/>
            <a:ext cx="8132618" cy="903529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Внедрение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системы и ее эксплуатация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8036" y="888902"/>
            <a:ext cx="8298873" cy="541491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Скрипт - заранее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подготовленные сценарии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(например, общение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продавца с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клиентом).</a:t>
            </a:r>
          </a:p>
          <a:p>
            <a:pPr marL="0" indent="0" algn="just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Некоторые виды скриптов продаж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Холодные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Используются для первоначального общения с потенциальными клиентами, которые ранее не были знакомы с компанией и продуктом. Обычно они применяются в холодных звонках,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-рассылках и социальных сетях.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Горячие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Предназначены для работы с уже существующими клиентами и теми, кто проявил интерес к продукту или услуге. Используются для закрытия сделок, предложения дополнительных товаров или услуг, а также для решения возникающих проблем и вопросов.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Для переписки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Помогают менеджерам по продажам эффективно общаться с клиентами через электронную почту, чаты на сайте или в социальных сетях.</a:t>
            </a: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Для телефонных переговоров или встреч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Позволяют менеджерам вести разговор по заранее подготовленному сценарию. Это повышает эффективность общения и увеличивает шансы на успешную продажу.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21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2465"/>
            <a:ext cx="8132618" cy="903529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Внедрение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CRM-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системы и ее эксплуатация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6581" y="888902"/>
            <a:ext cx="8007928" cy="5414915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Этап 3. Оценка результатов.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Замерить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ключевые показатели бизнеса до внедрения CRM-системы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Замерить через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какое-то время после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например 2-3 месяца.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Результат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может быть небыстрым, но даже небольшая положительная динамика скажет о том,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что,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скорее всего, всё делаете правильно.</a:t>
            </a:r>
          </a:p>
        </p:txBody>
      </p:sp>
    </p:spTree>
    <p:extLst>
      <p:ext uri="{BB962C8B-B14F-4D97-AF65-F5344CB8AC3E}">
        <p14:creationId xmlns:p14="http://schemas.microsoft.com/office/powerpoint/2010/main" val="3557709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Технологии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облачного сервиса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01782" y="1274618"/>
            <a:ext cx="8312150" cy="522316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Облачные технологии представляют собой совокупность методов и решений, обеспечивающих возможность хранения, обработки и передачи данных через сеть Интернет без привязки к локальным устройствам пользователей.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 Облачные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технологии (или облачные вычисления)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система предоставления вычислительных ресурсов (серверы, хранилища данных, сети, программное обеспечение) через интернет. Эти ресурсы находятся на удаленных серверах, расположенных в дата-центрах, и предоставляются пользователю по запросу.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Основная идея: предоставление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мощностей компьютеров, программного обеспечения и информационных систем в виде услуг через онлайн-сервисы.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3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Технологии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облачного сервиса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71055" y="1025236"/>
            <a:ext cx="8437418" cy="5430982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Облачные технологии дают пользователям в любой точке мира доступ к удалённому оборудованию, сервисам и программам.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Облачные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решения можно взять в аренду у компании-провайдера.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придётся закупать дорогие серверы и дата-центры и тратить ресурсы на обновление и поддержку.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Современные облачные технологии заменяют отдельные базы данных или вычислительные мощности и даже целые дата-центры и сетевую инфраструктуру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Яндекс Диск, где можно загружать, хранить и скачивать файлы.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Облачные технологии для бизнеса устроены иначе.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такого решения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Yandex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в котором компании хранят данные, запускают сервисы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или обучают нейронные сети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с помощью серверов и вычислительных мощностей облачного провайдера.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24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25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облачных технологий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71600"/>
            <a:ext cx="7886700" cy="476596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Облачные технологии делят на две категории: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возможностям, которые они предоставляют клиенту,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тому, как клиент их использует.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25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29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облачных технологий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71600"/>
            <a:ext cx="7886700" cy="476596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1. Облачные решения, которые различаются возможностями для клиента: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26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38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облачных технологий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71600"/>
            <a:ext cx="7886700" cy="476596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1. Облачные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решения, которые различаются возможностями для клиента: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●	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(от англ.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Infrastructure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инфраструктура как услуга. 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предоставляет базовые вычислительные ресурсы, такие как виртуальные машины, сети, хранилища данных.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Пользователи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получают доступ к этим ресурсам через интернет и могут использовать их для создания собственных приложений или сервисов.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Такие услуги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предоставляют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Amazon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Yandex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27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01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облачных технологий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71600"/>
            <a:ext cx="7886700" cy="476596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1. Облачные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решения, которые различаются возможностями для клиента: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●	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(от англ.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Platform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платформа как услуга. 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предоставляет не только инфраструктуру, но и платформу для разработки и тестирования приложений.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платформы включают в себя инструменты для создания программного обеспечения, базы данных, а также программные интерфейсы для взаимодействия с приложениями.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Heroku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App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Engine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App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28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54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облачных технологий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13037"/>
            <a:ext cx="7886700" cy="476596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1. Облачные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решения, которые различаются возможностями для клиента: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●	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(от англ.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Software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программное обеспечение как услуга.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которое поддерживает облачный провайдер.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Клиент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оплачивает подписку и получает лицензию на определённый срок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включает в себя готовые приложения, которые предоставляются пользователям через интернет. Это могут быть офисные программы, системы управления проектами, CRM-системы и другие инструменты.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работают электронная почта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CRM-система SAP и сервис для дизайнеров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Figma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29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21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облачных технологий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371600"/>
            <a:ext cx="7886700" cy="476596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1. Облачные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решения, которые различаются возможностями для клиента: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Иногда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 этой категории относят ещё два вида облачных решений: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BaaS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(от англ.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Backup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сервисы, которые автоматически делают резервные копии для восстановления системы после повреждения или взлома.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AWS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Backup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DRaaS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(от англ.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Disaster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Recovery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сервисы, которые помогают восстановить данные и инфраструктуру после повреждения или взлома.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VMware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Site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Recovery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30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46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облачных технологий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03200" y="1084117"/>
            <a:ext cx="8732982" cy="539980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2. Облачные сервисы, которые различаются тем, как клиент их использует: 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Приватное (или частное) </a:t>
            </a: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облако.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Используется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только одной организацией. Это позволяет контролировать доступ и уровень безопасности. Обычно оно используется для критически важных данных и приложений, которые требуют строгих стандартов безопасности и конфиденциальности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IBM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Pak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Публичное </a:t>
            </a: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облако.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облако, которое доступно для использования широкой аудиторией. Поставщики таких облаков (например,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Amazon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AWS,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обеспечивают владельцев сервисов доступом к их вычислительным мощностям и хранилищам данных через интернет. Публичные облака предоставляют отличную гибкость, так как ресурсы можно масштабировать по мере необходимости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31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6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облачных технологий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5575" y="1084117"/>
            <a:ext cx="8836025" cy="5039591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2. Облачные сервисы, которые различаются тем, как клиент их использует: 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Гибридное облако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часть инфраструктуры или сервисов открыта для общего доступа, часть остаётся приватной.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этом приватным, публичным или гибридным может быть один и тот же продукт. Нужно только выбрать у провайдера нужные настройки доступа.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Облако 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многоуровневого доступа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Multicloud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подход предполагает использование нескольких облачных платформ для различных нужд организации.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одна платформа может быть использована для хранения данных, другая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обработки, а третья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развертывания приложений.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Многоуровневые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облака предоставляют больше гибкости и могут снизить зависимость от одного поставщика.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32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71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Преимущества облачных технологий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33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344893"/>
              </p:ext>
            </p:extLst>
          </p:nvPr>
        </p:nvGraphicFramePr>
        <p:xfrm>
          <a:off x="333955" y="1235652"/>
          <a:ext cx="8477539" cy="5120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338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Преимущества облачных технологий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34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463824"/>
              </p:ext>
            </p:extLst>
          </p:nvPr>
        </p:nvGraphicFramePr>
        <p:xfrm>
          <a:off x="333955" y="1235652"/>
          <a:ext cx="8477539" cy="5120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229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Преимущества облачных технологий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35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7603496"/>
              </p:ext>
            </p:extLst>
          </p:nvPr>
        </p:nvGraphicFramePr>
        <p:xfrm>
          <a:off x="333955" y="1235652"/>
          <a:ext cx="8477539" cy="5120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646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Невозможность использования облачных технологий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36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8650" y="1456943"/>
            <a:ext cx="7886700" cy="4181857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не подходят компаниям, которые не могут работать онлайн с общим доступом по соображениям безопасности.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!!! Например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электростанциям или оборонным предприятиям.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!!! Чтобы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доступ к облачным сервисам был бесперебойным, нужен стабильный и высокоскоростной интернет.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11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7197" y="191794"/>
            <a:ext cx="7247094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Применение облачных технологий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37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Сферы применения облачных технологий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197" y="803436"/>
            <a:ext cx="7102186" cy="561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84438" y="6566590"/>
            <a:ext cx="682596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https://practicum.yandex.ru/blog/oblachnye-tehnologii/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18533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Облачные технологии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38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0825" y="904412"/>
            <a:ext cx="8560665" cy="566264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IT-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систем и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Разработка и запуск ПО и сервисов.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Облачные решения для разработки используют компании с собственными онлайн-сервисами и мобильными приложениями. Программисты 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тестировщики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могут вносить правки и хранить код, не скачивая всё на свой компьютер. 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Разработкой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 и сервисов, например, занимаются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DigitalOcean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AWS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Amplify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Firebase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Виртуальная машина.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Это виртуальный компьютер со своей ОС и программами, который устанавливается на физическое устройство и использует часть его мощностей. Это выглядит как приложение с настраиваемыми характеристиками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●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Облачные технологии для хранения.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Компании арендуют в облаке обычные или управляемые базы данных в комплекте с комплексным сервисом со стороны провайдера. В него входят настройка, управление и обновление сайтов 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приложений.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можно арендовать облачные базы данных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Amazon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RDS,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Yandex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Managed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облачные хранилища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552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Облачные технологии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39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0825" y="904412"/>
            <a:ext cx="8560665" cy="595358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IT-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систем и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●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CRM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В CRM хранится информация о продуктах, клиентах, договорах, оплатах. С её помощью запускают рассылки и обрабатывают документы. Выгрузить данные из облачной CRM и предоставить к ним разный уровень доступа для сотрудников можно даже со смартфона.</a:t>
            </a:r>
            <a:br>
              <a:rPr lang="ru-RU" sz="2400" dirty="0"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Zendesk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amoCRM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SAP,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Keeper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>
                <a:latin typeface="Times New Roman" pitchFamily="18" charset="0"/>
                <a:cs typeface="Times New Roman" pitchFamily="18" charset="0"/>
              </a:rPr>
            </a:b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●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Серверные решения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Иногда для запуска проекта требуется большой объём вычислений.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выгрузить сотни видеороликов из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видеоредактора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 нужном формате. У небольшой студии с обычным сервером на это уйдут недели. А если на сутки подключить облачный сервер, загрузка займёт один час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Windows Server on Azure, AWS Cloud Server.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>
                <a:latin typeface="Times New Roman" pitchFamily="18" charset="0"/>
                <a:cs typeface="Times New Roman" pitchFamily="18" charset="0"/>
              </a:rPr>
            </a:b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85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Облачные технологии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40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0825" y="904412"/>
            <a:ext cx="8560665" cy="566264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IT-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систем и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Бессерверные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вычисления (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Serverless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Это облачные сервисы, которые берут плату не за целый сервер, а только за использованный объём данных и вычислений.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Ими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пользуются, чтобы хранить большие массивы данных, к которым обращаются нечасто или запрашивают один-два файла в день. Если арендовать для этого целый сервер, затраты на облако не окупятся.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: AWS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●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Аналитика данных и 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Science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При помощи облачных сервисов арендуют мощности и готовые модели для машинного обучения.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чтобы обучить голосового робота принимать заказы по телефону и оплачивать только время его работы. Или обрабатывать большие данные при помощи алгоритмов на базе искусственного интеллекта.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Пример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AI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>
                <a:latin typeface="Times New Roman" pitchFamily="18" charset="0"/>
                <a:cs typeface="Times New Roman" pitchFamily="18" charset="0"/>
              </a:rPr>
            </a:b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8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Облачные технологии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41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0825" y="904412"/>
            <a:ext cx="8560665" cy="566264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Интернет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вещей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Облачные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технологии позволяют подключать умные устройства и целые системы, управлять ими и собирать данные без дорогостоящего оборудования и ПО.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чтобы автоматически регулировать температуру, освещение и работу электроприборов на производстве.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отслеживать маршруты и расход топлива при доставке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грузов ВАТС.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Пример: AWS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>
                <a:latin typeface="Times New Roman" pitchFamily="18" charset="0"/>
                <a:cs typeface="Times New Roman" pitchFamily="18" charset="0"/>
              </a:rPr>
            </a:b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35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Развитие облачных технологий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42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0825" y="1250776"/>
            <a:ext cx="8560665" cy="4859079"/>
          </a:xfrm>
        </p:spPr>
        <p:txBody>
          <a:bodyPr/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Появляется больше готовых решений в рамках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когда можно развернуть в облаке всё необходимое для малой или средней компании.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запустить готовый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интернет-магазин.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Большие перспективы облачных технологий в области науки и медицины.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В этих сферах особенно востребованы масштабные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вычисления. 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когда в пандемию лабораториям приходилось вместо 100 тестов в день делать 10 тыс., облачные серверы помогли справиться с нагрузкой и избежать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сбоев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94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Развитие облачных технологий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43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0825" y="1250776"/>
            <a:ext cx="8560665" cy="4859079"/>
          </a:xfrm>
        </p:spPr>
        <p:txBody>
          <a:bodyPr/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В бизнесе растёт популярность гибридных и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мультиоблаков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когда компания использует ресурсы нескольких облачных провайдеров. При этом критически важные базы данных компании предпочитают хранить на собственных серверах.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Развиваются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бессерверные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облака.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С их помощью пользователи запускают программы и сайты в облаке без привязки к конкретному серверу.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Облачные провайдеры заботятся о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кибербезопасности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. 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Всё больше внимания уделяется защите данных, клиентам предоставляют услуги шифрования информации, распределённый доступ и автоматическое резервное копирование.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26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Развитие облачных технологий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44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0825" y="1250776"/>
            <a:ext cx="8560665" cy="4859079"/>
          </a:xfrm>
        </p:spPr>
        <p:txBody>
          <a:bodyPr/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Развивается ответственное энергопотребление.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Чтобы сократить углеродный след из-за огромных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энергозатрат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облачные провайдеры запускают дата-центры, которые работают на возобновляемых ресурсах.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Нагрузка масштабируется и распределяется автоматически. 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Раньше сайт обновлялся раз в неделю или даже месяц. Сейчас благодаря облачным сервисам это происходит автоматически, по мере необходимости.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4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Доступ к </a:t>
            </a:r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on-line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информации о состоянии различных объектов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45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15636" y="1880117"/>
            <a:ext cx="8348229" cy="485907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SCADA-системы или облачные инструменты,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которые обеспечивают доступ к информации о состоянии различных объектов в режиме реального времени.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16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SCADA-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46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15636" y="1490140"/>
            <a:ext cx="8348229" cy="779956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SCADA-системы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Supervisory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Acquisition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диспетчерское управление и сбор данных) позволяют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034549961"/>
              </p:ext>
            </p:extLst>
          </p:nvPr>
        </p:nvGraphicFramePr>
        <p:xfrm>
          <a:off x="554182" y="2657475"/>
          <a:ext cx="796116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7325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Основная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задача SCADA-систем</a:t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47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15636" y="1490140"/>
            <a:ext cx="8348229" cy="779956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Непрерывный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мониторинг работы автоматизированных объектов и создание возможности своевременно реагировать на неполадки прямо с диспетчерского кресла.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Объекты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 этом могут находиться в километрах друг от друга, а управленческие права диспетчера – автоматически изменяться в зависимости от состояния техпроцессов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76675"/>
            <a:ext cx="4572000" cy="298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0" y="6347558"/>
            <a:ext cx="4572000" cy="4154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700" dirty="0"/>
              <a:t>https://yandex.ru/images/search?pos=13&amp;from=tabbar&amp;img_url=https%3A%2F%2Felectrical-engineering-portal.com%2Fwp-content%2Fuploads%2F2017%2F11%2Fscada-handbook.jpg&amp;text=SCADA-</a:t>
            </a:r>
            <a:r>
              <a:rPr lang="ru-RU" sz="700" dirty="0"/>
              <a:t>систем&amp;</a:t>
            </a:r>
            <a:r>
              <a:rPr lang="en-US" sz="700" dirty="0" err="1"/>
              <a:t>rpt</a:t>
            </a:r>
            <a:r>
              <a:rPr lang="en-US" sz="700" dirty="0"/>
              <a:t>=</a:t>
            </a:r>
            <a:r>
              <a:rPr lang="en-US" sz="700" dirty="0" err="1"/>
              <a:t>simage&amp;lr</a:t>
            </a:r>
            <a:r>
              <a:rPr lang="en-US" sz="700" dirty="0"/>
              <a:t>=10715</a:t>
            </a:r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192660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Структура SCADA-системы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48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7927" y="1042961"/>
            <a:ext cx="8409709" cy="548253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Структурно все SCADA системы схожи.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Они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обязательно должны содержать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три элемента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Удаленный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терминал (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Remote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Terminal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Unite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, сокращенно RTU)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устройство, расположенное на стороне объекта. Это может быть простой датчик, или же полноценный многопоточный микроконтроллер, не только собирающий разнообразную информацию, но и дающий возможность управлять ходом работы.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Системы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коммуникации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в реальном времени передающие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информацию. </a:t>
            </a:r>
          </a:p>
          <a:p>
            <a:pPr marL="0" indent="0" algn="just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Терминал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диспетчера (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Master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Terminal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Unite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, сокращенно MTU)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сервер, аккумулирующий информацию с удаленных терминалов (RTU). Это «сердце» всей SCADA-системы, именно этот сервис выводит все данные на диспетчерские мониторы, создавая человеко-машинный интерфейс (HMI).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63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1965"/>
            <a:ext cx="821055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Особенности SCADA-системы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>
                <a:latin typeface="Times New Roman" pitchFamily="18" charset="0"/>
                <a:cs typeface="Times New Roman" pitchFamily="18" charset="0"/>
              </a:rPr>
            </a:b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49</a:t>
            </a:fld>
            <a:endParaRPr lang="ru-RU"/>
          </a:p>
        </p:txBody>
      </p:sp>
      <p:pic>
        <p:nvPicPr>
          <p:cNvPr id="1026" name="Picture 2" descr="https://avatars.mds.yandex.net/get-lpc/1527204/f4388756-bc84-4e44-90b1-8dc869eaf52b/lq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7927" y="1042961"/>
            <a:ext cx="8409709" cy="548253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1. SCADA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 это человеко-машинный комплекс.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Присутствие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человека для работы этой системы обязательно.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2. Диспетчер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ответственен за все произведенные настройки, за слаженное и сбалансированное функционирование объектов.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3. Большую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часть времени диспетчер ничего не делает, а лишь наблюдает за показателями.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4. Можно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настроить как расширение полномочий оператора при определенных уровнях тревоги, так и наоборот, ограничения на его вмешательство.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5. Большинство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SCADA-систем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полагаются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 выделенные и локальные соединения. Это позволяет избежать любых проблем с безопасностью. Тем не менее, существуют 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-SCADA интерфейсы, открывающиеся через интернет-браузер через подключение к «облаку». Выбор конкретной схемы работы зависит исключительно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 приоритетов организации.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02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262510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Stage-Gate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0218" y="1027452"/>
            <a:ext cx="8570768" cy="254702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Stage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представляет собой методологию управления проектами, которая организует процесс разработки новых продуктов через последовательность четко определенных этапов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stages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и контрольных точек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gates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Каждый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этап характеризуется конкретным набором задач и целей, а каждая контрольная точка служит для оценки готовности проекта к переходу на следующий уровень.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50</a:t>
            </a:fld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636" y="3574473"/>
            <a:ext cx="7381060" cy="309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6645768"/>
            <a:ext cx="4572000" cy="2000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700" dirty="0"/>
              <a:t>https://avatars.mds.yandex.net/i?id=a6a16f7c4399c41bb35037e0be6b8407430c0a32-12726868-images-thumbs&amp;n=13</a:t>
            </a:r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16581327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6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Принципы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Stage-Gate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51</a:t>
            </a:fld>
            <a:endParaRPr lang="ru-RU" dirty="0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299841191"/>
              </p:ext>
            </p:extLst>
          </p:nvPr>
        </p:nvGraphicFramePr>
        <p:xfrm>
          <a:off x="457200" y="1396999"/>
          <a:ext cx="8326582" cy="4879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329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6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Структура процесса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Stage-Gate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52</a:t>
            </a:fld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18757"/>
              </p:ext>
            </p:extLst>
          </p:nvPr>
        </p:nvGraphicFramePr>
        <p:xfrm>
          <a:off x="304800" y="1397000"/>
          <a:ext cx="8626187" cy="3171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055"/>
                <a:gridCol w="1634836"/>
                <a:gridCol w="3394364"/>
                <a:gridCol w="3125932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Этап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Основные  задачи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Результат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Идея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Сбор идей, первичный анализ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Краткий обзор возможностей</a:t>
                      </a:r>
                    </a:p>
                  </a:txBody>
                  <a:tcPr marL="114300" marR="114300" marT="142875" marB="142875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Анализ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Подробное исследование рынка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Бизнес-кейс</a:t>
                      </a:r>
                    </a:p>
                  </a:txBody>
                  <a:tcPr marL="114300" marR="114300" marT="142875" marB="142875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Разработка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Создание прототипа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Техническая документация</a:t>
                      </a:r>
                    </a:p>
                  </a:txBody>
                  <a:tcPr marL="114300" marR="114300" marT="142875" marB="142875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Тестирование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Пилотные испытания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Отчет о тестировании</a:t>
                      </a:r>
                    </a:p>
                  </a:txBody>
                  <a:tcPr marL="114300" marR="114300" marT="142875" marB="142875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Запуск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Масштабирование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Операционный план</a:t>
                      </a:r>
                    </a:p>
                  </a:txBody>
                  <a:tcPr marL="114300" marR="114300" marT="142875" marB="142875" anchor="ctr"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942109" y="6589046"/>
            <a:ext cx="5791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https://ssl-team.com/blog/stage-gate-chto-eto/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3071351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6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Сравнение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Stage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Gate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с другими методологиями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53</a:t>
            </a:fld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753256"/>
              </p:ext>
            </p:extLst>
          </p:nvPr>
        </p:nvGraphicFramePr>
        <p:xfrm>
          <a:off x="304800" y="1812636"/>
          <a:ext cx="8626187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545"/>
                <a:gridCol w="1787237"/>
                <a:gridCol w="2189018"/>
                <a:gridCol w="2225387"/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 b="1" i="0" dirty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Методология</a:t>
                      </a:r>
                    </a:p>
                  </a:txBody>
                  <a:tcPr marL="95250" marR="9525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Гибкость</a:t>
                      </a:r>
                    </a:p>
                  </a:txBody>
                  <a:tcPr marL="95250" marR="9525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Контроль</a:t>
                      </a:r>
                    </a:p>
                  </a:txBody>
                  <a:tcPr marL="95250" marR="9525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 b="1" i="0">
                          <a:solidFill>
                            <a:srgbClr val="242424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Скорость</a:t>
                      </a:r>
                    </a:p>
                  </a:txBody>
                  <a:tcPr marL="95250" marR="95250" marT="142875" marB="142875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Stage Gate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Средняя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Высокий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Средняя</a:t>
                      </a:r>
                    </a:p>
                  </a:txBody>
                  <a:tcPr marL="114300" marR="114300" marT="142875" marB="142875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Agile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Низкий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</a:p>
                  </a:txBody>
                  <a:tcPr marL="114300" marR="114300" marT="142875" marB="142875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Waterfall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Высокий</a:t>
                      </a:r>
                    </a:p>
                  </a:txBody>
                  <a:tcPr marL="114300" marR="114300" marT="142875" marB="142875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2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</a:p>
                  </a:txBody>
                  <a:tcPr marL="114300" marR="114300" marT="142875" marB="142875" anchor="ctr"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942109" y="6589046"/>
            <a:ext cx="5791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https://ssl-team.com/blog/stage-gate-chto-eto/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0589261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6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Структурированный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PMO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84909" y="1911927"/>
            <a:ext cx="8229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Проектный офис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PMO 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структурная единица в организации, отвечающая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 управление проектами.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Именно в РМО устанавливаются стандарты управления, разрабатываются методологии и происходит непосредственная координация проектной работы. </a:t>
            </a:r>
          </a:p>
        </p:txBody>
      </p:sp>
    </p:spTree>
    <p:extLst>
      <p:ext uri="{BB962C8B-B14F-4D97-AF65-F5344CB8AC3E}">
        <p14:creationId xmlns:p14="http://schemas.microsoft.com/office/powerpoint/2010/main" val="12757195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6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Структурированный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PMO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84909" y="1911927"/>
            <a:ext cx="8229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Проектный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офис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PMO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структурная единица в организации, отвечающая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 управление проектами.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Именно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РМО устанавливаются стандарты управления, разрабатываются методологии и происходит непосредственная координация проектной работы. </a:t>
            </a:r>
          </a:p>
        </p:txBody>
      </p:sp>
    </p:spTree>
    <p:extLst>
      <p:ext uri="{BB962C8B-B14F-4D97-AF65-F5344CB8AC3E}">
        <p14:creationId xmlns:p14="http://schemas.microsoft.com/office/powerpoint/2010/main" val="12089135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6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Ключевые определения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PMO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52400" y="1316181"/>
            <a:ext cx="877858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Проект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комплекс ограниченных по времени работ, направленных на достижение уникального результата.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Руководитель проекта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иногда менеджер проекта)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специалист, который является ответственным за планирование, организацию, а также выполнение и контроль проектной деятельности.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проектов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представляет собой совокупность взаимосвязанных проектов, целью которых является удовлетворение общей цели организации.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Портфель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проектов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совокупность проектов или программ, которые организация планирует или уже выполняет.  </a:t>
            </a:r>
          </a:p>
        </p:txBody>
      </p:sp>
    </p:spTree>
    <p:extLst>
      <p:ext uri="{BB962C8B-B14F-4D97-AF65-F5344CB8AC3E}">
        <p14:creationId xmlns:p14="http://schemas.microsoft.com/office/powerpoint/2010/main" val="23922211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6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Ключевые определения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PMO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57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87926" y="1316181"/>
            <a:ext cx="83681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 Проектный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офис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организационная структура, которая стандартизирует процессы управления проектами и способствует обмену ресурсами, методологиями, инструментами и методами.</a:t>
            </a:r>
          </a:p>
        </p:txBody>
      </p:sp>
    </p:spTree>
    <p:extLst>
      <p:ext uri="{BB962C8B-B14F-4D97-AF65-F5344CB8AC3E}">
        <p14:creationId xmlns:p14="http://schemas.microsoft.com/office/powerpoint/2010/main" val="10705245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373346"/>
            <a:ext cx="8099714" cy="7211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Основные функции и задачи РМО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58</a:t>
            </a:fld>
            <a:endParaRPr lang="ru-RU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919990332"/>
              </p:ext>
            </p:extLst>
          </p:nvPr>
        </p:nvGraphicFramePr>
        <p:xfrm>
          <a:off x="249382" y="1094509"/>
          <a:ext cx="8645236" cy="5386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58786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193237"/>
            <a:ext cx="8099714" cy="7211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Типы проектных офисов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59</a:t>
            </a:fld>
            <a:endParaRPr lang="ru-RU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395181873"/>
              </p:ext>
            </p:extLst>
          </p:nvPr>
        </p:nvGraphicFramePr>
        <p:xfrm>
          <a:off x="249382" y="3352800"/>
          <a:ext cx="8645236" cy="3127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96982" y="914400"/>
            <a:ext cx="88946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Поддерживающий проектный офис (ППО)</a:t>
            </a:r>
            <a:r>
              <a:rPr lang="ru-RU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специализированное подразделение, которое занимается поддержанием и совершенствованием методологий, инструментов и процессов управления проектами в организации.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вид проектного офиса чаще всего ориентирован на обеспечение содействия проектным командам, руководителям и менеджерам.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отличие от других типов, он не контролирует ход работы на проектах, его основная роль - консультативная.  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Функции ППО: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6368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193237"/>
            <a:ext cx="8099714" cy="7211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Типы проектных офисов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60</a:t>
            </a:fld>
            <a:endParaRPr lang="ru-RU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740496916"/>
              </p:ext>
            </p:extLst>
          </p:nvPr>
        </p:nvGraphicFramePr>
        <p:xfrm>
          <a:off x="249382" y="2715491"/>
          <a:ext cx="8645236" cy="3765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49382" y="1094509"/>
            <a:ext cx="8742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Управляющий проектный офис (УПО)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 такой тип проектного офиса, который фокусируется на управлении и непосредственной работе в проектах, его главными задачами являются качественная реализация и успешное завершение проекта или программы проектов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Функции ППО: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935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193237"/>
            <a:ext cx="8099714" cy="7211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Типы проектных офисов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61</a:t>
            </a:fld>
            <a:endParaRPr lang="ru-RU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71046345"/>
              </p:ext>
            </p:extLst>
          </p:nvPr>
        </p:nvGraphicFramePr>
        <p:xfrm>
          <a:off x="277091" y="2696436"/>
          <a:ext cx="8645236" cy="4042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96982" y="942109"/>
            <a:ext cx="88946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Контролирующий проектный офис (КПО)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подразделение, которое специализируется на контроле за выполнением проектов в организации. В отличие от предыдущих типов, осуществляющих методологический надзор и координирующих работу внутри самих проектов, КПО может участвовать в принятии стратегических решений - о запуске или продолжении проекта, смене проектных команд и так далее.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Функции ППО: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4345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7419</TotalTime>
  <Words>2732</Words>
  <Application>Microsoft Office PowerPoint</Application>
  <PresentationFormat>Экран (4:3)</PresentationFormat>
  <Paragraphs>478</Paragraphs>
  <Slides>62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62</vt:i4>
      </vt:variant>
    </vt:vector>
  </HeadingPairs>
  <TitlesOfParts>
    <vt:vector size="64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IT инструменты трансформации производственных процессов</vt:lpstr>
      <vt:lpstr>План лекции</vt:lpstr>
      <vt:lpstr>CRM</vt:lpstr>
      <vt:lpstr>CRM</vt:lpstr>
      <vt:lpstr>Виды CRM-систем</vt:lpstr>
      <vt:lpstr>Виды CRM-систем</vt:lpstr>
      <vt:lpstr>CRM-системы решают задачи:</vt:lpstr>
      <vt:lpstr>Задачи CRM-систем</vt:lpstr>
      <vt:lpstr>Задачи CRM-систем</vt:lpstr>
      <vt:lpstr>Задачи CRM-систем</vt:lpstr>
      <vt:lpstr>Задачи CRM-систем</vt:lpstr>
      <vt:lpstr>Задачи CRM-систем</vt:lpstr>
      <vt:lpstr>Как выбрать CRM-систему</vt:lpstr>
      <vt:lpstr>Критерии для выбора CRM-системы</vt:lpstr>
      <vt:lpstr>Персональные данные</vt:lpstr>
      <vt:lpstr>Персональные данные</vt:lpstr>
      <vt:lpstr>Персональные данные</vt:lpstr>
      <vt:lpstr>Внедрение CRM-системы и ее эксплуатация</vt:lpstr>
      <vt:lpstr>Внедрение CRM-системы и ее эксплуатация</vt:lpstr>
      <vt:lpstr>Внедрение CRM-системы и ее эксплуатация</vt:lpstr>
      <vt:lpstr>Внедрение CRM-системы и ее эксплуатация</vt:lpstr>
      <vt:lpstr>2. Технологии облачного сервиса</vt:lpstr>
      <vt:lpstr>2. Технологии облачного сервиса</vt:lpstr>
      <vt:lpstr>Виды облачных технологий</vt:lpstr>
      <vt:lpstr>Виды облачных технологий</vt:lpstr>
      <vt:lpstr>Виды облачных технологий</vt:lpstr>
      <vt:lpstr>Виды облачных технологий</vt:lpstr>
      <vt:lpstr>Виды облачных технологий</vt:lpstr>
      <vt:lpstr>Виды облачных технологий</vt:lpstr>
      <vt:lpstr>Виды облачных технологий</vt:lpstr>
      <vt:lpstr>Виды облачных технологий</vt:lpstr>
      <vt:lpstr>Преимущества облачных технологий</vt:lpstr>
      <vt:lpstr>Преимущества облачных технологий</vt:lpstr>
      <vt:lpstr>Преимущества облачных технологий</vt:lpstr>
      <vt:lpstr>Невозможность использования облачных технологий</vt:lpstr>
      <vt:lpstr>Применение облачных технологий</vt:lpstr>
      <vt:lpstr>Облачные технологии</vt:lpstr>
      <vt:lpstr>Облачные технологии</vt:lpstr>
      <vt:lpstr>Облачные технологии</vt:lpstr>
      <vt:lpstr>Облачные технологии</vt:lpstr>
      <vt:lpstr>Развитие облачных технологий</vt:lpstr>
      <vt:lpstr>Развитие облачных технологий</vt:lpstr>
      <vt:lpstr>Развитие облачных технологий</vt:lpstr>
      <vt:lpstr>Доступ к on-line информации о состоянии различных объектов</vt:lpstr>
      <vt:lpstr>SCADA-системы</vt:lpstr>
      <vt:lpstr>Основная задача SCADA-систем </vt:lpstr>
      <vt:lpstr>Структура SCADA-системы </vt:lpstr>
      <vt:lpstr>Особенности SCADA-системы </vt:lpstr>
      <vt:lpstr>4. Stage-Gate</vt:lpstr>
      <vt:lpstr>Принципы Stage-Gate</vt:lpstr>
      <vt:lpstr>Структура процесса Stage-Gate</vt:lpstr>
      <vt:lpstr>Сравнение Stage Gate с другими методологиями</vt:lpstr>
      <vt:lpstr>Структурированный PMO</vt:lpstr>
      <vt:lpstr>Структурированный PMO</vt:lpstr>
      <vt:lpstr>Ключевые определения PMO</vt:lpstr>
      <vt:lpstr>Ключевые определения PMO</vt:lpstr>
      <vt:lpstr>Основные функции и задачи РМО</vt:lpstr>
      <vt:lpstr>Типы проектных офисов</vt:lpstr>
      <vt:lpstr>Типы проектных офисов</vt:lpstr>
      <vt:lpstr>Типы проектных офисов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394</cp:revision>
  <dcterms:created xsi:type="dcterms:W3CDTF">2015-07-29T11:14:37Z</dcterms:created>
  <dcterms:modified xsi:type="dcterms:W3CDTF">2026-06-26T20:53:23Z</dcterms:modified>
</cp:coreProperties>
</file>