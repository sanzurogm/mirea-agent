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26"/>
  </p:notesMasterIdLst>
  <p:sldIdLst>
    <p:sldId id="325" r:id="rId3"/>
    <p:sldId id="293" r:id="rId4"/>
    <p:sldId id="294" r:id="rId5"/>
    <p:sldId id="326" r:id="rId6"/>
    <p:sldId id="327" r:id="rId7"/>
    <p:sldId id="328" r:id="rId8"/>
    <p:sldId id="329" r:id="rId9"/>
    <p:sldId id="338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9" r:id="rId19"/>
    <p:sldId id="340" r:id="rId20"/>
    <p:sldId id="341" r:id="rId21"/>
    <p:sldId id="343" r:id="rId22"/>
    <p:sldId id="344" r:id="rId23"/>
    <p:sldId id="342" r:id="rId24"/>
    <p:sldId id="26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0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1341121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Установка бортового оборудования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13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Приобретение и поставка оборудования на промышленное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предприятие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2. Установка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бортового оборудования и программного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обеспечения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3. Проверка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корректной работы бортового оборудования в условиях эксплуатации, адаптация оборудования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73347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Бортовое оборудование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4685" y="1332252"/>
            <a:ext cx="8335241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Бортовое оборудование для беспилотного автомобиля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включает </a:t>
            </a:r>
            <a:r>
              <a:rPr lang="ru-RU" u="sng" dirty="0">
                <a:latin typeface="Times New Roman" pitchFamily="18" charset="0"/>
                <a:cs typeface="Times New Roman" pitchFamily="18" charset="0"/>
              </a:rPr>
              <a:t>датчики, вычислительные системы, программное обеспечение и системы связи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которые обеспечивают работу системы автономного вождения.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Единого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стандарта для беспилотных систем пока не существует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каждая компания по-своему решает задачу автономного вождения, используя различные комбинации сенсоров, алгоритмов и подходов к обучению искусственного интеллекта.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2889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61708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Датчики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4685" y="1041306"/>
            <a:ext cx="8537865" cy="3653219"/>
          </a:xfrm>
        </p:spPr>
        <p:txBody>
          <a:bodyPr/>
          <a:lstStyle/>
          <a:p>
            <a:pPr algn="just"/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Лидар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Light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Detection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Ranging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использует лазерные лучи для сканирования окружающей среды и создания высокоточных трёхмерных карт. Позволяет определять расстояния до объектов и распознавать их формы.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Радар (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Radio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Detection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Ranging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использует радиоволны для определения расстояний до объектов и их скорости. Радары хорошо работают в различных погодных условиях (дождь, туман) и в тёмное время суток.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Камеры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обеспечивают визуальное восприятие пространства вокруг автомобиля, используются для распознавания дорожных знаков, светофоров, разметки на дороге и других участников движения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168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165529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Датчики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4685" y="1041306"/>
            <a:ext cx="8537865" cy="3653219"/>
          </a:xfrm>
        </p:spPr>
        <p:txBody>
          <a:bodyPr/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Инерциальные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системы навигации (IMU)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отслеживают ускорение, угловую скорость и ориентацию автомобиля, позволяют определять текущее положение и движение автомобиля относительно его предыдущего положения.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Глобальная система позиционирования (GPS)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предоставляет данные о географическом положении автомобиля с помощью спутниковых сигналов, позволяет определить свою позицию на карте и использовать её для планирования маршрутов.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131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3" y="373346"/>
            <a:ext cx="7886700" cy="66574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Вычислительное оборудование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096725"/>
            <a:ext cx="7886700" cy="3653219"/>
          </a:xfrm>
        </p:spPr>
        <p:txBody>
          <a:bodyPr/>
          <a:lstStyle/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Бортовые компьютеры: Обеспечивают обработку данных, поступающих от датчиков, принятие решений и управление движением.  Используются специализированные компьютеры с высокой производительностью и низким энергопотреблением.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Центральный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процессор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обрабатывает огромные объёмы данных, поступающих от сенсоров, и на основе алгоритмов машинного обучения принимает решения о траектории движения, скорости и манёврах.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GPU, Графический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процессор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используется для ускорения обработки визуальных операций, таких как распознавание изображений и компьютерное зрение.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FPGA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Field-Programmable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Gate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Array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массивы полевых программируемых контроллеров, которые могут быть запрограммированы для выполнения определённых функций, используются для обработки сигналов и управления в режиме реального времени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56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Оборудование управления движением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2509" y="1756543"/>
            <a:ext cx="8409709" cy="3653219"/>
          </a:xfrm>
        </p:spPr>
        <p:txBody>
          <a:bodyPr/>
          <a:lstStyle/>
          <a:p>
            <a:pPr marL="742950" lvl="1" indent="-285750" algn="just">
              <a:buFont typeface="Arial"/>
              <a:buChar char="•"/>
            </a:pPr>
            <a:r>
              <a:rPr lang="ru-RU" b="1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Контроллеры </a:t>
            </a: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двигателей: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управляют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работой двигателей, обеспечивая точное позиционирование и скорость движения.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Приводы: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электрические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, гидравлические или пневматические, обеспечивающие движение различных механизмов.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Рулевые механизмы: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управления направлением движения.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705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373347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Программное обеспечение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5414" y="1082871"/>
            <a:ext cx="8551718" cy="5397827"/>
          </a:xfrm>
        </p:spPr>
        <p:txBody>
          <a:bodyPr/>
          <a:lstStyle/>
          <a:p>
            <a:pPr marL="0" indent="0" algn="just">
              <a:buNone/>
            </a:pP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Программное обеспечение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это «мозг» беспилотных автомобилей, интегрирующий данные из различных аппаратных компонентов для обеспечения безопасной и эффективной навигации.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Некоторые 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компоненты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программного обеспечения: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Уровень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восприятия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обрабатывает необработанные данные с датчиков для обнаружения и классификации объектов.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Уровень локализации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использует GPS, IMU и совокупность датчиков для определения точного местоположения транспортного средства в режиме реального времени.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Модуль прогнозирования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прогнозирует поведение окружающих объектов (транспортных средств, пешеходов, велосипедистов).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Уровень планирования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определяет оптимальную траекторию и план движения транспортного средства, избегая препятствий и соблюдая правила дорожного движения.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Система управления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преобразует запланированные траектории в выполнимые команды (рулевое управление, газ, торможение).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7149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7886700" cy="67959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Оборудование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2395" y="1069015"/>
            <a:ext cx="8307531" cy="3653219"/>
          </a:xfrm>
        </p:spPr>
        <p:txBody>
          <a:bodyPr/>
          <a:lstStyle/>
          <a:p>
            <a:pPr marL="742950" lvl="1" indent="-285750" algn="just">
              <a:buFont typeface="Arial"/>
              <a:buChar char="•"/>
            </a:pPr>
            <a:r>
              <a:rPr lang="ru-RU" b="1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Радиомодемы</a:t>
            </a: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передачи данных между беспилотным транспортным средством и оператором или центром управления. Используются различные протоколы связи: </a:t>
            </a:r>
            <a:r>
              <a:rPr lang="ru-RU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Wi-Fi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Bluetooth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, 4G/5G, спутниковая связь.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Антенны: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обеспечения стабильной связи с оператором или центром управления.</a:t>
            </a:r>
            <a:endParaRPr lang="ru-RU" b="0" i="0" dirty="0">
              <a:solidFill>
                <a:srgbClr val="494949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976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7304" y="151673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резервирования и безопасности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7704" y="1477236"/>
            <a:ext cx="8496299" cy="365321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Дополнительные датчики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резервного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питания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Отказоустойчивые устройства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4907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7304" y="151673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резервирования и безопасности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818" y="1477236"/>
            <a:ext cx="8742218" cy="5242219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Дополнительные датчики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Дублирование основных датчиков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дублирующие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датчики для критически важных функций, таких как навигация, обнаружение препятствий и измерение расстояния. Например, можно использовать два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лидара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, два GPS-приемника или несколько камер, работающих независимо друг от друга. В случае отказа одного датчика, другой автоматически возьмет на себя его функции.</a:t>
            </a:r>
          </a:p>
          <a:p>
            <a:pPr algn="just"/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Разные типы датчиков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датчики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, основанные на разных физических принципах, для получения информации об окружающей среде. Например, одновременное использование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лидара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радара позволит обеспечить надежное обнаружение препятствий даже в сложных погодных условиях. Если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лидар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плохо работает в тумане или дыму, радар сможет обнаружить препятствия.</a:t>
            </a:r>
          </a:p>
          <a:p>
            <a:pPr algn="just"/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Бесперебойный мониторинг данных датчиков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мониторинга, которая постоянно отслеживает данные, поступающие от датчиков, и выявляет аномалии или признаки неисправностей. При обнаружении отклонений система должна автоматически переключаться на резервный датчик или переводить беспилотную систему в безопасный режим работы.</a:t>
            </a:r>
          </a:p>
          <a:p>
            <a:pPr algn="just"/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Датчики контроля состояния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: Датчики, отслеживающие внутренние параметры системы, такие как температура, уровень вибрации, заряд батареи. Предотвращают аварии, вызванные перегревом, разрядом батареи, износом компонентов.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7359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7304" y="83130"/>
            <a:ext cx="7886700" cy="1149925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резервирования и безопасности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2" y="1238479"/>
            <a:ext cx="8908473" cy="5242219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Системы резервного питания:</a:t>
            </a:r>
            <a:endParaRPr lang="ru-RU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Резервные аккумуляторы: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автоматически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включатся в случае отказа основного источника питания. Емкость резервного аккумулятора должна быть достаточной для обеспечения безопасного завершения работы или возврата в исходную точку.</a:t>
            </a:r>
          </a:p>
          <a:p>
            <a:pPr lvl="1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ИБП (Источник бесперебойного питания):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Используется для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сглаживания перепадов напряжения и обеспечения кратковременного питания в случае кратковременных отключений электроэнергии.</a:t>
            </a:r>
          </a:p>
          <a:p>
            <a:pPr lvl="1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Дизель-генераторы или другие альтернативные источники питания: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Для критически важных систем, требующих длительной автономной работы, можно использовать дизель-генераторы или другие альтернативные источники питания.</a:t>
            </a:r>
          </a:p>
          <a:p>
            <a:pPr lvl="1"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Энергоэффективные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компоненты: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оптимизации энергопотребления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системы для увеличения времени работы от батареи.</a:t>
            </a:r>
          </a:p>
          <a:p>
            <a:pPr lvl="1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Плавное переключение: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обеспечивает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плавное переключение между источниками питания, чтобы избежать сбоев в работе бортового оборудования.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0120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7304" y="83130"/>
            <a:ext cx="7886700" cy="1149925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резервирования и безопасности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2" y="1238479"/>
            <a:ext cx="8908473" cy="5242219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Отказоустойчивые устройства:</a:t>
            </a:r>
            <a:endParaRPr lang="ru-RU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Резервированные контроллеры: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два контроллера, работающих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параллельно,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которые автоматически переключатся на резервный контроллер в случае отказа основного.</a:t>
            </a:r>
          </a:p>
          <a:p>
            <a:pPr lvl="1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Отказоустойчивые двигатели и приводы: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двигатели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приводы с повышенной надежностью и функцией автоматического отключения в случае перегрузки или неисправности.</a:t>
            </a:r>
          </a:p>
          <a:p>
            <a:pPr lvl="1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Независимые системы управления: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деление системы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управления на несколько независимых подсистем, чтобы отказ одной подсистемы не привел к отказу всей системы.</a:t>
            </a:r>
          </a:p>
          <a:p>
            <a:pPr lvl="1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Программируемые логические контроллеры (ПЛК) с функцией резервирования: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автоматически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переключатся на резервный ПЛК в случае отказа основного.</a:t>
            </a:r>
          </a:p>
          <a:p>
            <a:pPr lvl="1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Алгоритмы управления с учетом отказов: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могут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адаптироваться к отказам датчиков или других компонентов и поддерживать стабильную работу системы.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8134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248655"/>
            <a:ext cx="7886700" cy="13255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HMI: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человеко-машинный интерфейс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7704" y="1574218"/>
            <a:ext cx="8524010" cy="3653219"/>
          </a:xfrm>
        </p:spPr>
        <p:txBody>
          <a:bodyPr/>
          <a:lstStyle/>
          <a:p>
            <a:pPr marL="0" indent="45720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HMI служит интерфейсом для общения пользователей и пассажиров с автомобилем.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Он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оснащен удобными функциями, включая дисплеи, распознавание речи и другие.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решения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включают:</a:t>
            </a: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сенсорные экраны навигационной системы,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информационно-развлекательные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системы с голосовой поддержкой,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рулевое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колесо,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кнопки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дисплеи </a:t>
            </a: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инструменты помощи при вождении.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3391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2" y="304071"/>
            <a:ext cx="8141278" cy="95669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 Приобретение и поставка оборудования на промышленное предприятие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52" y="1373815"/>
            <a:ext cx="8395855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Определение спецификаций: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четкое определение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технических требований к оборудованию, исходя из задач, которые будет решать беспилотная система. </a:t>
            </a:r>
            <a:endParaRPr lang="ru-RU" dirty="0" smtClean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Необходимо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учитывать: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Требуемую точность и дальность действия датчиков.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Необходимую производительность вычислительного оборудования.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Требования к электропитанию и энергопотреблению.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Условия эксплуатации (температура, влажность, вибрация).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Требования к безопасности и надежности.</a:t>
            </a: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4543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2" y="304071"/>
            <a:ext cx="8141278" cy="95669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 Приобретение и поставка оборудования на промышленное предприятие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52" y="1373815"/>
            <a:ext cx="8395855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Выбор поставщика: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рынка и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выбор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надежных поставщиков, предлагающих качественное оборудование и техническую поддержку. </a:t>
            </a:r>
            <a:endParaRPr lang="ru-RU" dirty="0" smtClean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Анализ и учет: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Репутации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поставщика.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Опыт работы на рынке беспилотных технологий.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Наличие необходимых сертификатов и лицензий.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Гарантийные обязательства и возможности сервисного обслуживания.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Отзывы других клиентов.</a:t>
            </a: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2572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2" y="304071"/>
            <a:ext cx="8141278" cy="95669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 Приобретение и поставка оборудования на промышленное предприятие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52" y="1373815"/>
            <a:ext cx="8395855" cy="3653219"/>
          </a:xfrm>
        </p:spPr>
        <p:txBody>
          <a:bodyPr/>
          <a:lstStyle/>
          <a:p>
            <a:pPr algn="just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Составление технического задания: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включающее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все технические требования к оборудованию, условия поставки и требования к документации.</a:t>
            </a:r>
          </a:p>
          <a:p>
            <a:pPr algn="just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Оформление договора: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должны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быть четко прописаны все условия поставки, оплаты, гарантийные обязательства и ответственность сторон.</a:t>
            </a:r>
          </a:p>
          <a:p>
            <a:pPr algn="just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Контроль качества при приемке: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необходимо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провести визуальный осмотр на предмет повреждений и проверить соответствие спецификациям. При необходимости можно провести функциональное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тестирование.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942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3" y="373346"/>
            <a:ext cx="7886700" cy="101210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3. Установка бортового оборудования и программного обеспечения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67779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Планирование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установки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установки оборудования, учитывающий: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Место установки каждого компонента.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Необходимость в дополнительных креплениях и кабелях.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Требования к электропитанию и заземлению.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Защиту оборудования от воздействия окружающей среды.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6507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3" y="373346"/>
            <a:ext cx="7886700" cy="101210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3. Установка бортового оборудования и программного обеспечения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67779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Подготовка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площадки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Удаление пыли и грязи.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Установку необходимых креплений.</a:t>
            </a:r>
          </a:p>
          <a:p>
            <a:pPr marL="742950" lvl="1" indent="-285750">
              <a:buFont typeface="Arial"/>
              <a:buChar char="•"/>
            </a:pP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Прокладку кабелей.</a:t>
            </a:r>
            <a:endParaRPr lang="ru-RU" b="0" i="0" dirty="0">
              <a:solidFill>
                <a:srgbClr val="494949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3884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3" y="373346"/>
            <a:ext cx="7886700" cy="101210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3. Установка бортового оборудования и программного обеспечения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1567779"/>
            <a:ext cx="8260773" cy="3653219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Монтаж </a:t>
            </a:r>
            <a:r>
              <a:rPr lang="ru-RU" sz="2000" b="1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оборудования</a:t>
            </a:r>
            <a:r>
              <a:rPr lang="ru-RU" sz="2000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Подключение </a:t>
            </a:r>
            <a:r>
              <a:rPr lang="ru-RU" sz="2000" b="1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кабелей</a:t>
            </a:r>
            <a:r>
              <a:rPr lang="ru-RU" sz="2000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Установка программного </a:t>
            </a:r>
            <a:r>
              <a:rPr lang="ru-RU" sz="2000" b="1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обеспечения.</a:t>
            </a:r>
          </a:p>
          <a:p>
            <a:pPr>
              <a:buFont typeface="Arial"/>
              <a:buChar char="•"/>
            </a:pPr>
            <a:r>
              <a:rPr lang="ru-RU" sz="2000" b="1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Калибровка оборудования</a:t>
            </a:r>
            <a:r>
              <a:rPr lang="ru-RU" sz="2000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b="0" i="0" dirty="0">
              <a:solidFill>
                <a:srgbClr val="494949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2121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274128"/>
            <a:ext cx="7886700" cy="13255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4. Проверка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корректной работы бортового оборудования в условиях эксплуатации, адаптация оборудования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4687" y="1629616"/>
            <a:ext cx="8376804" cy="5075984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/>
              <a:buChar char="•"/>
            </a:pPr>
            <a:r>
              <a:rPr lang="ru-RU" sz="2400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Тестирование:</a:t>
            </a:r>
            <a:r>
              <a:rPr lang="ru-RU" sz="24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4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оборудования в различных режимах работы, чтобы убедиться в его соответствии спецификациям и требованиям. Необходимо проверить:</a:t>
            </a:r>
          </a:p>
          <a:p>
            <a:pPr marL="742950" lvl="1" indent="-285750" algn="just">
              <a:spcBef>
                <a:spcPts val="0"/>
              </a:spcBef>
              <a:buFont typeface="Arial"/>
              <a:buChar char="•"/>
            </a:pP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Точность и дальность действия датчиков.</a:t>
            </a:r>
          </a:p>
          <a:p>
            <a:pPr marL="742950" lvl="1" indent="-285750" algn="just">
              <a:spcBef>
                <a:spcPts val="0"/>
              </a:spcBef>
              <a:buFont typeface="Arial"/>
              <a:buChar char="•"/>
            </a:pP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Производительность вычислительного оборудования.</a:t>
            </a:r>
          </a:p>
          <a:p>
            <a:pPr marL="742950" lvl="1" indent="-285750" algn="just">
              <a:spcBef>
                <a:spcPts val="0"/>
              </a:spcBef>
              <a:buFont typeface="Arial"/>
              <a:buChar char="•"/>
            </a:pP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Стабильность связи.</a:t>
            </a:r>
          </a:p>
          <a:p>
            <a:pPr marL="742950" lvl="1" indent="-285750" algn="just">
              <a:spcBef>
                <a:spcPts val="0"/>
              </a:spcBef>
              <a:buFont typeface="Arial"/>
              <a:buChar char="•"/>
            </a:pP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Корректность работы алгоритмов управления.</a:t>
            </a:r>
          </a:p>
          <a:p>
            <a:pPr algn="just">
              <a:spcBef>
                <a:spcPts val="0"/>
              </a:spcBef>
              <a:buFont typeface="Arial"/>
              <a:buChar char="•"/>
            </a:pPr>
            <a:r>
              <a:rPr lang="ru-RU" sz="2400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Адаптация:</a:t>
            </a:r>
            <a:r>
              <a:rPr lang="ru-RU" sz="24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адаптация параметров </a:t>
            </a:r>
            <a:r>
              <a:rPr lang="ru-RU" sz="24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оборудования и </a:t>
            </a:r>
            <a:r>
              <a:rPr lang="ru-RU" sz="2400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алгоритмов </a:t>
            </a:r>
            <a:r>
              <a:rPr lang="ru-RU" sz="24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управления к конкретным условиям эксплуатации. Это может включать:</a:t>
            </a:r>
          </a:p>
          <a:p>
            <a:pPr marL="742950" lvl="1" indent="-285750" algn="just">
              <a:spcBef>
                <a:spcPts val="0"/>
              </a:spcBef>
              <a:buFont typeface="Arial"/>
              <a:buChar char="•"/>
            </a:pP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Настройку фильтров для подавления шумов и помех.</a:t>
            </a:r>
          </a:p>
          <a:p>
            <a:pPr marL="742950" lvl="1" indent="-285750" algn="just">
              <a:spcBef>
                <a:spcPts val="0"/>
              </a:spcBef>
              <a:buFont typeface="Arial"/>
              <a:buChar char="•"/>
            </a:pP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Калибровку датчиков с учетом температурных изменений.</a:t>
            </a:r>
          </a:p>
          <a:p>
            <a:pPr marL="742950" lvl="1" indent="-285750" algn="just">
              <a:spcBef>
                <a:spcPts val="0"/>
              </a:spcBef>
              <a:buFont typeface="Arial"/>
              <a:buChar char="•"/>
            </a:pP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Оптимизацию алгоритмов управления для повышения эффективности и безопасности.</a:t>
            </a:r>
          </a:p>
          <a:p>
            <a:pPr algn="just">
              <a:spcBef>
                <a:spcPts val="0"/>
              </a:spcBef>
              <a:buFont typeface="Arial"/>
              <a:buChar char="•"/>
            </a:pPr>
            <a:r>
              <a:rPr lang="ru-RU" sz="2400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Сбор данных и </a:t>
            </a:r>
            <a:r>
              <a:rPr lang="ru-RU" sz="2400" b="1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анализ</a:t>
            </a:r>
            <a:r>
              <a:rPr lang="ru-RU" sz="2400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  <a:buFont typeface="Arial"/>
              <a:buChar char="•"/>
            </a:pPr>
            <a:r>
              <a:rPr lang="ru-RU" sz="2400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Мониторинг и </a:t>
            </a:r>
            <a:r>
              <a:rPr lang="ru-RU" sz="2400" b="1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обслуживание</a:t>
            </a:r>
            <a:r>
              <a:rPr lang="ru-RU" sz="2400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8807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6009</TotalTime>
  <Words>1316</Words>
  <Application>Microsoft Office PowerPoint</Application>
  <PresentationFormat>Экран (4:3)</PresentationFormat>
  <Paragraphs>145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23</vt:i4>
      </vt:variant>
    </vt:vector>
  </HeadingPairs>
  <TitlesOfParts>
    <vt:vector size="25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Установка бортового оборудования</vt:lpstr>
      <vt:lpstr>План лекции</vt:lpstr>
      <vt:lpstr>Бортовое оборудование </vt:lpstr>
      <vt:lpstr>Датчики</vt:lpstr>
      <vt:lpstr>Датчики</vt:lpstr>
      <vt:lpstr>Вычислительное оборудование</vt:lpstr>
      <vt:lpstr>Оборудование управления движением</vt:lpstr>
      <vt:lpstr>Программное обеспечение</vt:lpstr>
      <vt:lpstr>Оборудование связи</vt:lpstr>
      <vt:lpstr>Системы резервирования и безопасности</vt:lpstr>
      <vt:lpstr>Системы резервирования и безопасности</vt:lpstr>
      <vt:lpstr>Системы резервирования и безопасности</vt:lpstr>
      <vt:lpstr>Системы резервирования и безопасности</vt:lpstr>
      <vt:lpstr>HMI: человеко-машинный интерфейс</vt:lpstr>
      <vt:lpstr>2. Приобретение и поставка оборудования на промышленное предприятие</vt:lpstr>
      <vt:lpstr>2. Приобретение и поставка оборудования на промышленное предприятие</vt:lpstr>
      <vt:lpstr>2. Приобретение и поставка оборудования на промышленное предприятие</vt:lpstr>
      <vt:lpstr>3. Установка бортового оборудования и программного обеспечения</vt:lpstr>
      <vt:lpstr>3. Установка бортового оборудования и программного обеспечения</vt:lpstr>
      <vt:lpstr>3. Установка бортового оборудования и программного обеспечения</vt:lpstr>
      <vt:lpstr>4. Проверка корректной работы бортового оборудования в условиях эксплуатации, адаптация оборудования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352</cp:revision>
  <dcterms:created xsi:type="dcterms:W3CDTF">2015-07-29T11:14:37Z</dcterms:created>
  <dcterms:modified xsi:type="dcterms:W3CDTF">2026-06-26T21:15:28Z</dcterms:modified>
</cp:coreProperties>
</file>