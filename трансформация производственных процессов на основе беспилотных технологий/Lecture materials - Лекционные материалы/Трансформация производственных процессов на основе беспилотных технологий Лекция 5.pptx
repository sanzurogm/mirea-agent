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63"/>
  </p:notesMasterIdLst>
  <p:sldIdLst>
    <p:sldId id="325" r:id="rId3"/>
    <p:sldId id="293" r:id="rId4"/>
    <p:sldId id="294" r:id="rId5"/>
    <p:sldId id="380" r:id="rId6"/>
    <p:sldId id="381" r:id="rId7"/>
    <p:sldId id="384" r:id="rId8"/>
    <p:sldId id="385" r:id="rId9"/>
    <p:sldId id="349" r:id="rId10"/>
    <p:sldId id="351" r:id="rId11"/>
    <p:sldId id="352" r:id="rId12"/>
    <p:sldId id="353" r:id="rId13"/>
    <p:sldId id="354" r:id="rId14"/>
    <p:sldId id="355" r:id="rId15"/>
    <p:sldId id="326" r:id="rId16"/>
    <p:sldId id="348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346" r:id="rId37"/>
    <p:sldId id="347" r:id="rId38"/>
    <p:sldId id="350" r:id="rId39"/>
    <p:sldId id="367" r:id="rId40"/>
    <p:sldId id="368" r:id="rId41"/>
    <p:sldId id="369" r:id="rId42"/>
    <p:sldId id="371" r:id="rId43"/>
    <p:sldId id="372" r:id="rId44"/>
    <p:sldId id="370" r:id="rId45"/>
    <p:sldId id="357" r:id="rId46"/>
    <p:sldId id="358" r:id="rId47"/>
    <p:sldId id="359" r:id="rId48"/>
    <p:sldId id="360" r:id="rId49"/>
    <p:sldId id="373" r:id="rId50"/>
    <p:sldId id="361" r:id="rId51"/>
    <p:sldId id="362" r:id="rId52"/>
    <p:sldId id="363" r:id="rId53"/>
    <p:sldId id="364" r:id="rId54"/>
    <p:sldId id="365" r:id="rId55"/>
    <p:sldId id="366" r:id="rId56"/>
    <p:sldId id="374" r:id="rId57"/>
    <p:sldId id="375" r:id="rId58"/>
    <p:sldId id="376" r:id="rId59"/>
    <p:sldId id="377" r:id="rId60"/>
    <p:sldId id="378" r:id="rId61"/>
    <p:sldId id="264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0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B1F558-3788-4CD5-A72F-9C9C512B68E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1C693A9-FA7D-40B4-BB5F-9FDF661B6F6F}">
      <dgm:prSet phldrT="[Текст]" custT="1"/>
      <dgm:spPr/>
      <dgm:t>
        <a:bodyPr/>
        <a:lstStyle/>
        <a:p>
          <a:r>
            <a:rPr lang="ru-RU" sz="2000" b="0" dirty="0" smtClean="0">
              <a:latin typeface="Times New Roman" pitchFamily="18" charset="0"/>
              <a:cs typeface="Times New Roman" pitchFamily="18" charset="0"/>
            </a:rPr>
            <a:t>Автоматизирует рутинные задачи. </a:t>
          </a:r>
        </a:p>
        <a:p>
          <a:r>
            <a:rPr lang="ru-RU" sz="2000" b="0" dirty="0" smtClean="0">
              <a:latin typeface="Times New Roman" pitchFamily="18" charset="0"/>
              <a:cs typeface="Times New Roman" pitchFamily="18" charset="0"/>
            </a:rPr>
            <a:t>Например, программа может выставлять счета. Это снижает количество ошибок и разгружает сотрудников.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249C7562-7AA3-4B96-85B4-708F5D136B8F}" type="parTrans" cxnId="{AEDFFF20-67F0-47F3-9586-4737E840CFA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7D905EA2-55F6-4EC8-9E02-A5C88E0DE474}" type="sibTrans" cxnId="{AEDFFF20-67F0-47F3-9586-4737E840CFA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640CD46-73DC-4D9B-8671-5E6F781768E4}">
      <dgm:prSet custT="1"/>
      <dgm:spPr/>
      <dgm:t>
        <a:bodyPr/>
        <a:lstStyle/>
        <a:p>
          <a:r>
            <a:rPr lang="ru-RU" sz="2000" b="0" dirty="0" smtClean="0">
              <a:latin typeface="Times New Roman" pitchFamily="18" charset="0"/>
              <a:cs typeface="Times New Roman" pitchFamily="18" charset="0"/>
            </a:rPr>
            <a:t>Следит за ресурсами и закупками. </a:t>
          </a:r>
        </a:p>
        <a:p>
          <a:r>
            <a:rPr lang="ru-RU" sz="2000" b="0" dirty="0" smtClean="0">
              <a:latin typeface="Times New Roman" pitchFamily="18" charset="0"/>
              <a:cs typeface="Times New Roman" pitchFamily="18" charset="0"/>
            </a:rPr>
            <a:t>Система отслеживает остатки на складе, предупреждает о нехватке или избытке товара и формирует заказы поставщикам.</a:t>
          </a:r>
          <a:endParaRPr lang="ru-RU" sz="2000" b="0" dirty="0">
            <a:latin typeface="Times New Roman" pitchFamily="18" charset="0"/>
            <a:cs typeface="Times New Roman" pitchFamily="18" charset="0"/>
          </a:endParaRPr>
        </a:p>
      </dgm:t>
    </dgm:pt>
    <dgm:pt modelId="{55B75781-463B-4D51-AAE9-7BC530A1BF96}" type="parTrans" cxnId="{4AF6F6F0-3B4F-4FF1-8307-F05D7B60D45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684069C-601C-4BB7-816B-1E772353F709}" type="sibTrans" cxnId="{4AF6F6F0-3B4F-4FF1-8307-F05D7B60D45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C0BA341-6A5E-403E-8416-7A8D4254E508}">
      <dgm:prSet custT="1"/>
      <dgm:spPr/>
      <dgm:t>
        <a:bodyPr/>
        <a:lstStyle/>
        <a:p>
          <a:r>
            <a:rPr lang="ru-RU" sz="2000" b="0" dirty="0" smtClean="0">
              <a:latin typeface="Times New Roman" pitchFamily="18" charset="0"/>
              <a:cs typeface="Times New Roman" pitchFamily="18" charset="0"/>
            </a:rPr>
            <a:t>Помогает вести бухгалтерский и налоговый учет.</a:t>
          </a:r>
        </a:p>
        <a:p>
          <a:r>
            <a:rPr lang="ru-RU" sz="2000" b="0" dirty="0" smtClean="0">
              <a:latin typeface="Times New Roman" pitchFamily="18" charset="0"/>
              <a:cs typeface="Times New Roman" pitchFamily="18" charset="0"/>
            </a:rPr>
            <a:t>Формирует проводки , рассчитывает НДС, закрывает отчеты.</a:t>
          </a:r>
          <a:endParaRPr lang="ru-RU" sz="2000" b="0" dirty="0">
            <a:latin typeface="Times New Roman" pitchFamily="18" charset="0"/>
            <a:cs typeface="Times New Roman" pitchFamily="18" charset="0"/>
          </a:endParaRPr>
        </a:p>
      </dgm:t>
    </dgm:pt>
    <dgm:pt modelId="{3063DB56-0959-4DEB-A1CD-D43C6F9FBBCA}" type="parTrans" cxnId="{C55A4846-F313-4D2A-B88A-04FA84010067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CFD43BE-03E1-4097-9A2B-2FA151C7CD3D}" type="sibTrans" cxnId="{C55A4846-F313-4D2A-B88A-04FA84010067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6D1634C5-2574-4B50-B4DC-41A37869E1EB}">
      <dgm:prSet custT="1"/>
      <dgm:spPr/>
      <dgm:t>
        <a:bodyPr/>
        <a:lstStyle/>
        <a:p>
          <a:r>
            <a:rPr lang="ru-RU" sz="2000" b="0" smtClean="0">
              <a:latin typeface="Times New Roman" pitchFamily="18" charset="0"/>
              <a:cs typeface="Times New Roman" pitchFamily="18" charset="0"/>
            </a:rPr>
            <a:t>Планирует сроки и ресурсы на этапе производства, снабжения и продаж.</a:t>
          </a:r>
          <a:endParaRPr lang="ru-RU" sz="2000" b="0">
            <a:latin typeface="Times New Roman" pitchFamily="18" charset="0"/>
            <a:cs typeface="Times New Roman" pitchFamily="18" charset="0"/>
          </a:endParaRPr>
        </a:p>
      </dgm:t>
    </dgm:pt>
    <dgm:pt modelId="{07FC6BB9-5A3E-4A7C-83EF-42822F2F366B}" type="parTrans" cxnId="{4A088181-9750-4E13-B5DE-C381BDD1EB0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AC76CAC-96CD-4621-9A6C-DF5E2C8F9941}" type="sibTrans" cxnId="{4A088181-9750-4E13-B5DE-C381BDD1EB0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546B1B4-7ED7-40EB-9927-F2E61B771162}">
      <dgm:prSet custT="1"/>
      <dgm:spPr/>
      <dgm:t>
        <a:bodyPr/>
        <a:lstStyle/>
        <a:p>
          <a:r>
            <a:rPr lang="ru-RU" sz="2000" b="0" dirty="0" smtClean="0">
              <a:latin typeface="Times New Roman" pitchFamily="18" charset="0"/>
              <a:cs typeface="Times New Roman" pitchFamily="18" charset="0"/>
            </a:rPr>
            <a:t>Показывает статус заказа.</a:t>
          </a:r>
        </a:p>
        <a:p>
          <a:r>
            <a:rPr lang="ru-RU" sz="2000" b="0" dirty="0" smtClean="0">
              <a:latin typeface="Times New Roman" pitchFamily="18" charset="0"/>
              <a:cs typeface="Times New Roman" pitchFamily="18" charset="0"/>
            </a:rPr>
            <a:t>Где он сейчас, кто его обрабатывает, когда будет доставлен.</a:t>
          </a:r>
          <a:endParaRPr lang="ru-RU" sz="2000" b="0" dirty="0">
            <a:latin typeface="Times New Roman" pitchFamily="18" charset="0"/>
            <a:cs typeface="Times New Roman" pitchFamily="18" charset="0"/>
          </a:endParaRPr>
        </a:p>
      </dgm:t>
    </dgm:pt>
    <dgm:pt modelId="{956EBB59-4335-4597-A4E2-7881A939AC18}" type="parTrans" cxnId="{CD2787D9-00CE-4B8F-A9DC-A173B64AF3D7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E22CB0B-A356-4C3C-AE23-6EA8BD38ED41}" type="sibTrans" cxnId="{CD2787D9-00CE-4B8F-A9DC-A173B64AF3D7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BC4A8756-3B0C-430C-BF1E-37815CEB5049}">
      <dgm:prSet custT="1"/>
      <dgm:spPr/>
      <dgm:t>
        <a:bodyPr/>
        <a:lstStyle/>
        <a:p>
          <a:r>
            <a:rPr lang="ru-RU" sz="2000" b="0" dirty="0" smtClean="0">
              <a:latin typeface="Times New Roman" pitchFamily="18" charset="0"/>
              <a:cs typeface="Times New Roman" pitchFamily="18" charset="0"/>
            </a:rPr>
            <a:t>Упрощает анализ и помогает принимать управленческие решения. </a:t>
          </a:r>
        </a:p>
        <a:p>
          <a:r>
            <a:rPr lang="ru-RU" sz="2000" b="0" dirty="0" smtClean="0">
              <a:latin typeface="Times New Roman" pitchFamily="18" charset="0"/>
              <a:cs typeface="Times New Roman" pitchFamily="18" charset="0"/>
            </a:rPr>
            <a:t>Формирует </a:t>
          </a:r>
          <a:r>
            <a:rPr lang="ru-RU" sz="2000" b="0" smtClean="0">
              <a:latin typeface="Times New Roman" pitchFamily="18" charset="0"/>
              <a:cs typeface="Times New Roman" pitchFamily="18" charset="0"/>
            </a:rPr>
            <a:t>отчеты </a:t>
          </a:r>
          <a:r>
            <a:rPr lang="ru-RU" sz="2000" b="0" dirty="0" smtClean="0">
              <a:latin typeface="Times New Roman" pitchFamily="18" charset="0"/>
              <a:cs typeface="Times New Roman" pitchFamily="18" charset="0"/>
            </a:rPr>
            <a:t> - по продажам, затратам, эффективности сотрудников и другим метрикам.</a:t>
          </a:r>
          <a:endParaRPr lang="ru-RU" sz="2000" b="0" dirty="0">
            <a:latin typeface="Times New Roman" pitchFamily="18" charset="0"/>
            <a:cs typeface="Times New Roman" pitchFamily="18" charset="0"/>
          </a:endParaRPr>
        </a:p>
      </dgm:t>
    </dgm:pt>
    <dgm:pt modelId="{8C9780B4-3B94-4155-888D-74B2F734077B}" type="parTrans" cxnId="{C66643F6-D175-4432-AA0E-11E96D9169C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B309742-CAA7-482B-988C-6A776AEFF411}" type="sibTrans" cxnId="{C66643F6-D175-4432-AA0E-11E96D9169C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64BCC73-29FC-43BF-9FDE-E39F5D19D26E}" type="pres">
      <dgm:prSet presAssocID="{97B1F558-3788-4CD5-A72F-9C9C512B68E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48FFC2C-2A5C-40A1-92DD-F710363B1AC7}" type="pres">
      <dgm:prSet presAssocID="{41C693A9-FA7D-40B4-BB5F-9FDF661B6F6F}" presName="node" presStyleLbl="node1" presStyleIdx="0" presStyleCnt="6" custScaleY="15213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3D3EFA3-ADB8-4936-A813-B3B3C08678A3}" type="pres">
      <dgm:prSet presAssocID="{7D905EA2-55F6-4EC8-9E02-A5C88E0DE474}" presName="sibTrans" presStyleCnt="0"/>
      <dgm:spPr/>
    </dgm:pt>
    <dgm:pt modelId="{0BDB0E26-04EA-4721-A910-2F8FF4D78990}" type="pres">
      <dgm:prSet presAssocID="{1640CD46-73DC-4D9B-8671-5E6F781768E4}" presName="node" presStyleLbl="node1" presStyleIdx="1" presStyleCnt="6" custScaleY="15042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6C1F6FE-1C4B-4239-8724-B8C041EEA37A}" type="pres">
      <dgm:prSet presAssocID="{5684069C-601C-4BB7-816B-1E772353F709}" presName="sibTrans" presStyleCnt="0"/>
      <dgm:spPr/>
    </dgm:pt>
    <dgm:pt modelId="{7773DF7E-CEC5-47FF-84F7-315D99E47018}" type="pres">
      <dgm:prSet presAssocID="{4C0BA341-6A5E-403E-8416-7A8D4254E508}" presName="node" presStyleLbl="node1" presStyleIdx="2" presStyleCnt="6" custScaleY="14872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4FF75E1-2554-4840-80AC-E6E3993BBA31}" type="pres">
      <dgm:prSet presAssocID="{4CFD43BE-03E1-4097-9A2B-2FA151C7CD3D}" presName="sibTrans" presStyleCnt="0"/>
      <dgm:spPr/>
    </dgm:pt>
    <dgm:pt modelId="{5B7F50E5-9FB1-4F2C-B4A4-067D045C43EC}" type="pres">
      <dgm:prSet presAssocID="{6D1634C5-2574-4B50-B4DC-41A37869E1EB}" presName="node" presStyleLbl="node1" presStyleIdx="3" presStyleCnt="6" custScaleY="15827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CB4A75-F00F-46AF-8DC4-4110408AAA33}" type="pres">
      <dgm:prSet presAssocID="{EAC76CAC-96CD-4621-9A6C-DF5E2C8F9941}" presName="sibTrans" presStyleCnt="0"/>
      <dgm:spPr/>
    </dgm:pt>
    <dgm:pt modelId="{45E3DF8C-E5F8-4FE9-B454-8C498F03B387}" type="pres">
      <dgm:prSet presAssocID="{E546B1B4-7ED7-40EB-9927-F2E61B771162}" presName="node" presStyleLbl="node1" presStyleIdx="4" presStyleCnt="6" custScaleY="15878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1F447E-DEC3-44EB-A8E7-DBA0AA2EE9DF}" type="pres">
      <dgm:prSet presAssocID="{9E22CB0B-A356-4C3C-AE23-6EA8BD38ED41}" presName="sibTrans" presStyleCnt="0"/>
      <dgm:spPr/>
    </dgm:pt>
    <dgm:pt modelId="{DCF90C49-ADD1-4EA3-B90C-633B91F56E05}" type="pres">
      <dgm:prSet presAssocID="{BC4A8756-3B0C-430C-BF1E-37815CEB5049}" presName="node" presStyleLbl="node1" presStyleIdx="5" presStyleCnt="6" custScaleY="15930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55A4846-F313-4D2A-B88A-04FA84010067}" srcId="{97B1F558-3788-4CD5-A72F-9C9C512B68E7}" destId="{4C0BA341-6A5E-403E-8416-7A8D4254E508}" srcOrd="2" destOrd="0" parTransId="{3063DB56-0959-4DEB-A1CD-D43C6F9FBBCA}" sibTransId="{4CFD43BE-03E1-4097-9A2B-2FA151C7CD3D}"/>
    <dgm:cxn modelId="{FF700D9C-6EF7-4F78-9BF7-B6CBFD7960B3}" type="presOf" srcId="{6D1634C5-2574-4B50-B4DC-41A37869E1EB}" destId="{5B7F50E5-9FB1-4F2C-B4A4-067D045C43EC}" srcOrd="0" destOrd="0" presId="urn:microsoft.com/office/officeart/2005/8/layout/default"/>
    <dgm:cxn modelId="{CD2787D9-00CE-4B8F-A9DC-A173B64AF3D7}" srcId="{97B1F558-3788-4CD5-A72F-9C9C512B68E7}" destId="{E546B1B4-7ED7-40EB-9927-F2E61B771162}" srcOrd="4" destOrd="0" parTransId="{956EBB59-4335-4597-A4E2-7881A939AC18}" sibTransId="{9E22CB0B-A356-4C3C-AE23-6EA8BD38ED41}"/>
    <dgm:cxn modelId="{4AF6F6F0-3B4F-4FF1-8307-F05D7B60D454}" srcId="{97B1F558-3788-4CD5-A72F-9C9C512B68E7}" destId="{1640CD46-73DC-4D9B-8671-5E6F781768E4}" srcOrd="1" destOrd="0" parTransId="{55B75781-463B-4D51-AAE9-7BC530A1BF96}" sibTransId="{5684069C-601C-4BB7-816B-1E772353F709}"/>
    <dgm:cxn modelId="{816B491E-8054-4DB3-8D4A-1A547C89A510}" type="presOf" srcId="{97B1F558-3788-4CD5-A72F-9C9C512B68E7}" destId="{064BCC73-29FC-43BF-9FDE-E39F5D19D26E}" srcOrd="0" destOrd="0" presId="urn:microsoft.com/office/officeart/2005/8/layout/default"/>
    <dgm:cxn modelId="{C66643F6-D175-4432-AA0E-11E96D9169CD}" srcId="{97B1F558-3788-4CD5-A72F-9C9C512B68E7}" destId="{BC4A8756-3B0C-430C-BF1E-37815CEB5049}" srcOrd="5" destOrd="0" parTransId="{8C9780B4-3B94-4155-888D-74B2F734077B}" sibTransId="{EB309742-CAA7-482B-988C-6A776AEFF411}"/>
    <dgm:cxn modelId="{AEDFFF20-67F0-47F3-9586-4737E840CFAE}" srcId="{97B1F558-3788-4CD5-A72F-9C9C512B68E7}" destId="{41C693A9-FA7D-40B4-BB5F-9FDF661B6F6F}" srcOrd="0" destOrd="0" parTransId="{249C7562-7AA3-4B96-85B4-708F5D136B8F}" sibTransId="{7D905EA2-55F6-4EC8-9E02-A5C88E0DE474}"/>
    <dgm:cxn modelId="{1DE0BDF4-8E3E-4D67-8CAA-852C7701A8A9}" type="presOf" srcId="{1640CD46-73DC-4D9B-8671-5E6F781768E4}" destId="{0BDB0E26-04EA-4721-A910-2F8FF4D78990}" srcOrd="0" destOrd="0" presId="urn:microsoft.com/office/officeart/2005/8/layout/default"/>
    <dgm:cxn modelId="{5410F153-C437-4BC7-8CC7-957145426291}" type="presOf" srcId="{41C693A9-FA7D-40B4-BB5F-9FDF661B6F6F}" destId="{348FFC2C-2A5C-40A1-92DD-F710363B1AC7}" srcOrd="0" destOrd="0" presId="urn:microsoft.com/office/officeart/2005/8/layout/default"/>
    <dgm:cxn modelId="{7A07E6C2-3753-4E4E-A1B1-60D946DE64EF}" type="presOf" srcId="{E546B1B4-7ED7-40EB-9927-F2E61B771162}" destId="{45E3DF8C-E5F8-4FE9-B454-8C498F03B387}" srcOrd="0" destOrd="0" presId="urn:microsoft.com/office/officeart/2005/8/layout/default"/>
    <dgm:cxn modelId="{E40AA85D-9DB8-4F27-971C-1A11D21F9AE6}" type="presOf" srcId="{BC4A8756-3B0C-430C-BF1E-37815CEB5049}" destId="{DCF90C49-ADD1-4EA3-B90C-633B91F56E05}" srcOrd="0" destOrd="0" presId="urn:microsoft.com/office/officeart/2005/8/layout/default"/>
    <dgm:cxn modelId="{8968E464-A7F4-4B5F-8ACD-7AE1E07482CE}" type="presOf" srcId="{4C0BA341-6A5E-403E-8416-7A8D4254E508}" destId="{7773DF7E-CEC5-47FF-84F7-315D99E47018}" srcOrd="0" destOrd="0" presId="urn:microsoft.com/office/officeart/2005/8/layout/default"/>
    <dgm:cxn modelId="{4A088181-9750-4E13-B5DE-C381BDD1EB06}" srcId="{97B1F558-3788-4CD5-A72F-9C9C512B68E7}" destId="{6D1634C5-2574-4B50-B4DC-41A37869E1EB}" srcOrd="3" destOrd="0" parTransId="{07FC6BB9-5A3E-4A7C-83EF-42822F2F366B}" sibTransId="{EAC76CAC-96CD-4621-9A6C-DF5E2C8F9941}"/>
    <dgm:cxn modelId="{1448B29E-898C-4F71-B6E4-B2FD2C984243}" type="presParOf" srcId="{064BCC73-29FC-43BF-9FDE-E39F5D19D26E}" destId="{348FFC2C-2A5C-40A1-92DD-F710363B1AC7}" srcOrd="0" destOrd="0" presId="urn:microsoft.com/office/officeart/2005/8/layout/default"/>
    <dgm:cxn modelId="{5827BCAF-C8E2-4A20-AA9A-DF1412DD0532}" type="presParOf" srcId="{064BCC73-29FC-43BF-9FDE-E39F5D19D26E}" destId="{C3D3EFA3-ADB8-4936-A813-B3B3C08678A3}" srcOrd="1" destOrd="0" presId="urn:microsoft.com/office/officeart/2005/8/layout/default"/>
    <dgm:cxn modelId="{BCB376D5-FE8B-49DF-A311-CD1E061646D1}" type="presParOf" srcId="{064BCC73-29FC-43BF-9FDE-E39F5D19D26E}" destId="{0BDB0E26-04EA-4721-A910-2F8FF4D78990}" srcOrd="2" destOrd="0" presId="urn:microsoft.com/office/officeart/2005/8/layout/default"/>
    <dgm:cxn modelId="{5BCAA431-D623-4030-882D-CC000BC0481E}" type="presParOf" srcId="{064BCC73-29FC-43BF-9FDE-E39F5D19D26E}" destId="{06C1F6FE-1C4B-4239-8724-B8C041EEA37A}" srcOrd="3" destOrd="0" presId="urn:microsoft.com/office/officeart/2005/8/layout/default"/>
    <dgm:cxn modelId="{2EED815F-5A16-4A6A-9094-8EDAA1A5FFDE}" type="presParOf" srcId="{064BCC73-29FC-43BF-9FDE-E39F5D19D26E}" destId="{7773DF7E-CEC5-47FF-84F7-315D99E47018}" srcOrd="4" destOrd="0" presId="urn:microsoft.com/office/officeart/2005/8/layout/default"/>
    <dgm:cxn modelId="{9A0C05E1-992F-46B3-8B1B-85B5EA2BEAFE}" type="presParOf" srcId="{064BCC73-29FC-43BF-9FDE-E39F5D19D26E}" destId="{D4FF75E1-2554-4840-80AC-E6E3993BBA31}" srcOrd="5" destOrd="0" presId="urn:microsoft.com/office/officeart/2005/8/layout/default"/>
    <dgm:cxn modelId="{62CF8EFE-29D2-484B-98D0-CA88412C8BB7}" type="presParOf" srcId="{064BCC73-29FC-43BF-9FDE-E39F5D19D26E}" destId="{5B7F50E5-9FB1-4F2C-B4A4-067D045C43EC}" srcOrd="6" destOrd="0" presId="urn:microsoft.com/office/officeart/2005/8/layout/default"/>
    <dgm:cxn modelId="{2EF5EA4D-DFDA-4465-9700-CED12C32EAE7}" type="presParOf" srcId="{064BCC73-29FC-43BF-9FDE-E39F5D19D26E}" destId="{B1CB4A75-F00F-46AF-8DC4-4110408AAA33}" srcOrd="7" destOrd="0" presId="urn:microsoft.com/office/officeart/2005/8/layout/default"/>
    <dgm:cxn modelId="{D9CD591B-B73B-4E2B-A231-8567589DBD03}" type="presParOf" srcId="{064BCC73-29FC-43BF-9FDE-E39F5D19D26E}" destId="{45E3DF8C-E5F8-4FE9-B454-8C498F03B387}" srcOrd="8" destOrd="0" presId="urn:microsoft.com/office/officeart/2005/8/layout/default"/>
    <dgm:cxn modelId="{3E0A9C8A-A665-460D-BED4-3B1261C3B867}" type="presParOf" srcId="{064BCC73-29FC-43BF-9FDE-E39F5D19D26E}" destId="{311F447E-DEC3-44EB-A8E7-DBA0AA2EE9DF}" srcOrd="9" destOrd="0" presId="urn:microsoft.com/office/officeart/2005/8/layout/default"/>
    <dgm:cxn modelId="{AF819C68-848B-4A42-9FA5-66680E468DB1}" type="presParOf" srcId="{064BCC73-29FC-43BF-9FDE-E39F5D19D26E}" destId="{DCF90C49-ADD1-4EA3-B90C-633B91F56E0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75DC9C-94BC-40FA-B8CB-D05B56948D4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6F58A94-3A40-45D9-A4A7-099D72EF6552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База данных - центральное хранилище информации: товары, заказы, клиенты, сотрудники, запасы. </a:t>
          </a:r>
        </a:p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Фиксируется все, что происходит в системе. </a:t>
          </a:r>
        </a:p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Информация обновляется и не дублируется по отделам.</a:t>
          </a:r>
          <a:endParaRPr lang="ru-RU" sz="1800" dirty="0"/>
        </a:p>
      </dgm:t>
    </dgm:pt>
    <dgm:pt modelId="{35F2AC9A-6A41-4E21-B99D-72DD3B50A336}" type="parTrans" cxnId="{E7434B74-7A51-460D-B6ED-56C83B93C100}">
      <dgm:prSet/>
      <dgm:spPr/>
      <dgm:t>
        <a:bodyPr/>
        <a:lstStyle/>
        <a:p>
          <a:endParaRPr lang="ru-RU" sz="2000"/>
        </a:p>
      </dgm:t>
    </dgm:pt>
    <dgm:pt modelId="{77E623AF-6CF2-41DD-AE2F-22D728B4FC41}" type="sibTrans" cxnId="{E7434B74-7A51-460D-B6ED-56C83B93C100}">
      <dgm:prSet/>
      <dgm:spPr/>
      <dgm:t>
        <a:bodyPr/>
        <a:lstStyle/>
        <a:p>
          <a:endParaRPr lang="ru-RU" sz="2000"/>
        </a:p>
      </dgm:t>
    </dgm:pt>
    <dgm:pt modelId="{43A6B134-4A02-47F9-A56E-F76D1299FDF6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Модули - разделы или даже приложения, каждое из которых отвечает за определенное направление бизнеса: финансовый учет, управление продажами, запасы и другие. </a:t>
          </a:r>
        </a:p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Модули работают как самостоятельные функциональные блоки. </a:t>
          </a:r>
        </a:p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данными идет через сервер приложений.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A16BA317-5C94-4BCE-BC17-DA66B370C450}" type="parTrans" cxnId="{46409092-70BB-4C61-9D9F-6F374EDD9AAF}">
      <dgm:prSet/>
      <dgm:spPr/>
      <dgm:t>
        <a:bodyPr/>
        <a:lstStyle/>
        <a:p>
          <a:endParaRPr lang="ru-RU" sz="2000"/>
        </a:p>
      </dgm:t>
    </dgm:pt>
    <dgm:pt modelId="{C8D58456-9F2E-4422-9AA2-BB7477D61023}" type="sibTrans" cxnId="{46409092-70BB-4C61-9D9F-6F374EDD9AAF}">
      <dgm:prSet/>
      <dgm:spPr/>
      <dgm:t>
        <a:bodyPr/>
        <a:lstStyle/>
        <a:p>
          <a:endParaRPr lang="ru-RU" sz="2000"/>
        </a:p>
      </dgm:t>
    </dgm:pt>
    <dgm:pt modelId="{EA962CCA-DB59-4862-A358-D4847702BA32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Сервер приложений - мозг ERP-системы. </a:t>
          </a:r>
        </a:p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Он управляет взаимодействием модулей, обрабатывает действия пользователей и обновляет информацию в базе данных. </a:t>
          </a:r>
        </a:p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Все, что происходит в системе, проходит через него.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064AF108-65CB-40D0-97DE-F701BA4933A3}" type="parTrans" cxnId="{49F1D665-1C02-4AB3-8177-5DFF81D8852B}">
      <dgm:prSet/>
      <dgm:spPr/>
      <dgm:t>
        <a:bodyPr/>
        <a:lstStyle/>
        <a:p>
          <a:endParaRPr lang="ru-RU" sz="2000"/>
        </a:p>
      </dgm:t>
    </dgm:pt>
    <dgm:pt modelId="{4C2B6A77-1E20-489F-9233-83B6A4B9FED0}" type="sibTrans" cxnId="{49F1D665-1C02-4AB3-8177-5DFF81D8852B}">
      <dgm:prSet/>
      <dgm:spPr/>
      <dgm:t>
        <a:bodyPr/>
        <a:lstStyle/>
        <a:p>
          <a:endParaRPr lang="ru-RU" sz="2000"/>
        </a:p>
      </dgm:t>
    </dgm:pt>
    <dgm:pt modelId="{7E2D4CA8-10A0-40D2-BE2E-6966F745DA37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Интерфейс для пользователей - то, что видят сотрудники: окна, панели, формы. </a:t>
          </a:r>
        </a:p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Через интерфейс они вносят данные, оформляют заказы, формируют отчеты и получают нужную информацию. </a:t>
          </a:r>
        </a:p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Например, менеджер смотрит отчеты по продажам, кладовщик оформляет отгрузки, специалист по закупкам размещает заказы или отправляет их поставщикам. </a:t>
          </a:r>
        </a:p>
      </dgm:t>
    </dgm:pt>
    <dgm:pt modelId="{86172EAC-0257-4EB7-B16C-FFF028B571F5}" type="parTrans" cxnId="{49DA5650-08FF-442C-A579-A36006F76CA8}">
      <dgm:prSet/>
      <dgm:spPr/>
      <dgm:t>
        <a:bodyPr/>
        <a:lstStyle/>
        <a:p>
          <a:endParaRPr lang="ru-RU" sz="2000"/>
        </a:p>
      </dgm:t>
    </dgm:pt>
    <dgm:pt modelId="{8989AD7A-E882-4C74-8884-B6C954D06817}" type="sibTrans" cxnId="{49DA5650-08FF-442C-A579-A36006F76CA8}">
      <dgm:prSet/>
      <dgm:spPr/>
      <dgm:t>
        <a:bodyPr/>
        <a:lstStyle/>
        <a:p>
          <a:endParaRPr lang="ru-RU" sz="2000"/>
        </a:p>
      </dgm:t>
    </dgm:pt>
    <dgm:pt modelId="{1FD70960-2427-49D5-AD4C-29727D555668}" type="pres">
      <dgm:prSet presAssocID="{7B75DC9C-94BC-40FA-B8CB-D05B56948D4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9AE2984-F829-4156-B064-3E289B8C23B6}" type="pres">
      <dgm:prSet presAssocID="{F6F58A94-3A40-45D9-A4A7-099D72EF6552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B283D1B-49CF-47FE-BC0C-73E3669FF2BC}" type="pres">
      <dgm:prSet presAssocID="{77E623AF-6CF2-41DD-AE2F-22D728B4FC41}" presName="sibTrans" presStyleCnt="0"/>
      <dgm:spPr/>
    </dgm:pt>
    <dgm:pt modelId="{F0BDABF8-2BBB-4398-8559-F2C66C688DF4}" type="pres">
      <dgm:prSet presAssocID="{43A6B134-4A02-47F9-A56E-F76D1299FDF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410269D-7D68-42AD-B681-6FA37B36B32F}" type="pres">
      <dgm:prSet presAssocID="{C8D58456-9F2E-4422-9AA2-BB7477D61023}" presName="sibTrans" presStyleCnt="0"/>
      <dgm:spPr/>
    </dgm:pt>
    <dgm:pt modelId="{F45564FC-5BC4-45E3-B17D-1E5197AF331F}" type="pres">
      <dgm:prSet presAssocID="{EA962CCA-DB59-4862-A358-D4847702BA32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ADFEA6E-A9A0-4051-B129-9023711F5876}" type="pres">
      <dgm:prSet presAssocID="{4C2B6A77-1E20-489F-9233-83B6A4B9FED0}" presName="sibTrans" presStyleCnt="0"/>
      <dgm:spPr/>
    </dgm:pt>
    <dgm:pt modelId="{4187B7CC-9172-46A3-847C-49AC15913D38}" type="pres">
      <dgm:prSet presAssocID="{7E2D4CA8-10A0-40D2-BE2E-6966F745DA37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8753510-BE21-41B6-A32C-214FE2D954C2}" type="presOf" srcId="{7E2D4CA8-10A0-40D2-BE2E-6966F745DA37}" destId="{4187B7CC-9172-46A3-847C-49AC15913D38}" srcOrd="0" destOrd="0" presId="urn:microsoft.com/office/officeart/2005/8/layout/default"/>
    <dgm:cxn modelId="{E7434B74-7A51-460D-B6ED-56C83B93C100}" srcId="{7B75DC9C-94BC-40FA-B8CB-D05B56948D48}" destId="{F6F58A94-3A40-45D9-A4A7-099D72EF6552}" srcOrd="0" destOrd="0" parTransId="{35F2AC9A-6A41-4E21-B99D-72DD3B50A336}" sibTransId="{77E623AF-6CF2-41DD-AE2F-22D728B4FC41}"/>
    <dgm:cxn modelId="{7B3E84C0-A7A4-4402-8347-6704B0F94E20}" type="presOf" srcId="{EA962CCA-DB59-4862-A358-D4847702BA32}" destId="{F45564FC-5BC4-45E3-B17D-1E5197AF331F}" srcOrd="0" destOrd="0" presId="urn:microsoft.com/office/officeart/2005/8/layout/default"/>
    <dgm:cxn modelId="{49DA5650-08FF-442C-A579-A36006F76CA8}" srcId="{7B75DC9C-94BC-40FA-B8CB-D05B56948D48}" destId="{7E2D4CA8-10A0-40D2-BE2E-6966F745DA37}" srcOrd="3" destOrd="0" parTransId="{86172EAC-0257-4EB7-B16C-FFF028B571F5}" sibTransId="{8989AD7A-E882-4C74-8884-B6C954D06817}"/>
    <dgm:cxn modelId="{3890830E-E545-4091-882A-A43621A3F707}" type="presOf" srcId="{7B75DC9C-94BC-40FA-B8CB-D05B56948D48}" destId="{1FD70960-2427-49D5-AD4C-29727D555668}" srcOrd="0" destOrd="0" presId="urn:microsoft.com/office/officeart/2005/8/layout/default"/>
    <dgm:cxn modelId="{46409092-70BB-4C61-9D9F-6F374EDD9AAF}" srcId="{7B75DC9C-94BC-40FA-B8CB-D05B56948D48}" destId="{43A6B134-4A02-47F9-A56E-F76D1299FDF6}" srcOrd="1" destOrd="0" parTransId="{A16BA317-5C94-4BCE-BC17-DA66B370C450}" sibTransId="{C8D58456-9F2E-4422-9AA2-BB7477D61023}"/>
    <dgm:cxn modelId="{49F1D665-1C02-4AB3-8177-5DFF81D8852B}" srcId="{7B75DC9C-94BC-40FA-B8CB-D05B56948D48}" destId="{EA962CCA-DB59-4862-A358-D4847702BA32}" srcOrd="2" destOrd="0" parTransId="{064AF108-65CB-40D0-97DE-F701BA4933A3}" sibTransId="{4C2B6A77-1E20-489F-9233-83B6A4B9FED0}"/>
    <dgm:cxn modelId="{54C48175-4D6C-482C-B86B-358EDACE0A30}" type="presOf" srcId="{43A6B134-4A02-47F9-A56E-F76D1299FDF6}" destId="{F0BDABF8-2BBB-4398-8559-F2C66C688DF4}" srcOrd="0" destOrd="0" presId="urn:microsoft.com/office/officeart/2005/8/layout/default"/>
    <dgm:cxn modelId="{FFFC684F-F843-4B88-B0E5-135391388A6E}" type="presOf" srcId="{F6F58A94-3A40-45D9-A4A7-099D72EF6552}" destId="{99AE2984-F829-4156-B064-3E289B8C23B6}" srcOrd="0" destOrd="0" presId="urn:microsoft.com/office/officeart/2005/8/layout/default"/>
    <dgm:cxn modelId="{D69CD5AB-48F8-45A8-9504-F2413DD1C5D2}" type="presParOf" srcId="{1FD70960-2427-49D5-AD4C-29727D555668}" destId="{99AE2984-F829-4156-B064-3E289B8C23B6}" srcOrd="0" destOrd="0" presId="urn:microsoft.com/office/officeart/2005/8/layout/default"/>
    <dgm:cxn modelId="{DDE36D5A-88E7-4537-9E54-A94640465F0C}" type="presParOf" srcId="{1FD70960-2427-49D5-AD4C-29727D555668}" destId="{3B283D1B-49CF-47FE-BC0C-73E3669FF2BC}" srcOrd="1" destOrd="0" presId="urn:microsoft.com/office/officeart/2005/8/layout/default"/>
    <dgm:cxn modelId="{95AC31FF-2F94-4564-B5C0-A89A93867CB8}" type="presParOf" srcId="{1FD70960-2427-49D5-AD4C-29727D555668}" destId="{F0BDABF8-2BBB-4398-8559-F2C66C688DF4}" srcOrd="2" destOrd="0" presId="urn:microsoft.com/office/officeart/2005/8/layout/default"/>
    <dgm:cxn modelId="{9B188945-30DD-47A3-8329-258F50859D05}" type="presParOf" srcId="{1FD70960-2427-49D5-AD4C-29727D555668}" destId="{B410269D-7D68-42AD-B681-6FA37B36B32F}" srcOrd="3" destOrd="0" presId="urn:microsoft.com/office/officeart/2005/8/layout/default"/>
    <dgm:cxn modelId="{912E629A-E680-4DE7-9065-A5B0AB16B1EA}" type="presParOf" srcId="{1FD70960-2427-49D5-AD4C-29727D555668}" destId="{F45564FC-5BC4-45E3-B17D-1E5197AF331F}" srcOrd="4" destOrd="0" presId="urn:microsoft.com/office/officeart/2005/8/layout/default"/>
    <dgm:cxn modelId="{64E28ABC-4C9A-40E8-A2EE-FD871121CD10}" type="presParOf" srcId="{1FD70960-2427-49D5-AD4C-29727D555668}" destId="{7ADFEA6E-A9A0-4051-B129-9023711F5876}" srcOrd="5" destOrd="0" presId="urn:microsoft.com/office/officeart/2005/8/layout/default"/>
    <dgm:cxn modelId="{A13D48D2-3109-43BE-8AB0-145EF9965B9A}" type="presParOf" srcId="{1FD70960-2427-49D5-AD4C-29727D555668}" destId="{4187B7CC-9172-46A3-847C-49AC15913D3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081B7E-1067-4060-9955-E66A77E81C0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662545F-94A7-41E5-8291-5524E2D629CA}">
      <dgm:prSet phldrT="[Текст]"/>
      <dgm:spPr/>
      <dgm:t>
        <a:bodyPr/>
        <a:lstStyle/>
        <a:p>
          <a:r>
            <a:rPr lang="ru-RU" b="0" dirty="0" smtClean="0">
              <a:latin typeface="Times New Roman" pitchFamily="18" charset="0"/>
              <a:cs typeface="Times New Roman" pitchFamily="18" charset="0"/>
            </a:rPr>
            <a:t>CRM-системами — чтобы объединить данные из разных отделов, упростить управление заказами и повысить качество обслуживания клиентов;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BDD20F7-CFE3-42D3-B00B-E764335C9A26}" type="parTrans" cxnId="{2C3EA931-B37B-451F-81C4-1B8D108754D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1AFF429-1C75-4798-BA6E-12A01D7875EB}" type="sibTrans" cxnId="{2C3EA931-B37B-451F-81C4-1B8D108754D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0E37098-15A9-4F0A-BDD4-FCB276F1B1FA}">
      <dgm:prSet/>
      <dgm:spPr/>
      <dgm:t>
        <a:bodyPr/>
        <a:lstStyle/>
        <a:p>
          <a:r>
            <a:rPr lang="ru-RU" b="0" dirty="0" smtClean="0">
              <a:latin typeface="Times New Roman" pitchFamily="18" charset="0"/>
              <a:cs typeface="Times New Roman" pitchFamily="18" charset="0"/>
            </a:rPr>
            <a:t>банками и платежными системами — чтобы автоматически загружать и выгружать платежные поручения, отслеживать поступления и оплачивать счета без ручного ввода;</a:t>
          </a:r>
          <a:endParaRPr lang="ru-RU" b="0" dirty="0">
            <a:latin typeface="Times New Roman" pitchFamily="18" charset="0"/>
            <a:cs typeface="Times New Roman" pitchFamily="18" charset="0"/>
          </a:endParaRPr>
        </a:p>
      </dgm:t>
    </dgm:pt>
    <dgm:pt modelId="{D38ABA27-84FC-4ED2-AC3A-014E806B9010}" type="parTrans" cxnId="{CA7A5EB8-AFB1-4660-B961-80F3800A17A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84E8735-DAE3-4748-A1D6-041DB9EA1EFA}" type="sibTrans" cxnId="{CA7A5EB8-AFB1-4660-B961-80F3800A17A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23C08EF-062B-4391-AFA8-B9CE03A33DC7}">
      <dgm:prSet/>
      <dgm:spPr/>
      <dgm:t>
        <a:bodyPr/>
        <a:lstStyle/>
        <a:p>
          <a:r>
            <a:rPr lang="ru-RU" b="0" dirty="0" err="1" smtClean="0">
              <a:latin typeface="Times New Roman" pitchFamily="18" charset="0"/>
              <a:cs typeface="Times New Roman" pitchFamily="18" charset="0"/>
            </a:rPr>
            <a:t>маркетплейсами</a:t>
          </a:r>
          <a:r>
            <a:rPr lang="ru-RU" b="0" dirty="0" smtClean="0">
              <a:latin typeface="Times New Roman" pitchFamily="18" charset="0"/>
              <a:cs typeface="Times New Roman" pitchFamily="18" charset="0"/>
            </a:rPr>
            <a:t> — для передачи заказов, синхронизации остатков и цен, генерации документов и управления доставкой;</a:t>
          </a:r>
          <a:endParaRPr lang="ru-RU" b="0" dirty="0">
            <a:latin typeface="Times New Roman" pitchFamily="18" charset="0"/>
            <a:cs typeface="Times New Roman" pitchFamily="18" charset="0"/>
          </a:endParaRPr>
        </a:p>
      </dgm:t>
    </dgm:pt>
    <dgm:pt modelId="{2671F57F-0794-419E-A622-63D9E92CFBD7}" type="parTrans" cxnId="{6794A690-5A0D-4B7A-8104-9AD414F64CA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63BDAAF-B40B-4AC1-BCF2-30DB52BE3689}" type="sibTrans" cxnId="{6794A690-5A0D-4B7A-8104-9AD414F64CA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9EA6B06-13F5-4A57-AA40-70E91B38E334}">
      <dgm:prSet/>
      <dgm:spPr/>
      <dgm:t>
        <a:bodyPr/>
        <a:lstStyle/>
        <a:p>
          <a:r>
            <a:rPr lang="ru-RU" b="0" dirty="0" smtClean="0">
              <a:latin typeface="Times New Roman" pitchFamily="18" charset="0"/>
              <a:cs typeface="Times New Roman" pitchFamily="18" charset="0"/>
            </a:rPr>
            <a:t>системами электронного документооборота, ЭДО, — чтобы отправлять счета, акты и другие документы напрямую из ERP;</a:t>
          </a:r>
          <a:endParaRPr lang="ru-RU" b="0" dirty="0">
            <a:latin typeface="Times New Roman" pitchFamily="18" charset="0"/>
            <a:cs typeface="Times New Roman" pitchFamily="18" charset="0"/>
          </a:endParaRPr>
        </a:p>
      </dgm:t>
    </dgm:pt>
    <dgm:pt modelId="{9248D004-02DD-4414-B9BE-1B08988AAF08}" type="parTrans" cxnId="{CAA73D35-B2B5-4EBB-BB03-CCE8B2BC0B1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176E6D4-CFD7-4044-A93A-C17B5E2BA1FA}" type="sibTrans" cxnId="{CAA73D35-B2B5-4EBB-BB03-CCE8B2BC0B1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FA9B5DB-CC4B-482A-ACC6-F4F96AB3E71C}">
      <dgm:prSet/>
      <dgm:spPr/>
      <dgm:t>
        <a:bodyPr/>
        <a:lstStyle/>
        <a:p>
          <a:r>
            <a:rPr lang="ru-RU" b="0" smtClean="0">
              <a:latin typeface="Times New Roman" pitchFamily="18" charset="0"/>
              <a:cs typeface="Times New Roman" pitchFamily="18" charset="0"/>
            </a:rPr>
            <a:t>маркетинговыми платформами — для запуска персонализированных кампаний на основе данных о покупках и поведении клиентов;</a:t>
          </a:r>
          <a:endParaRPr lang="ru-RU" b="0">
            <a:latin typeface="Times New Roman" pitchFamily="18" charset="0"/>
            <a:cs typeface="Times New Roman" pitchFamily="18" charset="0"/>
          </a:endParaRPr>
        </a:p>
      </dgm:t>
    </dgm:pt>
    <dgm:pt modelId="{2093FBFC-6AE2-43A1-92BD-3B1E56713C91}" type="parTrans" cxnId="{CD1C4A1F-5BBE-4470-A925-40A931AFC21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75868B2-1821-49B1-86F5-24937D5D3A81}" type="sibTrans" cxnId="{CD1C4A1F-5BBE-4470-A925-40A931AFC21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155C183-A83D-4167-9761-FB4EEE32E680}">
      <dgm:prSet/>
      <dgm:spPr/>
      <dgm:t>
        <a:bodyPr/>
        <a:lstStyle/>
        <a:p>
          <a:r>
            <a:rPr lang="ru-RU" b="0" smtClean="0">
              <a:latin typeface="Times New Roman" pitchFamily="18" charset="0"/>
              <a:cs typeface="Times New Roman" pitchFamily="18" charset="0"/>
            </a:rPr>
            <a:t>системами бизнес-аналитики — для глубокого анализа процессов и принятия обоснованных управленческих решений.</a:t>
          </a:r>
          <a:endParaRPr lang="ru-RU" b="0">
            <a:latin typeface="Times New Roman" pitchFamily="18" charset="0"/>
            <a:cs typeface="Times New Roman" pitchFamily="18" charset="0"/>
          </a:endParaRPr>
        </a:p>
      </dgm:t>
    </dgm:pt>
    <dgm:pt modelId="{CF521FD4-6865-47DB-BB23-A026D6B09F86}" type="parTrans" cxnId="{8E4434EA-C3AE-4836-A719-D5D32ED1DF6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CE9939B-DB3D-42A7-8FC7-413B91FB1969}" type="sibTrans" cxnId="{8E4434EA-C3AE-4836-A719-D5D32ED1DF6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13664EC-1DEB-46D9-AE01-2BDAC8B25E69}" type="pres">
      <dgm:prSet presAssocID="{09081B7E-1067-4060-9955-E66A77E81C0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9FB910E-6A6D-46A2-8311-7EEB7D6B4586}" type="pres">
      <dgm:prSet presAssocID="{1662545F-94A7-41E5-8291-5524E2D629CA}" presName="node" presStyleLbl="node1" presStyleIdx="0" presStyleCnt="6" custScaleY="15345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E9A6E1-CBBD-4EDA-8109-6B287CEC9C9D}" type="pres">
      <dgm:prSet presAssocID="{71AFF429-1C75-4798-BA6E-12A01D7875EB}" presName="sibTrans" presStyleCnt="0"/>
      <dgm:spPr/>
    </dgm:pt>
    <dgm:pt modelId="{F3EFE348-14CD-4988-9679-54D826200037}" type="pres">
      <dgm:prSet presAssocID="{50E37098-15A9-4F0A-BDD4-FCB276F1B1FA}" presName="node" presStyleLbl="node1" presStyleIdx="1" presStyleCnt="6" custScaleY="1500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1096E36-CC71-491B-AD6F-11F911CE49F6}" type="pres">
      <dgm:prSet presAssocID="{384E8735-DAE3-4748-A1D6-041DB9EA1EFA}" presName="sibTrans" presStyleCnt="0"/>
      <dgm:spPr/>
    </dgm:pt>
    <dgm:pt modelId="{E7AE5401-45A0-4D3E-8AA1-1A46917FBB84}" type="pres">
      <dgm:prSet presAssocID="{023C08EF-062B-4391-AFA8-B9CE03A33DC7}" presName="node" presStyleLbl="node1" presStyleIdx="2" presStyleCnt="6" custScaleY="1500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6CBBC57-8012-4BD5-A7BC-987CB92AF388}" type="pres">
      <dgm:prSet presAssocID="{B63BDAAF-B40B-4AC1-BCF2-30DB52BE3689}" presName="sibTrans" presStyleCnt="0"/>
      <dgm:spPr/>
    </dgm:pt>
    <dgm:pt modelId="{C6647FB2-4F3F-4CF5-AAAD-904A28A83DAA}" type="pres">
      <dgm:prSet presAssocID="{D9EA6B06-13F5-4A57-AA40-70E91B38E334}" presName="node" presStyleLbl="node1" presStyleIdx="3" presStyleCnt="6" custScaleY="14587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3D529C5-2E35-4ECF-9C53-ABF2985A3BE4}" type="pres">
      <dgm:prSet presAssocID="{7176E6D4-CFD7-4044-A93A-C17B5E2BA1FA}" presName="sibTrans" presStyleCnt="0"/>
      <dgm:spPr/>
    </dgm:pt>
    <dgm:pt modelId="{D45521DE-F968-45BF-9047-6CEEA586E900}" type="pres">
      <dgm:prSet presAssocID="{AFA9B5DB-CC4B-482A-ACC6-F4F96AB3E71C}" presName="node" presStyleLbl="node1" presStyleIdx="4" presStyleCnt="6" custScaleY="14587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AF26189-30EB-411E-A000-7FE4EAFC42C8}" type="pres">
      <dgm:prSet presAssocID="{175868B2-1821-49B1-86F5-24937D5D3A81}" presName="sibTrans" presStyleCnt="0"/>
      <dgm:spPr/>
    </dgm:pt>
    <dgm:pt modelId="{BD480A5B-DD90-431A-9590-40907620EC6C}" type="pres">
      <dgm:prSet presAssocID="{D155C183-A83D-4167-9761-FB4EEE32E680}" presName="node" presStyleLbl="node1" presStyleIdx="5" presStyleCnt="6" custScaleY="14418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8FB3E58-D400-408D-99B3-9FA508FA653B}" type="presOf" srcId="{50E37098-15A9-4F0A-BDD4-FCB276F1B1FA}" destId="{F3EFE348-14CD-4988-9679-54D826200037}" srcOrd="0" destOrd="0" presId="urn:microsoft.com/office/officeart/2005/8/layout/default"/>
    <dgm:cxn modelId="{0641EFE5-1552-42CE-8A4A-17A2577516BE}" type="presOf" srcId="{D9EA6B06-13F5-4A57-AA40-70E91B38E334}" destId="{C6647FB2-4F3F-4CF5-AAAD-904A28A83DAA}" srcOrd="0" destOrd="0" presId="urn:microsoft.com/office/officeart/2005/8/layout/default"/>
    <dgm:cxn modelId="{CCA495D1-D576-4E90-AF39-FCA86C8EC65C}" type="presOf" srcId="{023C08EF-062B-4391-AFA8-B9CE03A33DC7}" destId="{E7AE5401-45A0-4D3E-8AA1-1A46917FBB84}" srcOrd="0" destOrd="0" presId="urn:microsoft.com/office/officeart/2005/8/layout/default"/>
    <dgm:cxn modelId="{6794A690-5A0D-4B7A-8104-9AD414F64CA1}" srcId="{09081B7E-1067-4060-9955-E66A77E81C0E}" destId="{023C08EF-062B-4391-AFA8-B9CE03A33DC7}" srcOrd="2" destOrd="0" parTransId="{2671F57F-0794-419E-A622-63D9E92CFBD7}" sibTransId="{B63BDAAF-B40B-4AC1-BCF2-30DB52BE3689}"/>
    <dgm:cxn modelId="{CAA73D35-B2B5-4EBB-BB03-CCE8B2BC0B19}" srcId="{09081B7E-1067-4060-9955-E66A77E81C0E}" destId="{D9EA6B06-13F5-4A57-AA40-70E91B38E334}" srcOrd="3" destOrd="0" parTransId="{9248D004-02DD-4414-B9BE-1B08988AAF08}" sibTransId="{7176E6D4-CFD7-4044-A93A-C17B5E2BA1FA}"/>
    <dgm:cxn modelId="{29A2249F-D9EF-4D8D-B9DB-8FD8EF4AFC45}" type="presOf" srcId="{AFA9B5DB-CC4B-482A-ACC6-F4F96AB3E71C}" destId="{D45521DE-F968-45BF-9047-6CEEA586E900}" srcOrd="0" destOrd="0" presId="urn:microsoft.com/office/officeart/2005/8/layout/default"/>
    <dgm:cxn modelId="{6D4EE838-D272-4F77-A350-E59CCC5F16F6}" type="presOf" srcId="{09081B7E-1067-4060-9955-E66A77E81C0E}" destId="{413664EC-1DEB-46D9-AE01-2BDAC8B25E69}" srcOrd="0" destOrd="0" presId="urn:microsoft.com/office/officeart/2005/8/layout/default"/>
    <dgm:cxn modelId="{CA7A5EB8-AFB1-4660-B961-80F3800A17A7}" srcId="{09081B7E-1067-4060-9955-E66A77E81C0E}" destId="{50E37098-15A9-4F0A-BDD4-FCB276F1B1FA}" srcOrd="1" destOrd="0" parTransId="{D38ABA27-84FC-4ED2-AC3A-014E806B9010}" sibTransId="{384E8735-DAE3-4748-A1D6-041DB9EA1EFA}"/>
    <dgm:cxn modelId="{6D30BF69-32A3-4BE6-98D1-C1AAD71A5FD2}" type="presOf" srcId="{1662545F-94A7-41E5-8291-5524E2D629CA}" destId="{09FB910E-6A6D-46A2-8311-7EEB7D6B4586}" srcOrd="0" destOrd="0" presId="urn:microsoft.com/office/officeart/2005/8/layout/default"/>
    <dgm:cxn modelId="{CD1C4A1F-5BBE-4470-A925-40A931AFC21D}" srcId="{09081B7E-1067-4060-9955-E66A77E81C0E}" destId="{AFA9B5DB-CC4B-482A-ACC6-F4F96AB3E71C}" srcOrd="4" destOrd="0" parTransId="{2093FBFC-6AE2-43A1-92BD-3B1E56713C91}" sibTransId="{175868B2-1821-49B1-86F5-24937D5D3A81}"/>
    <dgm:cxn modelId="{2C3EA931-B37B-451F-81C4-1B8D108754D5}" srcId="{09081B7E-1067-4060-9955-E66A77E81C0E}" destId="{1662545F-94A7-41E5-8291-5524E2D629CA}" srcOrd="0" destOrd="0" parTransId="{7BDD20F7-CFE3-42D3-B00B-E764335C9A26}" sibTransId="{71AFF429-1C75-4798-BA6E-12A01D7875EB}"/>
    <dgm:cxn modelId="{8E4434EA-C3AE-4836-A719-D5D32ED1DF6A}" srcId="{09081B7E-1067-4060-9955-E66A77E81C0E}" destId="{D155C183-A83D-4167-9761-FB4EEE32E680}" srcOrd="5" destOrd="0" parTransId="{CF521FD4-6865-47DB-BB23-A026D6B09F86}" sibTransId="{BCE9939B-DB3D-42A7-8FC7-413B91FB1969}"/>
    <dgm:cxn modelId="{3B33FB50-C44D-4F42-AB61-0F1A70F64BCB}" type="presOf" srcId="{D155C183-A83D-4167-9761-FB4EEE32E680}" destId="{BD480A5B-DD90-431A-9590-40907620EC6C}" srcOrd="0" destOrd="0" presId="urn:microsoft.com/office/officeart/2005/8/layout/default"/>
    <dgm:cxn modelId="{51519007-3C01-4E42-BBE5-71F2BD5FD506}" type="presParOf" srcId="{413664EC-1DEB-46D9-AE01-2BDAC8B25E69}" destId="{09FB910E-6A6D-46A2-8311-7EEB7D6B4586}" srcOrd="0" destOrd="0" presId="urn:microsoft.com/office/officeart/2005/8/layout/default"/>
    <dgm:cxn modelId="{468B44DD-0EEB-437D-B58E-B00E03F56FAB}" type="presParOf" srcId="{413664EC-1DEB-46D9-AE01-2BDAC8B25E69}" destId="{50E9A6E1-CBBD-4EDA-8109-6B287CEC9C9D}" srcOrd="1" destOrd="0" presId="urn:microsoft.com/office/officeart/2005/8/layout/default"/>
    <dgm:cxn modelId="{7F769E03-D9FA-4B3C-B690-6338FC28F0A1}" type="presParOf" srcId="{413664EC-1DEB-46D9-AE01-2BDAC8B25E69}" destId="{F3EFE348-14CD-4988-9679-54D826200037}" srcOrd="2" destOrd="0" presId="urn:microsoft.com/office/officeart/2005/8/layout/default"/>
    <dgm:cxn modelId="{B88D185D-0369-438B-A9CD-305361993F3A}" type="presParOf" srcId="{413664EC-1DEB-46D9-AE01-2BDAC8B25E69}" destId="{51096E36-CC71-491B-AD6F-11F911CE49F6}" srcOrd="3" destOrd="0" presId="urn:microsoft.com/office/officeart/2005/8/layout/default"/>
    <dgm:cxn modelId="{11A4A83A-EBD8-4F9B-A6B0-05D34847815A}" type="presParOf" srcId="{413664EC-1DEB-46D9-AE01-2BDAC8B25E69}" destId="{E7AE5401-45A0-4D3E-8AA1-1A46917FBB84}" srcOrd="4" destOrd="0" presId="urn:microsoft.com/office/officeart/2005/8/layout/default"/>
    <dgm:cxn modelId="{AAEC4116-35B5-4FE1-A385-27D082518167}" type="presParOf" srcId="{413664EC-1DEB-46D9-AE01-2BDAC8B25E69}" destId="{46CBBC57-8012-4BD5-A7BC-987CB92AF388}" srcOrd="5" destOrd="0" presId="urn:microsoft.com/office/officeart/2005/8/layout/default"/>
    <dgm:cxn modelId="{DCE43505-B528-4FB6-B201-E3473669E29D}" type="presParOf" srcId="{413664EC-1DEB-46D9-AE01-2BDAC8B25E69}" destId="{C6647FB2-4F3F-4CF5-AAAD-904A28A83DAA}" srcOrd="6" destOrd="0" presId="urn:microsoft.com/office/officeart/2005/8/layout/default"/>
    <dgm:cxn modelId="{060150AB-2311-4E04-8337-959DDD302D1D}" type="presParOf" srcId="{413664EC-1DEB-46D9-AE01-2BDAC8B25E69}" destId="{F3D529C5-2E35-4ECF-9C53-ABF2985A3BE4}" srcOrd="7" destOrd="0" presId="urn:microsoft.com/office/officeart/2005/8/layout/default"/>
    <dgm:cxn modelId="{C76DC2D7-D902-4E60-ACCC-6F877F9C7DF0}" type="presParOf" srcId="{413664EC-1DEB-46D9-AE01-2BDAC8B25E69}" destId="{D45521DE-F968-45BF-9047-6CEEA586E900}" srcOrd="8" destOrd="0" presId="urn:microsoft.com/office/officeart/2005/8/layout/default"/>
    <dgm:cxn modelId="{A49D68D5-7CA6-443A-8F77-E89FA79DC1E6}" type="presParOf" srcId="{413664EC-1DEB-46D9-AE01-2BDAC8B25E69}" destId="{1AF26189-30EB-411E-A000-7FE4EAFC42C8}" srcOrd="9" destOrd="0" presId="urn:microsoft.com/office/officeart/2005/8/layout/default"/>
    <dgm:cxn modelId="{74B28AFB-30A3-4E64-88D8-E1E530DC75FF}" type="presParOf" srcId="{413664EC-1DEB-46D9-AE01-2BDAC8B25E69}" destId="{BD480A5B-DD90-431A-9590-40907620EC6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99F01D-D92D-4CFE-9016-FEA35C3A9ED6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A34BD8D2-D755-4A07-92D8-6C26550AE4E0}">
      <dgm:prSet phldrT="[Текст]" custT="1"/>
      <dgm:spPr/>
      <dgm:t>
        <a:bodyPr/>
        <a:lstStyle/>
        <a:p>
          <a:r>
            <a:rPr lang="ru-RU" sz="2800" b="0" dirty="0" smtClean="0">
              <a:latin typeface="Times New Roman" pitchFamily="18" charset="0"/>
              <a:cs typeface="Times New Roman" pitchFamily="18" charset="0"/>
            </a:rPr>
            <a:t>Определить цель.</a:t>
          </a:r>
          <a:endParaRPr lang="ru-RU" sz="2800" dirty="0">
            <a:latin typeface="Times New Roman" pitchFamily="18" charset="0"/>
            <a:cs typeface="Times New Roman" pitchFamily="18" charset="0"/>
          </a:endParaRPr>
        </a:p>
      </dgm:t>
    </dgm:pt>
    <dgm:pt modelId="{FFD86455-055D-40FF-B8FA-CB4975073649}" type="parTrans" cxnId="{B9744018-BE32-4FF6-B790-A6A3871EE25C}">
      <dgm:prSet/>
      <dgm:spPr/>
      <dgm:t>
        <a:bodyPr/>
        <a:lstStyle/>
        <a:p>
          <a:endParaRPr lang="ru-RU" sz="6600">
            <a:latin typeface="Times New Roman" pitchFamily="18" charset="0"/>
            <a:cs typeface="Times New Roman" pitchFamily="18" charset="0"/>
          </a:endParaRPr>
        </a:p>
      </dgm:t>
    </dgm:pt>
    <dgm:pt modelId="{10695103-C27C-4AB3-8C44-8514FCDD4AA3}" type="sibTrans" cxnId="{B9744018-BE32-4FF6-B790-A6A3871EE25C}">
      <dgm:prSet custT="1"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DA91EEF-CE28-49AC-A722-F378D8516D8D}">
      <dgm:prSet custT="1"/>
      <dgm:spPr/>
      <dgm:t>
        <a:bodyPr/>
        <a:lstStyle/>
        <a:p>
          <a:r>
            <a:rPr lang="ru-RU" sz="2800" b="0" smtClean="0">
              <a:latin typeface="Times New Roman" pitchFamily="18" charset="0"/>
              <a:cs typeface="Times New Roman" pitchFamily="18" charset="0"/>
            </a:rPr>
            <a:t>Выбрать подходящую </a:t>
          </a:r>
          <a:r>
            <a:rPr lang="en-US" sz="2800" b="0" smtClean="0">
              <a:latin typeface="Times New Roman" pitchFamily="18" charset="0"/>
              <a:cs typeface="Times New Roman" pitchFamily="18" charset="0"/>
            </a:rPr>
            <a:t>ERP-</a:t>
          </a:r>
          <a:r>
            <a:rPr lang="ru-RU" sz="2800" b="0" smtClean="0">
              <a:latin typeface="Times New Roman" pitchFamily="18" charset="0"/>
              <a:cs typeface="Times New Roman" pitchFamily="18" charset="0"/>
            </a:rPr>
            <a:t>систему.</a:t>
          </a:r>
          <a:endParaRPr lang="ru-RU" sz="2800" b="0">
            <a:latin typeface="Times New Roman" pitchFamily="18" charset="0"/>
            <a:cs typeface="Times New Roman" pitchFamily="18" charset="0"/>
          </a:endParaRPr>
        </a:p>
      </dgm:t>
    </dgm:pt>
    <dgm:pt modelId="{21A51BAA-69D5-445F-9EB2-D7F08DEEC691}" type="parTrans" cxnId="{FDD95780-C882-437F-ABD3-C6E4392866BD}">
      <dgm:prSet/>
      <dgm:spPr/>
      <dgm:t>
        <a:bodyPr/>
        <a:lstStyle/>
        <a:p>
          <a:endParaRPr lang="ru-RU" sz="6600">
            <a:latin typeface="Times New Roman" pitchFamily="18" charset="0"/>
            <a:cs typeface="Times New Roman" pitchFamily="18" charset="0"/>
          </a:endParaRPr>
        </a:p>
      </dgm:t>
    </dgm:pt>
    <dgm:pt modelId="{98383E04-F000-45CD-B216-FC1CB8459FED}" type="sibTrans" cxnId="{FDD95780-C882-437F-ABD3-C6E4392866BD}">
      <dgm:prSet custT="1"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8869EC7-0372-47DD-AFC3-982CE83726AA}">
      <dgm:prSet custT="1"/>
      <dgm:spPr/>
      <dgm:t>
        <a:bodyPr/>
        <a:lstStyle/>
        <a:p>
          <a:r>
            <a:rPr lang="ru-RU" sz="2800" b="0" dirty="0" smtClean="0">
              <a:latin typeface="Times New Roman" pitchFamily="18" charset="0"/>
              <a:cs typeface="Times New Roman" pitchFamily="18" charset="0"/>
            </a:rPr>
            <a:t>Спланировать процесс, включая сроки, ресурсы и ответственных лиц, время на обучение сотрудников.</a:t>
          </a:r>
          <a:endParaRPr lang="ru-RU" sz="2800" b="0" dirty="0">
            <a:latin typeface="Times New Roman" pitchFamily="18" charset="0"/>
            <a:cs typeface="Times New Roman" pitchFamily="18" charset="0"/>
          </a:endParaRPr>
        </a:p>
      </dgm:t>
    </dgm:pt>
    <dgm:pt modelId="{6587DF94-D319-4C47-92BC-4176477D4129}" type="parTrans" cxnId="{71410EA7-8FED-4D76-BBFC-85FFBE3A1507}">
      <dgm:prSet/>
      <dgm:spPr/>
      <dgm:t>
        <a:bodyPr/>
        <a:lstStyle/>
        <a:p>
          <a:endParaRPr lang="ru-RU" sz="6600">
            <a:latin typeface="Times New Roman" pitchFamily="18" charset="0"/>
            <a:cs typeface="Times New Roman" pitchFamily="18" charset="0"/>
          </a:endParaRPr>
        </a:p>
      </dgm:t>
    </dgm:pt>
    <dgm:pt modelId="{C11EC22A-CB2F-4CAE-9C01-CE77C7629B0B}" type="sibTrans" cxnId="{71410EA7-8FED-4D76-BBFC-85FFBE3A1507}">
      <dgm:prSet custT="1"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67ACB6F-4934-49F6-850F-1FBA5DD4A1C6}">
      <dgm:prSet custT="1"/>
      <dgm:spPr/>
      <dgm:t>
        <a:bodyPr/>
        <a:lstStyle/>
        <a:p>
          <a:r>
            <a:rPr lang="ru-RU" sz="2800" b="0" smtClean="0">
              <a:latin typeface="Times New Roman" pitchFamily="18" charset="0"/>
              <a:cs typeface="Times New Roman" pitchFamily="18" charset="0"/>
            </a:rPr>
            <a:t>Настроить и отрегулировать систему.</a:t>
          </a:r>
          <a:endParaRPr lang="ru-RU" sz="2800" b="0">
            <a:latin typeface="Times New Roman" pitchFamily="18" charset="0"/>
            <a:cs typeface="Times New Roman" pitchFamily="18" charset="0"/>
          </a:endParaRPr>
        </a:p>
      </dgm:t>
    </dgm:pt>
    <dgm:pt modelId="{508E3941-6FBC-4CD8-BCA5-3C5849A3C717}" type="parTrans" cxnId="{F98B8D8D-5E45-4F10-A62D-5FF216985291}">
      <dgm:prSet/>
      <dgm:spPr/>
      <dgm:t>
        <a:bodyPr/>
        <a:lstStyle/>
        <a:p>
          <a:endParaRPr lang="ru-RU" sz="6600">
            <a:latin typeface="Times New Roman" pitchFamily="18" charset="0"/>
            <a:cs typeface="Times New Roman" pitchFamily="18" charset="0"/>
          </a:endParaRPr>
        </a:p>
      </dgm:t>
    </dgm:pt>
    <dgm:pt modelId="{DE54DC01-9BB3-4A5C-9130-B1195968F8FB}" type="sibTrans" cxnId="{F98B8D8D-5E45-4F10-A62D-5FF216985291}">
      <dgm:prSet custT="1"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B92E100B-4D44-42AF-8F09-05008096E321}">
      <dgm:prSet custT="1"/>
      <dgm:spPr/>
      <dgm:t>
        <a:bodyPr/>
        <a:lstStyle/>
        <a:p>
          <a:r>
            <a:rPr lang="ru-RU" sz="2800" b="0" smtClean="0">
              <a:latin typeface="Times New Roman" pitchFamily="18" charset="0"/>
              <a:cs typeface="Times New Roman" pitchFamily="18" charset="0"/>
            </a:rPr>
            <a:t>Запустить и поддерживать работу ERP.</a:t>
          </a:r>
          <a:endParaRPr lang="ru-RU" sz="2800" b="0">
            <a:latin typeface="Times New Roman" pitchFamily="18" charset="0"/>
            <a:cs typeface="Times New Roman" pitchFamily="18" charset="0"/>
          </a:endParaRPr>
        </a:p>
      </dgm:t>
    </dgm:pt>
    <dgm:pt modelId="{23B3E343-FAFC-4665-AC0C-F9129ECDD492}" type="parTrans" cxnId="{A7603077-4069-4E5A-A9C8-2E179805D061}">
      <dgm:prSet/>
      <dgm:spPr/>
      <dgm:t>
        <a:bodyPr/>
        <a:lstStyle/>
        <a:p>
          <a:endParaRPr lang="ru-RU" sz="6600">
            <a:latin typeface="Times New Roman" pitchFamily="18" charset="0"/>
            <a:cs typeface="Times New Roman" pitchFamily="18" charset="0"/>
          </a:endParaRPr>
        </a:p>
      </dgm:t>
    </dgm:pt>
    <dgm:pt modelId="{5E9833D6-5941-40BD-A6E3-E6EDADE08FB3}" type="sibTrans" cxnId="{A7603077-4069-4E5A-A9C8-2E179805D061}">
      <dgm:prSet custT="1"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7B178D4-5607-4422-98ED-EE491576FFD3}">
      <dgm:prSet custT="1"/>
      <dgm:spPr/>
      <dgm:t>
        <a:bodyPr/>
        <a:lstStyle/>
        <a:p>
          <a:r>
            <a:rPr lang="ru-RU" sz="2800" b="0" smtClean="0">
              <a:latin typeface="Times New Roman" pitchFamily="18" charset="0"/>
              <a:cs typeface="Times New Roman" pitchFamily="18" charset="0"/>
            </a:rPr>
            <a:t>Оценить результаты.</a:t>
          </a:r>
          <a:endParaRPr lang="ru-RU" sz="2800" b="0">
            <a:latin typeface="Times New Roman" pitchFamily="18" charset="0"/>
            <a:cs typeface="Times New Roman" pitchFamily="18" charset="0"/>
          </a:endParaRPr>
        </a:p>
      </dgm:t>
    </dgm:pt>
    <dgm:pt modelId="{BABA78F3-A903-45DE-BD27-6D2D97F8E509}" type="parTrans" cxnId="{00549F11-068E-4F32-A7A0-C0B789FD8004}">
      <dgm:prSet/>
      <dgm:spPr/>
      <dgm:t>
        <a:bodyPr/>
        <a:lstStyle/>
        <a:p>
          <a:endParaRPr lang="ru-RU" sz="6600">
            <a:latin typeface="Times New Roman" pitchFamily="18" charset="0"/>
            <a:cs typeface="Times New Roman" pitchFamily="18" charset="0"/>
          </a:endParaRPr>
        </a:p>
      </dgm:t>
    </dgm:pt>
    <dgm:pt modelId="{86A7CEE4-4396-4F86-93AC-218E740A6CC6}" type="sibTrans" cxnId="{00549F11-068E-4F32-A7A0-C0B789FD8004}">
      <dgm:prSet custT="1"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EA6D073-04C3-4CBF-BB3F-A05F682FEFB4}" type="pres">
      <dgm:prSet presAssocID="{D799F01D-D92D-4CFE-9016-FEA35C3A9ED6}" presName="linearFlow" presStyleCnt="0">
        <dgm:presLayoutVars>
          <dgm:resizeHandles val="exact"/>
        </dgm:presLayoutVars>
      </dgm:prSet>
      <dgm:spPr/>
    </dgm:pt>
    <dgm:pt modelId="{360CB465-1557-436B-8E9C-52D6B730068E}" type="pres">
      <dgm:prSet presAssocID="{A34BD8D2-D755-4A07-92D8-6C26550AE4E0}" presName="node" presStyleLbl="node1" presStyleIdx="0" presStyleCnt="6" custScaleX="45824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0B6F9BE-A3C9-470C-8197-6A07AE528C72}" type="pres">
      <dgm:prSet presAssocID="{10695103-C27C-4AB3-8C44-8514FCDD4AA3}" presName="sibTrans" presStyleLbl="sibTrans2D1" presStyleIdx="0" presStyleCnt="5"/>
      <dgm:spPr/>
      <dgm:t>
        <a:bodyPr/>
        <a:lstStyle/>
        <a:p>
          <a:endParaRPr lang="ru-RU"/>
        </a:p>
      </dgm:t>
    </dgm:pt>
    <dgm:pt modelId="{38A3A0F7-30C6-46BB-97C7-F5AE7ACEF83A}" type="pres">
      <dgm:prSet presAssocID="{10695103-C27C-4AB3-8C44-8514FCDD4AA3}" presName="connectorText" presStyleLbl="sibTrans2D1" presStyleIdx="0" presStyleCnt="5"/>
      <dgm:spPr/>
      <dgm:t>
        <a:bodyPr/>
        <a:lstStyle/>
        <a:p>
          <a:endParaRPr lang="ru-RU"/>
        </a:p>
      </dgm:t>
    </dgm:pt>
    <dgm:pt modelId="{FB41FB43-EB40-4AE2-9D07-A615497A9F8B}" type="pres">
      <dgm:prSet presAssocID="{EDA91EEF-CE28-49AC-A722-F378D8516D8D}" presName="node" presStyleLbl="node1" presStyleIdx="1" presStyleCnt="6" custScaleX="45353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12E510-E17F-4542-A8F8-48BD6C0387D7}" type="pres">
      <dgm:prSet presAssocID="{98383E04-F000-45CD-B216-FC1CB8459FED}" presName="sibTrans" presStyleLbl="sibTrans2D1" presStyleIdx="1" presStyleCnt="5"/>
      <dgm:spPr/>
      <dgm:t>
        <a:bodyPr/>
        <a:lstStyle/>
        <a:p>
          <a:endParaRPr lang="ru-RU"/>
        </a:p>
      </dgm:t>
    </dgm:pt>
    <dgm:pt modelId="{BD5CFCA8-5643-4442-BDB8-110899CB1B9C}" type="pres">
      <dgm:prSet presAssocID="{98383E04-F000-45CD-B216-FC1CB8459FED}" presName="connectorText" presStyleLbl="sibTrans2D1" presStyleIdx="1" presStyleCnt="5"/>
      <dgm:spPr/>
      <dgm:t>
        <a:bodyPr/>
        <a:lstStyle/>
        <a:p>
          <a:endParaRPr lang="ru-RU"/>
        </a:p>
      </dgm:t>
    </dgm:pt>
    <dgm:pt modelId="{43E069BA-2626-44BE-8461-61E6F646A950}" type="pres">
      <dgm:prSet presAssocID="{48869EC7-0372-47DD-AFC3-982CE83726AA}" presName="node" presStyleLbl="node1" presStyleIdx="2" presStyleCnt="6" custScaleX="4598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5DBD2F5-EC45-4BF1-AF76-783592F41CD5}" type="pres">
      <dgm:prSet presAssocID="{C11EC22A-CB2F-4CAE-9C01-CE77C7629B0B}" presName="sibTrans" presStyleLbl="sibTrans2D1" presStyleIdx="2" presStyleCnt="5"/>
      <dgm:spPr/>
      <dgm:t>
        <a:bodyPr/>
        <a:lstStyle/>
        <a:p>
          <a:endParaRPr lang="ru-RU"/>
        </a:p>
      </dgm:t>
    </dgm:pt>
    <dgm:pt modelId="{6141D749-CA54-4101-BB19-2BF9B6DA95A8}" type="pres">
      <dgm:prSet presAssocID="{C11EC22A-CB2F-4CAE-9C01-CE77C7629B0B}" presName="connectorText" presStyleLbl="sibTrans2D1" presStyleIdx="2" presStyleCnt="5"/>
      <dgm:spPr/>
      <dgm:t>
        <a:bodyPr/>
        <a:lstStyle/>
        <a:p>
          <a:endParaRPr lang="ru-RU"/>
        </a:p>
      </dgm:t>
    </dgm:pt>
    <dgm:pt modelId="{038126DB-7B95-403E-8673-E4DC72560623}" type="pres">
      <dgm:prSet presAssocID="{367ACB6F-4934-49F6-850F-1FBA5DD4A1C6}" presName="node" presStyleLbl="node1" presStyleIdx="3" presStyleCnt="6" custScaleX="45824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D72C217-9074-4E6D-9126-69D498602F19}" type="pres">
      <dgm:prSet presAssocID="{DE54DC01-9BB3-4A5C-9130-B1195968F8FB}" presName="sibTrans" presStyleLbl="sibTrans2D1" presStyleIdx="3" presStyleCnt="5"/>
      <dgm:spPr/>
      <dgm:t>
        <a:bodyPr/>
        <a:lstStyle/>
        <a:p>
          <a:endParaRPr lang="ru-RU"/>
        </a:p>
      </dgm:t>
    </dgm:pt>
    <dgm:pt modelId="{EA4084E1-E3BF-4D1D-88C2-17CE0248BF5C}" type="pres">
      <dgm:prSet presAssocID="{DE54DC01-9BB3-4A5C-9130-B1195968F8FB}" presName="connectorText" presStyleLbl="sibTrans2D1" presStyleIdx="3" presStyleCnt="5"/>
      <dgm:spPr/>
      <dgm:t>
        <a:bodyPr/>
        <a:lstStyle/>
        <a:p>
          <a:endParaRPr lang="ru-RU"/>
        </a:p>
      </dgm:t>
    </dgm:pt>
    <dgm:pt modelId="{8B9030B5-431D-48C5-BB3C-630122EC7A42}" type="pres">
      <dgm:prSet presAssocID="{B92E100B-4D44-42AF-8F09-05008096E321}" presName="node" presStyleLbl="node1" presStyleIdx="4" presStyleCnt="6" custScaleX="46138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2F9AFC7-25B3-44C1-AE63-221C57666B75}" type="pres">
      <dgm:prSet presAssocID="{5E9833D6-5941-40BD-A6E3-E6EDADE08FB3}" presName="sibTrans" presStyleLbl="sibTrans2D1" presStyleIdx="4" presStyleCnt="5"/>
      <dgm:spPr/>
      <dgm:t>
        <a:bodyPr/>
        <a:lstStyle/>
        <a:p>
          <a:endParaRPr lang="ru-RU"/>
        </a:p>
      </dgm:t>
    </dgm:pt>
    <dgm:pt modelId="{01788139-3FB5-44F5-96E5-C3DF4DF522E7}" type="pres">
      <dgm:prSet presAssocID="{5E9833D6-5941-40BD-A6E3-E6EDADE08FB3}" presName="connectorText" presStyleLbl="sibTrans2D1" presStyleIdx="4" presStyleCnt="5"/>
      <dgm:spPr/>
      <dgm:t>
        <a:bodyPr/>
        <a:lstStyle/>
        <a:p>
          <a:endParaRPr lang="ru-RU"/>
        </a:p>
      </dgm:t>
    </dgm:pt>
    <dgm:pt modelId="{F7E1C977-42B9-4011-8ACA-C1E4145F3358}" type="pres">
      <dgm:prSet presAssocID="{A7B178D4-5607-4422-98ED-EE491576FFD3}" presName="node" presStyleLbl="node1" presStyleIdx="5" presStyleCnt="6" custScaleX="45824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AE05DC5-942D-4DF3-AA8E-5FA5D5D72D8C}" type="presOf" srcId="{D799F01D-D92D-4CFE-9016-FEA35C3A9ED6}" destId="{FEA6D073-04C3-4CBF-BB3F-A05F682FEFB4}" srcOrd="0" destOrd="0" presId="urn:microsoft.com/office/officeart/2005/8/layout/process2"/>
    <dgm:cxn modelId="{B5BDE2A5-9F13-43EF-964B-D0DA71EDD5A5}" type="presOf" srcId="{DE54DC01-9BB3-4A5C-9130-B1195968F8FB}" destId="{EA4084E1-E3BF-4D1D-88C2-17CE0248BF5C}" srcOrd="1" destOrd="0" presId="urn:microsoft.com/office/officeart/2005/8/layout/process2"/>
    <dgm:cxn modelId="{2EF2500A-BDC0-40AA-A74D-2AE2486D7E06}" type="presOf" srcId="{B92E100B-4D44-42AF-8F09-05008096E321}" destId="{8B9030B5-431D-48C5-BB3C-630122EC7A42}" srcOrd="0" destOrd="0" presId="urn:microsoft.com/office/officeart/2005/8/layout/process2"/>
    <dgm:cxn modelId="{18C0C7F8-369A-492C-822F-14ED31A28320}" type="presOf" srcId="{EDA91EEF-CE28-49AC-A722-F378D8516D8D}" destId="{FB41FB43-EB40-4AE2-9D07-A615497A9F8B}" srcOrd="0" destOrd="0" presId="urn:microsoft.com/office/officeart/2005/8/layout/process2"/>
    <dgm:cxn modelId="{27AB7AB4-6F9B-49D8-A5C0-693657A52E20}" type="presOf" srcId="{48869EC7-0372-47DD-AFC3-982CE83726AA}" destId="{43E069BA-2626-44BE-8461-61E6F646A950}" srcOrd="0" destOrd="0" presId="urn:microsoft.com/office/officeart/2005/8/layout/process2"/>
    <dgm:cxn modelId="{A7603077-4069-4E5A-A9C8-2E179805D061}" srcId="{D799F01D-D92D-4CFE-9016-FEA35C3A9ED6}" destId="{B92E100B-4D44-42AF-8F09-05008096E321}" srcOrd="4" destOrd="0" parTransId="{23B3E343-FAFC-4665-AC0C-F9129ECDD492}" sibTransId="{5E9833D6-5941-40BD-A6E3-E6EDADE08FB3}"/>
    <dgm:cxn modelId="{1012B29D-7321-4E9C-8149-314F0BE65F6A}" type="presOf" srcId="{5E9833D6-5941-40BD-A6E3-E6EDADE08FB3}" destId="{72F9AFC7-25B3-44C1-AE63-221C57666B75}" srcOrd="0" destOrd="0" presId="urn:microsoft.com/office/officeart/2005/8/layout/process2"/>
    <dgm:cxn modelId="{174137A5-8282-48E9-9AED-C674469F43FB}" type="presOf" srcId="{C11EC22A-CB2F-4CAE-9C01-CE77C7629B0B}" destId="{C5DBD2F5-EC45-4BF1-AF76-783592F41CD5}" srcOrd="0" destOrd="0" presId="urn:microsoft.com/office/officeart/2005/8/layout/process2"/>
    <dgm:cxn modelId="{17906418-3718-4ADC-B057-CA345FAAE786}" type="presOf" srcId="{10695103-C27C-4AB3-8C44-8514FCDD4AA3}" destId="{60B6F9BE-A3C9-470C-8197-6A07AE528C72}" srcOrd="0" destOrd="0" presId="urn:microsoft.com/office/officeart/2005/8/layout/process2"/>
    <dgm:cxn modelId="{00549F11-068E-4F32-A7A0-C0B789FD8004}" srcId="{D799F01D-D92D-4CFE-9016-FEA35C3A9ED6}" destId="{A7B178D4-5607-4422-98ED-EE491576FFD3}" srcOrd="5" destOrd="0" parTransId="{BABA78F3-A903-45DE-BD27-6D2D97F8E509}" sibTransId="{86A7CEE4-4396-4F86-93AC-218E740A6CC6}"/>
    <dgm:cxn modelId="{FDD95780-C882-437F-ABD3-C6E4392866BD}" srcId="{D799F01D-D92D-4CFE-9016-FEA35C3A9ED6}" destId="{EDA91EEF-CE28-49AC-A722-F378D8516D8D}" srcOrd="1" destOrd="0" parTransId="{21A51BAA-69D5-445F-9EB2-D7F08DEEC691}" sibTransId="{98383E04-F000-45CD-B216-FC1CB8459FED}"/>
    <dgm:cxn modelId="{7D304A6A-D247-4E81-B934-9D2A29B9DA61}" type="presOf" srcId="{367ACB6F-4934-49F6-850F-1FBA5DD4A1C6}" destId="{038126DB-7B95-403E-8673-E4DC72560623}" srcOrd="0" destOrd="0" presId="urn:microsoft.com/office/officeart/2005/8/layout/process2"/>
    <dgm:cxn modelId="{3CEC9760-79AD-419D-9C58-4B19F94684F7}" type="presOf" srcId="{C11EC22A-CB2F-4CAE-9C01-CE77C7629B0B}" destId="{6141D749-CA54-4101-BB19-2BF9B6DA95A8}" srcOrd="1" destOrd="0" presId="urn:microsoft.com/office/officeart/2005/8/layout/process2"/>
    <dgm:cxn modelId="{71410EA7-8FED-4D76-BBFC-85FFBE3A1507}" srcId="{D799F01D-D92D-4CFE-9016-FEA35C3A9ED6}" destId="{48869EC7-0372-47DD-AFC3-982CE83726AA}" srcOrd="2" destOrd="0" parTransId="{6587DF94-D319-4C47-92BC-4176477D4129}" sibTransId="{C11EC22A-CB2F-4CAE-9C01-CE77C7629B0B}"/>
    <dgm:cxn modelId="{CC61A713-1851-4B91-9FD7-FCF251FF6D7D}" type="presOf" srcId="{10695103-C27C-4AB3-8C44-8514FCDD4AA3}" destId="{38A3A0F7-30C6-46BB-97C7-F5AE7ACEF83A}" srcOrd="1" destOrd="0" presId="urn:microsoft.com/office/officeart/2005/8/layout/process2"/>
    <dgm:cxn modelId="{5DE148CE-F8AB-4CF0-A549-751FC6C941A6}" type="presOf" srcId="{5E9833D6-5941-40BD-A6E3-E6EDADE08FB3}" destId="{01788139-3FB5-44F5-96E5-C3DF4DF522E7}" srcOrd="1" destOrd="0" presId="urn:microsoft.com/office/officeart/2005/8/layout/process2"/>
    <dgm:cxn modelId="{F98B8D8D-5E45-4F10-A62D-5FF216985291}" srcId="{D799F01D-D92D-4CFE-9016-FEA35C3A9ED6}" destId="{367ACB6F-4934-49F6-850F-1FBA5DD4A1C6}" srcOrd="3" destOrd="0" parTransId="{508E3941-6FBC-4CD8-BCA5-3C5849A3C717}" sibTransId="{DE54DC01-9BB3-4A5C-9130-B1195968F8FB}"/>
    <dgm:cxn modelId="{AA02AF38-CA7A-4E24-825E-513DE9140AD8}" type="presOf" srcId="{A34BD8D2-D755-4A07-92D8-6C26550AE4E0}" destId="{360CB465-1557-436B-8E9C-52D6B730068E}" srcOrd="0" destOrd="0" presId="urn:microsoft.com/office/officeart/2005/8/layout/process2"/>
    <dgm:cxn modelId="{D64AA9E9-5647-417C-ADFB-8344520237AE}" type="presOf" srcId="{DE54DC01-9BB3-4A5C-9130-B1195968F8FB}" destId="{1D72C217-9074-4E6D-9126-69D498602F19}" srcOrd="0" destOrd="0" presId="urn:microsoft.com/office/officeart/2005/8/layout/process2"/>
    <dgm:cxn modelId="{CA7F9578-F996-4BC2-B3C6-5A20BAFA16F2}" type="presOf" srcId="{98383E04-F000-45CD-B216-FC1CB8459FED}" destId="{D212E510-E17F-4542-A8F8-48BD6C0387D7}" srcOrd="0" destOrd="0" presId="urn:microsoft.com/office/officeart/2005/8/layout/process2"/>
    <dgm:cxn modelId="{810A1DF7-4362-4596-965C-B77E8700AFE9}" type="presOf" srcId="{A7B178D4-5607-4422-98ED-EE491576FFD3}" destId="{F7E1C977-42B9-4011-8ACA-C1E4145F3358}" srcOrd="0" destOrd="0" presId="urn:microsoft.com/office/officeart/2005/8/layout/process2"/>
    <dgm:cxn modelId="{7F6ABC95-9563-4615-999C-79A22D59F885}" type="presOf" srcId="{98383E04-F000-45CD-B216-FC1CB8459FED}" destId="{BD5CFCA8-5643-4442-BDB8-110899CB1B9C}" srcOrd="1" destOrd="0" presId="urn:microsoft.com/office/officeart/2005/8/layout/process2"/>
    <dgm:cxn modelId="{B9744018-BE32-4FF6-B790-A6A3871EE25C}" srcId="{D799F01D-D92D-4CFE-9016-FEA35C3A9ED6}" destId="{A34BD8D2-D755-4A07-92D8-6C26550AE4E0}" srcOrd="0" destOrd="0" parTransId="{FFD86455-055D-40FF-B8FA-CB4975073649}" sibTransId="{10695103-C27C-4AB3-8C44-8514FCDD4AA3}"/>
    <dgm:cxn modelId="{012472D1-BCC0-4B5F-BE2A-FC6F80B63BB6}" type="presParOf" srcId="{FEA6D073-04C3-4CBF-BB3F-A05F682FEFB4}" destId="{360CB465-1557-436B-8E9C-52D6B730068E}" srcOrd="0" destOrd="0" presId="urn:microsoft.com/office/officeart/2005/8/layout/process2"/>
    <dgm:cxn modelId="{A8AB4A0D-8089-431F-BF13-681CFE3D8A27}" type="presParOf" srcId="{FEA6D073-04C3-4CBF-BB3F-A05F682FEFB4}" destId="{60B6F9BE-A3C9-470C-8197-6A07AE528C72}" srcOrd="1" destOrd="0" presId="urn:microsoft.com/office/officeart/2005/8/layout/process2"/>
    <dgm:cxn modelId="{4EE51049-F9BA-45B1-8ADC-BD20CDCD1A5C}" type="presParOf" srcId="{60B6F9BE-A3C9-470C-8197-6A07AE528C72}" destId="{38A3A0F7-30C6-46BB-97C7-F5AE7ACEF83A}" srcOrd="0" destOrd="0" presId="urn:microsoft.com/office/officeart/2005/8/layout/process2"/>
    <dgm:cxn modelId="{2AFC130B-169C-4B52-BA4F-288B58344AF9}" type="presParOf" srcId="{FEA6D073-04C3-4CBF-BB3F-A05F682FEFB4}" destId="{FB41FB43-EB40-4AE2-9D07-A615497A9F8B}" srcOrd="2" destOrd="0" presId="urn:microsoft.com/office/officeart/2005/8/layout/process2"/>
    <dgm:cxn modelId="{AF493A4A-2F66-4F40-8B1C-9EB73C88890D}" type="presParOf" srcId="{FEA6D073-04C3-4CBF-BB3F-A05F682FEFB4}" destId="{D212E510-E17F-4542-A8F8-48BD6C0387D7}" srcOrd="3" destOrd="0" presId="urn:microsoft.com/office/officeart/2005/8/layout/process2"/>
    <dgm:cxn modelId="{42D0F362-B352-4F2D-8039-9999B6588F81}" type="presParOf" srcId="{D212E510-E17F-4542-A8F8-48BD6C0387D7}" destId="{BD5CFCA8-5643-4442-BDB8-110899CB1B9C}" srcOrd="0" destOrd="0" presId="urn:microsoft.com/office/officeart/2005/8/layout/process2"/>
    <dgm:cxn modelId="{7C755341-74F8-4F8B-AE87-391F19987EEA}" type="presParOf" srcId="{FEA6D073-04C3-4CBF-BB3F-A05F682FEFB4}" destId="{43E069BA-2626-44BE-8461-61E6F646A950}" srcOrd="4" destOrd="0" presId="urn:microsoft.com/office/officeart/2005/8/layout/process2"/>
    <dgm:cxn modelId="{28A17BA2-CD9A-4ACA-823E-991B6828EF49}" type="presParOf" srcId="{FEA6D073-04C3-4CBF-BB3F-A05F682FEFB4}" destId="{C5DBD2F5-EC45-4BF1-AF76-783592F41CD5}" srcOrd="5" destOrd="0" presId="urn:microsoft.com/office/officeart/2005/8/layout/process2"/>
    <dgm:cxn modelId="{58CBC206-4A3F-4D7B-AB99-C73296719EEA}" type="presParOf" srcId="{C5DBD2F5-EC45-4BF1-AF76-783592F41CD5}" destId="{6141D749-CA54-4101-BB19-2BF9B6DA95A8}" srcOrd="0" destOrd="0" presId="urn:microsoft.com/office/officeart/2005/8/layout/process2"/>
    <dgm:cxn modelId="{C7EAA0C6-D91B-423D-B8C0-6B37611F5B16}" type="presParOf" srcId="{FEA6D073-04C3-4CBF-BB3F-A05F682FEFB4}" destId="{038126DB-7B95-403E-8673-E4DC72560623}" srcOrd="6" destOrd="0" presId="urn:microsoft.com/office/officeart/2005/8/layout/process2"/>
    <dgm:cxn modelId="{FBC6C2CB-CF77-4B3A-AE33-4969C117A325}" type="presParOf" srcId="{FEA6D073-04C3-4CBF-BB3F-A05F682FEFB4}" destId="{1D72C217-9074-4E6D-9126-69D498602F19}" srcOrd="7" destOrd="0" presId="urn:microsoft.com/office/officeart/2005/8/layout/process2"/>
    <dgm:cxn modelId="{7E40F0DB-855F-4B7E-9A0E-90E46365EFA6}" type="presParOf" srcId="{1D72C217-9074-4E6D-9126-69D498602F19}" destId="{EA4084E1-E3BF-4D1D-88C2-17CE0248BF5C}" srcOrd="0" destOrd="0" presId="urn:microsoft.com/office/officeart/2005/8/layout/process2"/>
    <dgm:cxn modelId="{D538631B-B617-47E8-BC36-FCBADA8AE4B1}" type="presParOf" srcId="{FEA6D073-04C3-4CBF-BB3F-A05F682FEFB4}" destId="{8B9030B5-431D-48C5-BB3C-630122EC7A42}" srcOrd="8" destOrd="0" presId="urn:microsoft.com/office/officeart/2005/8/layout/process2"/>
    <dgm:cxn modelId="{53F976F1-2D1E-48E6-AEFB-1627D6C523B9}" type="presParOf" srcId="{FEA6D073-04C3-4CBF-BB3F-A05F682FEFB4}" destId="{72F9AFC7-25B3-44C1-AE63-221C57666B75}" srcOrd="9" destOrd="0" presId="urn:microsoft.com/office/officeart/2005/8/layout/process2"/>
    <dgm:cxn modelId="{6DE89CF5-DD13-454A-AC85-0F98E304FF4B}" type="presParOf" srcId="{72F9AFC7-25B3-44C1-AE63-221C57666B75}" destId="{01788139-3FB5-44F5-96E5-C3DF4DF522E7}" srcOrd="0" destOrd="0" presId="urn:microsoft.com/office/officeart/2005/8/layout/process2"/>
    <dgm:cxn modelId="{96FB1713-274D-44C9-9788-B0F82A462A66}" type="presParOf" srcId="{FEA6D073-04C3-4CBF-BB3F-A05F682FEFB4}" destId="{F7E1C977-42B9-4011-8ACA-C1E4145F3358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277A5E-7569-4CC8-AD3F-42FE79C86FF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4D0CB4A-F16C-4CFE-9752-AE960F58156A}">
      <dgm:prSet phldrT="[Текст]"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Помогает упростить и ускорить повседневную работу.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Многие рутинные задачи автоматизируются, и сотрудники тратят меньше времени на бумажную работу и дублирование данных.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7FC71EFC-25CD-4DD8-9FF1-0A3A5A7F4A8F}" type="parTrans" cxnId="{2E0FFC87-2480-44DD-8A18-DB3271E4B7C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628BBA49-DCFE-4461-9FFF-0323AEA2D092}" type="sibTrans" cxnId="{2E0FFC87-2480-44DD-8A18-DB3271E4B7C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87BBE97B-EF9B-45D8-A9F7-EEBCBCF07677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Вся информация собирается в одной системе, больше не нужно искать ее в разных таблицах и программах - все доступно и обновляется в реальном времени.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Это снижает количество ошибок и помогает быстрее принимать решения.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8DA9B117-F975-4621-84F9-EDD49D765FFB}" type="parTrans" cxnId="{4688071D-3EDB-4A04-9EC3-C3D5358F8CAE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7B7D2D4-49D6-44F4-8841-901E77F5617E}" type="sibTrans" cxnId="{4688071D-3EDB-4A04-9EC3-C3D5358F8CAE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B570C9DF-46E9-4A87-81BE-60D1DDD9E0E5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Система также повышает прозрачность процессов - видно, что происходит в компании прямо сейчас: какие продажи, какие запасы, где узкие места.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Руководство может вовремя отреагировать, не дожидаясь, пока проблема станет критичной.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8A510D63-9244-42C2-97CC-0FEBF4F1859C}" type="parTrans" cxnId="{AAEC7DDB-DE95-4E44-9A1D-956FDA29F4DF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F7ACEDC-A13D-45CE-95C2-188BE24E3954}" type="sibTrans" cxnId="{AAEC7DDB-DE95-4E44-9A1D-956FDA29F4DF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EDFEF30-5749-4D07-A059-E4FB71B59F90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Обслуживание клиентов улучшается: ERP помогает быстрее обрабатывать заказы, точнее управлять запасами и выполнять обещания.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778C2DC1-44B1-4227-9398-0ECFC2BD0FC8}" type="parTrans" cxnId="{5F2084F5-8DC6-426E-A57C-EFCDDAF419E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89EF2B3-5682-4164-9B20-9B1D785AEA42}" type="sibTrans" cxnId="{5F2084F5-8DC6-426E-A57C-EFCDDAF419E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9953B68-DDC6-48E5-8ED7-08D3347B947B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Благодаря встроенной аналитике и отчетам можно детально анализировать работу бизнеса и принимать обоснованные решения.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А автоматизация в целом снижает количество ошибок — особенно в бухгалтерии, на складе и в закупках.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240B360A-8D55-46D2-BD95-D030D5B84239}" type="parTrans" cxnId="{488455C0-4B4A-46DA-AC65-A25C46755A29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6795E563-35B1-4D43-875B-503BADAE6485}" type="sibTrans" cxnId="{488455C0-4B4A-46DA-AC65-A25C46755A29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FA33A0F4-D678-4583-B875-E49F5E6F3792}" type="pres">
      <dgm:prSet presAssocID="{38277A5E-7569-4CC8-AD3F-42FE79C86FF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CBD6EA0-7EEA-4162-A6BC-D296157388C5}" type="pres">
      <dgm:prSet presAssocID="{64D0CB4A-F16C-4CFE-9752-AE960F58156A}" presName="node" presStyleLbl="node1" presStyleIdx="0" presStyleCnt="5" custScaleY="13839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9FBB23-B9C5-45DA-861E-C3D09338EF3A}" type="pres">
      <dgm:prSet presAssocID="{628BBA49-DCFE-4461-9FFF-0323AEA2D092}" presName="sibTrans" presStyleCnt="0"/>
      <dgm:spPr/>
    </dgm:pt>
    <dgm:pt modelId="{F2A885EE-483F-417D-9E6A-2CD1021631F6}" type="pres">
      <dgm:prSet presAssocID="{87BBE97B-EF9B-45D8-A9F7-EEBCBCF07677}" presName="node" presStyleLbl="node1" presStyleIdx="1" presStyleCnt="5" custScaleY="13346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2A075E-93FA-4C75-B392-46CE3BBDEDCD}" type="pres">
      <dgm:prSet presAssocID="{57B7D2D4-49D6-44F4-8841-901E77F5617E}" presName="sibTrans" presStyleCnt="0"/>
      <dgm:spPr/>
    </dgm:pt>
    <dgm:pt modelId="{23B8FC87-D601-484B-9C90-0D9FC197F8CA}" type="pres">
      <dgm:prSet presAssocID="{B570C9DF-46E9-4A87-81BE-60D1DDD9E0E5}" presName="node" presStyleLbl="node1" presStyleIdx="2" presStyleCnt="5" custScaleY="13519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F1ACA89-AEFF-4076-A954-2D28C5F3BDA1}" type="pres">
      <dgm:prSet presAssocID="{7F7ACEDC-A13D-45CE-95C2-188BE24E3954}" presName="sibTrans" presStyleCnt="0"/>
      <dgm:spPr/>
    </dgm:pt>
    <dgm:pt modelId="{B2C1837D-8D37-41CB-9A3C-A54AA516E110}" type="pres">
      <dgm:prSet presAssocID="{1EDFEF30-5749-4D07-A059-E4FB71B59F90}" presName="node" presStyleLbl="node1" presStyleIdx="3" presStyleCnt="5" custScaleY="13013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F241813-64A6-4F26-AD51-BEF19303C34F}" type="pres">
      <dgm:prSet presAssocID="{D89EF2B3-5682-4164-9B20-9B1D785AEA42}" presName="sibTrans" presStyleCnt="0"/>
      <dgm:spPr/>
    </dgm:pt>
    <dgm:pt modelId="{254D205B-29E0-40A7-95AC-991AE684834E}" type="pres">
      <dgm:prSet presAssocID="{59953B68-DDC6-48E5-8ED7-08D3347B947B}" presName="node" presStyleLbl="node1" presStyleIdx="4" presStyleCnt="5" custScaleY="130130" custLinFactNeighborY="-346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56C65B7-81B3-4E3B-89DC-1FCEB23AB994}" type="presOf" srcId="{87BBE97B-EF9B-45D8-A9F7-EEBCBCF07677}" destId="{F2A885EE-483F-417D-9E6A-2CD1021631F6}" srcOrd="0" destOrd="0" presId="urn:microsoft.com/office/officeart/2005/8/layout/default"/>
    <dgm:cxn modelId="{1EBD91A4-F561-4222-A9B7-17BD74B097FF}" type="presOf" srcId="{64D0CB4A-F16C-4CFE-9752-AE960F58156A}" destId="{CCBD6EA0-7EEA-4162-A6BC-D296157388C5}" srcOrd="0" destOrd="0" presId="urn:microsoft.com/office/officeart/2005/8/layout/default"/>
    <dgm:cxn modelId="{8D23F9CF-202C-477B-9259-4D87EED22D78}" type="presOf" srcId="{1EDFEF30-5749-4D07-A059-E4FB71B59F90}" destId="{B2C1837D-8D37-41CB-9A3C-A54AA516E110}" srcOrd="0" destOrd="0" presId="urn:microsoft.com/office/officeart/2005/8/layout/default"/>
    <dgm:cxn modelId="{2E0FFC87-2480-44DD-8A18-DB3271E4B7CA}" srcId="{38277A5E-7569-4CC8-AD3F-42FE79C86FFD}" destId="{64D0CB4A-F16C-4CFE-9752-AE960F58156A}" srcOrd="0" destOrd="0" parTransId="{7FC71EFC-25CD-4DD8-9FF1-0A3A5A7F4A8F}" sibTransId="{628BBA49-DCFE-4461-9FFF-0323AEA2D092}"/>
    <dgm:cxn modelId="{654512ED-03E8-44A2-B26B-0332E7903B3B}" type="presOf" srcId="{59953B68-DDC6-48E5-8ED7-08D3347B947B}" destId="{254D205B-29E0-40A7-95AC-991AE684834E}" srcOrd="0" destOrd="0" presId="urn:microsoft.com/office/officeart/2005/8/layout/default"/>
    <dgm:cxn modelId="{488455C0-4B4A-46DA-AC65-A25C46755A29}" srcId="{38277A5E-7569-4CC8-AD3F-42FE79C86FFD}" destId="{59953B68-DDC6-48E5-8ED7-08D3347B947B}" srcOrd="4" destOrd="0" parTransId="{240B360A-8D55-46D2-BD95-D030D5B84239}" sibTransId="{6795E563-35B1-4D43-875B-503BADAE6485}"/>
    <dgm:cxn modelId="{FE4E6D1C-B9EC-4FCC-A177-DDE1A962A4CB}" type="presOf" srcId="{B570C9DF-46E9-4A87-81BE-60D1DDD9E0E5}" destId="{23B8FC87-D601-484B-9C90-0D9FC197F8CA}" srcOrd="0" destOrd="0" presId="urn:microsoft.com/office/officeart/2005/8/layout/default"/>
    <dgm:cxn modelId="{AAEC7DDB-DE95-4E44-9A1D-956FDA29F4DF}" srcId="{38277A5E-7569-4CC8-AD3F-42FE79C86FFD}" destId="{B570C9DF-46E9-4A87-81BE-60D1DDD9E0E5}" srcOrd="2" destOrd="0" parTransId="{8A510D63-9244-42C2-97CC-0FEBF4F1859C}" sibTransId="{7F7ACEDC-A13D-45CE-95C2-188BE24E3954}"/>
    <dgm:cxn modelId="{5F2084F5-8DC6-426E-A57C-EFCDDAF419EA}" srcId="{38277A5E-7569-4CC8-AD3F-42FE79C86FFD}" destId="{1EDFEF30-5749-4D07-A059-E4FB71B59F90}" srcOrd="3" destOrd="0" parTransId="{778C2DC1-44B1-4227-9398-0ECFC2BD0FC8}" sibTransId="{D89EF2B3-5682-4164-9B20-9B1D785AEA42}"/>
    <dgm:cxn modelId="{4688071D-3EDB-4A04-9EC3-C3D5358F8CAE}" srcId="{38277A5E-7569-4CC8-AD3F-42FE79C86FFD}" destId="{87BBE97B-EF9B-45D8-A9F7-EEBCBCF07677}" srcOrd="1" destOrd="0" parTransId="{8DA9B117-F975-4621-84F9-EDD49D765FFB}" sibTransId="{57B7D2D4-49D6-44F4-8841-901E77F5617E}"/>
    <dgm:cxn modelId="{9830FD18-1158-4426-9DA8-795E2552FD88}" type="presOf" srcId="{38277A5E-7569-4CC8-AD3F-42FE79C86FFD}" destId="{FA33A0F4-D678-4583-B875-E49F5E6F3792}" srcOrd="0" destOrd="0" presId="urn:microsoft.com/office/officeart/2005/8/layout/default"/>
    <dgm:cxn modelId="{3588542C-6FB8-4EF8-A5B7-845F3F56B23B}" type="presParOf" srcId="{FA33A0F4-D678-4583-B875-E49F5E6F3792}" destId="{CCBD6EA0-7EEA-4162-A6BC-D296157388C5}" srcOrd="0" destOrd="0" presId="urn:microsoft.com/office/officeart/2005/8/layout/default"/>
    <dgm:cxn modelId="{688E01C0-C4F4-4081-91C0-194F5F41A74A}" type="presParOf" srcId="{FA33A0F4-D678-4583-B875-E49F5E6F3792}" destId="{269FBB23-B9C5-45DA-861E-C3D09338EF3A}" srcOrd="1" destOrd="0" presId="urn:microsoft.com/office/officeart/2005/8/layout/default"/>
    <dgm:cxn modelId="{73FC5209-8B08-45B4-AF53-B3D639019689}" type="presParOf" srcId="{FA33A0F4-D678-4583-B875-E49F5E6F3792}" destId="{F2A885EE-483F-417D-9E6A-2CD1021631F6}" srcOrd="2" destOrd="0" presId="urn:microsoft.com/office/officeart/2005/8/layout/default"/>
    <dgm:cxn modelId="{DDDFDFD1-24E4-4596-A78B-581BBA2F371D}" type="presParOf" srcId="{FA33A0F4-D678-4583-B875-E49F5E6F3792}" destId="{F82A075E-93FA-4C75-B392-46CE3BBDEDCD}" srcOrd="3" destOrd="0" presId="urn:microsoft.com/office/officeart/2005/8/layout/default"/>
    <dgm:cxn modelId="{8E2E420E-2DC0-43CD-811B-E62FACB6C4BB}" type="presParOf" srcId="{FA33A0F4-D678-4583-B875-E49F5E6F3792}" destId="{23B8FC87-D601-484B-9C90-0D9FC197F8CA}" srcOrd="4" destOrd="0" presId="urn:microsoft.com/office/officeart/2005/8/layout/default"/>
    <dgm:cxn modelId="{A47C3EB4-E5E3-420C-AA96-2801D2BD7F10}" type="presParOf" srcId="{FA33A0F4-D678-4583-B875-E49F5E6F3792}" destId="{3F1ACA89-AEFF-4076-A954-2D28C5F3BDA1}" srcOrd="5" destOrd="0" presId="urn:microsoft.com/office/officeart/2005/8/layout/default"/>
    <dgm:cxn modelId="{F110A45A-CF74-4E90-8310-AB891E75A172}" type="presParOf" srcId="{FA33A0F4-D678-4583-B875-E49F5E6F3792}" destId="{B2C1837D-8D37-41CB-9A3C-A54AA516E110}" srcOrd="6" destOrd="0" presId="urn:microsoft.com/office/officeart/2005/8/layout/default"/>
    <dgm:cxn modelId="{C2C6932F-8EF7-4EBD-8B12-10F51A751D62}" type="presParOf" srcId="{FA33A0F4-D678-4583-B875-E49F5E6F3792}" destId="{CF241813-64A6-4F26-AD51-BEF19303C34F}" srcOrd="7" destOrd="0" presId="urn:microsoft.com/office/officeart/2005/8/layout/default"/>
    <dgm:cxn modelId="{C1DBAB65-7809-4447-9437-DE64323AC9B6}" type="presParOf" srcId="{FA33A0F4-D678-4583-B875-E49F5E6F3792}" destId="{254D205B-29E0-40A7-95AC-991AE684834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927B704-C989-43E4-9B2E-A2A68DE0BCA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E42357F-9DD0-498A-8E14-22F1C8B50D31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Внедрение требует вложений: покупка или аренда системы, настройка, обучение сотрудников и техническая поддержка.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 Сам процесс внедрения может быть долгим и сложным, особенно в больших компаниях.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Это может временно замедлить работу и вызвать сбои.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FEB627EE-AD34-4CD5-81BE-E83BE982A76C}" type="parTrans" cxnId="{4DABAD2A-3010-405D-910A-9F3A0E52067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FED5137-A23F-408B-BCA9-686D551952BE}" type="sibTrans" cxnId="{4DABAD2A-3010-405D-910A-9F3A0E52067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778B3FE-4565-4DA8-98F7-E11DF93281BA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ERP требует изменений внутри компании.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Сотрудникам нужно учиться работать по-новому, а не все готовы менять привычный порядок.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Некоторые сопротивляются, потому что не хотят осваивать новую систему или тратить время на обучение.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48A45D7-3436-478D-9054-2829269C2742}" type="parTrans" cxnId="{BB819D2D-F2DA-445D-BB3D-1D5F3A4DDE6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3A2AB17-BB7A-4B57-8184-30CD0D8FF24C}" type="sibTrans" cxnId="{BB819D2D-F2DA-445D-BB3D-1D5F3A4DDE6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60BFF37-A48B-406D-A7A4-966C268EEE7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Ошибки при настройке - еще один риск. Если неправильно смоделировать процессы или выбрать неподходящую систему, ERP может не упростить, а, наоборот, запутать работу.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Поэтому важно подключать опытных специалистов и тщательно продумывать архитектуру системы еще до начала внедрения.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21B7EC3C-A58A-450F-8525-2513429E1A6F}" type="parTrans" cxnId="{C8809324-51CE-4E12-9E16-1D640D38256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0D43437-9EF2-4BEA-9369-2A8CE709F0B1}" type="sibTrans" cxnId="{C8809324-51CE-4E12-9E16-1D640D38256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0573368-563A-4D73-86B4-87AE6572571F}" type="pres">
      <dgm:prSet presAssocID="{7927B704-C989-43E4-9B2E-A2A68DE0BCA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6E5CABD-BCD0-4C71-B102-BBEDD3750F34}" type="pres">
      <dgm:prSet presAssocID="{BE42357F-9DD0-498A-8E14-22F1C8B50D31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B3BB74-FCD0-4FDE-B990-93A8A1DD79C2}" type="pres">
      <dgm:prSet presAssocID="{7FED5137-A23F-408B-BCA9-686D551952BE}" presName="sibTrans" presStyleCnt="0"/>
      <dgm:spPr/>
    </dgm:pt>
    <dgm:pt modelId="{59300609-1D97-4829-A136-B2F4B44506CD}" type="pres">
      <dgm:prSet presAssocID="{9778B3FE-4565-4DA8-98F7-E11DF93281BA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4846127-7A4D-47CF-8CBC-73005A8D3292}" type="pres">
      <dgm:prSet presAssocID="{43A2AB17-BB7A-4B57-8184-30CD0D8FF24C}" presName="sibTrans" presStyleCnt="0"/>
      <dgm:spPr/>
    </dgm:pt>
    <dgm:pt modelId="{706D1719-5648-4D80-A410-71D20701AE5D}" type="pres">
      <dgm:prSet presAssocID="{060BFF37-A48B-406D-A7A4-966C268EEE7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4F9AC07-2CEA-40E1-B89F-36511B2D9B29}" type="presOf" srcId="{9778B3FE-4565-4DA8-98F7-E11DF93281BA}" destId="{59300609-1D97-4829-A136-B2F4B44506CD}" srcOrd="0" destOrd="0" presId="urn:microsoft.com/office/officeart/2005/8/layout/default"/>
    <dgm:cxn modelId="{4DABAD2A-3010-405D-910A-9F3A0E52067F}" srcId="{7927B704-C989-43E4-9B2E-A2A68DE0BCA5}" destId="{BE42357F-9DD0-498A-8E14-22F1C8B50D31}" srcOrd="0" destOrd="0" parTransId="{FEB627EE-AD34-4CD5-81BE-E83BE982A76C}" sibTransId="{7FED5137-A23F-408B-BCA9-686D551952BE}"/>
    <dgm:cxn modelId="{C8809324-51CE-4E12-9E16-1D640D38256D}" srcId="{7927B704-C989-43E4-9B2E-A2A68DE0BCA5}" destId="{060BFF37-A48B-406D-A7A4-966C268EEE7C}" srcOrd="2" destOrd="0" parTransId="{21B7EC3C-A58A-450F-8525-2513429E1A6F}" sibTransId="{90D43437-9EF2-4BEA-9369-2A8CE709F0B1}"/>
    <dgm:cxn modelId="{141EDE19-B815-46F0-A11F-3DE1B89B21CA}" type="presOf" srcId="{060BFF37-A48B-406D-A7A4-966C268EEE7C}" destId="{706D1719-5648-4D80-A410-71D20701AE5D}" srcOrd="0" destOrd="0" presId="urn:microsoft.com/office/officeart/2005/8/layout/default"/>
    <dgm:cxn modelId="{177C6C0D-A58B-422C-A2A0-09EDE11ECA9F}" type="presOf" srcId="{7927B704-C989-43E4-9B2E-A2A68DE0BCA5}" destId="{70573368-563A-4D73-86B4-87AE6572571F}" srcOrd="0" destOrd="0" presId="urn:microsoft.com/office/officeart/2005/8/layout/default"/>
    <dgm:cxn modelId="{BB819D2D-F2DA-445D-BB3D-1D5F3A4DDE6E}" srcId="{7927B704-C989-43E4-9B2E-A2A68DE0BCA5}" destId="{9778B3FE-4565-4DA8-98F7-E11DF93281BA}" srcOrd="1" destOrd="0" parTransId="{748A45D7-3436-478D-9054-2829269C2742}" sibTransId="{43A2AB17-BB7A-4B57-8184-30CD0D8FF24C}"/>
    <dgm:cxn modelId="{4E3DD168-94AD-448B-AF2C-206442A296F2}" type="presOf" srcId="{BE42357F-9DD0-498A-8E14-22F1C8B50D31}" destId="{86E5CABD-BCD0-4C71-B102-BBEDD3750F34}" srcOrd="0" destOrd="0" presId="urn:microsoft.com/office/officeart/2005/8/layout/default"/>
    <dgm:cxn modelId="{D187B877-F935-42A1-92EC-3A7E3D796A85}" type="presParOf" srcId="{70573368-563A-4D73-86B4-87AE6572571F}" destId="{86E5CABD-BCD0-4C71-B102-BBEDD3750F34}" srcOrd="0" destOrd="0" presId="urn:microsoft.com/office/officeart/2005/8/layout/default"/>
    <dgm:cxn modelId="{58D16E48-1B54-4CB0-A180-5022AEA73231}" type="presParOf" srcId="{70573368-563A-4D73-86B4-87AE6572571F}" destId="{B0B3BB74-FCD0-4FDE-B990-93A8A1DD79C2}" srcOrd="1" destOrd="0" presId="urn:microsoft.com/office/officeart/2005/8/layout/default"/>
    <dgm:cxn modelId="{969896D3-FBD0-4C2C-82D9-03441542508C}" type="presParOf" srcId="{70573368-563A-4D73-86B4-87AE6572571F}" destId="{59300609-1D97-4829-A136-B2F4B44506CD}" srcOrd="2" destOrd="0" presId="urn:microsoft.com/office/officeart/2005/8/layout/default"/>
    <dgm:cxn modelId="{30F3E021-963D-4B26-8DE7-AF50F2C8EC9A}" type="presParOf" srcId="{70573368-563A-4D73-86B4-87AE6572571F}" destId="{14846127-7A4D-47CF-8CBC-73005A8D3292}" srcOrd="3" destOrd="0" presId="urn:microsoft.com/office/officeart/2005/8/layout/default"/>
    <dgm:cxn modelId="{DBAD2157-7E58-4D77-BB47-71DA857FF37B}" type="presParOf" srcId="{70573368-563A-4D73-86B4-87AE6572571F}" destId="{706D1719-5648-4D80-A410-71D20701AE5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E72C9B-04F5-4403-B62C-F4DA1EB7083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4CCDE67-B83E-4300-9967-D5DBAA943D66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Недостаточная подготовка персонала и сопротивление изменениям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89B94DD-5EED-4662-AAB1-BE606D3464DE}" type="parTrans" cxnId="{A1CCEF1B-68EB-4ED2-A95A-D17F6DF7C51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06084DD-7E2B-4B5D-94AA-971C663B3A30}" type="sibTrans" cxnId="{A1CCEF1B-68EB-4ED2-A95A-D17F6DF7C51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237B8C8-4387-4749-9AC2-BF521DAA982F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Перегруженность системы избыточным функционалом на старте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001CB35-1853-49FD-B8A5-F36C4038C95E}" type="parTrans" cxnId="{E722119D-EF69-4090-AA9D-5A36F447D51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F543337-64BD-4393-8BEE-FC0423650C66}" type="sibTrans" cxnId="{E722119D-EF69-4090-AA9D-5A36F447D51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C7A34FF-192F-4007-9628-616BC7F2C085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Игнорирование особенностей существующих бизнес-процессов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09A362E-B586-4DD4-9F83-6BB5F7E96BEC}" type="parTrans" cxnId="{F01348A2-CA74-4922-9F4D-A3FFD58A254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A654269-C081-47C1-A65C-E0C6FFC0245D}" type="sibTrans" cxnId="{F01348A2-CA74-4922-9F4D-A3FFD58A254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9113F20-F2DB-4919-BD14-6BC96467AD4B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Недостаточное внимание к вопросам информационной безопасности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6F2C5E7-1309-44EF-A1B6-2C0871087876}" type="parTrans" cxnId="{A2B4BC5E-555D-42CA-92C0-619C079A552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BA82ACE-5B25-4091-B2B8-AE1A2BA80BAA}" type="sibTrans" cxnId="{A2B4BC5E-555D-42CA-92C0-619C079A552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078456F-A825-48AD-983D-8A90C52DD6A7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Отсутствие четкого плана развития системы после внедрения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342C9C9-5303-4087-A828-D4A896ECC8FB}" type="parTrans" cxnId="{89C90573-D3BB-46B8-A3C6-10ABEC646E5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9201F94-9DBB-49B3-ADC4-49F8633C41FC}" type="sibTrans" cxnId="{89C90573-D3BB-46B8-A3C6-10ABEC646E5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2A024A8-E455-4696-BC08-11D53198DF87}" type="pres">
      <dgm:prSet presAssocID="{69E72C9B-04F5-4403-B62C-F4DA1EB7083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51FFA26-83DE-463D-911E-F4AF1A7B67B2}" type="pres">
      <dgm:prSet presAssocID="{64CCDE67-B83E-4300-9967-D5DBAA943D66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0C0697-9C4F-472A-95BB-4EC17B6C7711}" type="pres">
      <dgm:prSet presAssocID="{106084DD-7E2B-4B5D-94AA-971C663B3A30}" presName="sibTrans" presStyleCnt="0"/>
      <dgm:spPr/>
    </dgm:pt>
    <dgm:pt modelId="{8F563FB1-F18F-415A-9171-7E201CCACAE7}" type="pres">
      <dgm:prSet presAssocID="{E237B8C8-4387-4749-9AC2-BF521DAA982F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545EBBB-0337-4C19-A04F-185264E0559A}" type="pres">
      <dgm:prSet presAssocID="{3F543337-64BD-4393-8BEE-FC0423650C66}" presName="sibTrans" presStyleCnt="0"/>
      <dgm:spPr/>
    </dgm:pt>
    <dgm:pt modelId="{50D68F92-A36F-45A4-B932-CEDEA3A922DA}" type="pres">
      <dgm:prSet presAssocID="{9C7A34FF-192F-4007-9628-616BC7F2C085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D07350-F039-4F19-BFEB-74ABB1AD9BE7}" type="pres">
      <dgm:prSet presAssocID="{8A654269-C081-47C1-A65C-E0C6FFC0245D}" presName="sibTrans" presStyleCnt="0"/>
      <dgm:spPr/>
    </dgm:pt>
    <dgm:pt modelId="{09024218-FF3B-474F-B315-E037CF215AC7}" type="pres">
      <dgm:prSet presAssocID="{69113F20-F2DB-4919-BD14-6BC96467AD4B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183513-205D-49CE-80ED-C3CBBD663D91}" type="pres">
      <dgm:prSet presAssocID="{7BA82ACE-5B25-4091-B2B8-AE1A2BA80BAA}" presName="sibTrans" presStyleCnt="0"/>
      <dgm:spPr/>
    </dgm:pt>
    <dgm:pt modelId="{630D58D7-329D-4B1F-B654-8241E932CBE1}" type="pres">
      <dgm:prSet presAssocID="{A078456F-A825-48AD-983D-8A90C52DD6A7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722119D-EF69-4090-AA9D-5A36F447D517}" srcId="{69E72C9B-04F5-4403-B62C-F4DA1EB70830}" destId="{E237B8C8-4387-4749-9AC2-BF521DAA982F}" srcOrd="1" destOrd="0" parTransId="{F001CB35-1853-49FD-B8A5-F36C4038C95E}" sibTransId="{3F543337-64BD-4393-8BEE-FC0423650C66}"/>
    <dgm:cxn modelId="{A2B4BC5E-555D-42CA-92C0-619C079A5525}" srcId="{69E72C9B-04F5-4403-B62C-F4DA1EB70830}" destId="{69113F20-F2DB-4919-BD14-6BC96467AD4B}" srcOrd="3" destOrd="0" parTransId="{B6F2C5E7-1309-44EF-A1B6-2C0871087876}" sibTransId="{7BA82ACE-5B25-4091-B2B8-AE1A2BA80BAA}"/>
    <dgm:cxn modelId="{C9F37942-8E32-43B2-BB8B-17A824C367D8}" type="presOf" srcId="{E237B8C8-4387-4749-9AC2-BF521DAA982F}" destId="{8F563FB1-F18F-415A-9171-7E201CCACAE7}" srcOrd="0" destOrd="0" presId="urn:microsoft.com/office/officeart/2005/8/layout/default"/>
    <dgm:cxn modelId="{0B9CE76C-B1E1-4350-BCF8-83F3B7B26C85}" type="presOf" srcId="{69E72C9B-04F5-4403-B62C-F4DA1EB70830}" destId="{C2A024A8-E455-4696-BC08-11D53198DF87}" srcOrd="0" destOrd="0" presId="urn:microsoft.com/office/officeart/2005/8/layout/default"/>
    <dgm:cxn modelId="{CBF24244-7671-4794-B486-76E7CA956CC5}" type="presOf" srcId="{9C7A34FF-192F-4007-9628-616BC7F2C085}" destId="{50D68F92-A36F-45A4-B932-CEDEA3A922DA}" srcOrd="0" destOrd="0" presId="urn:microsoft.com/office/officeart/2005/8/layout/default"/>
    <dgm:cxn modelId="{17AD95EB-8795-40B7-B9DC-EF49F652B38A}" type="presOf" srcId="{69113F20-F2DB-4919-BD14-6BC96467AD4B}" destId="{09024218-FF3B-474F-B315-E037CF215AC7}" srcOrd="0" destOrd="0" presId="urn:microsoft.com/office/officeart/2005/8/layout/default"/>
    <dgm:cxn modelId="{38D8062E-544F-4BE2-9845-B897B7AC066F}" type="presOf" srcId="{A078456F-A825-48AD-983D-8A90C52DD6A7}" destId="{630D58D7-329D-4B1F-B654-8241E932CBE1}" srcOrd="0" destOrd="0" presId="urn:microsoft.com/office/officeart/2005/8/layout/default"/>
    <dgm:cxn modelId="{F01348A2-CA74-4922-9F4D-A3FFD58A2541}" srcId="{69E72C9B-04F5-4403-B62C-F4DA1EB70830}" destId="{9C7A34FF-192F-4007-9628-616BC7F2C085}" srcOrd="2" destOrd="0" parTransId="{A09A362E-B586-4DD4-9F83-6BB5F7E96BEC}" sibTransId="{8A654269-C081-47C1-A65C-E0C6FFC0245D}"/>
    <dgm:cxn modelId="{A1CCEF1B-68EB-4ED2-A95A-D17F6DF7C51D}" srcId="{69E72C9B-04F5-4403-B62C-F4DA1EB70830}" destId="{64CCDE67-B83E-4300-9967-D5DBAA943D66}" srcOrd="0" destOrd="0" parTransId="{889B94DD-5EED-4662-AAB1-BE606D3464DE}" sibTransId="{106084DD-7E2B-4B5D-94AA-971C663B3A30}"/>
    <dgm:cxn modelId="{89C90573-D3BB-46B8-A3C6-10ABEC646E57}" srcId="{69E72C9B-04F5-4403-B62C-F4DA1EB70830}" destId="{A078456F-A825-48AD-983D-8A90C52DD6A7}" srcOrd="4" destOrd="0" parTransId="{4342C9C9-5303-4087-A828-D4A896ECC8FB}" sibTransId="{79201F94-9DBB-49B3-ADC4-49F8633C41FC}"/>
    <dgm:cxn modelId="{7183181C-0375-4B5D-8288-927C9F25691F}" type="presOf" srcId="{64CCDE67-B83E-4300-9967-D5DBAA943D66}" destId="{651FFA26-83DE-463D-911E-F4AF1A7B67B2}" srcOrd="0" destOrd="0" presId="urn:microsoft.com/office/officeart/2005/8/layout/default"/>
    <dgm:cxn modelId="{D6890C1C-B8B3-4C04-BE71-26EB49AAB3B0}" type="presParOf" srcId="{C2A024A8-E455-4696-BC08-11D53198DF87}" destId="{651FFA26-83DE-463D-911E-F4AF1A7B67B2}" srcOrd="0" destOrd="0" presId="urn:microsoft.com/office/officeart/2005/8/layout/default"/>
    <dgm:cxn modelId="{199A77C7-39DF-4F68-98EC-87FDFDCD9922}" type="presParOf" srcId="{C2A024A8-E455-4696-BC08-11D53198DF87}" destId="{CC0C0697-9C4F-472A-95BB-4EC17B6C7711}" srcOrd="1" destOrd="0" presId="urn:microsoft.com/office/officeart/2005/8/layout/default"/>
    <dgm:cxn modelId="{FC0C7078-5BE0-4047-9C06-E1E1262D380A}" type="presParOf" srcId="{C2A024A8-E455-4696-BC08-11D53198DF87}" destId="{8F563FB1-F18F-415A-9171-7E201CCACAE7}" srcOrd="2" destOrd="0" presId="urn:microsoft.com/office/officeart/2005/8/layout/default"/>
    <dgm:cxn modelId="{1993EF60-7ABF-4F9A-9946-B359F0BA7643}" type="presParOf" srcId="{C2A024A8-E455-4696-BC08-11D53198DF87}" destId="{3545EBBB-0337-4C19-A04F-185264E0559A}" srcOrd="3" destOrd="0" presId="urn:microsoft.com/office/officeart/2005/8/layout/default"/>
    <dgm:cxn modelId="{9C2451AD-83AC-441F-89F5-C0EF0218F2F1}" type="presParOf" srcId="{C2A024A8-E455-4696-BC08-11D53198DF87}" destId="{50D68F92-A36F-45A4-B932-CEDEA3A922DA}" srcOrd="4" destOrd="0" presId="urn:microsoft.com/office/officeart/2005/8/layout/default"/>
    <dgm:cxn modelId="{67AFC0A9-B0AD-4331-923E-726CE58967D9}" type="presParOf" srcId="{C2A024A8-E455-4696-BC08-11D53198DF87}" destId="{BED07350-F039-4F19-BFEB-74ABB1AD9BE7}" srcOrd="5" destOrd="0" presId="urn:microsoft.com/office/officeart/2005/8/layout/default"/>
    <dgm:cxn modelId="{0EFA9284-6D51-422D-99C7-11CCB04EFC18}" type="presParOf" srcId="{C2A024A8-E455-4696-BC08-11D53198DF87}" destId="{09024218-FF3B-474F-B315-E037CF215AC7}" srcOrd="6" destOrd="0" presId="urn:microsoft.com/office/officeart/2005/8/layout/default"/>
    <dgm:cxn modelId="{ED8FCA68-57AD-4AC6-AFC7-C56BE8269D71}" type="presParOf" srcId="{C2A024A8-E455-4696-BC08-11D53198DF87}" destId="{C6183513-205D-49CE-80ED-C3CBBD663D91}" srcOrd="7" destOrd="0" presId="urn:microsoft.com/office/officeart/2005/8/layout/default"/>
    <dgm:cxn modelId="{78423DD4-BF41-473B-8C23-3E87E67BE8E8}" type="presParOf" srcId="{C2A024A8-E455-4696-BC08-11D53198DF87}" destId="{630D58D7-329D-4B1F-B654-8241E932CBE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7191175-F992-4728-AADA-63501B85D28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856DB96-EFB7-4BB6-929D-18ED8E78B1FE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координация, 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762A16CC-92EF-441C-A18D-500D27E186F1}" type="parTrans" cxnId="{D263A2F8-ED2F-417E-90E6-D3EA842155E3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B931843B-2B0E-481C-8B75-68C0ABFDE201}" type="sibTrans" cxnId="{D263A2F8-ED2F-417E-90E6-D3EA842155E3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4BEFB393-0D12-4A70-BAFB-7F6676939F53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отслеживание, 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D69387FD-0D76-41F7-889E-EE35AAF2A1D1}" type="parTrans" cxnId="{DC5E5EA5-081D-427C-A7FF-17B3BB253349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9CD35F8E-5773-4D97-AE14-D4A7E6572B78}" type="sibTrans" cxnId="{DC5E5EA5-081D-427C-A7FF-17B3BB253349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2CD9642-7068-4EA6-9FB0-EF67EEB9F913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анализ, 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279BDC66-DA9A-4B0E-BD82-66259DAA3BE8}" type="parTrans" cxnId="{F6EC0258-F283-426D-83D9-EEED3A066AD6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DE71ACC-0630-42BE-AC02-0AF451A9BE6B}" type="sibTrans" cxnId="{F6EC0258-F283-426D-83D9-EEED3A066AD6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44EFF8F-B234-4E75-B2D6-4157A82316E1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документирование,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E712D7FC-8895-4F5D-9D1F-8A3F8F6ED5A0}" type="parTrans" cxnId="{7E1CF055-DA44-40FC-9960-1FB6ACEF5B4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25F976E-D411-474F-A1CA-232B0CCA09FB}" type="sibTrans" cxnId="{7E1CF055-DA44-40FC-9960-1FB6ACEF5B4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F348206F-DE1D-4765-A21D-1AA8FFF882ED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оптимизация процессов производства товара на протяжении всего его жизненного цикла: от отбора сырья до выпуска готовой продукции.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B0291642-4028-4B43-ABF7-2A04954366EB}" type="parTrans" cxnId="{5B21408B-957E-461F-85EB-F39CC25D6566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2DC84649-2C41-4479-BCD6-8ED2FAB0A13D}" type="sibTrans" cxnId="{5B21408B-957E-461F-85EB-F39CC25D6566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0BF811A9-AE53-4124-A1F4-7DD7CBB92B8C}" type="pres">
      <dgm:prSet presAssocID="{67191175-F992-4728-AADA-63501B85D28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69E2746-972B-4B95-9953-7DC0DBFB0AC8}" type="pres">
      <dgm:prSet presAssocID="{6856DB96-EFB7-4BB6-929D-18ED8E78B1F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47FE9E-874A-4DE3-85E2-676C2D6AD04E}" type="pres">
      <dgm:prSet presAssocID="{B931843B-2B0E-481C-8B75-68C0ABFDE201}" presName="sibTrans" presStyleCnt="0"/>
      <dgm:spPr/>
    </dgm:pt>
    <dgm:pt modelId="{0F70EC83-377C-4694-AC12-7B66B9FFB004}" type="pres">
      <dgm:prSet presAssocID="{4BEFB393-0D12-4A70-BAFB-7F6676939F5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B02EF5B-1859-4E49-9F93-7D42E485ADDB}" type="pres">
      <dgm:prSet presAssocID="{9CD35F8E-5773-4D97-AE14-D4A7E6572B78}" presName="sibTrans" presStyleCnt="0"/>
      <dgm:spPr/>
    </dgm:pt>
    <dgm:pt modelId="{FC0AD2CD-FF49-4FF1-9146-D2E712F7B04A}" type="pres">
      <dgm:prSet presAssocID="{E2CD9642-7068-4EA6-9FB0-EF67EEB9F913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3B1B75-6C07-499E-A355-C20DE6D12001}" type="pres">
      <dgm:prSet presAssocID="{7DE71ACC-0630-42BE-AC02-0AF451A9BE6B}" presName="sibTrans" presStyleCnt="0"/>
      <dgm:spPr/>
    </dgm:pt>
    <dgm:pt modelId="{F558412B-E036-48A1-AB32-3D5CC87A26B4}" type="pres">
      <dgm:prSet presAssocID="{744EFF8F-B234-4E75-B2D6-4157A82316E1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5F7069-7560-4656-949B-60025053E28B}" type="pres">
      <dgm:prSet presAssocID="{D25F976E-D411-474F-A1CA-232B0CCA09FB}" presName="sibTrans" presStyleCnt="0"/>
      <dgm:spPr/>
    </dgm:pt>
    <dgm:pt modelId="{D00D01AB-8985-466A-9BC3-1D68785CA372}" type="pres">
      <dgm:prSet presAssocID="{F348206F-DE1D-4765-A21D-1AA8FFF882ED}" presName="node" presStyleLbl="node1" presStyleIdx="4" presStyleCnt="5" custScaleX="20357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B97D883-EBF6-408D-810E-E8206709D317}" type="presOf" srcId="{E2CD9642-7068-4EA6-9FB0-EF67EEB9F913}" destId="{FC0AD2CD-FF49-4FF1-9146-D2E712F7B04A}" srcOrd="0" destOrd="0" presId="urn:microsoft.com/office/officeart/2005/8/layout/default"/>
    <dgm:cxn modelId="{F6EC0258-F283-426D-83D9-EEED3A066AD6}" srcId="{67191175-F992-4728-AADA-63501B85D288}" destId="{E2CD9642-7068-4EA6-9FB0-EF67EEB9F913}" srcOrd="2" destOrd="0" parTransId="{279BDC66-DA9A-4B0E-BD82-66259DAA3BE8}" sibTransId="{7DE71ACC-0630-42BE-AC02-0AF451A9BE6B}"/>
    <dgm:cxn modelId="{CD4AE42D-E908-4B12-865C-BFA78C3497FA}" type="presOf" srcId="{67191175-F992-4728-AADA-63501B85D288}" destId="{0BF811A9-AE53-4124-A1F4-7DD7CBB92B8C}" srcOrd="0" destOrd="0" presId="urn:microsoft.com/office/officeart/2005/8/layout/default"/>
    <dgm:cxn modelId="{4513E931-97B0-49CF-98FC-907917D65FBA}" type="presOf" srcId="{6856DB96-EFB7-4BB6-929D-18ED8E78B1FE}" destId="{569E2746-972B-4B95-9953-7DC0DBFB0AC8}" srcOrd="0" destOrd="0" presId="urn:microsoft.com/office/officeart/2005/8/layout/default"/>
    <dgm:cxn modelId="{DC5E5EA5-081D-427C-A7FF-17B3BB253349}" srcId="{67191175-F992-4728-AADA-63501B85D288}" destId="{4BEFB393-0D12-4A70-BAFB-7F6676939F53}" srcOrd="1" destOrd="0" parTransId="{D69387FD-0D76-41F7-889E-EE35AAF2A1D1}" sibTransId="{9CD35F8E-5773-4D97-AE14-D4A7E6572B78}"/>
    <dgm:cxn modelId="{9721207A-CA20-4B26-B063-BA680B6C4FD7}" type="presOf" srcId="{744EFF8F-B234-4E75-B2D6-4157A82316E1}" destId="{F558412B-E036-48A1-AB32-3D5CC87A26B4}" srcOrd="0" destOrd="0" presId="urn:microsoft.com/office/officeart/2005/8/layout/default"/>
    <dgm:cxn modelId="{D263A2F8-ED2F-417E-90E6-D3EA842155E3}" srcId="{67191175-F992-4728-AADA-63501B85D288}" destId="{6856DB96-EFB7-4BB6-929D-18ED8E78B1FE}" srcOrd="0" destOrd="0" parTransId="{762A16CC-92EF-441C-A18D-500D27E186F1}" sibTransId="{B931843B-2B0E-481C-8B75-68C0ABFDE201}"/>
    <dgm:cxn modelId="{5B21408B-957E-461F-85EB-F39CC25D6566}" srcId="{67191175-F992-4728-AADA-63501B85D288}" destId="{F348206F-DE1D-4765-A21D-1AA8FFF882ED}" srcOrd="4" destOrd="0" parTransId="{B0291642-4028-4B43-ABF7-2A04954366EB}" sibTransId="{2DC84649-2C41-4479-BCD6-8ED2FAB0A13D}"/>
    <dgm:cxn modelId="{C49CE088-EB0A-4732-B861-9DFB626B1A1B}" type="presOf" srcId="{4BEFB393-0D12-4A70-BAFB-7F6676939F53}" destId="{0F70EC83-377C-4694-AC12-7B66B9FFB004}" srcOrd="0" destOrd="0" presId="urn:microsoft.com/office/officeart/2005/8/layout/default"/>
    <dgm:cxn modelId="{B1F66879-295E-4C8C-BA77-628B4FF89685}" type="presOf" srcId="{F348206F-DE1D-4765-A21D-1AA8FFF882ED}" destId="{D00D01AB-8985-466A-9BC3-1D68785CA372}" srcOrd="0" destOrd="0" presId="urn:microsoft.com/office/officeart/2005/8/layout/default"/>
    <dgm:cxn modelId="{7E1CF055-DA44-40FC-9960-1FB6ACEF5B44}" srcId="{67191175-F992-4728-AADA-63501B85D288}" destId="{744EFF8F-B234-4E75-B2D6-4157A82316E1}" srcOrd="3" destOrd="0" parTransId="{E712D7FC-8895-4F5D-9D1F-8A3F8F6ED5A0}" sibTransId="{D25F976E-D411-474F-A1CA-232B0CCA09FB}"/>
    <dgm:cxn modelId="{BEBD0AEB-3651-4BB5-8C28-E38F1D124797}" type="presParOf" srcId="{0BF811A9-AE53-4124-A1F4-7DD7CBB92B8C}" destId="{569E2746-972B-4B95-9953-7DC0DBFB0AC8}" srcOrd="0" destOrd="0" presId="urn:microsoft.com/office/officeart/2005/8/layout/default"/>
    <dgm:cxn modelId="{B28C7571-EEE7-4A21-BAFA-13848C9C902D}" type="presParOf" srcId="{0BF811A9-AE53-4124-A1F4-7DD7CBB92B8C}" destId="{5747FE9E-874A-4DE3-85E2-676C2D6AD04E}" srcOrd="1" destOrd="0" presId="urn:microsoft.com/office/officeart/2005/8/layout/default"/>
    <dgm:cxn modelId="{6649EF0B-9919-435E-8843-DE0FA6538296}" type="presParOf" srcId="{0BF811A9-AE53-4124-A1F4-7DD7CBB92B8C}" destId="{0F70EC83-377C-4694-AC12-7B66B9FFB004}" srcOrd="2" destOrd="0" presId="urn:microsoft.com/office/officeart/2005/8/layout/default"/>
    <dgm:cxn modelId="{D946B065-AF9A-403F-A8A5-E6785F84E491}" type="presParOf" srcId="{0BF811A9-AE53-4124-A1F4-7DD7CBB92B8C}" destId="{9B02EF5B-1859-4E49-9F93-7D42E485ADDB}" srcOrd="3" destOrd="0" presId="urn:microsoft.com/office/officeart/2005/8/layout/default"/>
    <dgm:cxn modelId="{7E29F632-6ACD-4C6F-A637-4415610A2B9A}" type="presParOf" srcId="{0BF811A9-AE53-4124-A1F4-7DD7CBB92B8C}" destId="{FC0AD2CD-FF49-4FF1-9146-D2E712F7B04A}" srcOrd="4" destOrd="0" presId="urn:microsoft.com/office/officeart/2005/8/layout/default"/>
    <dgm:cxn modelId="{851BE474-057F-4AB8-A1DF-E6441CE21E2E}" type="presParOf" srcId="{0BF811A9-AE53-4124-A1F4-7DD7CBB92B8C}" destId="{963B1B75-6C07-499E-A355-C20DE6D12001}" srcOrd="5" destOrd="0" presId="urn:microsoft.com/office/officeart/2005/8/layout/default"/>
    <dgm:cxn modelId="{52221848-9153-4AB4-9AE8-1E2BA55EF92D}" type="presParOf" srcId="{0BF811A9-AE53-4124-A1F4-7DD7CBB92B8C}" destId="{F558412B-E036-48A1-AB32-3D5CC87A26B4}" srcOrd="6" destOrd="0" presId="urn:microsoft.com/office/officeart/2005/8/layout/default"/>
    <dgm:cxn modelId="{24302F0A-647B-493D-99B8-2A46B348ECAF}" type="presParOf" srcId="{0BF811A9-AE53-4124-A1F4-7DD7CBB92B8C}" destId="{F15F7069-7560-4656-949B-60025053E28B}" srcOrd="7" destOrd="0" presId="urn:microsoft.com/office/officeart/2005/8/layout/default"/>
    <dgm:cxn modelId="{9BF7A22B-CEF6-4D8B-9D6F-4B269B870ECD}" type="presParOf" srcId="{0BF811A9-AE53-4124-A1F4-7DD7CBB92B8C}" destId="{D00D01AB-8985-466A-9BC3-1D68785CA37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9C73F74-5CA2-4C89-91AF-E69353CA77E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032DF4F-14CC-4CBA-81B4-E69AD684E73D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Контроль производственных операций - в режиме реального времени следить за выполнением заданий, отслеживать отклонения от плана и оценивать загрузку оборудования.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A8CCF40C-7B1C-49DD-8341-915900C1C918}" type="parTrans" cxnId="{2796B491-ECC0-4B75-98E6-D4706E30C9C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B211B5A-5F41-4107-9B70-6ECB48EE09D3}" type="sibTrans" cxnId="{2796B491-ECC0-4B75-98E6-D4706E30C9C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2F420C7-8713-4706-9AEC-A49169C6D51B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Сбор и обработка данных - системы фиксируют ключевые параметры: от производительности оборудования до объёмов продукции и расхода ресурсов. Это помогает выявлять проблемные участки, оптимизировать процессы.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940C9399-5975-4818-A70C-1762E0709988}" type="parTrans" cxnId="{2864BD0D-FA8B-4CD9-AE62-4A1C383422C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2093A4D-0A4A-4D2D-862B-A0CB3E12A3E8}" type="sibTrans" cxnId="{2864BD0D-FA8B-4CD9-AE62-4A1C383422C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8BDAD78-C07D-412C-BE69-D2C45331202A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Контроль качества - MES интегрируют инструменты проверки качества, позволяя оперативно выявлять и устранять дефекты.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4AFA8D0F-9104-487F-BF13-D009FF7B762F}" type="parTrans" cxnId="{1317B982-7C49-415D-BEFF-DF7C15B6998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AD83117-3287-4BD9-8D03-FEA75D0C5674}" type="sibTrans" cxnId="{1317B982-7C49-415D-BEFF-DF7C15B6998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BB19907-6EBA-426C-AAC2-1398165B6A5E}">
      <dgm:prSet custT="1"/>
      <dgm:spPr/>
      <dgm:t>
        <a:bodyPr/>
        <a:lstStyle/>
        <a:p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Прослеживаемость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производства - системы хранят полную историю создания продукции: от использованных материалов до этапов сборки.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E4A45C40-7B46-48F5-8B03-4A2F8E914C42}" type="parTrans" cxnId="{1C52FFFA-1026-4970-AE51-B8806BDBB2F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D701294-5EF2-432C-B5AA-FA2708D9BCED}" type="sibTrans" cxnId="{1C52FFFA-1026-4970-AE51-B8806BDBB2F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DE94E67-7814-4BCF-8015-D45AD26F9F1E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Интеграция с другими системами - MES становятся частью общей цифровой экосистемы предприятия, эффективно взаимодействуя с ERP, APS и другими инструментами.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90822A4C-303D-4809-B071-BB2749F189CA}" type="parTrans" cxnId="{8CAF3041-2CE0-4A2C-9F5A-217B67C6D3F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8511648-0F87-47CC-B25D-348FD0A9F43E}" type="sibTrans" cxnId="{8CAF3041-2CE0-4A2C-9F5A-217B67C6D3F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3771F4E-22A8-40FB-9E41-A93B0FF3A0AE}" type="pres">
      <dgm:prSet presAssocID="{59C73F74-5CA2-4C89-91AF-E69353CA77E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156DCCE-52B5-47A2-8AA9-8E00532A4521}" type="pres">
      <dgm:prSet presAssocID="{0032DF4F-14CC-4CBA-81B4-E69AD684E73D}" presName="node" presStyleLbl="node1" presStyleIdx="0" presStyleCnt="5" custScaleY="206233" custLinFactNeighborY="-5723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FCC9C3E-AD39-48A7-83DE-ECE0BBC99465}" type="pres">
      <dgm:prSet presAssocID="{DB211B5A-5F41-4107-9B70-6ECB48EE09D3}" presName="sibTrans" presStyleCnt="0"/>
      <dgm:spPr/>
    </dgm:pt>
    <dgm:pt modelId="{6DC0D7E8-7CDB-4EFA-A8AF-322D68C010CA}" type="pres">
      <dgm:prSet presAssocID="{32F420C7-8713-4706-9AEC-A49169C6D51B}" presName="node" presStyleLbl="node1" presStyleIdx="1" presStyleCnt="5" custScaleY="210027" custLinFactNeighborX="1083" custLinFactNeighborY="-5723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A9B249-E623-4037-AC73-87C85CE1A95B}" type="pres">
      <dgm:prSet presAssocID="{E2093A4D-0A4A-4D2D-862B-A0CB3E12A3E8}" presName="sibTrans" presStyleCnt="0"/>
      <dgm:spPr/>
    </dgm:pt>
    <dgm:pt modelId="{452327F8-679A-4615-A8B6-4B2C03CC81E3}" type="pres">
      <dgm:prSet presAssocID="{08BDAD78-C07D-412C-BE69-D2C45331202A}" presName="node" presStyleLbl="node1" presStyleIdx="2" presStyleCnt="5" custScaleY="211089" custLinFactNeighborX="0" custLinFactNeighborY="-5723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09C8F7-36FA-4FC6-BF17-2DF29397F20D}" type="pres">
      <dgm:prSet presAssocID="{0AD83117-3287-4BD9-8D03-FEA75D0C5674}" presName="sibTrans" presStyleCnt="0"/>
      <dgm:spPr/>
    </dgm:pt>
    <dgm:pt modelId="{D97EE5D1-830C-4FB3-8494-79E839F1AB2A}" type="pres">
      <dgm:prSet presAssocID="{FBB19907-6EBA-426C-AAC2-1398165B6A5E}" presName="node" presStyleLbl="node1" presStyleIdx="3" presStyleCnt="5" custScaleX="163647" custScaleY="140437" custLinFactNeighborX="-24775" custLinFactNeighborY="4732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BBB62C3-9A5B-46E2-8786-93A1CA5FCC86}" type="pres">
      <dgm:prSet presAssocID="{8D701294-5EF2-432C-B5AA-FA2708D9BCED}" presName="sibTrans" presStyleCnt="0"/>
      <dgm:spPr/>
    </dgm:pt>
    <dgm:pt modelId="{C2B8731B-9C95-4AC0-9919-14C1AEDBDBF6}" type="pres">
      <dgm:prSet presAssocID="{CDE94E67-7814-4BCF-8015-D45AD26F9F1E}" presName="node" presStyleLbl="node1" presStyleIdx="4" presStyleCnt="5" custScaleX="149271" custScaleY="131271" custLinFactNeighborX="16799" custLinFactNeighborY="4732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317B982-7C49-415D-BEFF-DF7C15B69988}" srcId="{59C73F74-5CA2-4C89-91AF-E69353CA77E9}" destId="{08BDAD78-C07D-412C-BE69-D2C45331202A}" srcOrd="2" destOrd="0" parTransId="{4AFA8D0F-9104-487F-BF13-D009FF7B762F}" sibTransId="{0AD83117-3287-4BD9-8D03-FEA75D0C5674}"/>
    <dgm:cxn modelId="{D7108E5E-C320-4F53-836E-C9E88EA5D751}" type="presOf" srcId="{CDE94E67-7814-4BCF-8015-D45AD26F9F1E}" destId="{C2B8731B-9C95-4AC0-9919-14C1AEDBDBF6}" srcOrd="0" destOrd="0" presId="urn:microsoft.com/office/officeart/2005/8/layout/default"/>
    <dgm:cxn modelId="{BA6D2767-EB5E-4E67-BB74-87ECAC460C9D}" type="presOf" srcId="{08BDAD78-C07D-412C-BE69-D2C45331202A}" destId="{452327F8-679A-4615-A8B6-4B2C03CC81E3}" srcOrd="0" destOrd="0" presId="urn:microsoft.com/office/officeart/2005/8/layout/default"/>
    <dgm:cxn modelId="{D4057313-162B-47B3-9D6A-2FCE96A975F2}" type="presOf" srcId="{0032DF4F-14CC-4CBA-81B4-E69AD684E73D}" destId="{3156DCCE-52B5-47A2-8AA9-8E00532A4521}" srcOrd="0" destOrd="0" presId="urn:microsoft.com/office/officeart/2005/8/layout/default"/>
    <dgm:cxn modelId="{3C925A57-09D1-479F-9622-DC111ED26C81}" type="presOf" srcId="{59C73F74-5CA2-4C89-91AF-E69353CA77E9}" destId="{E3771F4E-22A8-40FB-9E41-A93B0FF3A0AE}" srcOrd="0" destOrd="0" presId="urn:microsoft.com/office/officeart/2005/8/layout/default"/>
    <dgm:cxn modelId="{2864BD0D-FA8B-4CD9-AE62-4A1C383422C5}" srcId="{59C73F74-5CA2-4C89-91AF-E69353CA77E9}" destId="{32F420C7-8713-4706-9AEC-A49169C6D51B}" srcOrd="1" destOrd="0" parTransId="{940C9399-5975-4818-A70C-1762E0709988}" sibTransId="{E2093A4D-0A4A-4D2D-862B-A0CB3E12A3E8}"/>
    <dgm:cxn modelId="{1C52FFFA-1026-4970-AE51-B8806BDBB2FE}" srcId="{59C73F74-5CA2-4C89-91AF-E69353CA77E9}" destId="{FBB19907-6EBA-426C-AAC2-1398165B6A5E}" srcOrd="3" destOrd="0" parTransId="{E4A45C40-7B46-48F5-8B03-4A2F8E914C42}" sibTransId="{8D701294-5EF2-432C-B5AA-FA2708D9BCED}"/>
    <dgm:cxn modelId="{8CAF3041-2CE0-4A2C-9F5A-217B67C6D3F6}" srcId="{59C73F74-5CA2-4C89-91AF-E69353CA77E9}" destId="{CDE94E67-7814-4BCF-8015-D45AD26F9F1E}" srcOrd="4" destOrd="0" parTransId="{90822A4C-303D-4809-B071-BB2749F189CA}" sibTransId="{48511648-0F87-47CC-B25D-348FD0A9F43E}"/>
    <dgm:cxn modelId="{2796B491-ECC0-4B75-98E6-D4706E30C9CD}" srcId="{59C73F74-5CA2-4C89-91AF-E69353CA77E9}" destId="{0032DF4F-14CC-4CBA-81B4-E69AD684E73D}" srcOrd="0" destOrd="0" parTransId="{A8CCF40C-7B1C-49DD-8341-915900C1C918}" sibTransId="{DB211B5A-5F41-4107-9B70-6ECB48EE09D3}"/>
    <dgm:cxn modelId="{2BDE7D81-0F13-4DE8-BA38-3891AD9D61B1}" type="presOf" srcId="{FBB19907-6EBA-426C-AAC2-1398165B6A5E}" destId="{D97EE5D1-830C-4FB3-8494-79E839F1AB2A}" srcOrd="0" destOrd="0" presId="urn:microsoft.com/office/officeart/2005/8/layout/default"/>
    <dgm:cxn modelId="{57F42458-6997-4DAD-BDDE-A110098B4D8D}" type="presOf" srcId="{32F420C7-8713-4706-9AEC-A49169C6D51B}" destId="{6DC0D7E8-7CDB-4EFA-A8AF-322D68C010CA}" srcOrd="0" destOrd="0" presId="urn:microsoft.com/office/officeart/2005/8/layout/default"/>
    <dgm:cxn modelId="{A8151EE1-2381-4CC8-8C98-1570DB7216AE}" type="presParOf" srcId="{E3771F4E-22A8-40FB-9E41-A93B0FF3A0AE}" destId="{3156DCCE-52B5-47A2-8AA9-8E00532A4521}" srcOrd="0" destOrd="0" presId="urn:microsoft.com/office/officeart/2005/8/layout/default"/>
    <dgm:cxn modelId="{CE32A71A-643D-48B6-909D-7BA66AA697BC}" type="presParOf" srcId="{E3771F4E-22A8-40FB-9E41-A93B0FF3A0AE}" destId="{2FCC9C3E-AD39-48A7-83DE-ECE0BBC99465}" srcOrd="1" destOrd="0" presId="urn:microsoft.com/office/officeart/2005/8/layout/default"/>
    <dgm:cxn modelId="{06B08D69-65A9-41E5-B54C-4527C19E536D}" type="presParOf" srcId="{E3771F4E-22A8-40FB-9E41-A93B0FF3A0AE}" destId="{6DC0D7E8-7CDB-4EFA-A8AF-322D68C010CA}" srcOrd="2" destOrd="0" presId="urn:microsoft.com/office/officeart/2005/8/layout/default"/>
    <dgm:cxn modelId="{837AB416-6471-4950-921D-712EAF93EFF7}" type="presParOf" srcId="{E3771F4E-22A8-40FB-9E41-A93B0FF3A0AE}" destId="{0FA9B249-E623-4037-AC73-87C85CE1A95B}" srcOrd="3" destOrd="0" presId="urn:microsoft.com/office/officeart/2005/8/layout/default"/>
    <dgm:cxn modelId="{ABAE082A-7D84-4B70-B13E-BB6FCAEFC694}" type="presParOf" srcId="{E3771F4E-22A8-40FB-9E41-A93B0FF3A0AE}" destId="{452327F8-679A-4615-A8B6-4B2C03CC81E3}" srcOrd="4" destOrd="0" presId="urn:microsoft.com/office/officeart/2005/8/layout/default"/>
    <dgm:cxn modelId="{911C0493-D887-4205-9A02-BA1A1DA34921}" type="presParOf" srcId="{E3771F4E-22A8-40FB-9E41-A93B0FF3A0AE}" destId="{C609C8F7-36FA-4FC6-BF17-2DF29397F20D}" srcOrd="5" destOrd="0" presId="urn:microsoft.com/office/officeart/2005/8/layout/default"/>
    <dgm:cxn modelId="{A3500C08-5766-4111-B865-82A2F176A202}" type="presParOf" srcId="{E3771F4E-22A8-40FB-9E41-A93B0FF3A0AE}" destId="{D97EE5D1-830C-4FB3-8494-79E839F1AB2A}" srcOrd="6" destOrd="0" presId="urn:microsoft.com/office/officeart/2005/8/layout/default"/>
    <dgm:cxn modelId="{89F6E6E9-157A-42E4-B8C1-A8BDF354E7EA}" type="presParOf" srcId="{E3771F4E-22A8-40FB-9E41-A93B0FF3A0AE}" destId="{9BBB62C3-9A5B-46E2-8786-93A1CA5FCC86}" srcOrd="7" destOrd="0" presId="urn:microsoft.com/office/officeart/2005/8/layout/default"/>
    <dgm:cxn modelId="{03A6D22A-BA16-4FEB-9770-C467901C29EB}" type="presParOf" srcId="{E3771F4E-22A8-40FB-9E41-A93B0FF3A0AE}" destId="{C2B8731B-9C95-4AC0-9919-14C1AEDBDBF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9C73F74-5CA2-4C89-91AF-E69353CA77E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032DF4F-14CC-4CBA-81B4-E69AD684E73D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Для непрерывного производства — технологические процессы, организованные в виде производственных линий, участков, цехов или целых предприятий.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8CCF40C-7B1C-49DD-8341-915900C1C918}" type="parTrans" cxnId="{2796B491-ECC0-4B75-98E6-D4706E30C9C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B211B5A-5F41-4107-9B70-6ECB48EE09D3}" type="sibTrans" cxnId="{2796B491-ECC0-4B75-98E6-D4706E30C9C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1E80BA2-B2C9-4F98-91E0-38260F218378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Для дискретного производства — процесс, в котором исходный материал проходит через конечное число технологических и сборочных операций, определяемых сигналами двухпозиционных датчиков.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73A1215-811A-4F39-8FC7-DB586CCC0756}" type="parTrans" cxnId="{6D6C4E41-36D5-461C-B3D3-04406922BFA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CF0DC84-4C07-4278-97F5-7AC189BBEE4A}" type="sibTrans" cxnId="{6D6C4E41-36D5-461C-B3D3-04406922BFA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3771F4E-22A8-40FB-9E41-A93B0FF3A0AE}" type="pres">
      <dgm:prSet presAssocID="{59C73F74-5CA2-4C89-91AF-E69353CA77E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156DCCE-52B5-47A2-8AA9-8E00532A4521}" type="pres">
      <dgm:prSet presAssocID="{0032DF4F-14CC-4CBA-81B4-E69AD684E73D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FCC9C3E-AD39-48A7-83DE-ECE0BBC99465}" type="pres">
      <dgm:prSet presAssocID="{DB211B5A-5F41-4107-9B70-6ECB48EE09D3}" presName="sibTrans" presStyleCnt="0"/>
      <dgm:spPr/>
    </dgm:pt>
    <dgm:pt modelId="{94CD2D67-79B2-4210-9540-FB4D07D0D040}" type="pres">
      <dgm:prSet presAssocID="{F1E80BA2-B2C9-4F98-91E0-38260F218378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796B491-ECC0-4B75-98E6-D4706E30C9CD}" srcId="{59C73F74-5CA2-4C89-91AF-E69353CA77E9}" destId="{0032DF4F-14CC-4CBA-81B4-E69AD684E73D}" srcOrd="0" destOrd="0" parTransId="{A8CCF40C-7B1C-49DD-8341-915900C1C918}" sibTransId="{DB211B5A-5F41-4107-9B70-6ECB48EE09D3}"/>
    <dgm:cxn modelId="{24970952-D451-4282-BF56-D51A040C7705}" type="presOf" srcId="{59C73F74-5CA2-4C89-91AF-E69353CA77E9}" destId="{E3771F4E-22A8-40FB-9E41-A93B0FF3A0AE}" srcOrd="0" destOrd="0" presId="urn:microsoft.com/office/officeart/2005/8/layout/default"/>
    <dgm:cxn modelId="{395EE79C-4E58-4B4F-AF1B-93F746C84F5C}" type="presOf" srcId="{0032DF4F-14CC-4CBA-81B4-E69AD684E73D}" destId="{3156DCCE-52B5-47A2-8AA9-8E00532A4521}" srcOrd="0" destOrd="0" presId="urn:microsoft.com/office/officeart/2005/8/layout/default"/>
    <dgm:cxn modelId="{6D6C4E41-36D5-461C-B3D3-04406922BFA0}" srcId="{59C73F74-5CA2-4C89-91AF-E69353CA77E9}" destId="{F1E80BA2-B2C9-4F98-91E0-38260F218378}" srcOrd="1" destOrd="0" parTransId="{073A1215-811A-4F39-8FC7-DB586CCC0756}" sibTransId="{ACF0DC84-4C07-4278-97F5-7AC189BBEE4A}"/>
    <dgm:cxn modelId="{697BCEC8-1F06-4F14-ADC4-86D9ECC9A103}" type="presOf" srcId="{F1E80BA2-B2C9-4F98-91E0-38260F218378}" destId="{94CD2D67-79B2-4210-9540-FB4D07D0D040}" srcOrd="0" destOrd="0" presId="urn:microsoft.com/office/officeart/2005/8/layout/default"/>
    <dgm:cxn modelId="{362027C8-40C8-4378-B1C8-D52872045947}" type="presParOf" srcId="{E3771F4E-22A8-40FB-9E41-A93B0FF3A0AE}" destId="{3156DCCE-52B5-47A2-8AA9-8E00532A4521}" srcOrd="0" destOrd="0" presId="urn:microsoft.com/office/officeart/2005/8/layout/default"/>
    <dgm:cxn modelId="{C43EE7FB-71C5-4E1E-A57D-A667D719D3BB}" type="presParOf" srcId="{E3771F4E-22A8-40FB-9E41-A93B0FF3A0AE}" destId="{2FCC9C3E-AD39-48A7-83DE-ECE0BBC99465}" srcOrd="1" destOrd="0" presId="urn:microsoft.com/office/officeart/2005/8/layout/default"/>
    <dgm:cxn modelId="{9FCE68DB-4C71-4090-801E-A974D1328AD2}" type="presParOf" srcId="{E3771F4E-22A8-40FB-9E41-A93B0FF3A0AE}" destId="{94CD2D67-79B2-4210-9540-FB4D07D0D040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8FFC2C-2A5C-40A1-92DD-F710363B1AC7}">
      <dsp:nvSpPr>
        <dsp:cNvPr id="0" name=""/>
        <dsp:cNvSpPr/>
      </dsp:nvSpPr>
      <dsp:spPr>
        <a:xfrm>
          <a:off x="20294" y="2134"/>
          <a:ext cx="2693281" cy="24584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kern="1200" dirty="0" smtClean="0">
              <a:latin typeface="Times New Roman" pitchFamily="18" charset="0"/>
              <a:cs typeface="Times New Roman" pitchFamily="18" charset="0"/>
            </a:rPr>
            <a:t>Автоматизирует рутинные задачи.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kern="1200" dirty="0" smtClean="0">
              <a:latin typeface="Times New Roman" pitchFamily="18" charset="0"/>
              <a:cs typeface="Times New Roman" pitchFamily="18" charset="0"/>
            </a:rPr>
            <a:t>Например, программа может выставлять счета. Это снижает количество ошибок и разгружает сотрудников.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0294" y="2134"/>
        <a:ext cx="2693281" cy="2458422"/>
      </dsp:txXfrm>
    </dsp:sp>
    <dsp:sp modelId="{0BDB0E26-04EA-4721-A910-2F8FF4D78990}">
      <dsp:nvSpPr>
        <dsp:cNvPr id="0" name=""/>
        <dsp:cNvSpPr/>
      </dsp:nvSpPr>
      <dsp:spPr>
        <a:xfrm>
          <a:off x="2982904" y="15927"/>
          <a:ext cx="2693281" cy="24308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kern="1200" dirty="0" smtClean="0">
              <a:latin typeface="Times New Roman" pitchFamily="18" charset="0"/>
              <a:cs typeface="Times New Roman" pitchFamily="18" charset="0"/>
            </a:rPr>
            <a:t>Следит за ресурсами и закупками.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kern="1200" dirty="0" smtClean="0">
              <a:latin typeface="Times New Roman" pitchFamily="18" charset="0"/>
              <a:cs typeface="Times New Roman" pitchFamily="18" charset="0"/>
            </a:rPr>
            <a:t>Система отслеживает остатки на складе, предупреждает о нехватке или избытке товара и формирует заказы поставщикам.</a:t>
          </a:r>
          <a:endParaRPr lang="ru-RU" sz="20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982904" y="15927"/>
        <a:ext cx="2693281" cy="2430837"/>
      </dsp:txXfrm>
    </dsp:sp>
    <dsp:sp modelId="{7773DF7E-CEC5-47FF-84F7-315D99E47018}">
      <dsp:nvSpPr>
        <dsp:cNvPr id="0" name=""/>
        <dsp:cNvSpPr/>
      </dsp:nvSpPr>
      <dsp:spPr>
        <a:xfrm>
          <a:off x="5945514" y="29711"/>
          <a:ext cx="2693281" cy="24032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kern="1200" dirty="0" smtClean="0">
              <a:latin typeface="Times New Roman" pitchFamily="18" charset="0"/>
              <a:cs typeface="Times New Roman" pitchFamily="18" charset="0"/>
            </a:rPr>
            <a:t>Помогает вести бухгалтерский и налоговый учет.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kern="1200" dirty="0" smtClean="0">
              <a:latin typeface="Times New Roman" pitchFamily="18" charset="0"/>
              <a:cs typeface="Times New Roman" pitchFamily="18" charset="0"/>
            </a:rPr>
            <a:t>Формирует проводки , рассчитывает НДС, закрывает отчеты.</a:t>
          </a:r>
          <a:endParaRPr lang="ru-RU" sz="20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945514" y="29711"/>
        <a:ext cx="2693281" cy="2403269"/>
      </dsp:txXfrm>
    </dsp:sp>
    <dsp:sp modelId="{5B7F50E5-9FB1-4F2C-B4A4-067D045C43EC}">
      <dsp:nvSpPr>
        <dsp:cNvPr id="0" name=""/>
        <dsp:cNvSpPr/>
      </dsp:nvSpPr>
      <dsp:spPr>
        <a:xfrm>
          <a:off x="20294" y="2738191"/>
          <a:ext cx="2693281" cy="25576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kern="1200" smtClean="0">
              <a:latin typeface="Times New Roman" pitchFamily="18" charset="0"/>
              <a:cs typeface="Times New Roman" pitchFamily="18" charset="0"/>
            </a:rPr>
            <a:t>Планирует сроки и ресурсы на этапе производства, снабжения и продаж.</a:t>
          </a:r>
          <a:endParaRPr lang="ru-RU" sz="2000" b="0" kern="1200">
            <a:latin typeface="Times New Roman" pitchFamily="18" charset="0"/>
            <a:cs typeface="Times New Roman" pitchFamily="18" charset="0"/>
          </a:endParaRPr>
        </a:p>
      </dsp:txBody>
      <dsp:txXfrm>
        <a:off x="20294" y="2738191"/>
        <a:ext cx="2693281" cy="2557658"/>
      </dsp:txXfrm>
    </dsp:sp>
    <dsp:sp modelId="{45E3DF8C-E5F8-4FE9-B454-8C498F03B387}">
      <dsp:nvSpPr>
        <dsp:cNvPr id="0" name=""/>
        <dsp:cNvSpPr/>
      </dsp:nvSpPr>
      <dsp:spPr>
        <a:xfrm>
          <a:off x="2982904" y="2734046"/>
          <a:ext cx="2693281" cy="2565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kern="1200" dirty="0" smtClean="0">
              <a:latin typeface="Times New Roman" pitchFamily="18" charset="0"/>
              <a:cs typeface="Times New Roman" pitchFamily="18" charset="0"/>
            </a:rPr>
            <a:t>Показывает статус заказа.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kern="1200" dirty="0" smtClean="0">
              <a:latin typeface="Times New Roman" pitchFamily="18" charset="0"/>
              <a:cs typeface="Times New Roman" pitchFamily="18" charset="0"/>
            </a:rPr>
            <a:t>Где он сейчас, кто его обрабатывает, когда будет доставлен.</a:t>
          </a:r>
          <a:endParaRPr lang="ru-RU" sz="20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982904" y="2734046"/>
        <a:ext cx="2693281" cy="2565948"/>
      </dsp:txXfrm>
    </dsp:sp>
    <dsp:sp modelId="{DCF90C49-ADD1-4EA3-B90C-633B91F56E05}">
      <dsp:nvSpPr>
        <dsp:cNvPr id="0" name=""/>
        <dsp:cNvSpPr/>
      </dsp:nvSpPr>
      <dsp:spPr>
        <a:xfrm>
          <a:off x="5945514" y="2729885"/>
          <a:ext cx="2693281" cy="25742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kern="1200" dirty="0" smtClean="0">
              <a:latin typeface="Times New Roman" pitchFamily="18" charset="0"/>
              <a:cs typeface="Times New Roman" pitchFamily="18" charset="0"/>
            </a:rPr>
            <a:t>Упрощает анализ и помогает принимать управленческие решения.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kern="1200" dirty="0" smtClean="0">
              <a:latin typeface="Times New Roman" pitchFamily="18" charset="0"/>
              <a:cs typeface="Times New Roman" pitchFamily="18" charset="0"/>
            </a:rPr>
            <a:t>Формирует </a:t>
          </a:r>
          <a:r>
            <a:rPr lang="ru-RU" sz="2000" b="0" kern="1200" smtClean="0">
              <a:latin typeface="Times New Roman" pitchFamily="18" charset="0"/>
              <a:cs typeface="Times New Roman" pitchFamily="18" charset="0"/>
            </a:rPr>
            <a:t>отчеты </a:t>
          </a:r>
          <a:r>
            <a:rPr lang="ru-RU" sz="2000" b="0" kern="1200" dirty="0" smtClean="0">
              <a:latin typeface="Times New Roman" pitchFamily="18" charset="0"/>
              <a:cs typeface="Times New Roman" pitchFamily="18" charset="0"/>
            </a:rPr>
            <a:t> - по продажам, затратам, эффективности сотрудников и другим метрикам.</a:t>
          </a:r>
          <a:endParaRPr lang="ru-RU" sz="20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945514" y="2729885"/>
        <a:ext cx="2693281" cy="2574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E2984-F829-4156-B064-3E289B8C23B6}">
      <dsp:nvSpPr>
        <dsp:cNvPr id="0" name=""/>
        <dsp:cNvSpPr/>
      </dsp:nvSpPr>
      <dsp:spPr>
        <a:xfrm>
          <a:off x="1087" y="118945"/>
          <a:ext cx="4241094" cy="2544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База данных - центральное хранилище информации: товары, заказы, клиенты, сотрудники, запасы.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Фиксируется все, что происходит в системе.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Информация обновляется и не дублируется по отделам.</a:t>
          </a:r>
          <a:endParaRPr lang="ru-RU" sz="1800" kern="1200" dirty="0"/>
        </a:p>
      </dsp:txBody>
      <dsp:txXfrm>
        <a:off x="1087" y="118945"/>
        <a:ext cx="4241094" cy="2544656"/>
      </dsp:txXfrm>
    </dsp:sp>
    <dsp:sp modelId="{F0BDABF8-2BBB-4398-8559-F2C66C688DF4}">
      <dsp:nvSpPr>
        <dsp:cNvPr id="0" name=""/>
        <dsp:cNvSpPr/>
      </dsp:nvSpPr>
      <dsp:spPr>
        <a:xfrm>
          <a:off x="4666291" y="118945"/>
          <a:ext cx="4241094" cy="2544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Модули - разделы или даже приложения, каждое из которых отвечает за определенное направление бизнеса: финансовый учет, управление продажами, запасы и другие.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Модули работают как самостоятельные функциональные блоки.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данными идет через сервер приложений.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666291" y="118945"/>
        <a:ext cx="4241094" cy="2544656"/>
      </dsp:txXfrm>
    </dsp:sp>
    <dsp:sp modelId="{F45564FC-5BC4-45E3-B17D-1E5197AF331F}">
      <dsp:nvSpPr>
        <dsp:cNvPr id="0" name=""/>
        <dsp:cNvSpPr/>
      </dsp:nvSpPr>
      <dsp:spPr>
        <a:xfrm>
          <a:off x="1087" y="3087711"/>
          <a:ext cx="4241094" cy="2544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Сервер приложений - мозг ERP-системы.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Он управляет взаимодействием модулей, обрабатывает действия пользователей и обновляет информацию в базе данных.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Все, что происходит в системе, проходит через него.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87" y="3087711"/>
        <a:ext cx="4241094" cy="2544656"/>
      </dsp:txXfrm>
    </dsp:sp>
    <dsp:sp modelId="{4187B7CC-9172-46A3-847C-49AC15913D38}">
      <dsp:nvSpPr>
        <dsp:cNvPr id="0" name=""/>
        <dsp:cNvSpPr/>
      </dsp:nvSpPr>
      <dsp:spPr>
        <a:xfrm>
          <a:off x="4666291" y="3087711"/>
          <a:ext cx="4241094" cy="2544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Интерфейс для пользователей - то, что видят сотрудники: окна, панели, формы.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Через интерфейс они вносят данные, оформляют заказы, формируют отчеты и получают нужную информацию.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Например, менеджер смотрит отчеты по продажам, кладовщик оформляет отгрузки, специалист по закупкам размещает заказы или отправляет их поставщикам. </a:t>
          </a:r>
        </a:p>
      </dsp:txBody>
      <dsp:txXfrm>
        <a:off x="4666291" y="3087711"/>
        <a:ext cx="4241094" cy="25446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FB910E-6A6D-46A2-8311-7EEB7D6B4586}">
      <dsp:nvSpPr>
        <dsp:cNvPr id="0" name=""/>
        <dsp:cNvSpPr/>
      </dsp:nvSpPr>
      <dsp:spPr>
        <a:xfrm>
          <a:off x="0" y="126364"/>
          <a:ext cx="2740602" cy="2523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kern="1200" dirty="0" smtClean="0">
              <a:latin typeface="Times New Roman" pitchFamily="18" charset="0"/>
              <a:cs typeface="Times New Roman" pitchFamily="18" charset="0"/>
            </a:rPr>
            <a:t>CRM-системами — чтобы объединить данные из разных отделов, упростить управление заказами и повысить качество обслуживания клиентов;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126364"/>
        <a:ext cx="2740602" cy="2523338"/>
      </dsp:txXfrm>
    </dsp:sp>
    <dsp:sp modelId="{F3EFE348-14CD-4988-9679-54D826200037}">
      <dsp:nvSpPr>
        <dsp:cNvPr id="0" name=""/>
        <dsp:cNvSpPr/>
      </dsp:nvSpPr>
      <dsp:spPr>
        <a:xfrm>
          <a:off x="3014662" y="154071"/>
          <a:ext cx="2740602" cy="24679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kern="1200" dirty="0" smtClean="0">
              <a:latin typeface="Times New Roman" pitchFamily="18" charset="0"/>
              <a:cs typeface="Times New Roman" pitchFamily="18" charset="0"/>
            </a:rPr>
            <a:t>банками и платежными системами — чтобы автоматически загружать и выгружать платежные поручения, отслеживать поступления и оплачивать счета без ручного ввода;</a:t>
          </a:r>
          <a:endParaRPr lang="ru-RU" sz="19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14662" y="154071"/>
        <a:ext cx="2740602" cy="2467923"/>
      </dsp:txXfrm>
    </dsp:sp>
    <dsp:sp modelId="{E7AE5401-45A0-4D3E-8AA1-1A46917FBB84}">
      <dsp:nvSpPr>
        <dsp:cNvPr id="0" name=""/>
        <dsp:cNvSpPr/>
      </dsp:nvSpPr>
      <dsp:spPr>
        <a:xfrm>
          <a:off x="6029324" y="154071"/>
          <a:ext cx="2740602" cy="24679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kern="1200" dirty="0" err="1" smtClean="0">
              <a:latin typeface="Times New Roman" pitchFamily="18" charset="0"/>
              <a:cs typeface="Times New Roman" pitchFamily="18" charset="0"/>
            </a:rPr>
            <a:t>маркетплейсами</a:t>
          </a:r>
          <a:r>
            <a:rPr lang="ru-RU" sz="1900" b="0" kern="1200" dirty="0" smtClean="0">
              <a:latin typeface="Times New Roman" pitchFamily="18" charset="0"/>
              <a:cs typeface="Times New Roman" pitchFamily="18" charset="0"/>
            </a:rPr>
            <a:t> — для передачи заказов, синхронизации остатков и цен, генерации документов и управления доставкой;</a:t>
          </a:r>
          <a:endParaRPr lang="ru-RU" sz="19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029324" y="154071"/>
        <a:ext cx="2740602" cy="2467923"/>
      </dsp:txXfrm>
    </dsp:sp>
    <dsp:sp modelId="{C6647FB2-4F3F-4CF5-AAAD-904A28A83DAA}">
      <dsp:nvSpPr>
        <dsp:cNvPr id="0" name=""/>
        <dsp:cNvSpPr/>
      </dsp:nvSpPr>
      <dsp:spPr>
        <a:xfrm>
          <a:off x="0" y="2923762"/>
          <a:ext cx="2740602" cy="23986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kern="1200" dirty="0" smtClean="0">
              <a:latin typeface="Times New Roman" pitchFamily="18" charset="0"/>
              <a:cs typeface="Times New Roman" pitchFamily="18" charset="0"/>
            </a:rPr>
            <a:t>системами электронного документооборота, ЭДО, — чтобы отправлять счета, акты и другие документы напрямую из ERP;</a:t>
          </a:r>
          <a:endParaRPr lang="ru-RU" sz="19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2923762"/>
        <a:ext cx="2740602" cy="2398695"/>
      </dsp:txXfrm>
    </dsp:sp>
    <dsp:sp modelId="{D45521DE-F968-45BF-9047-6CEEA586E900}">
      <dsp:nvSpPr>
        <dsp:cNvPr id="0" name=""/>
        <dsp:cNvSpPr/>
      </dsp:nvSpPr>
      <dsp:spPr>
        <a:xfrm>
          <a:off x="3014662" y="2923762"/>
          <a:ext cx="2740602" cy="23986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kern="1200" smtClean="0">
              <a:latin typeface="Times New Roman" pitchFamily="18" charset="0"/>
              <a:cs typeface="Times New Roman" pitchFamily="18" charset="0"/>
            </a:rPr>
            <a:t>маркетинговыми платформами — для запуска персонализированных кампаний на основе данных о покупках и поведении клиентов;</a:t>
          </a:r>
          <a:endParaRPr lang="ru-RU" sz="1900" b="0" kern="1200">
            <a:latin typeface="Times New Roman" pitchFamily="18" charset="0"/>
            <a:cs typeface="Times New Roman" pitchFamily="18" charset="0"/>
          </a:endParaRPr>
        </a:p>
      </dsp:txBody>
      <dsp:txXfrm>
        <a:off x="3014662" y="2923762"/>
        <a:ext cx="2740602" cy="2398695"/>
      </dsp:txXfrm>
    </dsp:sp>
    <dsp:sp modelId="{BD480A5B-DD90-431A-9590-40907620EC6C}">
      <dsp:nvSpPr>
        <dsp:cNvPr id="0" name=""/>
        <dsp:cNvSpPr/>
      </dsp:nvSpPr>
      <dsp:spPr>
        <a:xfrm>
          <a:off x="6029324" y="2937616"/>
          <a:ext cx="2740602" cy="2370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0" kern="1200" smtClean="0">
              <a:latin typeface="Times New Roman" pitchFamily="18" charset="0"/>
              <a:cs typeface="Times New Roman" pitchFamily="18" charset="0"/>
            </a:rPr>
            <a:t>системами бизнес-аналитики — для глубокого анализа процессов и принятия обоснованных управленческих решений.</a:t>
          </a:r>
          <a:endParaRPr lang="ru-RU" sz="1900" b="0" kern="1200">
            <a:latin typeface="Times New Roman" pitchFamily="18" charset="0"/>
            <a:cs typeface="Times New Roman" pitchFamily="18" charset="0"/>
          </a:endParaRPr>
        </a:p>
      </dsp:txBody>
      <dsp:txXfrm>
        <a:off x="6029324" y="2937616"/>
        <a:ext cx="2740602" cy="23709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CB465-1557-436B-8E9C-52D6B730068E}">
      <dsp:nvSpPr>
        <dsp:cNvPr id="0" name=""/>
        <dsp:cNvSpPr/>
      </dsp:nvSpPr>
      <dsp:spPr>
        <a:xfrm>
          <a:off x="-45590" y="5012"/>
          <a:ext cx="8874962" cy="6654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0" kern="1200" dirty="0" smtClean="0">
              <a:latin typeface="Times New Roman" pitchFamily="18" charset="0"/>
              <a:cs typeface="Times New Roman" pitchFamily="18" charset="0"/>
            </a:rPr>
            <a:t>Определить цель.</a:t>
          </a:r>
          <a:endParaRPr lang="ru-RU" sz="2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-26099" y="24503"/>
        <a:ext cx="8835980" cy="626486"/>
      </dsp:txXfrm>
    </dsp:sp>
    <dsp:sp modelId="{60B6F9BE-A3C9-470C-8197-6A07AE528C72}">
      <dsp:nvSpPr>
        <dsp:cNvPr id="0" name=""/>
        <dsp:cNvSpPr/>
      </dsp:nvSpPr>
      <dsp:spPr>
        <a:xfrm rot="5400000">
          <a:off x="4267115" y="687118"/>
          <a:ext cx="249550" cy="2994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 rot="-5400000">
        <a:off x="4302053" y="712073"/>
        <a:ext cx="179676" cy="174685"/>
      </dsp:txXfrm>
    </dsp:sp>
    <dsp:sp modelId="{FB41FB43-EB40-4AE2-9D07-A615497A9F8B}">
      <dsp:nvSpPr>
        <dsp:cNvPr id="0" name=""/>
        <dsp:cNvSpPr/>
      </dsp:nvSpPr>
      <dsp:spPr>
        <a:xfrm>
          <a:off x="0" y="1003215"/>
          <a:ext cx="8783782" cy="6654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0" kern="1200" smtClean="0">
              <a:latin typeface="Times New Roman" pitchFamily="18" charset="0"/>
              <a:cs typeface="Times New Roman" pitchFamily="18" charset="0"/>
            </a:rPr>
            <a:t>Выбрать подходящую </a:t>
          </a:r>
          <a:r>
            <a:rPr lang="en-US" sz="2800" b="0" kern="1200" smtClean="0">
              <a:latin typeface="Times New Roman" pitchFamily="18" charset="0"/>
              <a:cs typeface="Times New Roman" pitchFamily="18" charset="0"/>
            </a:rPr>
            <a:t>ERP-</a:t>
          </a:r>
          <a:r>
            <a:rPr lang="ru-RU" sz="2800" b="0" kern="1200" smtClean="0">
              <a:latin typeface="Times New Roman" pitchFamily="18" charset="0"/>
              <a:cs typeface="Times New Roman" pitchFamily="18" charset="0"/>
            </a:rPr>
            <a:t>систему.</a:t>
          </a:r>
          <a:endParaRPr lang="ru-RU" sz="2800" b="0" kern="1200">
            <a:latin typeface="Times New Roman" pitchFamily="18" charset="0"/>
            <a:cs typeface="Times New Roman" pitchFamily="18" charset="0"/>
          </a:endParaRPr>
        </a:p>
      </dsp:txBody>
      <dsp:txXfrm>
        <a:off x="19491" y="1022706"/>
        <a:ext cx="8744800" cy="626486"/>
      </dsp:txXfrm>
    </dsp:sp>
    <dsp:sp modelId="{D212E510-E17F-4542-A8F8-48BD6C0387D7}">
      <dsp:nvSpPr>
        <dsp:cNvPr id="0" name=""/>
        <dsp:cNvSpPr/>
      </dsp:nvSpPr>
      <dsp:spPr>
        <a:xfrm rot="5400000">
          <a:off x="4267115" y="1685321"/>
          <a:ext cx="249550" cy="2994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 rot="-5400000">
        <a:off x="4302053" y="1710276"/>
        <a:ext cx="179676" cy="174685"/>
      </dsp:txXfrm>
    </dsp:sp>
    <dsp:sp modelId="{43E069BA-2626-44BE-8461-61E6F646A950}">
      <dsp:nvSpPr>
        <dsp:cNvPr id="0" name=""/>
        <dsp:cNvSpPr/>
      </dsp:nvSpPr>
      <dsp:spPr>
        <a:xfrm>
          <a:off x="-60783" y="2001418"/>
          <a:ext cx="8905349" cy="6654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0" kern="1200" dirty="0" smtClean="0">
              <a:latin typeface="Times New Roman" pitchFamily="18" charset="0"/>
              <a:cs typeface="Times New Roman" pitchFamily="18" charset="0"/>
            </a:rPr>
            <a:t>Спланировать процесс, включая сроки, ресурсы и ответственных лиц, время на обучение сотрудников.</a:t>
          </a:r>
          <a:endParaRPr lang="ru-RU" sz="28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-41292" y="2020909"/>
        <a:ext cx="8866367" cy="626486"/>
      </dsp:txXfrm>
    </dsp:sp>
    <dsp:sp modelId="{C5DBD2F5-EC45-4BF1-AF76-783592F41CD5}">
      <dsp:nvSpPr>
        <dsp:cNvPr id="0" name=""/>
        <dsp:cNvSpPr/>
      </dsp:nvSpPr>
      <dsp:spPr>
        <a:xfrm rot="5400000">
          <a:off x="4267115" y="2683524"/>
          <a:ext cx="249550" cy="2994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 rot="-5400000">
        <a:off x="4302053" y="2708479"/>
        <a:ext cx="179676" cy="174685"/>
      </dsp:txXfrm>
    </dsp:sp>
    <dsp:sp modelId="{038126DB-7B95-403E-8673-E4DC72560623}">
      <dsp:nvSpPr>
        <dsp:cNvPr id="0" name=""/>
        <dsp:cNvSpPr/>
      </dsp:nvSpPr>
      <dsp:spPr>
        <a:xfrm>
          <a:off x="-45590" y="2999621"/>
          <a:ext cx="8874962" cy="6654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0" kern="1200" smtClean="0">
              <a:latin typeface="Times New Roman" pitchFamily="18" charset="0"/>
              <a:cs typeface="Times New Roman" pitchFamily="18" charset="0"/>
            </a:rPr>
            <a:t>Настроить и отрегулировать систему.</a:t>
          </a:r>
          <a:endParaRPr lang="ru-RU" sz="2800" b="0" kern="1200">
            <a:latin typeface="Times New Roman" pitchFamily="18" charset="0"/>
            <a:cs typeface="Times New Roman" pitchFamily="18" charset="0"/>
          </a:endParaRPr>
        </a:p>
      </dsp:txBody>
      <dsp:txXfrm>
        <a:off x="-26099" y="3019112"/>
        <a:ext cx="8835980" cy="626486"/>
      </dsp:txXfrm>
    </dsp:sp>
    <dsp:sp modelId="{1D72C217-9074-4E6D-9126-69D498602F19}">
      <dsp:nvSpPr>
        <dsp:cNvPr id="0" name=""/>
        <dsp:cNvSpPr/>
      </dsp:nvSpPr>
      <dsp:spPr>
        <a:xfrm rot="5400000">
          <a:off x="4267115" y="3681727"/>
          <a:ext cx="249550" cy="2994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 rot="-5400000">
        <a:off x="4302053" y="3706682"/>
        <a:ext cx="179676" cy="174685"/>
      </dsp:txXfrm>
    </dsp:sp>
    <dsp:sp modelId="{8B9030B5-431D-48C5-BB3C-630122EC7A42}">
      <dsp:nvSpPr>
        <dsp:cNvPr id="0" name=""/>
        <dsp:cNvSpPr/>
      </dsp:nvSpPr>
      <dsp:spPr>
        <a:xfrm>
          <a:off x="-75987" y="3997824"/>
          <a:ext cx="8935756" cy="6654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0" kern="1200" smtClean="0">
              <a:latin typeface="Times New Roman" pitchFamily="18" charset="0"/>
              <a:cs typeface="Times New Roman" pitchFamily="18" charset="0"/>
            </a:rPr>
            <a:t>Запустить и поддерживать работу ERP.</a:t>
          </a:r>
          <a:endParaRPr lang="ru-RU" sz="2800" b="0" kern="1200">
            <a:latin typeface="Times New Roman" pitchFamily="18" charset="0"/>
            <a:cs typeface="Times New Roman" pitchFamily="18" charset="0"/>
          </a:endParaRPr>
        </a:p>
      </dsp:txBody>
      <dsp:txXfrm>
        <a:off x="-56496" y="4017315"/>
        <a:ext cx="8896774" cy="626486"/>
      </dsp:txXfrm>
    </dsp:sp>
    <dsp:sp modelId="{72F9AFC7-25B3-44C1-AE63-221C57666B75}">
      <dsp:nvSpPr>
        <dsp:cNvPr id="0" name=""/>
        <dsp:cNvSpPr/>
      </dsp:nvSpPr>
      <dsp:spPr>
        <a:xfrm rot="5400000">
          <a:off x="4267115" y="4679930"/>
          <a:ext cx="249550" cy="2994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 rot="-5400000">
        <a:off x="4302053" y="4704885"/>
        <a:ext cx="179676" cy="174685"/>
      </dsp:txXfrm>
    </dsp:sp>
    <dsp:sp modelId="{F7E1C977-42B9-4011-8ACA-C1E4145F3358}">
      <dsp:nvSpPr>
        <dsp:cNvPr id="0" name=""/>
        <dsp:cNvSpPr/>
      </dsp:nvSpPr>
      <dsp:spPr>
        <a:xfrm>
          <a:off x="-45590" y="4996027"/>
          <a:ext cx="8874962" cy="6654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0" kern="1200" smtClean="0">
              <a:latin typeface="Times New Roman" pitchFamily="18" charset="0"/>
              <a:cs typeface="Times New Roman" pitchFamily="18" charset="0"/>
            </a:rPr>
            <a:t>Оценить результаты.</a:t>
          </a:r>
          <a:endParaRPr lang="ru-RU" sz="2800" b="0" kern="1200">
            <a:latin typeface="Times New Roman" pitchFamily="18" charset="0"/>
            <a:cs typeface="Times New Roman" pitchFamily="18" charset="0"/>
          </a:endParaRPr>
        </a:p>
      </dsp:txBody>
      <dsp:txXfrm>
        <a:off x="-26099" y="5015518"/>
        <a:ext cx="8835980" cy="6264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BD6EA0-7EEA-4162-A6BC-D296157388C5}">
      <dsp:nvSpPr>
        <dsp:cNvPr id="0" name=""/>
        <dsp:cNvSpPr/>
      </dsp:nvSpPr>
      <dsp:spPr>
        <a:xfrm>
          <a:off x="0" y="434464"/>
          <a:ext cx="2714624" cy="22541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Помогает упростить и ускорить повседневную работу.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Многие рутинные задачи автоматизируются, и сотрудники тратят меньше времени на бумажную работу и дублирование данных.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434464"/>
        <a:ext cx="2714624" cy="2254192"/>
      </dsp:txXfrm>
    </dsp:sp>
    <dsp:sp modelId="{F2A885EE-483F-417D-9E6A-2CD1021631F6}">
      <dsp:nvSpPr>
        <dsp:cNvPr id="0" name=""/>
        <dsp:cNvSpPr/>
      </dsp:nvSpPr>
      <dsp:spPr>
        <a:xfrm>
          <a:off x="2986087" y="474654"/>
          <a:ext cx="2714624" cy="21738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Вся информация собирается в одной системе, больше не нужно искать ее в разных таблицах и программах - все доступно и обновляется в реальном времени.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Это снижает количество ошибок и помогает быстрее принимать решения.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986087" y="474654"/>
        <a:ext cx="2714624" cy="2173811"/>
      </dsp:txXfrm>
    </dsp:sp>
    <dsp:sp modelId="{23B8FC87-D601-484B-9C90-0D9FC197F8CA}">
      <dsp:nvSpPr>
        <dsp:cNvPr id="0" name=""/>
        <dsp:cNvSpPr/>
      </dsp:nvSpPr>
      <dsp:spPr>
        <a:xfrm>
          <a:off x="5972175" y="460549"/>
          <a:ext cx="2714624" cy="22020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Система также повышает прозрачность процессов - видно, что происходит в компании прямо сейчас: какие продажи, какие запасы, где узкие места.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Руководство может вовремя отреагировать, не дожидаясь, пока проблема станет критичной.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972175" y="460549"/>
        <a:ext cx="2714624" cy="2202022"/>
      </dsp:txXfrm>
    </dsp:sp>
    <dsp:sp modelId="{B2C1837D-8D37-41CB-9A3C-A54AA516E110}">
      <dsp:nvSpPr>
        <dsp:cNvPr id="0" name=""/>
        <dsp:cNvSpPr/>
      </dsp:nvSpPr>
      <dsp:spPr>
        <a:xfrm>
          <a:off x="1493043" y="2960119"/>
          <a:ext cx="2714624" cy="21195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Обслуживание клиентов улучшается: ERP помогает быстрее обрабатывать заказы, точнее управлять запасами и выполнять обещания.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493043" y="2960119"/>
        <a:ext cx="2714624" cy="2119524"/>
      </dsp:txXfrm>
    </dsp:sp>
    <dsp:sp modelId="{254D205B-29E0-40A7-95AC-991AE684834E}">
      <dsp:nvSpPr>
        <dsp:cNvPr id="0" name=""/>
        <dsp:cNvSpPr/>
      </dsp:nvSpPr>
      <dsp:spPr>
        <a:xfrm>
          <a:off x="4479131" y="2903714"/>
          <a:ext cx="2714624" cy="21195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Благодаря встроенной аналитике и отчетам можно детально анализировать работу бизнеса и принимать обоснованные решения.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А автоматизация в целом снижает количество ошибок — особенно в бухгалтерии, на складе и в закупках.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79131" y="2903714"/>
        <a:ext cx="2714624" cy="21195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E5CABD-BCD0-4C71-B102-BBEDD3750F34}">
      <dsp:nvSpPr>
        <dsp:cNvPr id="0" name=""/>
        <dsp:cNvSpPr/>
      </dsp:nvSpPr>
      <dsp:spPr>
        <a:xfrm>
          <a:off x="1019" y="114800"/>
          <a:ext cx="3977262" cy="23863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Внедрение требует вложений: покупка или аренда системы, настройка, обучение сотрудников и техническая поддержка.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 Сам процесс внедрения может быть долгим и сложным, особенно в больших компаниях. 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Это может временно замедлить работу и вызвать сбои.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19" y="114800"/>
        <a:ext cx="3977262" cy="2386357"/>
      </dsp:txXfrm>
    </dsp:sp>
    <dsp:sp modelId="{59300609-1D97-4829-A136-B2F4B44506CD}">
      <dsp:nvSpPr>
        <dsp:cNvPr id="0" name=""/>
        <dsp:cNvSpPr/>
      </dsp:nvSpPr>
      <dsp:spPr>
        <a:xfrm>
          <a:off x="4376008" y="114800"/>
          <a:ext cx="3977262" cy="23863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ERP требует изменений внутри компании. 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Сотрудникам нужно учиться работать по-новому, а не все готовы менять привычный порядок. 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Некоторые сопротивляются, потому что не хотят осваивать новую систему или тратить время на обучение.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376008" y="114800"/>
        <a:ext cx="3977262" cy="2386357"/>
      </dsp:txXfrm>
    </dsp:sp>
    <dsp:sp modelId="{706D1719-5648-4D80-A410-71D20701AE5D}">
      <dsp:nvSpPr>
        <dsp:cNvPr id="0" name=""/>
        <dsp:cNvSpPr/>
      </dsp:nvSpPr>
      <dsp:spPr>
        <a:xfrm>
          <a:off x="2188514" y="2898884"/>
          <a:ext cx="3977262" cy="23863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Ошибки при настройке - еще один риск. Если неправильно смоделировать процессы или выбрать неподходящую систему, ERP может не упростить, а, наоборот, запутать работу. 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Поэтому важно подключать опытных специалистов и тщательно продумывать архитектуру системы еще до начала внедрения.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188514" y="2898884"/>
        <a:ext cx="3977262" cy="23863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FFA26-83DE-463D-911E-F4AF1A7B67B2}">
      <dsp:nvSpPr>
        <dsp:cNvPr id="0" name=""/>
        <dsp:cNvSpPr/>
      </dsp:nvSpPr>
      <dsp:spPr>
        <a:xfrm>
          <a:off x="0" y="568469"/>
          <a:ext cx="2589068" cy="1553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>
              <a:latin typeface="Times New Roman" pitchFamily="18" charset="0"/>
              <a:cs typeface="Times New Roman" pitchFamily="18" charset="0"/>
            </a:rPr>
            <a:t>Недостаточная подготовка персонала и сопротивление изменениям</a:t>
          </a:r>
          <a:endParaRPr lang="ru-RU" sz="21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568469"/>
        <a:ext cx="2589068" cy="1553441"/>
      </dsp:txXfrm>
    </dsp:sp>
    <dsp:sp modelId="{8F563FB1-F18F-415A-9171-7E201CCACAE7}">
      <dsp:nvSpPr>
        <dsp:cNvPr id="0" name=""/>
        <dsp:cNvSpPr/>
      </dsp:nvSpPr>
      <dsp:spPr>
        <a:xfrm>
          <a:off x="2847975" y="568469"/>
          <a:ext cx="2589068" cy="1553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smtClean="0">
              <a:latin typeface="Times New Roman" pitchFamily="18" charset="0"/>
              <a:cs typeface="Times New Roman" pitchFamily="18" charset="0"/>
            </a:rPr>
            <a:t>Перегруженность системы избыточным функционалом на старте</a:t>
          </a:r>
          <a:endParaRPr lang="ru-RU" sz="2100" kern="1200">
            <a:latin typeface="Times New Roman" pitchFamily="18" charset="0"/>
            <a:cs typeface="Times New Roman" pitchFamily="18" charset="0"/>
          </a:endParaRPr>
        </a:p>
      </dsp:txBody>
      <dsp:txXfrm>
        <a:off x="2847975" y="568469"/>
        <a:ext cx="2589068" cy="1553441"/>
      </dsp:txXfrm>
    </dsp:sp>
    <dsp:sp modelId="{50D68F92-A36F-45A4-B932-CEDEA3A922DA}">
      <dsp:nvSpPr>
        <dsp:cNvPr id="0" name=""/>
        <dsp:cNvSpPr/>
      </dsp:nvSpPr>
      <dsp:spPr>
        <a:xfrm>
          <a:off x="5695950" y="568469"/>
          <a:ext cx="2589068" cy="1553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smtClean="0">
              <a:latin typeface="Times New Roman" pitchFamily="18" charset="0"/>
              <a:cs typeface="Times New Roman" pitchFamily="18" charset="0"/>
            </a:rPr>
            <a:t>Игнорирование особенностей существующих бизнес-процессов</a:t>
          </a:r>
          <a:endParaRPr lang="ru-RU" sz="2100" kern="1200">
            <a:latin typeface="Times New Roman" pitchFamily="18" charset="0"/>
            <a:cs typeface="Times New Roman" pitchFamily="18" charset="0"/>
          </a:endParaRPr>
        </a:p>
      </dsp:txBody>
      <dsp:txXfrm>
        <a:off x="5695950" y="568469"/>
        <a:ext cx="2589068" cy="1553441"/>
      </dsp:txXfrm>
    </dsp:sp>
    <dsp:sp modelId="{09024218-FF3B-474F-B315-E037CF215AC7}">
      <dsp:nvSpPr>
        <dsp:cNvPr id="0" name=""/>
        <dsp:cNvSpPr/>
      </dsp:nvSpPr>
      <dsp:spPr>
        <a:xfrm>
          <a:off x="1423987" y="2380817"/>
          <a:ext cx="2589068" cy="1553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smtClean="0">
              <a:latin typeface="Times New Roman" pitchFamily="18" charset="0"/>
              <a:cs typeface="Times New Roman" pitchFamily="18" charset="0"/>
            </a:rPr>
            <a:t>Недостаточное внимание к вопросам информационной безопасности</a:t>
          </a:r>
          <a:endParaRPr lang="ru-RU" sz="2100" kern="1200">
            <a:latin typeface="Times New Roman" pitchFamily="18" charset="0"/>
            <a:cs typeface="Times New Roman" pitchFamily="18" charset="0"/>
          </a:endParaRPr>
        </a:p>
      </dsp:txBody>
      <dsp:txXfrm>
        <a:off x="1423987" y="2380817"/>
        <a:ext cx="2589068" cy="1553441"/>
      </dsp:txXfrm>
    </dsp:sp>
    <dsp:sp modelId="{630D58D7-329D-4B1F-B654-8241E932CBE1}">
      <dsp:nvSpPr>
        <dsp:cNvPr id="0" name=""/>
        <dsp:cNvSpPr/>
      </dsp:nvSpPr>
      <dsp:spPr>
        <a:xfrm>
          <a:off x="4271962" y="2380817"/>
          <a:ext cx="2589068" cy="1553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smtClean="0">
              <a:latin typeface="Times New Roman" pitchFamily="18" charset="0"/>
              <a:cs typeface="Times New Roman" pitchFamily="18" charset="0"/>
            </a:rPr>
            <a:t>Отсутствие четкого плана развития системы после внедрения</a:t>
          </a:r>
          <a:endParaRPr lang="ru-RU" sz="2100" kern="1200">
            <a:latin typeface="Times New Roman" pitchFamily="18" charset="0"/>
            <a:cs typeface="Times New Roman" pitchFamily="18" charset="0"/>
          </a:endParaRPr>
        </a:p>
      </dsp:txBody>
      <dsp:txXfrm>
        <a:off x="4271962" y="2380817"/>
        <a:ext cx="2589068" cy="15534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E2746-972B-4B95-9953-7DC0DBFB0AC8}">
      <dsp:nvSpPr>
        <dsp:cNvPr id="0" name=""/>
        <dsp:cNvSpPr/>
      </dsp:nvSpPr>
      <dsp:spPr>
        <a:xfrm>
          <a:off x="1300165" y="85"/>
          <a:ext cx="2654214" cy="1592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координация, 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300165" y="85"/>
        <a:ext cx="2654214" cy="1592528"/>
      </dsp:txXfrm>
    </dsp:sp>
    <dsp:sp modelId="{0F70EC83-377C-4694-AC12-7B66B9FFB004}">
      <dsp:nvSpPr>
        <dsp:cNvPr id="0" name=""/>
        <dsp:cNvSpPr/>
      </dsp:nvSpPr>
      <dsp:spPr>
        <a:xfrm>
          <a:off x="4219801" y="85"/>
          <a:ext cx="2654214" cy="1592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отслеживание, 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19801" y="85"/>
        <a:ext cx="2654214" cy="1592528"/>
      </dsp:txXfrm>
    </dsp:sp>
    <dsp:sp modelId="{FC0AD2CD-FF49-4FF1-9146-D2E712F7B04A}">
      <dsp:nvSpPr>
        <dsp:cNvPr id="0" name=""/>
        <dsp:cNvSpPr/>
      </dsp:nvSpPr>
      <dsp:spPr>
        <a:xfrm>
          <a:off x="1300165" y="1858035"/>
          <a:ext cx="2654214" cy="1592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анализ, 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300165" y="1858035"/>
        <a:ext cx="2654214" cy="1592528"/>
      </dsp:txXfrm>
    </dsp:sp>
    <dsp:sp modelId="{F558412B-E036-48A1-AB32-3D5CC87A26B4}">
      <dsp:nvSpPr>
        <dsp:cNvPr id="0" name=""/>
        <dsp:cNvSpPr/>
      </dsp:nvSpPr>
      <dsp:spPr>
        <a:xfrm>
          <a:off x="4219801" y="1858035"/>
          <a:ext cx="2654214" cy="1592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документирование,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19801" y="1858035"/>
        <a:ext cx="2654214" cy="1592528"/>
      </dsp:txXfrm>
    </dsp:sp>
    <dsp:sp modelId="{D00D01AB-8985-466A-9BC3-1D68785CA372}">
      <dsp:nvSpPr>
        <dsp:cNvPr id="0" name=""/>
        <dsp:cNvSpPr/>
      </dsp:nvSpPr>
      <dsp:spPr>
        <a:xfrm>
          <a:off x="1385459" y="3715985"/>
          <a:ext cx="5403263" cy="1592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оптимизация процессов производства товара на протяжении всего его жизненного цикла: от отбора сырья до выпуска готовой продукции.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385459" y="3715985"/>
        <a:ext cx="5403263" cy="15925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2050473"/>
            <a:ext cx="7372350" cy="1468582"/>
          </a:xfrm>
        </p:spPr>
        <p:txBody>
          <a:bodyPr/>
          <a:lstStyle/>
          <a:p>
            <a:r>
              <a:rPr lang="en-US" sz="4400" b="0" dirty="0">
                <a:latin typeface="Times New Roman" pitchFamily="18" charset="0"/>
                <a:cs typeface="Times New Roman" pitchFamily="18" charset="0"/>
              </a:rPr>
              <a:t>ERP </a:t>
            </a:r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4400" b="0" dirty="0">
                <a:latin typeface="Times New Roman" pitchFamily="18" charset="0"/>
                <a:cs typeface="Times New Roman" pitchFamily="18" charset="0"/>
              </a:rPr>
              <a:t>MES-</a:t>
            </a:r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Определение.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Особенности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Интеграция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7"/>
            <a:ext cx="8099714" cy="693454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Автоматизированные системы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управления технологическим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процессом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68036" y="1649335"/>
            <a:ext cx="788323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АСУ ТП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это современные автоматизированные системы, разработанные для контроля и управления технологическим процессом в промышленности.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Они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основаны на использовании специальных программ и оборудования, которые позволяют управлять производственными процессами с минимальным участием человека. </a:t>
            </a:r>
          </a:p>
        </p:txBody>
      </p:sp>
    </p:spTree>
    <p:extLst>
      <p:ext uri="{BB962C8B-B14F-4D97-AF65-F5344CB8AC3E}">
        <p14:creationId xmlns:p14="http://schemas.microsoft.com/office/powerpoint/2010/main" val="156115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7"/>
            <a:ext cx="8099714" cy="693454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Функция АСУ ТП 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57201" y="1195012"/>
            <a:ext cx="835429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Функция системы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сбор</a:t>
            </a:r>
          </a:p>
          <a:p>
            <a:pPr indent="457200" algn="just"/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обработка</a:t>
            </a:r>
          </a:p>
          <a:p>
            <a:pPr indent="457200" algn="just"/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передача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информации для принятия нужных решений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7065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7"/>
            <a:ext cx="8099714" cy="693454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Принцип работы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АСУ ТП 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57201" y="1195012"/>
            <a:ext cx="835429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Взаимодействие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различных компонентов, каждый из которых выполняет свою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функцию</a:t>
            </a:r>
          </a:p>
        </p:txBody>
      </p:sp>
    </p:spTree>
    <p:extLst>
      <p:ext uri="{BB962C8B-B14F-4D97-AF65-F5344CB8AC3E}">
        <p14:creationId xmlns:p14="http://schemas.microsoft.com/office/powerpoint/2010/main" val="96375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7"/>
            <a:ext cx="8099714" cy="693454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Компоненты АСУ ТП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904067"/>
            <a:ext cx="863138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itchFamily="34" charset="0"/>
              <a:buChar char="•"/>
            </a:pP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Контроллер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– это основной элемент системы, обеспечивающий обработку и передачу данных, а также принятие решений на основе предварительно заданных параметров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Сенсоры 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 датчики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– представляют собой устройства, измеряющие различные параметры процесса и передающие полученные данные контроллеру. Это позволяет системе оперативно реагировать на изменения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ru-RU" sz="28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Актуаторы</a:t>
            </a:r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задатчики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– обеспечивают перевод информации от контроллера в физическое действие. Они управляют клапанами, насосами, моторами и другими устройствами, влияющими на процесс.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759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7"/>
            <a:ext cx="8099714" cy="693454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Уровни управления производством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8194" name="Picture 2" descr="Структура управления производство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0" y="1219198"/>
            <a:ext cx="9086914" cy="554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378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246419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0 уровень – полевая автоматика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886434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этом уровне находятся датчики, сенсоры, клапаны, приводы и другие исполнительные устройства. Они фиксируют и передают данные на следующие уровни.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0243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246419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 уровень – управление оборудованием в PLC/PAC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886434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PLC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(программируемые логические контроллеры) и PAC (программируемые автоматизированные контроллеры) управляют логикой процессов локально.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если температура опустилась ниже заданного уровня, контроллер включает нагреватель.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100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246419"/>
            <a:ext cx="7886700" cy="1325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2 уровень - диспетчерское управление и сбор данных в SCADA</a:t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9491" y="1401524"/>
            <a:ext cx="8285017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SCADA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помогает контролировать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мониторить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показатели в реальном времени. Система собирает данные с PLC/PAC и передает их на устройство, где операторы отслеживают статус оборудования. MES, в свою очередь, использует данные из SCADA для дальнейшего анализа, планирования, координации и управления производством.</a:t>
            </a:r>
          </a:p>
          <a:p>
            <a:pPr marL="0" indent="0"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С развитием интернета вещей, MES может получать информацию напрямую от датчиков. Это возможно с помощью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-платформ.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9916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246419"/>
            <a:ext cx="7886700" cy="1325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3 уровень — управление процессами в MES </a:t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9491" y="1401524"/>
            <a:ext cx="8285017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MES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получает данные из SCADA или напрямую от датчиков и передает их в ERP-систему. Существуют также гибриды MES и ERP для управления производственными процессами, запасами, закупками и планированием.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9411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246419"/>
            <a:ext cx="7886700" cy="1325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4 уровень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управление бизнес-процессами в ERP </a:t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9491" y="1588051"/>
            <a:ext cx="8285017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ERP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enterprise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resource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planning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– это софт для контроля бизнес-процессов компании. Система объединяет управление финансами, закупками, продажами, заказами, отчетностью и персоналом. ERP-системы не управляют производством напрямую. Они передают данные в MES, чтобы корректировать планы на выпуск продукции.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7528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ERP-системы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01525"/>
            <a:ext cx="7886700" cy="4805311"/>
          </a:xfrm>
        </p:spPr>
        <p:txBody>
          <a:bodyPr/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ERP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enterprise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resource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planning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планирование ресурсов предприятия. 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ERP-система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информационная система, которая объединяет в единую базу данные о производстве, продажах, логистике, финансах, управлении персоналом и автоматизирует процессы внутри компании.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Вместо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множества разрозненных таблиц и программ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одна платформа, где все связано.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313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8" y="220947"/>
            <a:ext cx="7886700" cy="65189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ERP-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7170" name="Picture 2" descr="https://habrastorage.org/r/w1560/getpro/habr/upload_files/1fa/27b/1ed/1fa27b1ed58974f7546b20999442360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49" y="872837"/>
            <a:ext cx="5896841" cy="567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68877" y="6584213"/>
            <a:ext cx="850669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https://habrastorage.org/r/w780/getpro/habr/upload_files/1fa/27b/1ed/1fa27b1ed58974f7546b20999442360b.png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964225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CRM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ERP-системы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266558"/>
              </p:ext>
            </p:extLst>
          </p:nvPr>
        </p:nvGraphicFramePr>
        <p:xfrm>
          <a:off x="249381" y="1288475"/>
          <a:ext cx="8700655" cy="5442263"/>
        </p:xfrm>
        <a:graphic>
          <a:graphicData uri="http://schemas.openxmlformats.org/drawingml/2006/table">
            <a:tbl>
              <a:tblPr/>
              <a:tblGrid>
                <a:gridCol w="2092037"/>
                <a:gridCol w="3906982"/>
                <a:gridCol w="2701636"/>
              </a:tblGrid>
              <a:tr h="515233">
                <a:tc>
                  <a:txBody>
                    <a:bodyPr/>
                    <a:lstStyle/>
                    <a:p>
                      <a:endParaRPr lang="ru-RU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8604" marR="122092" marT="91569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ERP</a:t>
                      </a:r>
                      <a:endParaRPr lang="ru-RU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8604" marR="122092" marT="91569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CRM</a:t>
                      </a:r>
                      <a:endParaRPr lang="ru-RU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8604" marR="58604" marT="91569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88058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Основная задача</a:t>
                      </a:r>
                    </a:p>
                  </a:txBody>
                  <a:tcPr marL="58604" marR="122092" marT="91569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Управление внутренними ресурсами и процессами бизнеса</a:t>
                      </a:r>
                    </a:p>
                  </a:txBody>
                  <a:tcPr marL="58604" marR="122092" marT="91569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Управление продажами и взаимодействием с клиентами</a:t>
                      </a:r>
                    </a:p>
                  </a:txBody>
                  <a:tcPr marL="58604" marR="58604" marT="91569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1229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 что ориентирована</a:t>
                      </a:r>
                    </a:p>
                  </a:txBody>
                  <a:tcPr marL="58604" marR="122092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Финансы, логистика, склад, закупки, производство, персонал</a:t>
                      </a:r>
                    </a:p>
                  </a:txBody>
                  <a:tcPr marL="58604" marR="122092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Продажи, маркетинг, обслуживание клиентов</a:t>
                      </a:r>
                    </a:p>
                  </a:txBody>
                  <a:tcPr marL="58604" marR="58604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59339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Кто обычно использует</a:t>
                      </a:r>
                    </a:p>
                  </a:txBody>
                  <a:tcPr marL="58604" marR="122092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Руководители, бухгалтерия, отдел логистики, производство, HR</a:t>
                      </a:r>
                    </a:p>
                  </a:txBody>
                  <a:tcPr marL="58604" marR="122092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Отделы продаж, маркетинга и обслуживания клиентов</a:t>
                      </a:r>
                    </a:p>
                  </a:txBody>
                  <a:tcPr marL="58604" marR="58604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17449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Ключевые функции</a:t>
                      </a:r>
                    </a:p>
                  </a:txBody>
                  <a:tcPr marL="58604" marR="122092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Учет и планирование ресурсов, автоматизация процессов, аналитика, отчетность</a:t>
                      </a:r>
                    </a:p>
                  </a:txBody>
                  <a:tcPr marL="58604" marR="122092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Ведение клиентской базы, воронка продаж, напоминания, история покупок</a:t>
                      </a:r>
                    </a:p>
                  </a:txBody>
                  <a:tcPr marL="58604" marR="58604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10917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Польза для бизнеса</a:t>
                      </a:r>
                    </a:p>
                  </a:txBody>
                  <a:tcPr marL="58604" marR="122092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Повышение эффективности, снижение издержек, прозрачность процессов</a:t>
                      </a:r>
                    </a:p>
                  </a:txBody>
                  <a:tcPr marL="58604" marR="122092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Рост продаж, удержание клиентов, улучшение качества обслуживания</a:t>
                      </a:r>
                    </a:p>
                  </a:txBody>
                  <a:tcPr marL="58604" marR="58604" marT="61046" marB="293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86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Задачи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ERP-системы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 на практике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704413"/>
              </p:ext>
            </p:extLst>
          </p:nvPr>
        </p:nvGraphicFramePr>
        <p:xfrm>
          <a:off x="263235" y="1288472"/>
          <a:ext cx="8659091" cy="530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944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207092"/>
            <a:ext cx="7886700" cy="70730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Компоненты ERP-системы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565777632"/>
              </p:ext>
            </p:extLst>
          </p:nvPr>
        </p:nvGraphicFramePr>
        <p:xfrm>
          <a:off x="96982" y="1094509"/>
          <a:ext cx="8908473" cy="5751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2259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ERP-системы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  <p:pic>
        <p:nvPicPr>
          <p:cNvPr id="1026" name="Picture 2" descr="Цепочка, по которой передает данные &lt;nobr&gt;ERP-система&lt;/nobr&g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72" y="1264785"/>
            <a:ext cx="8977564" cy="411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89709" y="6483211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/>
              <a:t>https://opis-cdn.tinkoffjournal.ru/mercury/erp-use-1desk.png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3714059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554909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Базовые модули популярных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ERP-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систем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146392"/>
              </p:ext>
            </p:extLst>
          </p:nvPr>
        </p:nvGraphicFramePr>
        <p:xfrm>
          <a:off x="83126" y="1025235"/>
          <a:ext cx="9019309" cy="5806505"/>
        </p:xfrm>
        <a:graphic>
          <a:graphicData uri="http://schemas.openxmlformats.org/drawingml/2006/table">
            <a:tbl>
              <a:tblPr/>
              <a:tblGrid>
                <a:gridCol w="1611601"/>
                <a:gridCol w="7407708"/>
              </a:tblGrid>
              <a:tr h="224414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Модуль</a:t>
                      </a:r>
                    </a:p>
                  </a:txBody>
                  <a:tcPr marL="46331" marR="96523" marT="23166" marB="193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Основные функции</a:t>
                      </a:r>
                    </a:p>
                  </a:txBody>
                  <a:tcPr marL="46331" marR="46331" marT="23166" marB="193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77636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Финансовый</a:t>
                      </a:r>
                    </a:p>
                  </a:txBody>
                  <a:tcPr marL="46331" marR="96523" marT="72392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Учет доходов и расходов</a:t>
                      </a:r>
                      <a:b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Формирование отчетов</a:t>
                      </a:r>
                      <a:b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Расчет налогов</a:t>
                      </a:r>
                      <a:b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Автоматизация расчетов с контрагентами</a:t>
                      </a:r>
                    </a:p>
                  </a:txBody>
                  <a:tcPr marL="46331" marR="46331" marT="72392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47794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Управление запасами</a:t>
                      </a:r>
                    </a:p>
                  </a:txBody>
                  <a:tcPr marL="46331" marR="96523" marT="48261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Учет остатков товаров и материалов, отслеживание их движения</a:t>
                      </a:r>
                      <a:b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Планирование закупок и предотвращение дефицита или излишков на складе</a:t>
                      </a:r>
                    </a:p>
                  </a:txBody>
                  <a:tcPr marL="46331" marR="46331" marT="48261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5902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Продажи</a:t>
                      </a:r>
                    </a:p>
                  </a:txBody>
                  <a:tcPr marL="46331" marR="96523" marT="48261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Фиксация заказов клиентов</a:t>
                      </a:r>
                      <a:b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Ведение клиентской базы</a:t>
                      </a:r>
                      <a:b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Анализ продаж и эффективности маркетинговых кампаний</a:t>
                      </a:r>
                    </a:p>
                  </a:txBody>
                  <a:tcPr marL="46331" marR="46331" marT="48261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47794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Производство</a:t>
                      </a:r>
                    </a:p>
                  </a:txBody>
                  <a:tcPr marL="46331" marR="96523" marT="48261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Планирование загрузки оборудования и сотрудников</a:t>
                      </a:r>
                      <a:b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Расчет потребности в материалах</a:t>
                      </a:r>
                      <a:b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Контроль выполнения производственных задач</a:t>
                      </a:r>
                    </a:p>
                  </a:txBody>
                  <a:tcPr marL="46331" marR="46331" marT="48261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4779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HR </a:t>
                      </a:r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или управление персоналом</a:t>
                      </a:r>
                    </a:p>
                  </a:txBody>
                  <a:tcPr marL="46331" marR="96523" marT="48261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Автоматизация учета сотрудников, отпусков, графиков, зарплат</a:t>
                      </a:r>
                      <a:b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Отслеживание текучести кадров</a:t>
                      </a:r>
                      <a:b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Планирование потребности в персонале</a:t>
                      </a:r>
                    </a:p>
                  </a:txBody>
                  <a:tcPr marL="46331" marR="46331" marT="48261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5902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Управление проектами</a:t>
                      </a:r>
                    </a:p>
                  </a:txBody>
                  <a:tcPr marL="46331" marR="96523" marT="48261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Постановка задач</a:t>
                      </a:r>
                      <a:b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Распределение ресурсов</a:t>
                      </a:r>
                      <a:b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Отслеживание сроков, бюджета и хода выполнения проектов</a:t>
                      </a:r>
                    </a:p>
                  </a:txBody>
                  <a:tcPr marL="46331" marR="46331" marT="48261" marB="2316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503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Интеграция ERP-системы со сторонними системами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21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170494906"/>
              </p:ext>
            </p:extLst>
          </p:nvPr>
        </p:nvGraphicFramePr>
        <p:xfrm>
          <a:off x="166255" y="1396999"/>
          <a:ext cx="8769927" cy="5448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905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и типы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ERP-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7" y="1080655"/>
            <a:ext cx="8340436" cy="5140036"/>
          </a:xfrm>
        </p:spPr>
        <p:txBody>
          <a:bodyPr/>
          <a:lstStyle/>
          <a:p>
            <a:pPr marL="0" indent="0"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Классификация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ERP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систем</a:t>
            </a:r>
          </a:p>
          <a:p>
            <a:pPr algn="just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По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целевой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аудитории:</a:t>
            </a:r>
          </a:p>
          <a:p>
            <a:pPr marL="0" indent="0" algn="just">
              <a:buNone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универсальные </a:t>
            </a:r>
          </a:p>
          <a:p>
            <a:pPr marL="0" indent="0" algn="just">
              <a:buNone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отраслевые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Вторые 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учитывают специфику отрасли, например медицины или 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ретейла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 По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архитектуре: </a:t>
            </a:r>
          </a:p>
          <a:p>
            <a:pPr marL="0" indent="0" algn="just">
              <a:buNone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монолитные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которые уже включают в себя определенный набор функций, </a:t>
            </a:r>
            <a:endParaRPr lang="ru-RU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модульные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в которых можно выбрать необходимые элементы.</a:t>
            </a:r>
          </a:p>
          <a:p>
            <a:pPr marL="0" indent="0" algn="just">
              <a:buNone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3. По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типу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подписки:</a:t>
            </a:r>
          </a:p>
          <a:p>
            <a:pPr marL="0" indent="0" algn="just">
              <a:buNone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бессрочной подпиской (обычно при покупке лицензии) </a:t>
            </a:r>
            <a:endParaRPr lang="ru-RU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подпиской 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на месяц, на 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год.</a:t>
            </a:r>
          </a:p>
          <a:p>
            <a:pPr marL="0" indent="0" algn="just">
              <a:buNone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4. По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типу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установки:</a:t>
            </a:r>
          </a:p>
          <a:p>
            <a:pPr marL="0" indent="0" algn="just">
              <a:buNone/>
            </a:pP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локальные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с установкой на серверы компании, </a:t>
            </a:r>
            <a:endParaRPr lang="ru-RU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облачные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 удаленным доступом и гибридные.</a:t>
            </a:r>
          </a:p>
          <a:p>
            <a:pPr marL="0" indent="0" algn="just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982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ERP-системы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01526"/>
            <a:ext cx="7886700" cy="2283784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Облачные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ERP-системы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системы, размещенные не на серверах компании, 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удаленно.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Локальные ERP-системы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устанавливаются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 серверы компании и работают внутри ее сети.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033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Преимущества локальных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ERP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01526"/>
            <a:ext cx="7886700" cy="4431238"/>
          </a:xfrm>
        </p:spPr>
        <p:txBody>
          <a:bodyPr/>
          <a:lstStyle/>
          <a:p>
            <a:pPr algn="just">
              <a:buFont typeface="+mj-lt"/>
              <a:buAutoNum type="arabicPeriod"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Гибкость 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настройки. </a:t>
            </a:r>
            <a:endPara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Систему </a:t>
            </a: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можно адаптировать под 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свое предприятие</a:t>
            </a: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добавить нужные модули, изменить интерфейс, автоматизировать специфические задачи.</a:t>
            </a:r>
          </a:p>
          <a:p>
            <a:pPr marL="0" indent="0" algn="just"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Повышенная 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безопасность. </a:t>
            </a:r>
            <a:endPara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Данные </a:t>
            </a: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хранятся внутри компании и не передаются в облако. </a:t>
            </a:r>
            <a:endParaRPr lang="ru-RU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важно для организаций, работающих с конфиденциальной информацией, или тех, кто находится под строгим контролем.</a:t>
            </a:r>
            <a:endParaRPr lang="ru-RU" b="0" dirty="0"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6047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Гибридные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ERP-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01525"/>
            <a:ext cx="7886700" cy="4874583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Гибридные ERP-системы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решения, которые объединяют возможности облачных и локальных моделей.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позволяют бизнесу использовать преимущества двух видов систем: контроль и безопасность локального хранения данных, а также гибкость, масштабируемость и доступность облачных компонентов.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решения подходят крупным компаниям с собственными серверами, которые хотят сочетать безопасность локальных решений с удобством облачных технологий и планируют масштабирование.</a:t>
            </a:r>
            <a:endParaRPr lang="ru-RU" b="0" dirty="0"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064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234800"/>
            <a:ext cx="7886700" cy="70730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Сравнение трех типов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ERP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26</a:t>
            </a:fld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089636"/>
              </p:ext>
            </p:extLst>
          </p:nvPr>
        </p:nvGraphicFramePr>
        <p:xfrm>
          <a:off x="96982" y="1080654"/>
          <a:ext cx="9047019" cy="5170361"/>
        </p:xfrm>
        <a:graphic>
          <a:graphicData uri="http://schemas.openxmlformats.org/drawingml/2006/table">
            <a:tbl>
              <a:tblPr/>
              <a:tblGrid>
                <a:gridCol w="1191491"/>
                <a:gridCol w="2514867"/>
                <a:gridCol w="2860696"/>
                <a:gridCol w="2479965"/>
              </a:tblGrid>
              <a:tr h="253689">
                <a:tc>
                  <a:txBody>
                    <a:bodyPr/>
                    <a:lstStyle/>
                    <a:p>
                      <a:pPr algn="l" fontAlgn="t"/>
                      <a:endParaRPr lang="ru-RU" sz="16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741" marR="64044" marT="15370" marB="1280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Облачная </a:t>
                      </a:r>
                      <a:r>
                        <a:rPr lang="en-US" sz="16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ERP</a:t>
                      </a:r>
                    </a:p>
                  </a:txBody>
                  <a:tcPr marL="30741" marR="64044" marT="15370" marB="1280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Локальная </a:t>
                      </a:r>
                      <a:r>
                        <a:rPr lang="en-US" sz="16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ERP</a:t>
                      </a:r>
                    </a:p>
                  </a:txBody>
                  <a:tcPr marL="30741" marR="64044" marT="15370" marB="1280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Гибридная </a:t>
                      </a:r>
                      <a:r>
                        <a:rPr lang="en-US" sz="16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ERP</a:t>
                      </a:r>
                    </a:p>
                  </a:txBody>
                  <a:tcPr marL="30741" marR="30741" marT="15370" marB="1280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5815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Хранение данных</a:t>
                      </a:r>
                    </a:p>
                  </a:txBody>
                  <a:tcPr marL="30741" marR="64044" marT="48033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 серверах провайдера </a:t>
                      </a:r>
                      <a:r>
                        <a:rPr lang="ru-RU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доступ через интернет</a:t>
                      </a:r>
                    </a:p>
                  </a:txBody>
                  <a:tcPr marL="30741" marR="64044" marT="48033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 серверах компании </a:t>
                      </a:r>
                      <a:r>
                        <a:rPr lang="ru-RU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внутри сети</a:t>
                      </a:r>
                    </a:p>
                  </a:txBody>
                  <a:tcPr marL="30741" marR="64044" marT="48033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Часть </a:t>
                      </a:r>
                      <a:r>
                        <a:rPr lang="ru-RU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 облаке, часть </a:t>
                      </a:r>
                      <a:r>
                        <a:rPr lang="ru-RU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на</a:t>
                      </a: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своих серверах</a:t>
                      </a:r>
                    </a:p>
                  </a:txBody>
                  <a:tcPr marL="30741" marR="30741" marT="48033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6745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Доступ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Из любой точки, через браузер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Только в офисе или по защищенным каналам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Гибко: чувствительные данные </a:t>
                      </a:r>
                      <a:r>
                        <a:rPr lang="ru-RU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локально, остальное </a:t>
                      </a:r>
                      <a:r>
                        <a:rPr lang="ru-RU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 облаке</a:t>
                      </a:r>
                    </a:p>
                  </a:txBody>
                  <a:tcPr marL="30741" marR="30741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6712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Внедрение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Быстрое, без закупки оборудования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Требует установки и настройки инфраструктуры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Сложное, нужно совместить оборудование и доступы</a:t>
                      </a:r>
                    </a:p>
                  </a:txBody>
                  <a:tcPr marL="30741" marR="30741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6745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Стоимость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Подписка, предсказуемые расходы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Высокие первоначальные вложения, затраты на обслуживание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Средний уровень затрат, гибкое распределение ресурсов</a:t>
                      </a:r>
                    </a:p>
                  </a:txBody>
                  <a:tcPr marL="30741" marR="30741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6745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Безопасность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Зависит от провайдера, защита данных на стороне сервиса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Полный контроль и хранение внутри компании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Критичные данные под контролем, остальное </a:t>
                      </a:r>
                      <a:r>
                        <a:rPr lang="ru-RU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гибко</a:t>
                      </a:r>
                    </a:p>
                  </a:txBody>
                  <a:tcPr marL="30741" marR="30741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56879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Кому подходит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Малый и средний бизнес, быстрорастущие команды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Крупные компании, госсектор, организации с повышенными требованиями к безопасности</a:t>
                      </a:r>
                    </a:p>
                  </a:txBody>
                  <a:tcPr marL="30741" marR="64044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Компании с высокими требованиями к защите и гибкости</a:t>
                      </a:r>
                    </a:p>
                  </a:txBody>
                  <a:tcPr marL="30741" marR="30741" marT="32022" marB="15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033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ERP-системы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27</a:t>
            </a:fld>
            <a:endParaRPr lang="ru-RU" dirty="0"/>
          </a:p>
        </p:txBody>
      </p:sp>
      <p:pic>
        <p:nvPicPr>
          <p:cNvPr id="4098" name="Picture 2" descr="Отраслевое распределение проектов внедрения &lt;nobr&gt;ERP-систем&lt;/nobr&g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54" y="1433829"/>
            <a:ext cx="8557286" cy="399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55254" y="6629075"/>
            <a:ext cx="835835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https://opis-cdn.tinkoffjournal.ru/mercury/erp-use-2desk.png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962481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Внедрение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ERP-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28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36418821"/>
              </p:ext>
            </p:extLst>
          </p:nvPr>
        </p:nvGraphicFramePr>
        <p:xfrm>
          <a:off x="221673" y="1080655"/>
          <a:ext cx="8783782" cy="5666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3945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55490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Плюсы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внедрения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ERP-системы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29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999362922"/>
              </p:ext>
            </p:extLst>
          </p:nvPr>
        </p:nvGraphicFramePr>
        <p:xfrm>
          <a:off x="263236" y="1163781"/>
          <a:ext cx="8686800" cy="5514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6814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234800"/>
            <a:ext cx="7886700" cy="70730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инусы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внедрения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ERP-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30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794945206"/>
              </p:ext>
            </p:extLst>
          </p:nvPr>
        </p:nvGraphicFramePr>
        <p:xfrm>
          <a:off x="401781" y="1080655"/>
          <a:ext cx="8354291" cy="5400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3216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5687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Популярные российские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ERP-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01525"/>
            <a:ext cx="8155132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«1С: Предприятие»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лидер на российском рынке. На долю компании приходится около 45% всех продаж ERP в стране.</a:t>
            </a:r>
          </a:p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На платформе 1С разработано несколько основных ERP-систем: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«1С: Управление предприятием»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решение для малого и среднего бизнеса;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«1С: Управление предприятием» и «Управление холдингом» — более масштабная система для крупных компаний и групп предприятий.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80109" y="6488668"/>
            <a:ext cx="86036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https://t-j.ru/erp-use/?utm_referrer=https%3A%2F%2Fyandex.ru%2F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992654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5687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1С: Предприятие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32</a:t>
            </a:fld>
            <a:endParaRPr lang="ru-RU" dirty="0"/>
          </a:p>
        </p:txBody>
      </p:sp>
      <p:pic>
        <p:nvPicPr>
          <p:cNvPr id="5122" name="Picture 2" descr="На официальном сайте указано, что к системе «1С: Предприятие» подключено 1,6 млн предприятий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5267"/>
            <a:ext cx="9144000" cy="4791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166254" y="6584213"/>
            <a:ext cx="864639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https://opis-cdn.tinkoffjournal.ru/mercury/erp-use-sc-08.png?preset=image_760w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780696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243508"/>
            <a:ext cx="7886700" cy="70730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1С: Предприятие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33</a:t>
            </a:fld>
            <a:endParaRPr lang="ru-RU" dirty="0"/>
          </a:p>
        </p:txBody>
      </p:sp>
      <p:pic>
        <p:nvPicPr>
          <p:cNvPr id="6146" name="Picture 2" descr="https://opis-cdn.tinkoffjournal.ru/mercury/erp-use-sc-00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8" y="1579418"/>
            <a:ext cx="9022647" cy="49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63236" y="6580984"/>
            <a:ext cx="82296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https://opis-cdn.tinkoffjournal.ru/mercury/erp-use-sc-009.png?preset=image_760w_2x</a:t>
            </a:r>
            <a:endParaRPr lang="ru-RU" sz="11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23456" y="979253"/>
            <a:ext cx="83681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Рабочее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окно программы «1С: Управление предприятием». В разделе «Розница» можно проследить полный оборот товар</a:t>
            </a:r>
          </a:p>
        </p:txBody>
      </p:sp>
    </p:spTree>
    <p:extLst>
      <p:ext uri="{BB962C8B-B14F-4D97-AF65-F5344CB8AC3E}">
        <p14:creationId xmlns:p14="http://schemas.microsoft.com/office/powerpoint/2010/main" val="1338817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364" y="248655"/>
            <a:ext cx="8035636" cy="707309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Популярные российские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ERP-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9381" y="955964"/>
            <a:ext cx="8617527" cy="552473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«Парус». Программа поддерживает как российские стандарты бухгалтерского учета, так и международные. Одна из ее особенностей — возможность легко преобразовывать данные между этими стандартами. Это упрощает работу с отчетностью и удобно для компаний, работающих и в России, и за рубежом.</a:t>
            </a:r>
          </a:p>
          <a:p>
            <a:pPr marL="0" indent="0"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Также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системе есть база знаний от экспертов в области налогообложения и бухгалтерии. Доступ к ней открыт для всех пользователей и помогает находить ответы на практические вопросы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80109" y="6488668"/>
            <a:ext cx="86036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https://t-j.ru/erp-use/?utm_referrer=https%3A%2F%2Fyandex.ru%2F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155150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364" y="248655"/>
            <a:ext cx="8035636" cy="707309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Популярные российские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ERP-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9381" y="942110"/>
            <a:ext cx="8617527" cy="5524733"/>
          </a:xfrm>
        </p:spPr>
        <p:txBody>
          <a:bodyPr/>
          <a:lstStyle/>
          <a:p>
            <a:pPr marL="0" indent="0" algn="ctr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Недостатки «Парус»</a:t>
            </a: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Закрытый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программный код, из-за которого пользователи не могут вносить изменения сами. Все модификации могут делать только разработчики «Паруса». Обычно это означает дополнительные расходы, особенно при увеличении числа пользователей.</a:t>
            </a: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2. Интерфейс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 логика работы системы довольно сложные. Персонал должен быть хорошо подготовлен. Это затруднительно для небольших компаний, которые не хотят или не могут инвестировать в обучение сотрудников.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80109" y="6488668"/>
            <a:ext cx="86036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https://t-j.ru/erp-use/?utm_referrer=https%3A%2F%2Fyandex.ru%2F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8632649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6"/>
            <a:ext cx="7886700" cy="707309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Популярные российские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ERP-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0217" y="1069016"/>
            <a:ext cx="8548255" cy="4874584"/>
          </a:xfrm>
        </p:spPr>
        <p:txBody>
          <a:bodyPr/>
          <a:lstStyle/>
          <a:p>
            <a:pPr marL="0" indent="0" algn="ctr">
              <a:buNone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«Галактика» 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Гибкая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ERP-система, которую можно глубоко настраивать под конкретные бизнес-процессы. Обычно ее используют крупные компании, где стандартные решения не подходят из-за масштаба и специфики работы. Например, «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Транснефть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».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Почти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половина функций дорабатывается уже в процессе внедрения, чтобы точно соответствовать задачам конкретной организации. Из-за этого проекты с «Галактикой» часто длятся от 12 месяцев.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Найти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специалиста по внедрению «Галактики» сложнее, чем по 1С, так как рынок экспертов уже. Но у системы есть своя служба поддержки. Стоимость обслуживания 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около 20% от стоимости лицензий за год.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80109" y="6488668"/>
            <a:ext cx="86036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https://t-j.ru/erp-use/?utm_referrer=https%3A%2F%2Fyandex.ru%2F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3315750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481947"/>
            <a:ext cx="7886700" cy="681836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609343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MES-система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Manufacturing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Execution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программный комплекс для оперативного планирования и управления производством продукции.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4075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481947"/>
            <a:ext cx="7886700" cy="681836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609343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MES-система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Manufacturing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Execution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программный комплекс для оперативного планирования и управления производством продукции.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17724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481947"/>
            <a:ext cx="7886700" cy="681836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609343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MES-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собирает данные непосредственно с производственного оборудования через различные интерфейсы и протоколы связи, такие как 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OPC UA,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Modbus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или MQTT. </a:t>
            </a:r>
            <a:endPara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данные затем обрабатываются и преобразуются в полезную информацию для всех уровней управления предприятием.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17724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329547"/>
            <a:ext cx="7886700" cy="681836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Сравнение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эффективности различных подходов к управлению производством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40</a:t>
            </a:fld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383554"/>
              </p:ext>
            </p:extLst>
          </p:nvPr>
        </p:nvGraphicFramePr>
        <p:xfrm>
          <a:off x="235528" y="1422152"/>
          <a:ext cx="8750877" cy="4839324"/>
        </p:xfrm>
        <a:graphic>
          <a:graphicData uri="http://schemas.openxmlformats.org/drawingml/2006/table">
            <a:tbl>
              <a:tblPr/>
              <a:tblGrid>
                <a:gridCol w="3624695"/>
                <a:gridCol w="2743200"/>
                <a:gridCol w="2382982"/>
              </a:tblGrid>
              <a:tr h="505511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 b="1" i="0" dirty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Параметр</a:t>
                      </a:r>
                    </a:p>
                  </a:txBody>
                  <a:tcPr marL="85971" marR="85971" marT="128957" marB="1289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80D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 </a:t>
                      </a:r>
                      <a:r>
                        <a:rPr lang="en-US" sz="24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MES</a:t>
                      </a:r>
                    </a:p>
                  </a:txBody>
                  <a:tcPr marL="85971" marR="85971" marT="128957" marB="1289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286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 </a:t>
                      </a:r>
                      <a:r>
                        <a:rPr lang="en-US" sz="24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MES</a:t>
                      </a:r>
                    </a:p>
                  </a:txBody>
                  <a:tcPr marL="85971" marR="85971" marT="128957" marB="1289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5011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511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Точность планирования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D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D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60-70%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86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90-95%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011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D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3108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Время реакции на отклонения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D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6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Несколько часов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0D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17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Несколько минут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D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17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3108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Объем собираемых данных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06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1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Ограничен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817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Полный охват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17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1D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511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Точность учета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1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30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±10%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01B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1D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±1%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81D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32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3108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Производительность труда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830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3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Базовый уровень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81D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3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+15-25%</a:t>
                      </a:r>
                    </a:p>
                  </a:txBody>
                  <a:tcPr marL="103166" marR="103166" marT="128957" marB="12895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832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37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886689" y="6545561"/>
            <a:ext cx="602672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https://ssl-team.com/blog/mes-sistema-chto-eto/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682567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8" y="329547"/>
            <a:ext cx="8155131" cy="681836"/>
          </a:xfrm>
        </p:spPr>
        <p:txBody>
          <a:bodyPr/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Сравнение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эффективности решения производственных задач с использованием MES системы и без нее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41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86689" y="6545561"/>
            <a:ext cx="602672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https://ssl-team.com/blog/mes-sistema-chto-eto/</a:t>
            </a:r>
            <a:endParaRPr lang="ru-RU" sz="11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731851"/>
              </p:ext>
            </p:extLst>
          </p:nvPr>
        </p:nvGraphicFramePr>
        <p:xfrm>
          <a:off x="290946" y="1617212"/>
          <a:ext cx="8603673" cy="4891197"/>
        </p:xfrm>
        <a:graphic>
          <a:graphicData uri="http://schemas.openxmlformats.org/drawingml/2006/table">
            <a:tbl>
              <a:tblPr/>
              <a:tblGrid>
                <a:gridCol w="2660072"/>
                <a:gridCol w="3075710"/>
                <a:gridCol w="2867891"/>
              </a:tblGrid>
              <a:tr h="638311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Задача</a:t>
                      </a:r>
                    </a:p>
                  </a:txBody>
                  <a:tcPr marL="86856" marR="86856" marT="130284" marB="1302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8052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 </a:t>
                      </a:r>
                      <a:r>
                        <a:rPr lang="en-US" sz="24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MES</a:t>
                      </a:r>
                    </a:p>
                  </a:txBody>
                  <a:tcPr marL="86856" marR="86856" marT="130284" marB="1302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505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 </a:t>
                      </a:r>
                      <a:r>
                        <a:rPr lang="en-US" sz="24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MES</a:t>
                      </a:r>
                    </a:p>
                  </a:txBody>
                  <a:tcPr marL="86856" marR="86856" marT="130284" marB="1302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80A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311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Контроль качества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52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A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Выборочный, ручной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057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A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Полный, автоматический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A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953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Документация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8A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A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Ручное заполнение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A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A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Автоматическая генерация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8A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F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311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Скорость реакции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A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F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Часы/дни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0A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F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Минуты/секунды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8F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311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Точность данных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8F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F9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±10%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F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±1%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8A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01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311"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Сложность анализа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0F9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F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Высокая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FD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Низкая</a:t>
                      </a:r>
                    </a:p>
                  </a:txBody>
                  <a:tcPr marL="104227" marR="104227" marT="130284" marB="13028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01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F9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514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207091"/>
            <a:ext cx="7886700" cy="62418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Архитектура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MES-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42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012133"/>
              </p:ext>
            </p:extLst>
          </p:nvPr>
        </p:nvGraphicFramePr>
        <p:xfrm>
          <a:off x="0" y="1039092"/>
          <a:ext cx="9144000" cy="600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7725"/>
                <a:gridCol w="4486275"/>
              </a:tblGrid>
              <a:tr h="1122217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1. Управляющий слой</a:t>
                      </a:r>
                    </a:p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Центральная часть системы, отвечает за сбор, обработку и анализ данных о производстве. В управляющем слое размещаются серверы и базы данных, на них хранятся все данные о производстве.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09894">
                <a:tc>
                  <a:txBody>
                    <a:bodyPr/>
                    <a:lstStyle/>
                    <a:p>
                      <a:endParaRPr lang="ru-RU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2. Интерфейсный слой</a:t>
                      </a:r>
                    </a:p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Через него пользователи имеют доступ к информации о состоянии производства и можно управлять процессами через различные приложения и веб-приложения.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09894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3. Уровень управления</a:t>
                      </a:r>
                    </a:p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Предполагается принятие решений на основе анализа данных, собранных в управляющем слое. Определяются графики производства, распределяются ресурсы и устанавливаются приоритеты производственных задач.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09894">
                <a:tc>
                  <a:txBody>
                    <a:bodyPr/>
                    <a:lstStyle/>
                    <a:p>
                      <a:endParaRPr lang="ru-RU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4. Уровень управления устройствами (</a:t>
                      </a:r>
                      <a:r>
                        <a:rPr lang="ru-RU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Device</a:t>
                      </a:r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Layer</a:t>
                      </a:r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Отвечает за взаимодействие с промышленными устройствами и оборудованием, такими как датчики, контроллеры, машины и роботы. Осуществляется сбор данных о состоянии оборудования и передача информации в управляющий слой для анализа.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09894"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5. Уровень связи (</a:t>
                      </a:r>
                      <a:r>
                        <a:rPr lang="ru-RU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Communication</a:t>
                      </a:r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Layer</a:t>
                      </a:r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  <a:p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Обеспечивает связь между управляющим и интерфейсным слоем, а также между уровнем управления и уровнем управления устройствами. Используются различные протоколы связи, такие как OPC, MQTT, </a:t>
                      </a:r>
                      <a:r>
                        <a:rPr lang="ru-RU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Modbus</a:t>
                      </a:r>
                      <a:r>
                        <a:rPr lang="ru-RU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и др.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987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274128"/>
            <a:ext cx="7886700" cy="681836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Типовые ошибки при внедрении MES систем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43</a:t>
            </a:fld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85665"/>
              </p:ext>
            </p:extLst>
          </p:nvPr>
        </p:nvGraphicFramePr>
        <p:xfrm>
          <a:off x="415635" y="1787236"/>
          <a:ext cx="8285019" cy="4502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45527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481947"/>
            <a:ext cx="7886700" cy="6818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44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098634184"/>
              </p:ext>
            </p:extLst>
          </p:nvPr>
        </p:nvGraphicFramePr>
        <p:xfrm>
          <a:off x="512618" y="1397000"/>
          <a:ext cx="8174182" cy="530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85243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481947"/>
            <a:ext cx="7886700" cy="681836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45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32509" y="1498983"/>
            <a:ext cx="840970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MES-системы не управляют физическим оборудованием, а собирают данные из PLC (системы программируемых логистических контроллеров) и SCADA (системы управления и сбора данных).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основе этих данных MES управляет производственными заданиями и отправляет результаты анализа персоналу.</a:t>
            </a:r>
          </a:p>
        </p:txBody>
      </p:sp>
    </p:spTree>
    <p:extLst>
      <p:ext uri="{BB962C8B-B14F-4D97-AF65-F5344CB8AC3E}">
        <p14:creationId xmlns:p14="http://schemas.microsoft.com/office/powerpoint/2010/main" val="4190958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315693"/>
            <a:ext cx="7886700" cy="6818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46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248316616"/>
              </p:ext>
            </p:extLst>
          </p:nvPr>
        </p:nvGraphicFramePr>
        <p:xfrm>
          <a:off x="110836" y="1122218"/>
          <a:ext cx="8875569" cy="5735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72815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315693"/>
            <a:ext cx="7886700" cy="6818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Виды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47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297891522"/>
              </p:ext>
            </p:extLst>
          </p:nvPr>
        </p:nvGraphicFramePr>
        <p:xfrm>
          <a:off x="110836" y="1122218"/>
          <a:ext cx="8875569" cy="5735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93721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267" y="234802"/>
            <a:ext cx="7886700" cy="651890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Внедрение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MES-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252540"/>
              </p:ext>
            </p:extLst>
          </p:nvPr>
        </p:nvGraphicFramePr>
        <p:xfrm>
          <a:off x="124692" y="1066800"/>
          <a:ext cx="8903274" cy="5303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758"/>
                <a:gridCol w="2967758"/>
                <a:gridCol w="2967758"/>
              </a:tblGrid>
              <a:tr h="947026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Готовое решение (коробочное)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MES-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системы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MES-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системы с доработкой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Разработка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MES-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системы с нуля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356321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Система c необходимыми функциями для управления производственным процессом. 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Это наиболее простой и быстрый способ внедрения MES, поскольку не требует дополнительных разработок или настройки.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Готовое решение, которое уже включает в себя основные функции, но может быть настроена и доработана для конкретных потребностей предприятия. Вариант для предприятий, которые имеют уникальные требования к производственному процессу и требуют дополнительных функций. Может быть настроена для конкретной отрасли или типа производства.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Вариант для предприятий, которые имеют уникальные требования к производственному процессу и требуют создания системы под их потребности. 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Разработка с нуля MES может быть более дорогостоящей и требовать больше времени, но обеспечивает полную адаптацию системы к конкретным потребностям предприятия.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28066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4" y="315693"/>
            <a:ext cx="8044295" cy="6818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Отрасли,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где MES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востребованы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49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85827" y="1276989"/>
            <a:ext cx="3306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1. Пищевая промышленность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0327" y="1859340"/>
            <a:ext cx="817418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MES в пищевой промышленности получает данные с датчиков температуры, влажности, веса и других сенсоров, чтобы отслеживать выполнение производственных норм и стандартов качества. При необходимости MES передает инструкции для корректировки процессов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457200"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Например, MES вычисляет отклонения от запланированного расхода ингредиентов. Далее система передает информацию в ERP для корректировки заказов на закупку.</a:t>
            </a:r>
          </a:p>
        </p:txBody>
      </p:sp>
    </p:spTree>
    <p:extLst>
      <p:ext uri="{BB962C8B-B14F-4D97-AF65-F5344CB8AC3E}">
        <p14:creationId xmlns:p14="http://schemas.microsoft.com/office/powerpoint/2010/main" val="33600096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4" y="315693"/>
            <a:ext cx="8044295" cy="6818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Отрасли,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где MES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востребованы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50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85827" y="1276989"/>
            <a:ext cx="2610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2. Автомобилестроение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0327" y="1859340"/>
            <a:ext cx="817418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Производство автомобилей включает тысячи компонентов и сложные сборочные линии. MES координирует логистику, сборку и контроль качества на производствах.</a:t>
            </a:r>
          </a:p>
          <a:p>
            <a:pPr indent="457200"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Например, если детали не передаются вовремя между цехами, система оповещает персонал.</a:t>
            </a:r>
          </a:p>
        </p:txBody>
      </p:sp>
    </p:spTree>
    <p:extLst>
      <p:ext uri="{BB962C8B-B14F-4D97-AF65-F5344CB8AC3E}">
        <p14:creationId xmlns:p14="http://schemas.microsoft.com/office/powerpoint/2010/main" val="30506573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4" y="315693"/>
            <a:ext cx="8044295" cy="6818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Отрасли,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где MES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востребованы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51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85827" y="1276989"/>
            <a:ext cx="2978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3. Электроника и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high-tech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40327" y="1859340"/>
            <a:ext cx="817418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этой отрасли MES помогает управлять производством плат и микросхем.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Оптические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 лазерные датчики проверяют точность размещения элементов на платах, а системы компьютерного зрения выявляют дефекты.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Данные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после анализа передаются в MES, чтобы скорректировать производство.</a:t>
            </a:r>
          </a:p>
        </p:txBody>
      </p:sp>
    </p:spTree>
    <p:extLst>
      <p:ext uri="{BB962C8B-B14F-4D97-AF65-F5344CB8AC3E}">
        <p14:creationId xmlns:p14="http://schemas.microsoft.com/office/powerpoint/2010/main" val="13035333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4" y="315693"/>
            <a:ext cx="8044295" cy="6818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Отрасли,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где MES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востребованы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52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85827" y="1276989"/>
            <a:ext cx="3319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4. Фармацевтическая отрасль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0327" y="1859340"/>
            <a:ext cx="817418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фармацевтике MES помогает соблюдать требования к производству лекарств по стандарту GMP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Good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Manufacturing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Practice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MES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позволяет контролировать весь цикл производства 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от дозировки веществ до упаковки. Также система автоматически формирует, подписывает и отправляет отчеты и сертификаты соответствия без участия персонала.</a:t>
            </a:r>
          </a:p>
        </p:txBody>
      </p:sp>
    </p:spTree>
    <p:extLst>
      <p:ext uri="{BB962C8B-B14F-4D97-AF65-F5344CB8AC3E}">
        <p14:creationId xmlns:p14="http://schemas.microsoft.com/office/powerpoint/2010/main" val="24094498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4" y="315693"/>
            <a:ext cx="8044295" cy="6818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Отрасли,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где MES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востребованы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53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85827" y="1276989"/>
            <a:ext cx="30766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5. Легкая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промышленность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0327" y="1859340"/>
            <a:ext cx="817418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легкой промышленности MES-система помогает планировать производство одежды, обуви и текстиля с учетом спроса, запасов и поставки сырья. </a:t>
            </a:r>
          </a:p>
          <a:p>
            <a:pPr indent="457200"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Например, если фиксируется рост заказов на определенную модель обуви, а запас сырья на складе ограничен, она уведомляет операторов о возможном дефиците. Система также поможет скорректировать график производства, чтобы выпустить в первую очередь модели, для которых дефицитное сырье не требуется.</a:t>
            </a:r>
          </a:p>
        </p:txBody>
      </p:sp>
    </p:spTree>
    <p:extLst>
      <p:ext uri="{BB962C8B-B14F-4D97-AF65-F5344CB8AC3E}">
        <p14:creationId xmlns:p14="http://schemas.microsoft.com/office/powerpoint/2010/main" val="7369706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4" y="315693"/>
            <a:ext cx="8044295" cy="6818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Отрасли,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где MES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востребованы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54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85827" y="1276989"/>
            <a:ext cx="30766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5. Легкая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промышленность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0327" y="1859340"/>
            <a:ext cx="817418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легкой промышленности MES-система помогает планировать производство одежды, обуви и текстиля с учетом спроса, запасов и поставки сырья. </a:t>
            </a:r>
          </a:p>
          <a:p>
            <a:pPr indent="457200"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Например, если фиксируется рост заказов на определенную модель обуви, а запас сырья на складе ограничен, она уведомляет операторов о возможном дефиците. Система также поможет скорректировать график производства, чтобы выпустить в первую очередь модели, для которых дефицитное сырье не требуется.</a:t>
            </a:r>
          </a:p>
        </p:txBody>
      </p:sp>
    </p:spTree>
    <p:extLst>
      <p:ext uri="{BB962C8B-B14F-4D97-AF65-F5344CB8AC3E}">
        <p14:creationId xmlns:p14="http://schemas.microsoft.com/office/powerpoint/2010/main" val="19956213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3347"/>
            <a:ext cx="7886700" cy="735018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Перспективы развития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8036" y="1120056"/>
            <a:ext cx="8349095" cy="5253035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Интеграция с технологиями Индустрии 4.0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Технологии Индустрии 4.0 относятся к цифровой трансформации в производственной отрасли, которая связана с использованием современных технологий и концепций, таких как интернет вещей, облачные вычисления, искусственный интеллект, аналитика данных, автоматизация и многие другие.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Интеграция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MES с технологиями Индустрии 4.0, такими как Интернет вещей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), цифровые двойники, облачные вычисления и другие, позволяет значительно улучшить эффективность производства.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MES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может собирать данные с различных устройств и систем, анализировать их в реальном времени, предсказывать возможные сбои и проблемы, и принимать автоматические решения для их предотвращения.</a:t>
            </a:r>
          </a:p>
          <a:p>
            <a:pPr marL="0" indent="0" algn="just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7754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3347"/>
            <a:ext cx="7886700" cy="735018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Перспективы развития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8036" y="1120056"/>
            <a:ext cx="8349095" cy="5253035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Использование искусственного интеллекта и машинного обучения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Технологии ИИ позволяют анализировать большие объемы данных, выявлять скрытые закономерности и тренды, оптимизировать производственные процессы и принимать прогнозные решения.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с помощью ИИ и МО MES может предсказывать спрос на продукцию, оптимизировать план производства, управлять запасами и складскими запасами, а также улучшать качество и производительность производства.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4540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3347"/>
            <a:ext cx="7886700" cy="735018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Перспективы развития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8036" y="1120056"/>
            <a:ext cx="8349095" cy="5253035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Облачные решения MES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Позволяют предприятиям осуществлять более гибкое и масштабируемое управление производственными процессами, обеспечивать доступ к данным из любой точки мира, снижать затраты на оборудование и обслуживание, а также обеспечивать безопасность и надежность данных.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84805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3347"/>
            <a:ext cx="7886700" cy="735018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Интеграция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MES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ERP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8036" y="1120056"/>
            <a:ext cx="8349095" cy="5253035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MES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Manufacturing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Execution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и ERP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Enterprise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Resource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Planning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две различные системы, которые используются в производственных предприятиях для управления и оптимизации бизнес-процессов.</a:t>
            </a:r>
          </a:p>
          <a:p>
            <a:pPr marL="0" indent="0" algn="just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ERP - это интегрированная система управления предприятием, которая позволяет управлять всеми бизнес-процессами компании на одной централизованной платформе. ERP включает в себя функции по управлению финансами, управлению заказами, управлению запасами, управлению персоналом и другими бизнес-процессами.</a:t>
            </a:r>
          </a:p>
          <a:p>
            <a:pPr marL="0" indent="0" algn="just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эффективной работы MES-системы на предприятии необходимо тесное взаимодействие с корпоративной ERP-системой.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84843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0" y="275637"/>
            <a:ext cx="8113569" cy="735018"/>
          </a:xfrm>
        </p:spPr>
        <p:txBody>
          <a:bodyPr/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MES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 ERP-системы настраивают канал обмена информацией по направлениям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59</a:t>
            </a:fld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143653"/>
              </p:ext>
            </p:extLst>
          </p:nvPr>
        </p:nvGraphicFramePr>
        <p:xfrm>
          <a:off x="0" y="997525"/>
          <a:ext cx="91440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5018"/>
                <a:gridCol w="4668982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1. Ввод и формирование нормативно-справочной информации (НСИ): MES-система обновляет нормативно-справочную информацию из ERP-системы, что обеспечивает актуальность и единообразие данных.</a:t>
                      </a:r>
                      <a:endParaRPr lang="ru-RU" sz="1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2. Планирование производства: MES получает производственные задачи и планы из ERP-системы, что позволяет координировать производственный процесс и обеспечивать выполнение задач.</a:t>
                      </a:r>
                      <a:endParaRPr lang="ru-RU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3. Производственный учет: MES-система отслеживает и записывает производственные операции, а также обновляет информацию в ERP-системе, что обеспечивает точность и актуальность данных о производстве.</a:t>
                      </a:r>
                      <a:endParaRPr lang="ru-RU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4.</a:t>
                      </a:r>
                      <a:r>
                        <a:rPr lang="ru-RU" sz="16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Складской учет: MES-система получает информацию о складе из ERP-системы и обновляет информацию о складе, что обеспечивает точность и актуальность данных о запасах и доставке.</a:t>
                      </a:r>
                      <a:endParaRPr lang="ru-RU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5. Сбыт: MES-система получает информацию о продажах из ERP-системы и обновляет информацию о продажах, что обеспечивает точность и актуальность данных о сбыте и потреблении продукции.</a:t>
                      </a:r>
                      <a:endParaRPr lang="ru-RU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216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6221</TotalTime>
  <Words>3094</Words>
  <Application>Microsoft Office PowerPoint</Application>
  <PresentationFormat>Экран (4:3)</PresentationFormat>
  <Paragraphs>429</Paragraphs>
  <Slides>60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60</vt:i4>
      </vt:variant>
    </vt:vector>
  </HeadingPairs>
  <TitlesOfParts>
    <vt:vector size="62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ERP и MES-системы</vt:lpstr>
      <vt:lpstr>План лекции</vt:lpstr>
      <vt:lpstr>Автоматизированные системы управления технологическим процессом</vt:lpstr>
      <vt:lpstr>Функция АСУ ТП </vt:lpstr>
      <vt:lpstr>Принцип работы АСУ ТП </vt:lpstr>
      <vt:lpstr>Компоненты АСУ ТП </vt:lpstr>
      <vt:lpstr>Уровни управления производством</vt:lpstr>
      <vt:lpstr>0 уровень – полевая автоматика</vt:lpstr>
      <vt:lpstr>1 уровень – управление оборудованием в PLC/PAC </vt:lpstr>
      <vt:lpstr>2 уровень - диспетчерское управление и сбор данных в SCADA  </vt:lpstr>
      <vt:lpstr>3 уровень — управление процессами в MES   </vt:lpstr>
      <vt:lpstr>4 уровень - управление бизнес-процессами в ERP    </vt:lpstr>
      <vt:lpstr>ERP-системы</vt:lpstr>
      <vt:lpstr>ERP-системы</vt:lpstr>
      <vt:lpstr>CRM и ERP-системы</vt:lpstr>
      <vt:lpstr>Задачи ERP-системы на практике</vt:lpstr>
      <vt:lpstr>Компоненты ERP-системы</vt:lpstr>
      <vt:lpstr>ERP-системы</vt:lpstr>
      <vt:lpstr>Базовые модули популярных ERP-систем</vt:lpstr>
      <vt:lpstr>Интеграция ERP-системы со сторонними системами</vt:lpstr>
      <vt:lpstr>Виды и типы ERP-систем</vt:lpstr>
      <vt:lpstr>ERP-системы</vt:lpstr>
      <vt:lpstr>Преимущества локальных ERP</vt:lpstr>
      <vt:lpstr>Гибридные ERP-системы</vt:lpstr>
      <vt:lpstr>Сравнение трех типов ERP</vt:lpstr>
      <vt:lpstr>ERP-системы</vt:lpstr>
      <vt:lpstr>Внедрение ERP-системы</vt:lpstr>
      <vt:lpstr>Плюсы внедрения ERP-системы</vt:lpstr>
      <vt:lpstr>Минусы внедрения ERP-системы</vt:lpstr>
      <vt:lpstr>Популярные российские ERP-системы</vt:lpstr>
      <vt:lpstr>1С: Предприятие</vt:lpstr>
      <vt:lpstr>1С: Предприятие</vt:lpstr>
      <vt:lpstr>Популярные российские ERP-системы</vt:lpstr>
      <vt:lpstr>Популярные российские ERP-системы</vt:lpstr>
      <vt:lpstr>Популярные российские ERP-системы</vt:lpstr>
      <vt:lpstr>MES-системы</vt:lpstr>
      <vt:lpstr>MES-системы</vt:lpstr>
      <vt:lpstr>MES-системы</vt:lpstr>
      <vt:lpstr>Сравнение эффективности различных подходов к управлению производством</vt:lpstr>
      <vt:lpstr>Сравнение эффективности решения производственных задач с использованием MES системы и без нее</vt:lpstr>
      <vt:lpstr>Архитектура MES-систем</vt:lpstr>
      <vt:lpstr>Типовые ошибки при внедрении MES систем</vt:lpstr>
      <vt:lpstr>Задачи MES-системы</vt:lpstr>
      <vt:lpstr>MES-системы</vt:lpstr>
      <vt:lpstr>Функции MES-системы</vt:lpstr>
      <vt:lpstr>Виды MES-системы</vt:lpstr>
      <vt:lpstr>Внедрение MES-системы</vt:lpstr>
      <vt:lpstr>Отрасли, где MES востребованы</vt:lpstr>
      <vt:lpstr>Отрасли, где MES востребованы</vt:lpstr>
      <vt:lpstr>Отрасли, где MES востребованы</vt:lpstr>
      <vt:lpstr>Отрасли, где MES востребованы</vt:lpstr>
      <vt:lpstr>Отрасли, где MES востребованы</vt:lpstr>
      <vt:lpstr>Отрасли, где MES востребованы</vt:lpstr>
      <vt:lpstr>Перспективы развития MES</vt:lpstr>
      <vt:lpstr>Перспективы развития MES</vt:lpstr>
      <vt:lpstr>Перспективы развития MES</vt:lpstr>
      <vt:lpstr>Интеграция MES и ERP</vt:lpstr>
      <vt:lpstr>MES и ERP-системы настраивают канал обмена информацией по направлениям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392</cp:revision>
  <dcterms:created xsi:type="dcterms:W3CDTF">2015-07-29T11:14:37Z</dcterms:created>
  <dcterms:modified xsi:type="dcterms:W3CDTF">2026-06-26T20:53:42Z</dcterms:modified>
</cp:coreProperties>
</file>