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40"/>
  </p:notesMasterIdLst>
  <p:sldIdLst>
    <p:sldId id="325" r:id="rId3"/>
    <p:sldId id="293" r:id="rId4"/>
    <p:sldId id="294" r:id="rId5"/>
    <p:sldId id="326" r:id="rId6"/>
    <p:sldId id="327" r:id="rId7"/>
    <p:sldId id="350" r:id="rId8"/>
    <p:sldId id="328" r:id="rId9"/>
    <p:sldId id="329" r:id="rId10"/>
    <p:sldId id="330" r:id="rId11"/>
    <p:sldId id="331" r:id="rId12"/>
    <p:sldId id="332" r:id="rId13"/>
    <p:sldId id="333" r:id="rId14"/>
    <p:sldId id="352" r:id="rId15"/>
    <p:sldId id="334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35" r:id="rId24"/>
    <p:sldId id="336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264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94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87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1884218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Система </a:t>
            </a:r>
            <a:r>
              <a:rPr lang="ru-RU" sz="44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44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4400" b="0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4400" b="0" dirty="0" err="1">
                <a:latin typeface="Times New Roman" pitchFamily="18" charset="0"/>
                <a:cs typeface="Times New Roman" pitchFamily="18" charset="0"/>
              </a:rPr>
              <a:t>Цифровизация</a:t>
            </a:r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 контроля состояния дорог </a:t>
            </a:r>
            <a:r>
              <a:rPr lang="ru-RU" sz="4400" b="0" dirty="0" smtClean="0">
                <a:latin typeface="Times New Roman" pitchFamily="18" charset="0"/>
                <a:cs typeface="Times New Roman" pitchFamily="18" charset="0"/>
              </a:rPr>
              <a:t>предприятия» </a:t>
            </a:r>
            <a:endParaRPr lang="ru-RU" sz="44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1. Организация автоматического контроля дорог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2. Методы анализа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состояния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дорог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3. Организация автоматической выдачи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рекомендаций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4. Организация анализа исторических данных,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анализ трендов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Организация автоматического контроля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5632" y="1900288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Автоматический контроль состояния дорог предполагает использование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различных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источников данных,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инфраструктуры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передачи данных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аппаратного обеспечения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сбора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 обработки информации о состоянии дорожного покрытия.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4330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Организация автоматического контроля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5632" y="1900288"/>
            <a:ext cx="7886700" cy="4181857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Источники данных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Датчики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ru-RU" i="1" dirty="0">
                <a:latin typeface="Times New Roman" pitchFamily="18" charset="0"/>
                <a:cs typeface="Times New Roman" pitchFamily="18" charset="0"/>
              </a:rPr>
              <a:t>Датчики вибрации (акселерометры):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устанавливаются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 транспортные средства для измерения вибраций, возникающих при движении по неровностям дороги.</a:t>
            </a:r>
          </a:p>
          <a:p>
            <a:pPr lvl="1" algn="just"/>
            <a:r>
              <a:rPr lang="ru-RU" i="1" dirty="0">
                <a:latin typeface="Times New Roman" pitchFamily="18" charset="0"/>
                <a:cs typeface="Times New Roman" pitchFamily="18" charset="0"/>
              </a:rPr>
              <a:t>Датчики давления: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встраиваются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 дорожное покрытие для мониторинга нагрузки и деформации.</a:t>
            </a:r>
          </a:p>
          <a:p>
            <a:pPr lvl="1" algn="just"/>
            <a:r>
              <a:rPr lang="ru-RU" i="1" dirty="0">
                <a:latin typeface="Times New Roman" pitchFamily="18" charset="0"/>
                <a:cs typeface="Times New Roman" pitchFamily="18" charset="0"/>
              </a:rPr>
              <a:t>Лазерные сканеры и профилометры: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используются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для создания трехмерных моделей дорожного покрытия и измерения ровности.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065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179383"/>
            <a:ext cx="7886700" cy="61032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При измерениях вибрации в АТС обычно применяют следующие приборы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1668" y="1138289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 датчики вибрации (акселерометры):</a:t>
            </a:r>
          </a:p>
          <a:p>
            <a:pPr marL="0" indent="0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б)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вибропреобразователь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(виброметр), представляющий собой устройство совместимое с датчиком (датчиками) вибрации и включающее в себя фильтры (полосовые и весовые), устройства записи сигнала, устройства обработки и анализа сигнала,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налример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узкополосный анализатор или анализатор частотного спектра, включающий в себя согласующие усилители и фильтры);</a:t>
            </a:r>
          </a:p>
          <a:p>
            <a:pPr marL="0" indent="0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в) калибровочный вибратор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вибростол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г) приборы для измерений скорости АТС и частоты вращения коленчатого вала двигателя с относительной погрешностью измерения ± 3 %;</a:t>
            </a:r>
          </a:p>
          <a:p>
            <a:pPr marL="0" indent="0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д) прибор для измерений скорости ветра с диапазоном измерения от 1 до 15 м/с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погрешностью измерения ± 0.5 м/с;</a:t>
            </a:r>
          </a:p>
          <a:p>
            <a:pPr marL="0" indent="0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е) прибор для измерений температуры окружающего воздуха с погрешностью измерения ± 1 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</a:t>
            </a:r>
          </a:p>
          <a:p>
            <a:pPr marL="0" indent="0">
              <a:buNone/>
            </a:pP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ГОСТР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55855— 2013 Автомобильные транспортные средства МЕТОДЫ ИЗМЕРЕНИЯ И ОЦЕНКИ ОБЩЕЙ ВИБРАЦИИ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958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Организация автоматического контроля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5632" y="1900288"/>
            <a:ext cx="7886700" cy="4181857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Источники данных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Мобильные устройства (смартфоны, планшеты):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Приложения для сбора данных о состоянии дорог: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Используют встроенные сенсоры (GPS, акселерометры, камеры) для автоматического сбора информации о дефектах дорожного покрытия.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170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Организация автоматического контроля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5632" y="1900288"/>
            <a:ext cx="7886700" cy="4181857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Источники данных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Видеокамеры: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Камеры видеонаблюдения, установленные вдоль дорог: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используются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для мониторинга состояния дорожного покрытия и обнаружения дефектов.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Камеры, установленные на транспортных средствах (видеорегистраторы):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запись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видеопотока для последующего анализа и выявления дефектов.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880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Организация автоматического контроля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5632" y="1900288"/>
            <a:ext cx="7886700" cy="4181857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Инфраструктура передачи данных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Беспроводные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сети: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 err="1">
                <a:latin typeface="Times New Roman" pitchFamily="18" charset="0"/>
                <a:cs typeface="Times New Roman" pitchFamily="18" charset="0"/>
              </a:rPr>
              <a:t>Wi-Fi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передачи данных в зонах покрытия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Wi-Fi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Сотовая связь (3G/4G/5G):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передачи данных на больших расстояниях.</a:t>
            </a:r>
          </a:p>
          <a:p>
            <a:pPr marL="742950" lvl="1" indent="-285750">
              <a:buFont typeface="Arial"/>
              <a:buChar char="•"/>
            </a:pPr>
            <a:r>
              <a:rPr lang="ru-RU" i="1" dirty="0" err="1">
                <a:latin typeface="Times New Roman" pitchFamily="18" charset="0"/>
                <a:cs typeface="Times New Roman" pitchFamily="18" charset="0"/>
              </a:rPr>
              <a:t>LoRaWAN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i="1" dirty="0" err="1">
                <a:latin typeface="Times New Roman" pitchFamily="18" charset="0"/>
                <a:cs typeface="Times New Roman" pitchFamily="18" charset="0"/>
              </a:rPr>
              <a:t>Sigfox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передачи данных от датчиков и устройств с низким энергопотреблением.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5652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Организация автоматического контроля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5632" y="1900288"/>
            <a:ext cx="7886700" cy="4181857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Инфраструктура передачи данных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-платформы: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Облачные платформы для сбора, хранения и обработки данных с датчиков и устройств.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Примеры: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AWS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Azure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Hub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Platform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1309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Организация автоматического контроля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5632" y="1900288"/>
            <a:ext cx="7886700" cy="4181857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Инфраструктура передачи данных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Аппаратное обеспечение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Бортовые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устройства: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Специализированные устройства для сбора данных с датчиков и передачи их на сервер.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2333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Организация автоматического контроля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5632" y="1900288"/>
            <a:ext cx="7886700" cy="4181857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Инфраструктура передачи данных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Серверы: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Серверы для хранения и обработки данных о состоянии дорог.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Серверы для запуска алгоритмов машинного обучения и анализа данных.</a:t>
            </a:r>
            <a:endParaRPr lang="ru-RU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1616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55490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1782" y="1096725"/>
            <a:ext cx="8382000" cy="4417384"/>
          </a:xfrm>
        </p:spPr>
        <p:txBody>
          <a:bodyPr/>
          <a:lstStyle/>
          <a:p>
            <a:pPr marL="0" indent="0">
              <a:buNone/>
            </a:pP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Обнаружение и классификация дефектов: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Колейность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/>
              <a:buChar char="•"/>
            </a:pP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образование 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углублений в дорожном покрытии под воздействием колес транспортных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средств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/>
              <a:buChar char="•"/>
            </a:pP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образование 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колеи - это продольный дефект покрытия, разрушение дороги вдоль линии наката по направлению движения автомобилей.</a:t>
            </a:r>
          </a:p>
          <a:p>
            <a:pPr marL="0" indent="0">
              <a:buNone/>
            </a:pP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1026" name="Picture 2" descr="Колейност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277" y="4128655"/>
            <a:ext cx="5085170" cy="256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24691" y="5953081"/>
            <a:ext cx="303414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https://blog.rusgeocom.ru/upload/medialibrary/f58/it47c4m5azv1ui7krwkne4ltp8iy1hm8.jpg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426595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55490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345" y="1096725"/>
            <a:ext cx="8340437" cy="4417384"/>
          </a:xfrm>
        </p:spPr>
        <p:txBody>
          <a:bodyPr/>
          <a:lstStyle/>
          <a:p>
            <a:pPr marL="0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Обнаружение и классификация дефектов: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Колейность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Типовые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причины формирования колеи на дороге:</a:t>
            </a:r>
          </a:p>
          <a:p>
            <a:pPr>
              <a:buFont typeface="Arial"/>
              <a:buChar char="•"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истирание покрытия транспортными средствами в тех местах, где колеса непосредственно контактируют с асфальтом;</a:t>
            </a:r>
          </a:p>
          <a:p>
            <a:pPr>
              <a:buFont typeface="Arial"/>
              <a:buChar char="•"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деформация покрытия от жары или превышения допустимой нагрузки, наиболее частая причина деформаций - перегруженные грузовые автомобили;</a:t>
            </a:r>
          </a:p>
          <a:p>
            <a:pPr>
              <a:buFont typeface="Arial"/>
              <a:buChar char="•"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недостаточное уплотнение слоев дорожной одежды в процессе строительства или ремонта;</a:t>
            </a:r>
          </a:p>
          <a:p>
            <a:pPr>
              <a:buFont typeface="Arial"/>
              <a:buChar char="•"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накопление усталостных напряжений нижнего слоя дороги, за которыми следует деформация верхних;</a:t>
            </a:r>
          </a:p>
          <a:p>
            <a:pPr>
              <a:buFont typeface="Arial"/>
              <a:buChar char="•"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неравномерные просадки грунта, например, вследствие переувлажнения.</a:t>
            </a:r>
          </a:p>
          <a:p>
            <a:pPr marL="0" indent="0"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!!! Во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время инспекций важно установить степень развития дефекта и измерить глубину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колейности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асфальтобетона. </a:t>
            </a:r>
          </a:p>
          <a:p>
            <a:pPr marL="0" indent="0">
              <a:buNone/>
            </a:pP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1850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55490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345" y="1096725"/>
            <a:ext cx="8340437" cy="4417384"/>
          </a:xfrm>
        </p:spPr>
        <p:txBody>
          <a:bodyPr/>
          <a:lstStyle/>
          <a:p>
            <a:pPr marL="0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Обнаружение и классификация дефектов: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Сдвиги покрытия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055" y="1937315"/>
            <a:ext cx="472440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43345" y="6533282"/>
            <a:ext cx="83127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https://blog.rusgeocom.ru/upload/medialibrary/42a/ndj118perwz0c49xkmgvik57sngcfxr7.jpg</a:t>
            </a:r>
            <a:endParaRPr lang="ru-RU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97872" y="4636946"/>
            <a:ext cx="86036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Смещение слоев и другие пластические деформации, такие как наплывы и т. н. “гребенка” - это нарушение стандартов ровности автодороги, в основе которого лежит сдвиг материала покрытия.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правило, такие повреждения чаще всего возникают на спусках и других пологих участках, на которых участники дорожного движения выполняют торможение. Также причиной смещения дороги могут служить многочисленные циклы оттаивания и замерзания грунта.</a:t>
            </a:r>
          </a:p>
        </p:txBody>
      </p:sp>
    </p:spTree>
    <p:extLst>
      <p:ext uri="{BB962C8B-B14F-4D97-AF65-F5344CB8AC3E}">
        <p14:creationId xmlns:p14="http://schemas.microsoft.com/office/powerpoint/2010/main" val="3249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55490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345" y="1096725"/>
            <a:ext cx="8340437" cy="4417384"/>
          </a:xfrm>
        </p:spPr>
        <p:txBody>
          <a:bodyPr/>
          <a:lstStyle/>
          <a:p>
            <a:pPr marL="0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Обнаружение и классификация дефектов: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Просадки: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97872" y="4636946"/>
            <a:ext cx="86036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Просадка асфальтобетонного полотна - это дефект в виде впадины со скошенными пологими краями. Дефекты такого типа во многом сходны с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колейностью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возникают по похожим причинам, среди которых можно выделить две - несоблюдение строительных норм и проблемы с грунтом. Для определения степени просадок дороги и планирования ремонта также требуется дорожная рейка.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909" y="1560369"/>
            <a:ext cx="5866955" cy="2957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443344" y="6497015"/>
            <a:ext cx="81945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https://blog.rusgeocom.ru/upload/medialibrary/283/d6dlnd8mix494qfmvo13kgfe5pqei5se.jpg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03152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55490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345" y="1096725"/>
            <a:ext cx="8340437" cy="4417384"/>
          </a:xfrm>
        </p:spPr>
        <p:txBody>
          <a:bodyPr/>
          <a:lstStyle/>
          <a:p>
            <a:pPr marL="0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Обнаружение и классификация дефектов: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Проломы, ямы, выбоины: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97872" y="4409068"/>
            <a:ext cx="86036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В зависимости от степени серьезности дефекта так называют разрушение слоев дороги с резким изменением ее профиля. Важно понимать, что даже небольшая выбоина со временем и, особенно, в демисезонный период может быстро увеличиться в размерах, что представляет угрозу для целостности полотна и дорожного движения. Выбоина или яма может образоваться как из трещины, которую вечно порвал лед, так и возникнуть на месте продавленного участка. При обследовании проломов дороги следует измерить их глубину и протяженность, чтобы правильно оценить количество материала для восстановления целостности трассы.</a:t>
            </a:r>
          </a:p>
        </p:txBody>
      </p:sp>
      <p:pic>
        <p:nvPicPr>
          <p:cNvPr id="4098" name="Picture 2" descr="Проломы, ямы, выбоин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641" y="1828799"/>
            <a:ext cx="5119253" cy="258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43344" y="6534418"/>
            <a:ext cx="83404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https://blog.rusgeocom.ru/upload/medialibrary/16b/rnavwydfizypu1tbxyalk6u7ti3qzpl2.jpg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954650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55490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345" y="1096725"/>
            <a:ext cx="8340437" cy="4417384"/>
          </a:xfrm>
        </p:spPr>
        <p:txBody>
          <a:bodyPr/>
          <a:lstStyle/>
          <a:p>
            <a:pPr marL="0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Обнаружение и классификация дефектов: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Проломы, ямы, выбоины: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43344" y="6534418"/>
            <a:ext cx="83404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https://blog.rusgeocom.ru/upload/medialibrary/16b/rnavwydfizypu1tbxyalk6u7ti3qzpl2.jpg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3344" y="1859708"/>
            <a:ext cx="811876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Факторы появления ям и выбоин: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погодные условия - чем чаще температура “скачет через ноль”, тем выше риск образования дефекта;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грунтово-гидрологическая ситуация - трасса на скальном или песчаном основании меньше склонна к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проламывания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чем построенная на глине или суглинке;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качество смеси, используемом при асфальтировании дорог - тут ключевую роль играет контроль на производстве и испытания в процессе строительства;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состояние основания - плохо подготовленное или просто неустойчивое основание рано или поздно приведет к появлению выбоин;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организация проведения строительства и контроль следования стандартам, особенно на стадии уплотнения.</a:t>
            </a:r>
          </a:p>
        </p:txBody>
      </p:sp>
    </p:spTree>
    <p:extLst>
      <p:ext uri="{BB962C8B-B14F-4D97-AF65-F5344CB8AC3E}">
        <p14:creationId xmlns:p14="http://schemas.microsoft.com/office/powerpoint/2010/main" val="990012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55490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345" y="1096725"/>
            <a:ext cx="8340437" cy="4417384"/>
          </a:xfrm>
        </p:spPr>
        <p:txBody>
          <a:bodyPr/>
          <a:lstStyle/>
          <a:p>
            <a:pPr marL="0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Обнаружение и классификация дефектов: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Поверхностные разрушения асфальтобетонного покрытия: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  <p:pic>
        <p:nvPicPr>
          <p:cNvPr id="5122" name="Picture 2" descr="Поверхностные разрушения асфальтобетонного покрыти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913" y="1828531"/>
            <a:ext cx="5401687" cy="27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67144" y="6550223"/>
            <a:ext cx="84097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https://blog.rusgeocom.ru/upload/medialibrary/9cb/7szrmm6m30779fmvd4sngmb1pm9q728u.jpg</a:t>
            </a:r>
            <a:endParaRPr lang="ru-RU" sz="1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67143" y="4540759"/>
            <a:ext cx="859674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Самая распространенная категория дефектов, своевременная реакция на которые позволяет купировать развитие более серьезных и дорогостоящих в ремонте повреждений. Поверхностные разрушения дороги подразделяются на технологические, образующиеся вследствие некачественной укладки покрытия (горячая полоса на холодную) или несоблюдения технологии ухода, и эксплуатационные, возникающие из-за напряжения от внешних факторов - колебаний температуры, динамической нагрузки, просадок грунта.</a:t>
            </a:r>
          </a:p>
        </p:txBody>
      </p:sp>
    </p:spTree>
    <p:extLst>
      <p:ext uri="{BB962C8B-B14F-4D97-AF65-F5344CB8AC3E}">
        <p14:creationId xmlns:p14="http://schemas.microsoft.com/office/powerpoint/2010/main" val="2443930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55490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345" y="1096725"/>
            <a:ext cx="8340437" cy="4417384"/>
          </a:xfrm>
        </p:spPr>
        <p:txBody>
          <a:bodyPr/>
          <a:lstStyle/>
          <a:p>
            <a:pPr marL="0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Обнаружение и классификация дефектов: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Поверхностные разрушения асфальтобетонного покрытия: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67143" y="4540759"/>
            <a:ext cx="85967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Выкрашивание</a:t>
            </a:r>
            <a:r>
              <a:rPr lang="ru-RU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асфальта отличается от трещин тем, что полотно не разрывается, а теряет часть зерен минерального состава. В образованные </a:t>
            </a:r>
            <a:r>
              <a:rPr lang="ru-RU" dirty="0" err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несплошности</a:t>
            </a:r>
            <a:r>
              <a:rPr lang="ru-RU" dirty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проникает грязь и вода, что в конечном итоге приводит к возникновению более обширных дефектов.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855" y="1906733"/>
            <a:ext cx="4973780" cy="2506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44233" y="6587419"/>
            <a:ext cx="77931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https://blog.rusgeocom.ru/upload/medialibrary/5bb/cbx2ho9858o3qndo7s1o3p0ffxx0sdpu.jpg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467793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8127422" cy="55490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345" y="1096725"/>
            <a:ext cx="8340437" cy="4417384"/>
          </a:xfrm>
        </p:spPr>
        <p:txBody>
          <a:bodyPr/>
          <a:lstStyle/>
          <a:p>
            <a:pPr marL="0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Обнаружение и классификация дефектов: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Крошение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кромок: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67143" y="4540759"/>
            <a:ext cx="85967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Times New Roman" pitchFamily="18" charset="0"/>
                <a:cs typeface="Times New Roman" pitchFamily="18" charset="0"/>
              </a:rPr>
              <a:t>Обкрашивание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кромок асфальтобетона можно часто заметить на тех участках, где асфальт прилегает к обочине. В зависимости от степени развития дефекта, материал дороги может трескаться или частично отделяться от основной части покрытия, в результате чего появляются рваные края. Главный метод борьбы с таким типом разрушения покрытия - своевременная и правильная обработка кромки асфальта.</a:t>
            </a:r>
          </a:p>
        </p:txBody>
      </p:sp>
      <p:pic>
        <p:nvPicPr>
          <p:cNvPr id="8194" name="Picture 2" descr="Выкрашивание асфальт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236" y="1856509"/>
            <a:ext cx="5060084" cy="2550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521130" y="6461657"/>
            <a:ext cx="81518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https://blog.rusgeocom.ru/upload/medialibrary/078/vcp3on4lzi9bvu4n09p2af5o9811y21r.jpg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432750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373347"/>
            <a:ext cx="7886700" cy="596472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8540" y="1124434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Оценка ровности дорожного покрытия: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Использование акселерометров и инерциальных систем: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Измерение вибраций и ускорений, возникающих при движении по неровностям дороги.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Расчет показателей ровности (например, IRI - </a:t>
            </a:r>
            <a:r>
              <a:rPr lang="ru-RU" i="1" dirty="0" err="1">
                <a:latin typeface="Times New Roman" pitchFamily="18" charset="0"/>
                <a:cs typeface="Times New Roman" pitchFamily="18" charset="0"/>
              </a:rPr>
              <a:t>International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err="1">
                <a:latin typeface="Times New Roman" pitchFamily="18" charset="0"/>
                <a:cs typeface="Times New Roman" pitchFamily="18" charset="0"/>
              </a:rPr>
              <a:t>Roughness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err="1">
                <a:latin typeface="Times New Roman" pitchFamily="18" charset="0"/>
                <a:cs typeface="Times New Roman" pitchFamily="18" charset="0"/>
              </a:rPr>
              <a:t>Index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6705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373347"/>
            <a:ext cx="7886700" cy="596472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8540" y="1124434"/>
            <a:ext cx="7886700" cy="3653219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Анализ состояния дорожной разметки и знаков: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Обнаружение повреждений и износа разметки: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/>
              <a:buChar char="•"/>
            </a:pPr>
            <a:r>
              <a:rPr lang="ru-RU" i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Потертости, сколы, отсутствие элементов разметки.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Проверка видимости и читаемости дорожных знаков: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/>
              <a:buChar char="•"/>
            </a:pPr>
            <a:r>
              <a:rPr lang="ru-RU" i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Повреждения, загрязнения, неправильная установка.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9154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373347"/>
            <a:ext cx="7886700" cy="596472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2. Методы анализа состояния дорог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8540" y="1124434"/>
            <a:ext cx="7886700" cy="3653219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Использование технологий машинного обучения: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Автоматическая идентификация дефектов на изображениях и видео: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/>
              <a:buChar char="•"/>
            </a:pPr>
            <a:r>
              <a:rPr lang="ru-RU" i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Обучение нейронных сетей на размеченных данных (изображениях с дефектами).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/>
              <a:buChar char="•"/>
            </a:pPr>
            <a:r>
              <a:rPr lang="ru-RU" i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Использование алгоритмов компьютерного зрения для обнаружения и классификации дефектов.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Примеры алгоритмов: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/>
              <a:buChar char="•"/>
            </a:pPr>
            <a:r>
              <a:rPr lang="ru-RU" i="1" dirty="0" err="1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Свёрточные</a:t>
            </a:r>
            <a:r>
              <a:rPr lang="ru-RU" i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нейронные сети (CNN).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/>
              <a:buChar char="•"/>
            </a:pPr>
            <a:r>
              <a:rPr lang="ru-RU" i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Модели обнаружения объектов (например, YOLO, SSD).</a:t>
            </a:r>
            <a:endParaRPr lang="ru-RU" dirty="0">
              <a:solidFill>
                <a:srgbClr val="49494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7443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3346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3. Организация автоматической выдачи рекомендаций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42688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Автоматическая выдача рекомендаций предполагает разработку алгоритмов принятия решений на основе анализа состояния дорог и генерацию уведомлений и рекомендаций для персонала, ответственного за обслуживание и ремонт дорог.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8587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3346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3. Организация автоматической выдачи рекомендаций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42688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Разработка алгоритмов принятия решений: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Определение пороговых значений для различных показателей состояния дорог.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Разработка правил, определяющих необходимость проведения ремонтных работ.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Учет факторов, влияющих на состояние дорог (например, интенсивность движения, климатические условия).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55950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3346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3. Организация автоматической выдачи рекомендаций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42688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Автоматическая генерация уведомлений: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ru-RU" i="1" dirty="0">
                <a:latin typeface="Times New Roman" pitchFamily="18" charset="0"/>
                <a:cs typeface="Times New Roman" pitchFamily="18" charset="0"/>
              </a:rPr>
              <a:t>Уведомления о критических ситуациях (например, при обнаружении опасных выбоин, повреждений разметки).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ru-RU" i="1" dirty="0">
                <a:latin typeface="Times New Roman" pitchFamily="18" charset="0"/>
                <a:cs typeface="Times New Roman" pitchFamily="18" charset="0"/>
              </a:rPr>
              <a:t>Уведомления о необходимости проведения планового осмотра.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9317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3346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3. Организация автоматической выдачи рекомендаций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42688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Формирование рекомендаций по ППР: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Разработка графиков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планово-предупредительного ремонта (ППР)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на основе анализа состояния дорог и прогнозирования сроков разрушения.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Определение видов ремонтных работ, необходимых для поддержания дорог в надлежащем состоянии.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Формирование сметы затрат на проведение ППР.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6288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373346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3. Организация автоматической выдачи рекомендаций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42688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Интеграция с системами управления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ТОиР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Автоматическая передача данных о состоянии дорог в системы управления </a:t>
            </a:r>
            <a:r>
              <a:rPr lang="ru-RU" i="1" dirty="0" err="1">
                <a:latin typeface="Times New Roman" pitchFamily="18" charset="0"/>
                <a:cs typeface="Times New Roman" pitchFamily="18" charset="0"/>
              </a:rPr>
              <a:t>ТОиР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Создание заявок на проведение ремонтных работ на основе рекомендаций системы.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Отслеживание выполнения ремонтных работ и обновление данных о состоянии дорог.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7034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0" y="373346"/>
            <a:ext cx="8113569" cy="1325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4. Организация анализа исторических данных, анализ трендов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213742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Анализ исторических данных позволяет выявлять закономерности и тренды в изменении состояния дорог, прогнозировать сроки разрушения и планировать бюджет на ремонт.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9650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0" y="373346"/>
            <a:ext cx="8113569" cy="1325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4. Организация анализа исторических данных, анализ трендов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213742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Сбор и хранение данных: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Создание базы данных для хранения данных о состоянии дорог за длительный период времени.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Обеспечение целостности и достоверности данных.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Разработка процедур резервного копирования и восстановления данных.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1727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0" y="373346"/>
            <a:ext cx="8113569" cy="1325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4. Организация анализа исторических данных, анализ трендов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213742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Анализ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динамики изменения состояния: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Выявление участков дорог, где происходит быстрое ухудшение состояния.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Определение причин ухудшения состояния (например, высокая интенсивность движения, неблагоприятные климатические условия).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8771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0" y="373346"/>
            <a:ext cx="8113569" cy="1325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4. Организация анализа исторических данных, анализ трендов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65196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Выявление участков дорог, требующих повышенного внимания: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Классификация участков дорог по степени риска разрушения.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 err="1">
                <a:latin typeface="Times New Roman" pitchFamily="18" charset="0"/>
                <a:cs typeface="Times New Roman" pitchFamily="18" charset="0"/>
              </a:rPr>
              <a:t>Приоритизация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 участков дорог для проведения ремонтных работ.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2045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0" y="373346"/>
            <a:ext cx="8113569" cy="1325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4. Организация анализа исторических данных, анализ трендов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65196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Прогнозирование сроков разрушения дорожного покрытия: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Использование статистических методов и машинного обучения для прогнозирования сроков разрушения дорожного покрытия.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Учет факторов, влияющих на срок службы дорог (например, материалы, технологии строительства, климатические условия).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07434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0" y="373346"/>
            <a:ext cx="8113569" cy="1325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4. Организация анализа исторических данных, анализ трендов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65196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Планирование бюджета на ремонт: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Определение объема ремонтных работ, необходимых для поддержания дорог в надлежащем состоянии.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Расчет сметы затрат на проведение ремонтных работ.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Оптимизация бюджета на ремонт с учетом приоритетности участков дорог.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3185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0" y="373346"/>
            <a:ext cx="8113569" cy="1325563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4. Организация анализа исторических данных, анализ трендов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65196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Планирование бюджета на ремонт: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Определение объема ремонтных работ, необходимых для поддержания дорог в надлежащем состоянии.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Расчет сметы затрат на проведение ремонтных работ.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i="1" dirty="0">
                <a:latin typeface="Times New Roman" pitchFamily="18" charset="0"/>
                <a:cs typeface="Times New Roman" pitchFamily="18" charset="0"/>
              </a:rPr>
              <a:t>Оптимизация бюджета на ремонт с учетом приоритетности участков дорог.</a:t>
            </a:r>
            <a:endParaRPr lang="ru-RU" b="0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86093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6043</TotalTime>
  <Words>1934</Words>
  <Application>Microsoft Office PowerPoint</Application>
  <PresentationFormat>Экран (4:3)</PresentationFormat>
  <Paragraphs>223</Paragraphs>
  <Slides>37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37</vt:i4>
      </vt:variant>
    </vt:vector>
  </HeadingPairs>
  <TitlesOfParts>
    <vt:vector size="39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Система  «Цифровизация контроля состояния дорог предприятия» </vt:lpstr>
      <vt:lpstr>План лекции</vt:lpstr>
      <vt:lpstr>1. Организация автоматического контроля дорог</vt:lpstr>
      <vt:lpstr>1. Организация автоматического контроля дорог</vt:lpstr>
      <vt:lpstr>При измерениях вибрации в АТС обычно применяют следующие приборы</vt:lpstr>
      <vt:lpstr>1. Организация автоматического контроля дорог</vt:lpstr>
      <vt:lpstr>1. Организация автоматического контроля дорог</vt:lpstr>
      <vt:lpstr>1. Организация автоматического контроля дорог</vt:lpstr>
      <vt:lpstr>1. Организация автоматического контроля дорог</vt:lpstr>
      <vt:lpstr>1. Организация автоматического контроля дорог</vt:lpstr>
      <vt:lpstr>1. Организация автоматического контроля дорог</vt:lpstr>
      <vt:lpstr>2. Методы анализа состояния дорог</vt:lpstr>
      <vt:lpstr>2. Методы анализа состояния дорог</vt:lpstr>
      <vt:lpstr>2. Методы анализа состояния дорог</vt:lpstr>
      <vt:lpstr>2. Методы анализа состояния дорог</vt:lpstr>
      <vt:lpstr>2. Методы анализа состояния дорог</vt:lpstr>
      <vt:lpstr>2. Методы анализа состояния дорог</vt:lpstr>
      <vt:lpstr>2. Методы анализа состояния дорог</vt:lpstr>
      <vt:lpstr>2. Методы анализа состояния дорог</vt:lpstr>
      <vt:lpstr>2. Методы анализа состояния дорог</vt:lpstr>
      <vt:lpstr>2. Методы анализа состояния дорог</vt:lpstr>
      <vt:lpstr>2. Методы анализа состояния дорог</vt:lpstr>
      <vt:lpstr>2. Методы анализа состояния дорог</vt:lpstr>
      <vt:lpstr>3. Организация автоматической выдачи рекомендаций</vt:lpstr>
      <vt:lpstr>3. Организация автоматической выдачи рекомендаций</vt:lpstr>
      <vt:lpstr>3. Организация автоматической выдачи рекомендаций</vt:lpstr>
      <vt:lpstr>3. Организация автоматической выдачи рекомендаций</vt:lpstr>
      <vt:lpstr>3. Организация автоматической выдачи рекомендаций</vt:lpstr>
      <vt:lpstr>4. Организация анализа исторических данных, анализ трендов</vt:lpstr>
      <vt:lpstr>4. Организация анализа исторических данных, анализ трендов</vt:lpstr>
      <vt:lpstr>4. Организация анализа исторических данных, анализ трендов</vt:lpstr>
      <vt:lpstr>4. Организация анализа исторических данных, анализ трендов</vt:lpstr>
      <vt:lpstr>4. Организация анализа исторических данных, анализ трендов</vt:lpstr>
      <vt:lpstr>4. Организация анализа исторических данных, анализ трендов</vt:lpstr>
      <vt:lpstr>4. Организация анализа исторических данных, анализ трендов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353</cp:revision>
  <dcterms:created xsi:type="dcterms:W3CDTF">2015-07-29T11:14:37Z</dcterms:created>
  <dcterms:modified xsi:type="dcterms:W3CDTF">2026-06-26T21:06:58Z</dcterms:modified>
</cp:coreProperties>
</file>