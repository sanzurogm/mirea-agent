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  <p:sldMasterId id="2147483673" r:id="rId2"/>
  </p:sldMasterIdLst>
  <p:notesMasterIdLst>
    <p:notesMasterId r:id="rId52"/>
  </p:notesMasterIdLst>
  <p:sldIdLst>
    <p:sldId id="325" r:id="rId3"/>
    <p:sldId id="293" r:id="rId4"/>
    <p:sldId id="294" r:id="rId5"/>
    <p:sldId id="357" r:id="rId6"/>
    <p:sldId id="326" r:id="rId7"/>
    <p:sldId id="327" r:id="rId8"/>
    <p:sldId id="328" r:id="rId9"/>
    <p:sldId id="329" r:id="rId10"/>
    <p:sldId id="330" r:id="rId11"/>
    <p:sldId id="331" r:id="rId12"/>
    <p:sldId id="332" r:id="rId13"/>
    <p:sldId id="334" r:id="rId14"/>
    <p:sldId id="335" r:id="rId15"/>
    <p:sldId id="358" r:id="rId16"/>
    <p:sldId id="359" r:id="rId17"/>
    <p:sldId id="360" r:id="rId18"/>
    <p:sldId id="361" r:id="rId19"/>
    <p:sldId id="362" r:id="rId20"/>
    <p:sldId id="336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344" r:id="rId29"/>
    <p:sldId id="363" r:id="rId30"/>
    <p:sldId id="364" r:id="rId31"/>
    <p:sldId id="365" r:id="rId32"/>
    <p:sldId id="366" r:id="rId33"/>
    <p:sldId id="367" r:id="rId34"/>
    <p:sldId id="368" r:id="rId35"/>
    <p:sldId id="345" r:id="rId36"/>
    <p:sldId id="346" r:id="rId37"/>
    <p:sldId id="347" r:id="rId38"/>
    <p:sldId id="348" r:id="rId39"/>
    <p:sldId id="349" r:id="rId40"/>
    <p:sldId id="350" r:id="rId41"/>
    <p:sldId id="369" r:id="rId42"/>
    <p:sldId id="370" r:id="rId43"/>
    <p:sldId id="371" r:id="rId44"/>
    <p:sldId id="351" r:id="rId45"/>
    <p:sldId id="352" r:id="rId46"/>
    <p:sldId id="353" r:id="rId47"/>
    <p:sldId id="354" r:id="rId48"/>
    <p:sldId id="355" r:id="rId49"/>
    <p:sldId id="356" r:id="rId50"/>
    <p:sldId id="264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15" autoAdjust="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86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64EE25-0701-4180-A261-B0A8B18F424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FD14178-A316-4352-8D5E-ADEF3D45022A}">
      <dgm:prSet phldrT="[Текст]"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Аудит маршрута: </a:t>
          </a:r>
        </a:p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Тщательное обследование маршрута для определения участков, требующих разметки.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11C332C7-69B7-4008-81FF-72BD01D00F8F}" type="parTrans" cxnId="{F7C1AFF0-F533-4820-B7D8-285F7F2400E3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524F7BF0-20F4-4908-A324-792E358C9208}" type="sibTrans" cxnId="{F7C1AFF0-F533-4820-B7D8-285F7F2400E3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573849F1-AEDA-42B0-B6B7-E7863E49E19B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Выбор материалов: </a:t>
          </a:r>
        </a:p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Использование долговечных и хорошо видимых материалов для разметки, устойчивых к погодным условиям и износу.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925471CE-B037-475A-ABAE-77C15AA3E5F4}" type="parTrans" cxnId="{F4B0BAD4-D642-4A25-8366-E34D190BA714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E5DF0ACE-B1A5-4C02-9604-148367876F73}" type="sibTrans" cxnId="{F4B0BAD4-D642-4A25-8366-E34D190BA714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F3F13CE2-D56A-4990-9B93-C9F1FF30CA42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Соответствие стандартам: </a:t>
          </a:r>
        </a:p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Соблюдение государственных и отраслевых стандартов при нанесении разметки.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E21B7726-E8CB-4901-883E-92E5E1805AA5}" type="parTrans" cxnId="{B0BA9C01-4FA4-42E6-BC70-6C48E81D968A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1523A1F-B530-4543-8D97-78E60716D783}" type="sibTrans" cxnId="{B0BA9C01-4FA4-42E6-BC70-6C48E81D968A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8A9CAEB3-A26C-4BC5-872B-513ED352A59A}" type="pres">
      <dgm:prSet presAssocID="{7164EE25-0701-4180-A261-B0A8B18F424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B84F18E-DEA6-4895-88D4-2DEA32692A58}" type="pres">
      <dgm:prSet presAssocID="{FFD14178-A316-4352-8D5E-ADEF3D45022A}" presName="node" presStyleLbl="node1" presStyleIdx="0" presStyleCnt="3" custScaleX="12600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0E3DA35-BDB4-42DE-B043-DBB67CDC7DEB}" type="pres">
      <dgm:prSet presAssocID="{524F7BF0-20F4-4908-A324-792E358C9208}" presName="sibTrans" presStyleCnt="0"/>
      <dgm:spPr/>
    </dgm:pt>
    <dgm:pt modelId="{89F3B21B-A554-4609-BA0C-34B5ECB6E461}" type="pres">
      <dgm:prSet presAssocID="{573849F1-AEDA-42B0-B6B7-E7863E49E19B}" presName="node" presStyleLbl="node1" presStyleIdx="1" presStyleCnt="3" custScaleX="12601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42870C3-9D17-4EBD-85E9-79BF94904143}" type="pres">
      <dgm:prSet presAssocID="{E5DF0ACE-B1A5-4C02-9604-148367876F73}" presName="sibTrans" presStyleCnt="0"/>
      <dgm:spPr/>
    </dgm:pt>
    <dgm:pt modelId="{AA5CB42F-09BB-4A16-AB46-1D243B5F7312}" type="pres">
      <dgm:prSet presAssocID="{F3F13CE2-D56A-4990-9B93-C9F1FF30CA42}" presName="node" presStyleLbl="node1" presStyleIdx="2" presStyleCnt="3" custScaleX="13612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C7DF7F4-245C-4CE6-A45B-45CFF86D9884}" type="presOf" srcId="{7164EE25-0701-4180-A261-B0A8B18F4248}" destId="{8A9CAEB3-A26C-4BC5-872B-513ED352A59A}" srcOrd="0" destOrd="0" presId="urn:microsoft.com/office/officeart/2005/8/layout/default"/>
    <dgm:cxn modelId="{8E29FB7B-DFB0-43B5-9F02-44EBCCE3E325}" type="presOf" srcId="{FFD14178-A316-4352-8D5E-ADEF3D45022A}" destId="{0B84F18E-DEA6-4895-88D4-2DEA32692A58}" srcOrd="0" destOrd="0" presId="urn:microsoft.com/office/officeart/2005/8/layout/default"/>
    <dgm:cxn modelId="{F4B0BAD4-D642-4A25-8366-E34D190BA714}" srcId="{7164EE25-0701-4180-A261-B0A8B18F4248}" destId="{573849F1-AEDA-42B0-B6B7-E7863E49E19B}" srcOrd="1" destOrd="0" parTransId="{925471CE-B037-475A-ABAE-77C15AA3E5F4}" sibTransId="{E5DF0ACE-B1A5-4C02-9604-148367876F73}"/>
    <dgm:cxn modelId="{64F89193-50F5-4273-B4D2-01DAE9853718}" type="presOf" srcId="{F3F13CE2-D56A-4990-9B93-C9F1FF30CA42}" destId="{AA5CB42F-09BB-4A16-AB46-1D243B5F7312}" srcOrd="0" destOrd="0" presId="urn:microsoft.com/office/officeart/2005/8/layout/default"/>
    <dgm:cxn modelId="{F7C1AFF0-F533-4820-B7D8-285F7F2400E3}" srcId="{7164EE25-0701-4180-A261-B0A8B18F4248}" destId="{FFD14178-A316-4352-8D5E-ADEF3D45022A}" srcOrd="0" destOrd="0" parTransId="{11C332C7-69B7-4008-81FF-72BD01D00F8F}" sibTransId="{524F7BF0-20F4-4908-A324-792E358C9208}"/>
    <dgm:cxn modelId="{5F2724E6-83C4-47F5-A22A-3E1CD12DF866}" type="presOf" srcId="{573849F1-AEDA-42B0-B6B7-E7863E49E19B}" destId="{89F3B21B-A554-4609-BA0C-34B5ECB6E461}" srcOrd="0" destOrd="0" presId="urn:microsoft.com/office/officeart/2005/8/layout/default"/>
    <dgm:cxn modelId="{B0BA9C01-4FA4-42E6-BC70-6C48E81D968A}" srcId="{7164EE25-0701-4180-A261-B0A8B18F4248}" destId="{F3F13CE2-D56A-4990-9B93-C9F1FF30CA42}" srcOrd="2" destOrd="0" parTransId="{E21B7726-E8CB-4901-883E-92E5E1805AA5}" sibTransId="{71523A1F-B530-4543-8D97-78E60716D783}"/>
    <dgm:cxn modelId="{2A1716AB-16A8-4E43-AF63-2A76BFC3010D}" type="presParOf" srcId="{8A9CAEB3-A26C-4BC5-872B-513ED352A59A}" destId="{0B84F18E-DEA6-4895-88D4-2DEA32692A58}" srcOrd="0" destOrd="0" presId="urn:microsoft.com/office/officeart/2005/8/layout/default"/>
    <dgm:cxn modelId="{70FE9DE7-6672-44EC-9DAB-F57ADA5BDE99}" type="presParOf" srcId="{8A9CAEB3-A26C-4BC5-872B-513ED352A59A}" destId="{80E3DA35-BDB4-42DE-B043-DBB67CDC7DEB}" srcOrd="1" destOrd="0" presId="urn:microsoft.com/office/officeart/2005/8/layout/default"/>
    <dgm:cxn modelId="{99A38CB4-1142-456C-BE1E-0EE262034B9C}" type="presParOf" srcId="{8A9CAEB3-A26C-4BC5-872B-513ED352A59A}" destId="{89F3B21B-A554-4609-BA0C-34B5ECB6E461}" srcOrd="2" destOrd="0" presId="urn:microsoft.com/office/officeart/2005/8/layout/default"/>
    <dgm:cxn modelId="{3467DC8F-426F-4EFB-8169-71A6F0DF3B22}" type="presParOf" srcId="{8A9CAEB3-A26C-4BC5-872B-513ED352A59A}" destId="{842870C3-9D17-4EBD-85E9-79BF94904143}" srcOrd="3" destOrd="0" presId="urn:microsoft.com/office/officeart/2005/8/layout/default"/>
    <dgm:cxn modelId="{27CD1A76-7F22-4451-846A-F02EACD5CBDC}" type="presParOf" srcId="{8A9CAEB3-A26C-4BC5-872B-513ED352A59A}" destId="{AA5CB42F-09BB-4A16-AB46-1D243B5F7312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9AEC87F-6344-4A39-9E3A-4E95C462CBA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854012D-DAEA-4B7D-9C3D-770EEB43880F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Разметка в виде сплошных и прерывистых линий, стрелок, знаков приоритета.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8528D0B-406F-46BD-8DD8-58CEAF5B7E53}" type="parTrans" cxnId="{1F9866C6-643D-409D-9832-1D7AFE41414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42B6840-3F03-4F5E-A82F-D3E5340BA9E1}" type="sibTrans" cxnId="{1F9866C6-643D-409D-9832-1D7AFE41414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66F53A8-DBC3-44E4-85B9-27CB50983346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Использование светоотражающих материалов для повышения видимости в темное время суток.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82D2E64F-2E55-4200-9E57-805B26BEDC18}" type="parTrans" cxnId="{C722DA7B-656A-4971-8B4A-49FDDED8CDC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88DD253-3625-46DA-91ED-A6E81F148289}" type="sibTrans" cxnId="{C722DA7B-656A-4971-8B4A-49FDDED8CDC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E951FBB-57AF-44D9-ABBB-67EAAB21DF97}" type="pres">
      <dgm:prSet presAssocID="{29AEC87F-6344-4A39-9E3A-4E95C462CBA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C4E49AF-A296-4558-B7E1-B7E9CA6606A7}" type="pres">
      <dgm:prSet presAssocID="{0854012D-DAEA-4B7D-9C3D-770EEB43880F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9498F9D-4034-4567-82B6-FDF118D5B318}" type="pres">
      <dgm:prSet presAssocID="{742B6840-3F03-4F5E-A82F-D3E5340BA9E1}" presName="sibTrans" presStyleCnt="0"/>
      <dgm:spPr/>
    </dgm:pt>
    <dgm:pt modelId="{2D062BBD-FE57-45C3-BB6A-12B145EE6ED8}" type="pres">
      <dgm:prSet presAssocID="{666F53A8-DBC3-44E4-85B9-27CB50983346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722DA7B-656A-4971-8B4A-49FDDED8CDC1}" srcId="{29AEC87F-6344-4A39-9E3A-4E95C462CBAD}" destId="{666F53A8-DBC3-44E4-85B9-27CB50983346}" srcOrd="1" destOrd="0" parTransId="{82D2E64F-2E55-4200-9E57-805B26BEDC18}" sibTransId="{788DD253-3625-46DA-91ED-A6E81F148289}"/>
    <dgm:cxn modelId="{1F9866C6-643D-409D-9832-1D7AFE41414F}" srcId="{29AEC87F-6344-4A39-9E3A-4E95C462CBAD}" destId="{0854012D-DAEA-4B7D-9C3D-770EEB43880F}" srcOrd="0" destOrd="0" parTransId="{48528D0B-406F-46BD-8DD8-58CEAF5B7E53}" sibTransId="{742B6840-3F03-4F5E-A82F-D3E5340BA9E1}"/>
    <dgm:cxn modelId="{9A2EFC34-5B19-41A7-A5EE-FEF4A5B8E538}" type="presOf" srcId="{29AEC87F-6344-4A39-9E3A-4E95C462CBAD}" destId="{EE951FBB-57AF-44D9-ABBB-67EAAB21DF97}" srcOrd="0" destOrd="0" presId="urn:microsoft.com/office/officeart/2005/8/layout/default"/>
    <dgm:cxn modelId="{1611C0DA-B7B7-4812-9CAD-C5DF802B0A6A}" type="presOf" srcId="{0854012D-DAEA-4B7D-9C3D-770EEB43880F}" destId="{1C4E49AF-A296-4558-B7E1-B7E9CA6606A7}" srcOrd="0" destOrd="0" presId="urn:microsoft.com/office/officeart/2005/8/layout/default"/>
    <dgm:cxn modelId="{6A594832-CEAF-4F69-A92E-9D8E6BFE0AFE}" type="presOf" srcId="{666F53A8-DBC3-44E4-85B9-27CB50983346}" destId="{2D062BBD-FE57-45C3-BB6A-12B145EE6ED8}" srcOrd="0" destOrd="0" presId="urn:microsoft.com/office/officeart/2005/8/layout/default"/>
    <dgm:cxn modelId="{52AA0BD2-74D8-41CF-BD2F-5233AE994BEF}" type="presParOf" srcId="{EE951FBB-57AF-44D9-ABBB-67EAAB21DF97}" destId="{1C4E49AF-A296-4558-B7E1-B7E9CA6606A7}" srcOrd="0" destOrd="0" presId="urn:microsoft.com/office/officeart/2005/8/layout/default"/>
    <dgm:cxn modelId="{ED7CB525-50B3-4E4D-820F-1B01C0FD23E2}" type="presParOf" srcId="{EE951FBB-57AF-44D9-ABBB-67EAAB21DF97}" destId="{C9498F9D-4034-4567-82B6-FDF118D5B318}" srcOrd="1" destOrd="0" presId="urn:microsoft.com/office/officeart/2005/8/layout/default"/>
    <dgm:cxn modelId="{E35C198A-30A9-4AE1-BECB-DB4FFD795361}" type="presParOf" srcId="{EE951FBB-57AF-44D9-ABBB-67EAAB21DF97}" destId="{2D062BBD-FE57-45C3-BB6A-12B145EE6ED8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488F4D4-B536-4EDE-A0FB-80D7A369750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A3A55DF-D480-46F1-B37F-80AF70E3B4EC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Выбор камер: </a:t>
          </a: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Использование камер высокого разрешения с широким углом обзора и возможностью ночной съемки.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F7CC80D2-3BD1-4645-98E3-0FFC836C2041}" type="parTrans" cxnId="{DAD1B091-CF29-457F-B301-53106A2BB3C7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0E83279-4C3B-4FB5-B2C0-E920400A8985}" type="sibTrans" cxnId="{DAD1B091-CF29-457F-B301-53106A2BB3C7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BE1CC00B-57D9-4CA3-8DC4-59357263CAA7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Размещение камер:  </a:t>
          </a: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Оптимальное расположение камер для обеспечения полного обзора перекрестка и перекрытия «слепых зон».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E16C6BE9-707C-4F99-9BFE-8AF4AB182B77}" type="parTrans" cxnId="{C48EF465-CD86-489A-BB52-F00DF7016E9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3DCAF853-F987-45DB-9F3C-D6438118F7A0}" type="sibTrans" cxnId="{C48EF465-CD86-489A-BB52-F00DF7016E9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F46043D-B19D-41C1-8BD9-FC5A6603AEF2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Интеграция с системой управления: </a:t>
          </a: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Подключение камер к центральной системе управления БТС для автоматической обработки видеоданных и оповещения об опасных ситуациях.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733D0345-E412-419E-ACFD-5484D02ECFF8}" type="parTrans" cxnId="{236F3B48-BECF-45C4-80F8-81FF9F48CBB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9D7E73C-31A1-4B95-9A5D-714635200D54}" type="sibTrans" cxnId="{236F3B48-BECF-45C4-80F8-81FF9F48CBB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33234A1F-81D4-4EFE-9F29-7B5144D5098D}" type="pres">
      <dgm:prSet presAssocID="{8488F4D4-B536-4EDE-A0FB-80D7A369750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036817D-9803-4ACB-AC67-877AA5CBA465}" type="pres">
      <dgm:prSet presAssocID="{6A3A55DF-D480-46F1-B37F-80AF70E3B4EC}" presName="node" presStyleLbl="node1" presStyleIdx="0" presStyleCnt="3" custScaleX="125543" custLinFactNeighborY="-11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9AE71E5-A9E1-4203-87C0-7DF23916FEFB}" type="pres">
      <dgm:prSet presAssocID="{D0E83279-4C3B-4FB5-B2C0-E920400A8985}" presName="sibTrans" presStyleCnt="0"/>
      <dgm:spPr/>
    </dgm:pt>
    <dgm:pt modelId="{D55552BD-7F8C-4EBA-9994-A571E1C373F9}" type="pres">
      <dgm:prSet presAssocID="{BE1CC00B-57D9-4CA3-8DC4-59357263CAA7}" presName="node" presStyleLbl="node1" presStyleIdx="1" presStyleCnt="3" custScaleX="11821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DA60346-E2E5-4655-B340-C45FC7F8D115}" type="pres">
      <dgm:prSet presAssocID="{3DCAF853-F987-45DB-9F3C-D6438118F7A0}" presName="sibTrans" presStyleCnt="0"/>
      <dgm:spPr/>
    </dgm:pt>
    <dgm:pt modelId="{01595798-DC17-4174-AC32-E4FE362A31D1}" type="pres">
      <dgm:prSet presAssocID="{CF46043D-B19D-41C1-8BD9-FC5A6603AEF2}" presName="node" presStyleLbl="node1" presStyleIdx="2" presStyleCnt="3" custScaleX="17809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1CF9F2D6-3391-4A6B-94C6-13CF13665926}" type="presOf" srcId="{6A3A55DF-D480-46F1-B37F-80AF70E3B4EC}" destId="{F036817D-9803-4ACB-AC67-877AA5CBA465}" srcOrd="0" destOrd="0" presId="urn:microsoft.com/office/officeart/2005/8/layout/default"/>
    <dgm:cxn modelId="{56B40415-BA16-428A-B82B-6F3E11726AF5}" type="presOf" srcId="{CF46043D-B19D-41C1-8BD9-FC5A6603AEF2}" destId="{01595798-DC17-4174-AC32-E4FE362A31D1}" srcOrd="0" destOrd="0" presId="urn:microsoft.com/office/officeart/2005/8/layout/default"/>
    <dgm:cxn modelId="{FBDB54D7-117E-40B0-952B-F58B0960CBB9}" type="presOf" srcId="{8488F4D4-B536-4EDE-A0FB-80D7A3697503}" destId="{33234A1F-81D4-4EFE-9F29-7B5144D5098D}" srcOrd="0" destOrd="0" presId="urn:microsoft.com/office/officeart/2005/8/layout/default"/>
    <dgm:cxn modelId="{DAD1B091-CF29-457F-B301-53106A2BB3C7}" srcId="{8488F4D4-B536-4EDE-A0FB-80D7A3697503}" destId="{6A3A55DF-D480-46F1-B37F-80AF70E3B4EC}" srcOrd="0" destOrd="0" parTransId="{F7CC80D2-3BD1-4645-98E3-0FFC836C2041}" sibTransId="{D0E83279-4C3B-4FB5-B2C0-E920400A8985}"/>
    <dgm:cxn modelId="{C48EF465-CD86-489A-BB52-F00DF7016E9E}" srcId="{8488F4D4-B536-4EDE-A0FB-80D7A3697503}" destId="{BE1CC00B-57D9-4CA3-8DC4-59357263CAA7}" srcOrd="1" destOrd="0" parTransId="{E16C6BE9-707C-4F99-9BFE-8AF4AB182B77}" sibTransId="{3DCAF853-F987-45DB-9F3C-D6438118F7A0}"/>
    <dgm:cxn modelId="{236F3B48-BECF-45C4-80F8-81FF9F48CBB6}" srcId="{8488F4D4-B536-4EDE-A0FB-80D7A3697503}" destId="{CF46043D-B19D-41C1-8BD9-FC5A6603AEF2}" srcOrd="2" destOrd="0" parTransId="{733D0345-E412-419E-ACFD-5484D02ECFF8}" sibTransId="{29D7E73C-31A1-4B95-9A5D-714635200D54}"/>
    <dgm:cxn modelId="{A20E4444-264A-4D2A-89F6-CA0E4CE792C5}" type="presOf" srcId="{BE1CC00B-57D9-4CA3-8DC4-59357263CAA7}" destId="{D55552BD-7F8C-4EBA-9994-A571E1C373F9}" srcOrd="0" destOrd="0" presId="urn:microsoft.com/office/officeart/2005/8/layout/default"/>
    <dgm:cxn modelId="{83BD191F-A649-485E-9BAE-32F871EE69A5}" type="presParOf" srcId="{33234A1F-81D4-4EFE-9F29-7B5144D5098D}" destId="{F036817D-9803-4ACB-AC67-877AA5CBA465}" srcOrd="0" destOrd="0" presId="urn:microsoft.com/office/officeart/2005/8/layout/default"/>
    <dgm:cxn modelId="{71A8578F-1C97-4AC6-BDF1-D0295108F235}" type="presParOf" srcId="{33234A1F-81D4-4EFE-9F29-7B5144D5098D}" destId="{69AE71E5-A9E1-4203-87C0-7DF23916FEFB}" srcOrd="1" destOrd="0" presId="urn:microsoft.com/office/officeart/2005/8/layout/default"/>
    <dgm:cxn modelId="{47137645-13A6-411B-889C-0C1F0F988AF8}" type="presParOf" srcId="{33234A1F-81D4-4EFE-9F29-7B5144D5098D}" destId="{D55552BD-7F8C-4EBA-9994-A571E1C373F9}" srcOrd="2" destOrd="0" presId="urn:microsoft.com/office/officeart/2005/8/layout/default"/>
    <dgm:cxn modelId="{F9E70ED2-83E2-4BD9-B4E8-2E9453AAB5B9}" type="presParOf" srcId="{33234A1F-81D4-4EFE-9F29-7B5144D5098D}" destId="{2DA60346-E2E5-4655-B340-C45FC7F8D115}" srcOrd="3" destOrd="0" presId="urn:microsoft.com/office/officeart/2005/8/layout/default"/>
    <dgm:cxn modelId="{34EF6416-9EFA-4B9A-B03B-81463E02E55F}" type="presParOf" srcId="{33234A1F-81D4-4EFE-9F29-7B5144D5098D}" destId="{01595798-DC17-4174-AC32-E4FE362A31D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488F4D4-B536-4EDE-A0FB-80D7A369750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A3A55DF-D480-46F1-B37F-80AF70E3B4EC}">
      <dgm:prSet phldrT="[Текст]"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Камеры с функцией распознавания объектов и автоматического отслеживания движения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F7CC80D2-3BD1-4645-98E3-0FFC836C2041}" type="parTrans" cxnId="{DAD1B091-CF29-457F-B301-53106A2BB3C7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D0E83279-4C3B-4FB5-B2C0-E920400A8985}" type="sibTrans" cxnId="{DAD1B091-CF29-457F-B301-53106A2BB3C7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BE1CC00B-57D9-4CA3-8DC4-59357263CAA7}">
      <dgm:prSet custT="1"/>
      <dgm:spPr/>
      <dgm:t>
        <a:bodyPr/>
        <a:lstStyle/>
        <a:p>
          <a:r>
            <a:rPr lang="ru-RU" sz="2400" smtClean="0">
              <a:latin typeface="Times New Roman" pitchFamily="18" charset="0"/>
              <a:cs typeface="Times New Roman" pitchFamily="18" charset="0"/>
            </a:rPr>
            <a:t>Камеры с возможностью передачи видео в реальном времени на диспетчерский пункт.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E16C6BE9-707C-4F99-9BFE-8AF4AB182B77}" type="parTrans" cxnId="{C48EF465-CD86-489A-BB52-F00DF7016E9E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3DCAF853-F987-45DB-9F3C-D6438118F7A0}" type="sibTrans" cxnId="{C48EF465-CD86-489A-BB52-F00DF7016E9E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33234A1F-81D4-4EFE-9F29-7B5144D5098D}" type="pres">
      <dgm:prSet presAssocID="{8488F4D4-B536-4EDE-A0FB-80D7A369750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F036817D-9803-4ACB-AC67-877AA5CBA465}" type="pres">
      <dgm:prSet presAssocID="{6A3A55DF-D480-46F1-B37F-80AF70E3B4EC}" presName="node" presStyleLbl="node1" presStyleIdx="0" presStyleCnt="2" custScaleX="125543" custScaleY="124167" custLinFactNeighborY="-11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9AE71E5-A9E1-4203-87C0-7DF23916FEFB}" type="pres">
      <dgm:prSet presAssocID="{D0E83279-4C3B-4FB5-B2C0-E920400A8985}" presName="sibTrans" presStyleCnt="0"/>
      <dgm:spPr/>
    </dgm:pt>
    <dgm:pt modelId="{D55552BD-7F8C-4EBA-9994-A571E1C373F9}" type="pres">
      <dgm:prSet presAssocID="{BE1CC00B-57D9-4CA3-8DC4-59357263CAA7}" presName="node" presStyleLbl="node1" presStyleIdx="1" presStyleCnt="2" custScaleX="118218" custScaleY="11978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AD1B091-CF29-457F-B301-53106A2BB3C7}" srcId="{8488F4D4-B536-4EDE-A0FB-80D7A3697503}" destId="{6A3A55DF-D480-46F1-B37F-80AF70E3B4EC}" srcOrd="0" destOrd="0" parTransId="{F7CC80D2-3BD1-4645-98E3-0FFC836C2041}" sibTransId="{D0E83279-4C3B-4FB5-B2C0-E920400A8985}"/>
    <dgm:cxn modelId="{FA4FF243-47C9-4F29-BF44-5274D04E293B}" type="presOf" srcId="{6A3A55DF-D480-46F1-B37F-80AF70E3B4EC}" destId="{F036817D-9803-4ACB-AC67-877AA5CBA465}" srcOrd="0" destOrd="0" presId="urn:microsoft.com/office/officeart/2005/8/layout/default"/>
    <dgm:cxn modelId="{C48EF465-CD86-489A-BB52-F00DF7016E9E}" srcId="{8488F4D4-B536-4EDE-A0FB-80D7A3697503}" destId="{BE1CC00B-57D9-4CA3-8DC4-59357263CAA7}" srcOrd="1" destOrd="0" parTransId="{E16C6BE9-707C-4F99-9BFE-8AF4AB182B77}" sibTransId="{3DCAF853-F987-45DB-9F3C-D6438118F7A0}"/>
    <dgm:cxn modelId="{2A4E3569-6911-46FB-8A10-53367D5138B9}" type="presOf" srcId="{8488F4D4-B536-4EDE-A0FB-80D7A3697503}" destId="{33234A1F-81D4-4EFE-9F29-7B5144D5098D}" srcOrd="0" destOrd="0" presId="urn:microsoft.com/office/officeart/2005/8/layout/default"/>
    <dgm:cxn modelId="{0C5BDF6D-9A09-44ED-B945-24D667A37AFD}" type="presOf" srcId="{BE1CC00B-57D9-4CA3-8DC4-59357263CAA7}" destId="{D55552BD-7F8C-4EBA-9994-A571E1C373F9}" srcOrd="0" destOrd="0" presId="urn:microsoft.com/office/officeart/2005/8/layout/default"/>
    <dgm:cxn modelId="{C52E3241-23D6-46AD-8B37-0411097D2C40}" type="presParOf" srcId="{33234A1F-81D4-4EFE-9F29-7B5144D5098D}" destId="{F036817D-9803-4ACB-AC67-877AA5CBA465}" srcOrd="0" destOrd="0" presId="urn:microsoft.com/office/officeart/2005/8/layout/default"/>
    <dgm:cxn modelId="{CC4010DD-0C83-484D-86EF-A1DF0CC64688}" type="presParOf" srcId="{33234A1F-81D4-4EFE-9F29-7B5144D5098D}" destId="{69AE71E5-A9E1-4203-87C0-7DF23916FEFB}" srcOrd="1" destOrd="0" presId="urn:microsoft.com/office/officeart/2005/8/layout/default"/>
    <dgm:cxn modelId="{F86C2F36-B78A-460E-8D18-07A0F9977CB1}" type="presParOf" srcId="{33234A1F-81D4-4EFE-9F29-7B5144D5098D}" destId="{D55552BD-7F8C-4EBA-9994-A571E1C373F9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B02D145-88E4-47BB-9086-07CF01E6783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16AA235-BC12-4C03-A1CB-D703D7890CDF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Расчет расположения ретрансляторов: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Определение оптимального расстояния между ретрансляторами на основе проведенных замеров уровня сигнала.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A4F756D-8B75-4321-AA96-8E118313E471}" type="parTrans" cxnId="{B8382FC4-4E5D-4B4F-B6D0-5C26396F754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F3C8F97-1B8F-4B52-A4DB-BFDC19880773}" type="sibTrans" cxnId="{B8382FC4-4E5D-4B4F-B6D0-5C26396F754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8F41CC0-DD3A-492E-B8A7-6995EDF19CDD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Выбор ретрансляторов: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Использование промышленных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WiFi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ретрансляторов с высокой мощностью и защитой от внешних воздействий.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BFA021D-C976-4BCF-9AEC-2E87E4C6576F}" type="parTrans" cxnId="{61E1D822-71CD-44D9-9EBD-2A461FA906F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AC4C0BE9-A486-4E39-B23A-73B0C41DA152}" type="sibTrans" cxnId="{61E1D822-71CD-44D9-9EBD-2A461FA906F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636DCC08-3910-41C9-815A-FA4B9E46B74C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Настройка сети: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Создание единой беспроводной сети с автоматическим переключением между ретрансляторами для обеспечения непрерывного соединения.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20A9DAA0-4C4C-421B-857A-9812FA4804F9}" type="parTrans" cxnId="{11D110E9-0EB6-4080-926F-D3D44A2C3E5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C5A9DBE-66C2-4253-9473-4008A0AC6BF1}" type="sibTrans" cxnId="{11D110E9-0EB6-4080-926F-D3D44A2C3E5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DB9E240-E42D-478E-9BA1-FC32011B50A0}" type="pres">
      <dgm:prSet presAssocID="{BB02D145-88E4-47BB-9086-07CF01E6783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88E2EF9-ACFA-40B9-97CB-19207C1698B1}" type="pres">
      <dgm:prSet presAssocID="{E16AA235-BC12-4C03-A1CB-D703D7890CDF}" presName="node" presStyleLbl="node1" presStyleIdx="0" presStyleCnt="3" custScaleX="1369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F24A70D-E1B7-40CE-87FB-2E1BB117327E}" type="pres">
      <dgm:prSet presAssocID="{4F3C8F97-1B8F-4B52-A4DB-BFDC19880773}" presName="sibTrans" presStyleCnt="0"/>
      <dgm:spPr/>
    </dgm:pt>
    <dgm:pt modelId="{BD03F74F-2F01-4330-854D-F42A2A7DDD97}" type="pres">
      <dgm:prSet presAssocID="{D8F41CC0-DD3A-492E-B8A7-6995EDF19CDD}" presName="node" presStyleLbl="node1" presStyleIdx="1" presStyleCnt="3" custScaleX="14373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085ABBC-A78E-4AD0-B02A-D7B5D602836A}" type="pres">
      <dgm:prSet presAssocID="{AC4C0BE9-A486-4E39-B23A-73B0C41DA152}" presName="sibTrans" presStyleCnt="0"/>
      <dgm:spPr/>
    </dgm:pt>
    <dgm:pt modelId="{4553DBF2-EEB2-4ACF-8D47-EEFF64AC9F04}" type="pres">
      <dgm:prSet presAssocID="{636DCC08-3910-41C9-815A-FA4B9E46B74C}" presName="node" presStyleLbl="node1" presStyleIdx="2" presStyleCnt="3" custScaleX="14373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9C7AAE7-C940-4F01-A4A8-77FBED56217C}" type="presOf" srcId="{D8F41CC0-DD3A-492E-B8A7-6995EDF19CDD}" destId="{BD03F74F-2F01-4330-854D-F42A2A7DDD97}" srcOrd="0" destOrd="0" presId="urn:microsoft.com/office/officeart/2005/8/layout/default"/>
    <dgm:cxn modelId="{B8382FC4-4E5D-4B4F-B6D0-5C26396F754C}" srcId="{BB02D145-88E4-47BB-9086-07CF01E67830}" destId="{E16AA235-BC12-4C03-A1CB-D703D7890CDF}" srcOrd="0" destOrd="0" parTransId="{4A4F756D-8B75-4321-AA96-8E118313E471}" sibTransId="{4F3C8F97-1B8F-4B52-A4DB-BFDC19880773}"/>
    <dgm:cxn modelId="{8F1683D7-9E23-4E22-A958-063B5D4773BB}" type="presOf" srcId="{E16AA235-BC12-4C03-A1CB-D703D7890CDF}" destId="{488E2EF9-ACFA-40B9-97CB-19207C1698B1}" srcOrd="0" destOrd="0" presId="urn:microsoft.com/office/officeart/2005/8/layout/default"/>
    <dgm:cxn modelId="{61E1D822-71CD-44D9-9EBD-2A461FA906F9}" srcId="{BB02D145-88E4-47BB-9086-07CF01E67830}" destId="{D8F41CC0-DD3A-492E-B8A7-6995EDF19CDD}" srcOrd="1" destOrd="0" parTransId="{4BFA021D-C976-4BCF-9AEC-2E87E4C6576F}" sibTransId="{AC4C0BE9-A486-4E39-B23A-73B0C41DA152}"/>
    <dgm:cxn modelId="{11D110E9-0EB6-4080-926F-D3D44A2C3E51}" srcId="{BB02D145-88E4-47BB-9086-07CF01E67830}" destId="{636DCC08-3910-41C9-815A-FA4B9E46B74C}" srcOrd="2" destOrd="0" parTransId="{20A9DAA0-4C4C-421B-857A-9812FA4804F9}" sibTransId="{1C5A9DBE-66C2-4253-9473-4008A0AC6BF1}"/>
    <dgm:cxn modelId="{9B66B2C2-99D8-492D-AE10-80BC09FD1412}" type="presOf" srcId="{BB02D145-88E4-47BB-9086-07CF01E67830}" destId="{DDB9E240-E42D-478E-9BA1-FC32011B50A0}" srcOrd="0" destOrd="0" presId="urn:microsoft.com/office/officeart/2005/8/layout/default"/>
    <dgm:cxn modelId="{4118E85B-F47C-44BC-ABD8-A7D034AE98D1}" type="presOf" srcId="{636DCC08-3910-41C9-815A-FA4B9E46B74C}" destId="{4553DBF2-EEB2-4ACF-8D47-EEFF64AC9F04}" srcOrd="0" destOrd="0" presId="urn:microsoft.com/office/officeart/2005/8/layout/default"/>
    <dgm:cxn modelId="{FC34AD1C-004B-4ABE-810F-C011753661E3}" type="presParOf" srcId="{DDB9E240-E42D-478E-9BA1-FC32011B50A0}" destId="{488E2EF9-ACFA-40B9-97CB-19207C1698B1}" srcOrd="0" destOrd="0" presId="urn:microsoft.com/office/officeart/2005/8/layout/default"/>
    <dgm:cxn modelId="{7416A9E4-2DFC-472A-8292-029776C73584}" type="presParOf" srcId="{DDB9E240-E42D-478E-9BA1-FC32011B50A0}" destId="{5F24A70D-E1B7-40CE-87FB-2E1BB117327E}" srcOrd="1" destOrd="0" presId="urn:microsoft.com/office/officeart/2005/8/layout/default"/>
    <dgm:cxn modelId="{3CD6CBDC-4F17-4F42-AB5F-2351D99B60C4}" type="presParOf" srcId="{DDB9E240-E42D-478E-9BA1-FC32011B50A0}" destId="{BD03F74F-2F01-4330-854D-F42A2A7DDD97}" srcOrd="2" destOrd="0" presId="urn:microsoft.com/office/officeart/2005/8/layout/default"/>
    <dgm:cxn modelId="{916AA655-1417-41A8-B5B3-A8433AA07E04}" type="presParOf" srcId="{DDB9E240-E42D-478E-9BA1-FC32011B50A0}" destId="{7085ABBC-A78E-4AD0-B02A-D7B5D602836A}" srcOrd="3" destOrd="0" presId="urn:microsoft.com/office/officeart/2005/8/layout/default"/>
    <dgm:cxn modelId="{E70FBF96-CC3E-478A-90A7-04B340DD670E}" type="presParOf" srcId="{DDB9E240-E42D-478E-9BA1-FC32011B50A0}" destId="{4553DBF2-EEB2-4ACF-8D47-EEFF64AC9F0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B02D145-88E4-47BB-9086-07CF01E67830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16AA235-BC12-4C03-A1CB-D703D7890CDF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Использование ретрансляторов с технологией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Mesh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 для создания самоорганизующейся сети.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A4F756D-8B75-4321-AA96-8E118313E471}" type="parTrans" cxnId="{B8382FC4-4E5D-4B4F-B6D0-5C26396F754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F3C8F97-1B8F-4B52-A4DB-BFDC19880773}" type="sibTrans" cxnId="{B8382FC4-4E5D-4B4F-B6D0-5C26396F754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9627ECA-F3F2-4AFA-B0F9-4449CA8BFAE3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Применение защищенных протоколов передачи данных для обеспечения конфиденциальности информации.</a:t>
          </a:r>
        </a:p>
      </dgm:t>
    </dgm:pt>
    <dgm:pt modelId="{3C02F75C-5BC6-44ED-BD78-7102FBD6AB36}" type="parTrans" cxnId="{FAD17433-4171-4D52-AA34-243B44D69929}">
      <dgm:prSet/>
      <dgm:spPr/>
      <dgm:t>
        <a:bodyPr/>
        <a:lstStyle/>
        <a:p>
          <a:endParaRPr lang="ru-RU"/>
        </a:p>
      </dgm:t>
    </dgm:pt>
    <dgm:pt modelId="{B6ABAB9D-4916-490D-87CB-714E3B0DE167}" type="sibTrans" cxnId="{FAD17433-4171-4D52-AA34-243B44D69929}">
      <dgm:prSet/>
      <dgm:spPr/>
      <dgm:t>
        <a:bodyPr/>
        <a:lstStyle/>
        <a:p>
          <a:endParaRPr lang="ru-RU"/>
        </a:p>
      </dgm:t>
    </dgm:pt>
    <dgm:pt modelId="{DDB9E240-E42D-478E-9BA1-FC32011B50A0}" type="pres">
      <dgm:prSet presAssocID="{BB02D145-88E4-47BB-9086-07CF01E6783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88E2EF9-ACFA-40B9-97CB-19207C1698B1}" type="pres">
      <dgm:prSet presAssocID="{E16AA235-BC12-4C03-A1CB-D703D7890CDF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F24A70D-E1B7-40CE-87FB-2E1BB117327E}" type="pres">
      <dgm:prSet presAssocID="{4F3C8F97-1B8F-4B52-A4DB-BFDC19880773}" presName="sibTrans" presStyleCnt="0"/>
      <dgm:spPr/>
    </dgm:pt>
    <dgm:pt modelId="{BEA2B928-DD18-4FAB-AFE0-3A9ACAAAB725}" type="pres">
      <dgm:prSet presAssocID="{09627ECA-F3F2-4AFA-B0F9-4449CA8BFAE3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4009605-2FDD-4897-9A16-C87FF05E658D}" type="presOf" srcId="{BB02D145-88E4-47BB-9086-07CF01E67830}" destId="{DDB9E240-E42D-478E-9BA1-FC32011B50A0}" srcOrd="0" destOrd="0" presId="urn:microsoft.com/office/officeart/2005/8/layout/default"/>
    <dgm:cxn modelId="{FAD17433-4171-4D52-AA34-243B44D69929}" srcId="{BB02D145-88E4-47BB-9086-07CF01E67830}" destId="{09627ECA-F3F2-4AFA-B0F9-4449CA8BFAE3}" srcOrd="1" destOrd="0" parTransId="{3C02F75C-5BC6-44ED-BD78-7102FBD6AB36}" sibTransId="{B6ABAB9D-4916-490D-87CB-714E3B0DE167}"/>
    <dgm:cxn modelId="{B8382FC4-4E5D-4B4F-B6D0-5C26396F754C}" srcId="{BB02D145-88E4-47BB-9086-07CF01E67830}" destId="{E16AA235-BC12-4C03-A1CB-D703D7890CDF}" srcOrd="0" destOrd="0" parTransId="{4A4F756D-8B75-4321-AA96-8E118313E471}" sibTransId="{4F3C8F97-1B8F-4B52-A4DB-BFDC19880773}"/>
    <dgm:cxn modelId="{7CA0597F-ED98-4F06-8449-1C742D039B7E}" type="presOf" srcId="{09627ECA-F3F2-4AFA-B0F9-4449CA8BFAE3}" destId="{BEA2B928-DD18-4FAB-AFE0-3A9ACAAAB725}" srcOrd="0" destOrd="0" presId="urn:microsoft.com/office/officeart/2005/8/layout/default"/>
    <dgm:cxn modelId="{DAAD1FDC-5458-4355-A92A-43D11D6FCD0C}" type="presOf" srcId="{E16AA235-BC12-4C03-A1CB-D703D7890CDF}" destId="{488E2EF9-ACFA-40B9-97CB-19207C1698B1}" srcOrd="0" destOrd="0" presId="urn:microsoft.com/office/officeart/2005/8/layout/default"/>
    <dgm:cxn modelId="{70C7EC70-C34A-44CD-BD0F-7AB5C924210C}" type="presParOf" srcId="{DDB9E240-E42D-478E-9BA1-FC32011B50A0}" destId="{488E2EF9-ACFA-40B9-97CB-19207C1698B1}" srcOrd="0" destOrd="0" presId="urn:microsoft.com/office/officeart/2005/8/layout/default"/>
    <dgm:cxn modelId="{D7D4A8FB-94DC-43A7-9000-62BD882370CB}" type="presParOf" srcId="{DDB9E240-E42D-478E-9BA1-FC32011B50A0}" destId="{5F24A70D-E1B7-40CE-87FB-2E1BB117327E}" srcOrd="1" destOrd="0" presId="urn:microsoft.com/office/officeart/2005/8/layout/default"/>
    <dgm:cxn modelId="{B216BB6A-8571-4764-B3F4-29EA476CB77A}" type="presParOf" srcId="{DDB9E240-E42D-478E-9BA1-FC32011B50A0}" destId="{BEA2B928-DD18-4FAB-AFE0-3A9ACAAAB725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A4EAFE4-9E76-47AD-BD3F-212AE7352EF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48AF69A-151F-4184-A1D6-2FA7FDF26EF7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Создавать большие зоны покрытия за счёт присоединения новых узлов.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CA91B0D9-CB7A-4830-A5E9-D27858E437F7}" type="parTrans" cxnId="{99733B2A-912E-4975-AF8A-37EBD6A0F99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1AE0484-D3ED-4DDD-B846-B3A9A418C567}" type="sibTrans" cxnId="{99733B2A-912E-4975-AF8A-37EBD6A0F99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0014820-7AEA-482B-B655-2829C6FA9423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Обеспечивать высокую отказоустойчивость - сеть продолжает функционировать даже если один или несколько узлов выйдут из строя.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89C25A9-3CD7-48F5-815E-21801CBC7699}" type="parTrans" cxnId="{D62D0E7F-7979-47D5-A327-902B1F268F8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E4C01A3-EBFD-4AB8-93BF-9F124E244DA5}" type="sibTrans" cxnId="{D62D0E7F-7979-47D5-A327-902B1F268F8C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04A5EA0-9C1E-4E1F-99FF-D1123B199DF0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Масштабировать сеть - новые узлы добавляются в сеть автоматически.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17023B3-0BB6-4C75-BBC6-A2BD865ECC23}" type="parTrans" cxnId="{AE2E93F3-914A-4E89-A6C8-606FCD7A7D6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14C25E1-8CEA-4B62-98F3-43FE0E8724B3}" type="sibTrans" cxnId="{AE2E93F3-914A-4E89-A6C8-606FCD7A7D65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4211BAE-37F5-4E7D-9E13-2FEE4932D75A}" type="pres">
      <dgm:prSet presAssocID="{AA4EAFE4-9E76-47AD-BD3F-212AE7352EF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32F8A53-7B5E-41F0-8DCF-9CE158B93470}" type="pres">
      <dgm:prSet presAssocID="{648AF69A-151F-4184-A1D6-2FA7FDF26EF7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7C3B934-C6AF-48C2-84C1-3B2B8263EDAC}" type="pres">
      <dgm:prSet presAssocID="{D1AE0484-D3ED-4DDD-B846-B3A9A418C567}" presName="sibTrans" presStyleCnt="0"/>
      <dgm:spPr/>
    </dgm:pt>
    <dgm:pt modelId="{D68C6529-DB2D-44DA-BE6F-2297CB8FD40B}" type="pres">
      <dgm:prSet presAssocID="{50014820-7AEA-482B-B655-2829C6FA9423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192E875-EB41-4E20-BEC3-B491FCBB55D0}" type="pres">
      <dgm:prSet presAssocID="{DE4C01A3-EBFD-4AB8-93BF-9F124E244DA5}" presName="sibTrans" presStyleCnt="0"/>
      <dgm:spPr/>
    </dgm:pt>
    <dgm:pt modelId="{FA7574FE-47BA-4CA1-83EB-34D3816B8969}" type="pres">
      <dgm:prSet presAssocID="{F04A5EA0-9C1E-4E1F-99FF-D1123B199DF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0B98D370-106D-486B-8D73-DB0E489BD3AD}" type="presOf" srcId="{F04A5EA0-9C1E-4E1F-99FF-D1123B199DF0}" destId="{FA7574FE-47BA-4CA1-83EB-34D3816B8969}" srcOrd="0" destOrd="0" presId="urn:microsoft.com/office/officeart/2005/8/layout/default"/>
    <dgm:cxn modelId="{D62D0E7F-7979-47D5-A327-902B1F268F8C}" srcId="{AA4EAFE4-9E76-47AD-BD3F-212AE7352EF5}" destId="{50014820-7AEA-482B-B655-2829C6FA9423}" srcOrd="1" destOrd="0" parTransId="{489C25A9-3CD7-48F5-815E-21801CBC7699}" sibTransId="{DE4C01A3-EBFD-4AB8-93BF-9F124E244DA5}"/>
    <dgm:cxn modelId="{E8A10EAE-4C17-4DC9-B186-00FE5B5969FB}" type="presOf" srcId="{50014820-7AEA-482B-B655-2829C6FA9423}" destId="{D68C6529-DB2D-44DA-BE6F-2297CB8FD40B}" srcOrd="0" destOrd="0" presId="urn:microsoft.com/office/officeart/2005/8/layout/default"/>
    <dgm:cxn modelId="{AE2E93F3-914A-4E89-A6C8-606FCD7A7D65}" srcId="{AA4EAFE4-9E76-47AD-BD3F-212AE7352EF5}" destId="{F04A5EA0-9C1E-4E1F-99FF-D1123B199DF0}" srcOrd="2" destOrd="0" parTransId="{917023B3-0BB6-4C75-BBC6-A2BD865ECC23}" sibTransId="{E14C25E1-8CEA-4B62-98F3-43FE0E8724B3}"/>
    <dgm:cxn modelId="{AFE15001-2CF8-4A3D-85A0-715E7E29C236}" type="presOf" srcId="{AA4EAFE4-9E76-47AD-BD3F-212AE7352EF5}" destId="{94211BAE-37F5-4E7D-9E13-2FEE4932D75A}" srcOrd="0" destOrd="0" presId="urn:microsoft.com/office/officeart/2005/8/layout/default"/>
    <dgm:cxn modelId="{99733B2A-912E-4975-AF8A-37EBD6A0F996}" srcId="{AA4EAFE4-9E76-47AD-BD3F-212AE7352EF5}" destId="{648AF69A-151F-4184-A1D6-2FA7FDF26EF7}" srcOrd="0" destOrd="0" parTransId="{CA91B0D9-CB7A-4830-A5E9-D27858E437F7}" sibTransId="{D1AE0484-D3ED-4DDD-B846-B3A9A418C567}"/>
    <dgm:cxn modelId="{5A0F2835-EC47-446D-A695-EE9023D06F1C}" type="presOf" srcId="{648AF69A-151F-4184-A1D6-2FA7FDF26EF7}" destId="{732F8A53-7B5E-41F0-8DCF-9CE158B93470}" srcOrd="0" destOrd="0" presId="urn:microsoft.com/office/officeart/2005/8/layout/default"/>
    <dgm:cxn modelId="{8F7C93B5-82C4-424B-900C-CE11F0B4834F}" type="presParOf" srcId="{94211BAE-37F5-4E7D-9E13-2FEE4932D75A}" destId="{732F8A53-7B5E-41F0-8DCF-9CE158B93470}" srcOrd="0" destOrd="0" presId="urn:microsoft.com/office/officeart/2005/8/layout/default"/>
    <dgm:cxn modelId="{64071E23-E1E0-4992-9627-D956BF04DB1E}" type="presParOf" srcId="{94211BAE-37F5-4E7D-9E13-2FEE4932D75A}" destId="{57C3B934-C6AF-48C2-84C1-3B2B8263EDAC}" srcOrd="1" destOrd="0" presId="urn:microsoft.com/office/officeart/2005/8/layout/default"/>
    <dgm:cxn modelId="{2A3708A5-CE71-4B6C-8962-44DB224D6E7D}" type="presParOf" srcId="{94211BAE-37F5-4E7D-9E13-2FEE4932D75A}" destId="{D68C6529-DB2D-44DA-BE6F-2297CB8FD40B}" srcOrd="2" destOrd="0" presId="urn:microsoft.com/office/officeart/2005/8/layout/default"/>
    <dgm:cxn modelId="{91D41DCF-509D-48B0-8FC1-FA07836ECE59}" type="presParOf" srcId="{94211BAE-37F5-4E7D-9E13-2FEE4932D75A}" destId="{F192E875-EB41-4E20-BEC3-B491FCBB55D0}" srcOrd="3" destOrd="0" presId="urn:microsoft.com/office/officeart/2005/8/layout/default"/>
    <dgm:cxn modelId="{B62A4DA4-5910-450C-89C6-18292D728812}" type="presParOf" srcId="{94211BAE-37F5-4E7D-9E13-2FEE4932D75A}" destId="{FA7574FE-47BA-4CA1-83EB-34D3816B8969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29066DD-6FEF-4E12-8108-F9CD3151912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0E12617-CECD-4502-B2D4-3AAEE2D06EB2}">
      <dgm:prSet phldrT="[Текст]"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Динамической маршрутизации - трафик идёт по кратчайшим или наиболее качественным путям среди соседних узлов. 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2F48943C-2762-47A2-BB0B-4C7AB15A9422}" type="parTrans" cxnId="{F6E58897-5B8C-46D9-A2C0-456CBA9535AC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BE4ECCD6-5972-405C-8FBC-3BDA445B62C5}" type="sibTrans" cxnId="{F6E58897-5B8C-46D9-A2C0-456CBA9535AC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5D2E50E5-6862-4CC7-B4D7-812FE5DCA265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Автоматического перенаправления трафика -  при отказе какой-либо точки происходит перенаправление трафика по другому маршруту. 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302256CB-11F4-4D36-A5C4-C91ED96A390C}" type="parTrans" cxnId="{5A7C50A9-A994-421A-9F33-F14336E8B6AA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77B17BDE-106B-4869-AB85-76FB24B82D3F}" type="sibTrans" cxnId="{5A7C50A9-A994-421A-9F33-F14336E8B6AA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FCAA5382-5FBA-42E2-8963-E037CF5563D8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Бесшовного роуминга - при перемещении из зоны в зону процесс передачи пакетов данных не прекращается и не замедляется, так как устройства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Mesh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 общаются между собой с помощью встроенных </a:t>
          </a:r>
          <a:r>
            <a:rPr lang="ru-RU" sz="1800" dirty="0" err="1" smtClean="0">
              <a:latin typeface="Times New Roman" pitchFamily="18" charset="0"/>
              <a:cs typeface="Times New Roman" pitchFamily="18" charset="0"/>
            </a:rPr>
            <a:t>Backhaul</a:t>
          </a:r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-модулей и не занимают основные каналы. 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2B630A29-0CB4-4635-AA2E-DD37D78D5F4B}" type="parTrans" cxnId="{1A332F88-6D61-4B14-A817-B34C82962BE9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DEC51876-7056-4D41-8735-0A7CBC792D6C}" type="sibTrans" cxnId="{1A332F88-6D61-4B14-A817-B34C82962BE9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E46938EE-3B0A-46FB-A8F6-6B2FD6055329}" type="pres">
      <dgm:prSet presAssocID="{529066DD-6FEF-4E12-8108-F9CD3151912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115EB25D-CAE3-43B8-9FDE-63009173E0A4}" type="pres">
      <dgm:prSet presAssocID="{60E12617-CECD-4502-B2D4-3AAEE2D06EB2}" presName="node" presStyleLbl="node1" presStyleIdx="0" presStyleCnt="3" custScaleX="11568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4B7096E-3C05-401F-A0C0-1F2AF973B99B}" type="pres">
      <dgm:prSet presAssocID="{BE4ECCD6-5972-405C-8FBC-3BDA445B62C5}" presName="sibTrans" presStyleCnt="0"/>
      <dgm:spPr/>
    </dgm:pt>
    <dgm:pt modelId="{0F6B6AAA-59F2-42D8-9041-CCEFEE5E574E}" type="pres">
      <dgm:prSet presAssocID="{5D2E50E5-6862-4CC7-B4D7-812FE5DCA265}" presName="node" presStyleLbl="node1" presStyleIdx="1" presStyleCnt="3" custScaleX="11507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1F86EA3-1DF2-4F0F-B2FB-8CDAB7D7A01B}" type="pres">
      <dgm:prSet presAssocID="{77B17BDE-106B-4869-AB85-76FB24B82D3F}" presName="sibTrans" presStyleCnt="0"/>
      <dgm:spPr/>
    </dgm:pt>
    <dgm:pt modelId="{D57CCDE0-0AA6-4244-9123-699FFF630EBA}" type="pres">
      <dgm:prSet presAssocID="{FCAA5382-5FBA-42E2-8963-E037CF5563D8}" presName="node" presStyleLbl="node1" presStyleIdx="2" presStyleCnt="3" custScaleX="13878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A7C50A9-A994-421A-9F33-F14336E8B6AA}" srcId="{529066DD-6FEF-4E12-8108-F9CD31519125}" destId="{5D2E50E5-6862-4CC7-B4D7-812FE5DCA265}" srcOrd="1" destOrd="0" parTransId="{302256CB-11F4-4D36-A5C4-C91ED96A390C}" sibTransId="{77B17BDE-106B-4869-AB85-76FB24B82D3F}"/>
    <dgm:cxn modelId="{9E5CF2BD-6F08-4B0A-9BDE-661E68857104}" type="presOf" srcId="{FCAA5382-5FBA-42E2-8963-E037CF5563D8}" destId="{D57CCDE0-0AA6-4244-9123-699FFF630EBA}" srcOrd="0" destOrd="0" presId="urn:microsoft.com/office/officeart/2005/8/layout/default"/>
    <dgm:cxn modelId="{68E26022-AC1A-43AB-9401-FD45C605F16A}" type="presOf" srcId="{529066DD-6FEF-4E12-8108-F9CD31519125}" destId="{E46938EE-3B0A-46FB-A8F6-6B2FD6055329}" srcOrd="0" destOrd="0" presId="urn:microsoft.com/office/officeart/2005/8/layout/default"/>
    <dgm:cxn modelId="{1A332F88-6D61-4B14-A817-B34C82962BE9}" srcId="{529066DD-6FEF-4E12-8108-F9CD31519125}" destId="{FCAA5382-5FBA-42E2-8963-E037CF5563D8}" srcOrd="2" destOrd="0" parTransId="{2B630A29-0CB4-4635-AA2E-DD37D78D5F4B}" sibTransId="{DEC51876-7056-4D41-8735-0A7CBC792D6C}"/>
    <dgm:cxn modelId="{BB6E44C2-3570-4494-8D8A-193139D54070}" type="presOf" srcId="{5D2E50E5-6862-4CC7-B4D7-812FE5DCA265}" destId="{0F6B6AAA-59F2-42D8-9041-CCEFEE5E574E}" srcOrd="0" destOrd="0" presId="urn:microsoft.com/office/officeart/2005/8/layout/default"/>
    <dgm:cxn modelId="{7E2818F8-E5F6-4183-95F0-138D8978A01D}" type="presOf" srcId="{60E12617-CECD-4502-B2D4-3AAEE2D06EB2}" destId="{115EB25D-CAE3-43B8-9FDE-63009173E0A4}" srcOrd="0" destOrd="0" presId="urn:microsoft.com/office/officeart/2005/8/layout/default"/>
    <dgm:cxn modelId="{F6E58897-5B8C-46D9-A2C0-456CBA9535AC}" srcId="{529066DD-6FEF-4E12-8108-F9CD31519125}" destId="{60E12617-CECD-4502-B2D4-3AAEE2D06EB2}" srcOrd="0" destOrd="0" parTransId="{2F48943C-2762-47A2-BB0B-4C7AB15A9422}" sibTransId="{BE4ECCD6-5972-405C-8FBC-3BDA445B62C5}"/>
    <dgm:cxn modelId="{A7BDBD7E-FF1A-4A09-AD01-A8FEA1E56FCF}" type="presParOf" srcId="{E46938EE-3B0A-46FB-A8F6-6B2FD6055329}" destId="{115EB25D-CAE3-43B8-9FDE-63009173E0A4}" srcOrd="0" destOrd="0" presId="urn:microsoft.com/office/officeart/2005/8/layout/default"/>
    <dgm:cxn modelId="{F8A9FA42-6248-4889-B010-0A3B4B1EBF6B}" type="presParOf" srcId="{E46938EE-3B0A-46FB-A8F6-6B2FD6055329}" destId="{94B7096E-3C05-401F-A0C0-1F2AF973B99B}" srcOrd="1" destOrd="0" presId="urn:microsoft.com/office/officeart/2005/8/layout/default"/>
    <dgm:cxn modelId="{C8BE9615-D43F-4678-897A-946D9BBAD2DD}" type="presParOf" srcId="{E46938EE-3B0A-46FB-A8F6-6B2FD6055329}" destId="{0F6B6AAA-59F2-42D8-9041-CCEFEE5E574E}" srcOrd="2" destOrd="0" presId="urn:microsoft.com/office/officeart/2005/8/layout/default"/>
    <dgm:cxn modelId="{FCDA4A9E-B8F8-42A3-8B20-6E1956843E2B}" type="presParOf" srcId="{E46938EE-3B0A-46FB-A8F6-6B2FD6055329}" destId="{81F86EA3-1DF2-4F0F-B2FB-8CDAB7D7A01B}" srcOrd="3" destOrd="0" presId="urn:microsoft.com/office/officeart/2005/8/layout/default"/>
    <dgm:cxn modelId="{1A6098DC-B21C-4556-8838-33C8FAB6AC72}" type="presParOf" srcId="{E46938EE-3B0A-46FB-A8F6-6B2FD6055329}" destId="{D57CCDE0-0AA6-4244-9123-699FFF630EBA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EBD4FD2-F09D-4A6A-9DD5-2BD8E7A401E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92F6A29-1CE8-498F-B928-82F08EB372D1}">
      <dgm:prSet phldrT="[Текст]" custT="1"/>
      <dgm:spPr/>
      <dgm:t>
        <a:bodyPr/>
        <a:lstStyle/>
        <a:p>
          <a:r>
            <a:rPr lang="ru-RU" sz="2400" dirty="0" err="1" smtClean="0">
              <a:latin typeface="Times New Roman" pitchFamily="18" charset="0"/>
              <a:cs typeface="Times New Roman" pitchFamily="18" charset="0"/>
            </a:rPr>
            <a:t>Проактивные</a:t>
          </a:r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 (табличные) - каждый узел строит свою таблицу маршрутизации и делится информацией об изменении топологии сети со своими соседями.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CCA1722A-9850-4D32-8BCC-E1A8DEE9B4CB}" type="parTrans" cxnId="{BE8BBD75-3914-423C-8056-05941B07C3C0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56D992B9-1FC8-443A-805A-52A89621C3F2}" type="sibTrans" cxnId="{BE8BBD75-3914-423C-8056-05941B07C3C0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0863ECA-7DDB-4E8C-BF6A-155F2DEC4696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Реактивные (работающие по запросу) - таблицы маршрутизации не строятся, маршрут составляется по мере необходимости. Для определения пути отправки сообщения используется широковещание.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8269F257-0540-44A6-B359-F269E81EFBD5}" type="parTrans" cxnId="{53B43AD1-F51C-4D55-9BC3-992786DE4A3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B4819C8D-2227-4F11-A39A-1192F837D0E8}" type="sibTrans" cxnId="{53B43AD1-F51C-4D55-9BC3-992786DE4A3A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5F73258-8DE5-43B3-A0E9-E0A040C173FE}" type="pres">
      <dgm:prSet presAssocID="{5EBD4FD2-F09D-4A6A-9DD5-2BD8E7A401E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990326D-D096-4B39-91C4-1E2B2BC1E817}" type="pres">
      <dgm:prSet presAssocID="{492F6A29-1CE8-498F-B928-82F08EB372D1}" presName="node" presStyleLbl="node1" presStyleIdx="0" presStyleCnt="2" custScaleY="13608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01B42F9-A346-42B1-9BAD-5331080BC81D}" type="pres">
      <dgm:prSet presAssocID="{56D992B9-1FC8-443A-805A-52A89621C3F2}" presName="sibTrans" presStyleCnt="0"/>
      <dgm:spPr/>
    </dgm:pt>
    <dgm:pt modelId="{01C2968A-E2FF-48D2-81DE-073C35ACFBF7}" type="pres">
      <dgm:prSet presAssocID="{C0863ECA-7DDB-4E8C-BF6A-155F2DEC4696}" presName="node" presStyleLbl="node1" presStyleIdx="1" presStyleCnt="2" custScaleY="13373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EE18A42-4F8B-4F4F-B92B-71E74D1463E7}" type="presOf" srcId="{C0863ECA-7DDB-4E8C-BF6A-155F2DEC4696}" destId="{01C2968A-E2FF-48D2-81DE-073C35ACFBF7}" srcOrd="0" destOrd="0" presId="urn:microsoft.com/office/officeart/2005/8/layout/default"/>
    <dgm:cxn modelId="{C6C597B9-8225-47B4-9E23-DF6EE34C9CE9}" type="presOf" srcId="{5EBD4FD2-F09D-4A6A-9DD5-2BD8E7A401E8}" destId="{25F73258-8DE5-43B3-A0E9-E0A040C173FE}" srcOrd="0" destOrd="0" presId="urn:microsoft.com/office/officeart/2005/8/layout/default"/>
    <dgm:cxn modelId="{53B43AD1-F51C-4D55-9BC3-992786DE4A3A}" srcId="{5EBD4FD2-F09D-4A6A-9DD5-2BD8E7A401E8}" destId="{C0863ECA-7DDB-4E8C-BF6A-155F2DEC4696}" srcOrd="1" destOrd="0" parTransId="{8269F257-0540-44A6-B359-F269E81EFBD5}" sibTransId="{B4819C8D-2227-4F11-A39A-1192F837D0E8}"/>
    <dgm:cxn modelId="{BE8BBD75-3914-423C-8056-05941B07C3C0}" srcId="{5EBD4FD2-F09D-4A6A-9DD5-2BD8E7A401E8}" destId="{492F6A29-1CE8-498F-B928-82F08EB372D1}" srcOrd="0" destOrd="0" parTransId="{CCA1722A-9850-4D32-8BCC-E1A8DEE9B4CB}" sibTransId="{56D992B9-1FC8-443A-805A-52A89621C3F2}"/>
    <dgm:cxn modelId="{3EE92C4F-0812-48C8-A2FF-EBB182D4092E}" type="presOf" srcId="{492F6A29-1CE8-498F-B928-82F08EB372D1}" destId="{B990326D-D096-4B39-91C4-1E2B2BC1E817}" srcOrd="0" destOrd="0" presId="urn:microsoft.com/office/officeart/2005/8/layout/default"/>
    <dgm:cxn modelId="{E9079B57-590A-4B35-BE09-599B8AA80688}" type="presParOf" srcId="{25F73258-8DE5-43B3-A0E9-E0A040C173FE}" destId="{B990326D-D096-4B39-91C4-1E2B2BC1E817}" srcOrd="0" destOrd="0" presId="urn:microsoft.com/office/officeart/2005/8/layout/default"/>
    <dgm:cxn modelId="{EC0B7AC7-A3F2-4F83-B027-918B87E56797}" type="presParOf" srcId="{25F73258-8DE5-43B3-A0E9-E0A040C173FE}" destId="{501B42F9-A346-42B1-9BAD-5331080BC81D}" srcOrd="1" destOrd="0" presId="urn:microsoft.com/office/officeart/2005/8/layout/default"/>
    <dgm:cxn modelId="{194C8A2F-B554-4236-BF70-487D938C00C3}" type="presParOf" srcId="{25F73258-8DE5-43B3-A0E9-E0A040C173FE}" destId="{01C2968A-E2FF-48D2-81DE-073C35ACFBF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D9F84BC-96BB-467D-B381-36B37F9CEEE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B0C069E-0AC2-4813-A3F5-24E383694224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Выбор оборудования:  </a:t>
          </a:r>
          <a:endParaRPr lang="en-US" sz="2000" dirty="0" smtClean="0">
            <a:latin typeface="Times New Roman" pitchFamily="18" charset="0"/>
            <a:cs typeface="Times New Roman" pitchFamily="18" charset="0"/>
          </a:endParaRP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Использование серверов высокой производительности и специализированного программного обеспечения для управления БТС.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6A9CD4A5-76DE-4C1B-8497-ECB532DF2348}" type="parTrans" cxnId="{4C320930-9108-492C-B9F8-84AC7EC37EC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96D2D51-76B0-423C-BADA-EBA85A50D534}" type="sibTrans" cxnId="{4C320930-9108-492C-B9F8-84AC7EC37EC2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95234A7F-6228-4A9B-A679-E632C2791AA7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Организация диспетчерского пункта: </a:t>
          </a:r>
          <a:endParaRPr lang="en-US" sz="2000" dirty="0" smtClean="0">
            <a:latin typeface="Times New Roman" pitchFamily="18" charset="0"/>
            <a:cs typeface="Times New Roman" pitchFamily="18" charset="0"/>
          </a:endParaRP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Создание комфортного рабочего места для диспетчеров с установкой мониторов и средств связи.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3E5F81E0-07A6-49EE-862F-1A0441274391}" type="parTrans" cxnId="{E3E0C20F-9647-4895-B7A8-BE2E7E3D200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07C10812-50B6-4422-87E1-B0909AB3C2B4}" type="sibTrans" cxnId="{E3E0C20F-9647-4895-B7A8-BE2E7E3D200C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B76B2ED-F226-41EA-99FF-E21A3FEE8568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Резервирование питания и связи: </a:t>
          </a:r>
          <a:endParaRPr lang="en-US" sz="2000" dirty="0" smtClean="0">
            <a:latin typeface="Times New Roman" pitchFamily="18" charset="0"/>
            <a:cs typeface="Times New Roman" pitchFamily="18" charset="0"/>
          </a:endParaRP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Обеспечение бесперебойной работы базовой станции в случае отключения электроэнергии или потери связи.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9DEF3C54-A94D-4A04-91AC-63632D25178E}" type="parTrans" cxnId="{208AB665-F051-4AA6-B3DA-8B8EF4B55AE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9387EC4E-E243-4F0E-A22B-6F62C7384202}" type="sibTrans" cxnId="{208AB665-F051-4AA6-B3DA-8B8EF4B55AE5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F8D9A68-D347-4CF2-A127-C08B5782F532}" type="pres">
      <dgm:prSet presAssocID="{5D9F84BC-96BB-467D-B381-36B37F9CEEE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ABAB371-7E3E-4803-80F0-12FD5AB57A7B}" type="pres">
      <dgm:prSet presAssocID="{DB0C069E-0AC2-4813-A3F5-24E383694224}" presName="node" presStyleLbl="node1" presStyleIdx="0" presStyleCnt="3" custScaleX="12247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433B3C-5A20-4659-B122-10ED6B506BDA}" type="pres">
      <dgm:prSet presAssocID="{F96D2D51-76B0-423C-BADA-EBA85A50D534}" presName="sibTrans" presStyleCnt="0"/>
      <dgm:spPr/>
    </dgm:pt>
    <dgm:pt modelId="{9C9C0FD2-2563-4D8D-BADF-9A8602F07F31}" type="pres">
      <dgm:prSet presAssocID="{95234A7F-6228-4A9B-A679-E632C2791AA7}" presName="node" presStyleLbl="node1" presStyleIdx="1" presStyleCnt="3" custScaleX="11712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85BC2CB-AAC1-4673-9A42-697C4F16CA22}" type="pres">
      <dgm:prSet presAssocID="{07C10812-50B6-4422-87E1-B0909AB3C2B4}" presName="sibTrans" presStyleCnt="0"/>
      <dgm:spPr/>
    </dgm:pt>
    <dgm:pt modelId="{332AC650-BC9A-4578-B99D-8F80A32527F9}" type="pres">
      <dgm:prSet presAssocID="{DB76B2ED-F226-41EA-99FF-E21A3FEE8568}" presName="node" presStyleLbl="node1" presStyleIdx="2" presStyleCnt="3" custScaleX="13547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08AB665-F051-4AA6-B3DA-8B8EF4B55AE5}" srcId="{5D9F84BC-96BB-467D-B381-36B37F9CEEE5}" destId="{DB76B2ED-F226-41EA-99FF-E21A3FEE8568}" srcOrd="2" destOrd="0" parTransId="{9DEF3C54-A94D-4A04-91AC-63632D25178E}" sibTransId="{9387EC4E-E243-4F0E-A22B-6F62C7384202}"/>
    <dgm:cxn modelId="{06AC50F8-BDF0-4DE8-B007-C3F2229683CC}" type="presOf" srcId="{DB76B2ED-F226-41EA-99FF-E21A3FEE8568}" destId="{332AC650-BC9A-4578-B99D-8F80A32527F9}" srcOrd="0" destOrd="0" presId="urn:microsoft.com/office/officeart/2005/8/layout/default"/>
    <dgm:cxn modelId="{CDBFBABA-5D7E-40DC-B745-B163A82DB6AD}" type="presOf" srcId="{DB0C069E-0AC2-4813-A3F5-24E383694224}" destId="{CABAB371-7E3E-4803-80F0-12FD5AB57A7B}" srcOrd="0" destOrd="0" presId="urn:microsoft.com/office/officeart/2005/8/layout/default"/>
    <dgm:cxn modelId="{AF412D9E-6538-4A85-B2B5-15AE72A069C2}" type="presOf" srcId="{95234A7F-6228-4A9B-A679-E632C2791AA7}" destId="{9C9C0FD2-2563-4D8D-BADF-9A8602F07F31}" srcOrd="0" destOrd="0" presId="urn:microsoft.com/office/officeart/2005/8/layout/default"/>
    <dgm:cxn modelId="{4C320930-9108-492C-B9F8-84AC7EC37EC2}" srcId="{5D9F84BC-96BB-467D-B381-36B37F9CEEE5}" destId="{DB0C069E-0AC2-4813-A3F5-24E383694224}" srcOrd="0" destOrd="0" parTransId="{6A9CD4A5-76DE-4C1B-8497-ECB532DF2348}" sibTransId="{F96D2D51-76B0-423C-BADA-EBA85A50D534}"/>
    <dgm:cxn modelId="{E3E0C20F-9647-4895-B7A8-BE2E7E3D200C}" srcId="{5D9F84BC-96BB-467D-B381-36B37F9CEEE5}" destId="{95234A7F-6228-4A9B-A679-E632C2791AA7}" srcOrd="1" destOrd="0" parTransId="{3E5F81E0-07A6-49EE-862F-1A0441274391}" sibTransId="{07C10812-50B6-4422-87E1-B0909AB3C2B4}"/>
    <dgm:cxn modelId="{778F7DCC-8725-4077-BBC6-085FDE2C4E70}" type="presOf" srcId="{5D9F84BC-96BB-467D-B381-36B37F9CEEE5}" destId="{CF8D9A68-D347-4CF2-A127-C08B5782F532}" srcOrd="0" destOrd="0" presId="urn:microsoft.com/office/officeart/2005/8/layout/default"/>
    <dgm:cxn modelId="{677B6DAE-211D-4216-882F-F03F131EA452}" type="presParOf" srcId="{CF8D9A68-D347-4CF2-A127-C08B5782F532}" destId="{CABAB371-7E3E-4803-80F0-12FD5AB57A7B}" srcOrd="0" destOrd="0" presId="urn:microsoft.com/office/officeart/2005/8/layout/default"/>
    <dgm:cxn modelId="{FFD4D763-3081-4F8D-B695-70713B18510A}" type="presParOf" srcId="{CF8D9A68-D347-4CF2-A127-C08B5782F532}" destId="{C6433B3C-5A20-4659-B122-10ED6B506BDA}" srcOrd="1" destOrd="0" presId="urn:microsoft.com/office/officeart/2005/8/layout/default"/>
    <dgm:cxn modelId="{22DB8420-941F-4FC7-9EBF-84BBF2F554D4}" type="presParOf" srcId="{CF8D9A68-D347-4CF2-A127-C08B5782F532}" destId="{9C9C0FD2-2563-4D8D-BADF-9A8602F07F31}" srcOrd="2" destOrd="0" presId="urn:microsoft.com/office/officeart/2005/8/layout/default"/>
    <dgm:cxn modelId="{17340F63-EEDA-47DF-9D74-CDA92DA0246C}" type="presParOf" srcId="{CF8D9A68-D347-4CF2-A127-C08B5782F532}" destId="{B85BC2CB-AAC1-4673-9A42-697C4F16CA22}" srcOrd="3" destOrd="0" presId="urn:microsoft.com/office/officeart/2005/8/layout/default"/>
    <dgm:cxn modelId="{0B1C8DB7-E9FB-452D-B6D8-A579F9F298CF}" type="presParOf" srcId="{CF8D9A68-D347-4CF2-A127-C08B5782F532}" destId="{332AC650-BC9A-4578-B99D-8F80A32527F9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D9F84BC-96BB-467D-B381-36B37F9CEEE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DB0C069E-0AC2-4813-A3F5-24E383694224}">
      <dgm:prSet phldrT="[Текст]" custT="1"/>
      <dgm:spPr/>
      <dgm:t>
        <a:bodyPr/>
        <a:lstStyle/>
        <a:p>
          <a:r>
            <a:rPr lang="ru-RU" sz="2800" smtClean="0">
              <a:latin typeface="Times New Roman" pitchFamily="18" charset="0"/>
              <a:cs typeface="Times New Roman" pitchFamily="18" charset="0"/>
            </a:rPr>
            <a:t>Использование облачных платформ для хранения и обработки данных БТС.</a:t>
          </a:r>
          <a:endParaRPr lang="ru-RU" sz="2800" dirty="0">
            <a:latin typeface="Times New Roman" pitchFamily="18" charset="0"/>
            <a:cs typeface="Times New Roman" pitchFamily="18" charset="0"/>
          </a:endParaRPr>
        </a:p>
      </dgm:t>
    </dgm:pt>
    <dgm:pt modelId="{6A9CD4A5-76DE-4C1B-8497-ECB532DF2348}" type="parTrans" cxnId="{4C320930-9108-492C-B9F8-84AC7EC37EC2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F96D2D51-76B0-423C-BADA-EBA85A50D534}" type="sibTrans" cxnId="{4C320930-9108-492C-B9F8-84AC7EC37EC2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EE4B82F4-83CD-40F7-98C2-A2A368163E28}">
      <dgm:prSet custT="1"/>
      <dgm:spPr/>
      <dgm:t>
        <a:bodyPr/>
        <a:lstStyle/>
        <a:p>
          <a:r>
            <a:rPr lang="ru-RU" sz="2800" dirty="0" smtClean="0">
              <a:latin typeface="Times New Roman" pitchFamily="18" charset="0"/>
              <a:cs typeface="Times New Roman" pitchFamily="18" charset="0"/>
            </a:rPr>
            <a:t>Интеграция базовой станции с системами управления предприятием (ERP, CRM).</a:t>
          </a:r>
        </a:p>
      </dgm:t>
    </dgm:pt>
    <dgm:pt modelId="{B91405B4-B45F-44A2-B2C7-2F5DFE2D7542}" type="parTrans" cxnId="{635EC2B0-60D5-4224-8767-B242CC44F62D}">
      <dgm:prSet/>
      <dgm:spPr/>
      <dgm:t>
        <a:bodyPr/>
        <a:lstStyle/>
        <a:p>
          <a:endParaRPr lang="ru-RU" sz="2400"/>
        </a:p>
      </dgm:t>
    </dgm:pt>
    <dgm:pt modelId="{9623A8D8-75C0-4E20-A752-9EE1754F0B49}" type="sibTrans" cxnId="{635EC2B0-60D5-4224-8767-B242CC44F62D}">
      <dgm:prSet/>
      <dgm:spPr/>
      <dgm:t>
        <a:bodyPr/>
        <a:lstStyle/>
        <a:p>
          <a:endParaRPr lang="ru-RU" sz="2400"/>
        </a:p>
      </dgm:t>
    </dgm:pt>
    <dgm:pt modelId="{CF8D9A68-D347-4CF2-A127-C08B5782F532}" type="pres">
      <dgm:prSet presAssocID="{5D9F84BC-96BB-467D-B381-36B37F9CEEE5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ABAB371-7E3E-4803-80F0-12FD5AB57A7B}" type="pres">
      <dgm:prSet presAssocID="{DB0C069E-0AC2-4813-A3F5-24E383694224}" presName="node" presStyleLbl="node1" presStyleIdx="0" presStyleCnt="2" custScaleX="12247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6433B3C-5A20-4659-B122-10ED6B506BDA}" type="pres">
      <dgm:prSet presAssocID="{F96D2D51-76B0-423C-BADA-EBA85A50D534}" presName="sibTrans" presStyleCnt="0"/>
      <dgm:spPr/>
    </dgm:pt>
    <dgm:pt modelId="{B21F8D90-467E-4027-A50D-2BC769F6F12B}" type="pres">
      <dgm:prSet presAssocID="{EE4B82F4-83CD-40F7-98C2-A2A368163E28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35EC2B0-60D5-4224-8767-B242CC44F62D}" srcId="{5D9F84BC-96BB-467D-B381-36B37F9CEEE5}" destId="{EE4B82F4-83CD-40F7-98C2-A2A368163E28}" srcOrd="1" destOrd="0" parTransId="{B91405B4-B45F-44A2-B2C7-2F5DFE2D7542}" sibTransId="{9623A8D8-75C0-4E20-A752-9EE1754F0B49}"/>
    <dgm:cxn modelId="{4C320930-9108-492C-B9F8-84AC7EC37EC2}" srcId="{5D9F84BC-96BB-467D-B381-36B37F9CEEE5}" destId="{DB0C069E-0AC2-4813-A3F5-24E383694224}" srcOrd="0" destOrd="0" parTransId="{6A9CD4A5-76DE-4C1B-8497-ECB532DF2348}" sibTransId="{F96D2D51-76B0-423C-BADA-EBA85A50D534}"/>
    <dgm:cxn modelId="{B8602A3C-C258-4B16-8F46-B1458F64EAE7}" type="presOf" srcId="{5D9F84BC-96BB-467D-B381-36B37F9CEEE5}" destId="{CF8D9A68-D347-4CF2-A127-C08B5782F532}" srcOrd="0" destOrd="0" presId="urn:microsoft.com/office/officeart/2005/8/layout/default"/>
    <dgm:cxn modelId="{DC97694C-CAA1-44D1-87E7-7F054D783E13}" type="presOf" srcId="{EE4B82F4-83CD-40F7-98C2-A2A368163E28}" destId="{B21F8D90-467E-4027-A50D-2BC769F6F12B}" srcOrd="0" destOrd="0" presId="urn:microsoft.com/office/officeart/2005/8/layout/default"/>
    <dgm:cxn modelId="{663CAC83-2B65-48E2-9289-A135649116DF}" type="presOf" srcId="{DB0C069E-0AC2-4813-A3F5-24E383694224}" destId="{CABAB371-7E3E-4803-80F0-12FD5AB57A7B}" srcOrd="0" destOrd="0" presId="urn:microsoft.com/office/officeart/2005/8/layout/default"/>
    <dgm:cxn modelId="{B3187950-241E-4F3A-8321-5D1BFA8A5B1F}" type="presParOf" srcId="{CF8D9A68-D347-4CF2-A127-C08B5782F532}" destId="{CABAB371-7E3E-4803-80F0-12FD5AB57A7B}" srcOrd="0" destOrd="0" presId="urn:microsoft.com/office/officeart/2005/8/layout/default"/>
    <dgm:cxn modelId="{30C0FBED-9622-4AEF-9287-0C26D45EED61}" type="presParOf" srcId="{CF8D9A68-D347-4CF2-A127-C08B5782F532}" destId="{C6433B3C-5A20-4659-B122-10ED6B506BDA}" srcOrd="1" destOrd="0" presId="urn:microsoft.com/office/officeart/2005/8/layout/default"/>
    <dgm:cxn modelId="{14F1888F-93D4-4A07-BF53-35C036AD58B5}" type="presParOf" srcId="{CF8D9A68-D347-4CF2-A127-C08B5782F532}" destId="{B21F8D90-467E-4027-A50D-2BC769F6F12B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FFC58F1-5CC5-4F95-AB90-2746478EDEE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EAFB098-326B-4358-85C3-B1C8A9D45246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Использование специального оборудования: </a:t>
          </a:r>
          <a:endParaRPr lang="en-US" dirty="0" smtClean="0">
            <a:latin typeface="Times New Roman" pitchFamily="18" charset="0"/>
            <a:cs typeface="Times New Roman" pitchFamily="18" charset="0"/>
          </a:endParaRP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Применение анализаторов спектра и другого оборудования для измерения уровня сигнала </a:t>
          </a:r>
          <a:r>
            <a:rPr lang="ru-RU" dirty="0" err="1" smtClean="0">
              <a:latin typeface="Times New Roman" pitchFamily="18" charset="0"/>
              <a:cs typeface="Times New Roman" pitchFamily="18" charset="0"/>
            </a:rPr>
            <a:t>WiFi</a:t>
          </a:r>
          <a:r>
            <a:rPr lang="ru-RU" dirty="0" smtClean="0">
              <a:latin typeface="Times New Roman" pitchFamily="18" charset="0"/>
              <a:cs typeface="Times New Roman" pitchFamily="18" charset="0"/>
            </a:rPr>
            <a:t>, сотовой связи и других каналов передачи данных.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CD9FBB68-B73A-45ED-B979-7195757CD5C4}" type="parTrans" cxnId="{3E4607E7-562A-469C-96F7-925FB6813B3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95F70EE-B55A-45C9-9AFF-E437341C7833}" type="sibTrans" cxnId="{3E4607E7-562A-469C-96F7-925FB6813B3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CBFC9FB-87C2-4D41-BB00-C6AB87574430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Проведение замеров в разное время суток: </a:t>
          </a:r>
          <a:endParaRPr lang="en-US" dirty="0" smtClean="0">
            <a:latin typeface="Times New Roman" pitchFamily="18" charset="0"/>
            <a:cs typeface="Times New Roman" pitchFamily="18" charset="0"/>
          </a:endParaRP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Выявление зависимости уровня сигнала от времени суток и загруженности сети.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7E608E5C-0FB8-460D-8947-C0BC154BC687}" type="parTrans" cxnId="{911387B0-F78A-4664-BB4C-D17074A0CE7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CD31CAF-BF60-4CA9-8CDC-364203CFAC58}" type="sibTrans" cxnId="{911387B0-F78A-4664-BB4C-D17074A0CE7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8C9C35A-4E9F-4713-B5DF-F2D00325033F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Анализ результатов: </a:t>
          </a:r>
          <a:endParaRPr lang="en-US" dirty="0" smtClean="0">
            <a:latin typeface="Times New Roman" pitchFamily="18" charset="0"/>
            <a:cs typeface="Times New Roman" pitchFamily="18" charset="0"/>
          </a:endParaRP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Определение зон с низким уровнем сигнала и выработка рекомендаций по его улучшению.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3E35F696-8E75-46B6-B0D5-6AB58E00F5FD}" type="parTrans" cxnId="{C01E5718-36D7-460E-941D-7BA4DB0A4D7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6BE5FBA-1DCD-4EBF-84ED-A170C1EDD36B}" type="sibTrans" cxnId="{C01E5718-36D7-460E-941D-7BA4DB0A4D7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13C63FA-30DC-47FF-8AD2-B00F177B2C55}" type="pres">
      <dgm:prSet presAssocID="{3FFC58F1-5CC5-4F95-AB90-2746478EDEE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9696AAF-7B73-4941-AF34-DAF21EE32874}" type="pres">
      <dgm:prSet presAssocID="{CEAFB098-326B-4358-85C3-B1C8A9D45246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99077FC-3E54-4372-95A2-01DAA2E694B4}" type="pres">
      <dgm:prSet presAssocID="{095F70EE-B55A-45C9-9AFF-E437341C7833}" presName="sibTrans" presStyleCnt="0"/>
      <dgm:spPr/>
    </dgm:pt>
    <dgm:pt modelId="{F59FB5BA-80BC-45C7-A03B-BF2FDC9EBFAC}" type="pres">
      <dgm:prSet presAssocID="{4CBFC9FB-87C2-4D41-BB00-C6AB87574430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123A186-E2FB-4274-9387-5FC318B6D1FE}" type="pres">
      <dgm:prSet presAssocID="{DCD31CAF-BF60-4CA9-8CDC-364203CFAC58}" presName="sibTrans" presStyleCnt="0"/>
      <dgm:spPr/>
    </dgm:pt>
    <dgm:pt modelId="{16C20A2C-E14D-4FAB-B64A-9FF56A0CD0FE}" type="pres">
      <dgm:prSet presAssocID="{E8C9C35A-4E9F-4713-B5DF-F2D00325033F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01E5718-36D7-460E-941D-7BA4DB0A4D79}" srcId="{3FFC58F1-5CC5-4F95-AB90-2746478EDEEC}" destId="{E8C9C35A-4E9F-4713-B5DF-F2D00325033F}" srcOrd="2" destOrd="0" parTransId="{3E35F696-8E75-46B6-B0D5-6AB58E00F5FD}" sibTransId="{B6BE5FBA-1DCD-4EBF-84ED-A170C1EDD36B}"/>
    <dgm:cxn modelId="{5478E1A1-04D2-487D-AD4E-2E0C39255E33}" type="presOf" srcId="{3FFC58F1-5CC5-4F95-AB90-2746478EDEEC}" destId="{B13C63FA-30DC-47FF-8AD2-B00F177B2C55}" srcOrd="0" destOrd="0" presId="urn:microsoft.com/office/officeart/2005/8/layout/default"/>
    <dgm:cxn modelId="{911387B0-F78A-4664-BB4C-D17074A0CE7A}" srcId="{3FFC58F1-5CC5-4F95-AB90-2746478EDEEC}" destId="{4CBFC9FB-87C2-4D41-BB00-C6AB87574430}" srcOrd="1" destOrd="0" parTransId="{7E608E5C-0FB8-460D-8947-C0BC154BC687}" sibTransId="{DCD31CAF-BF60-4CA9-8CDC-364203CFAC58}"/>
    <dgm:cxn modelId="{001D7B4B-0E11-4061-BCF1-1F5F5C523D48}" type="presOf" srcId="{E8C9C35A-4E9F-4713-B5DF-F2D00325033F}" destId="{16C20A2C-E14D-4FAB-B64A-9FF56A0CD0FE}" srcOrd="0" destOrd="0" presId="urn:microsoft.com/office/officeart/2005/8/layout/default"/>
    <dgm:cxn modelId="{BCB4648D-DD88-4BF8-B5DF-0F9CDDE3D79D}" type="presOf" srcId="{4CBFC9FB-87C2-4D41-BB00-C6AB87574430}" destId="{F59FB5BA-80BC-45C7-A03B-BF2FDC9EBFAC}" srcOrd="0" destOrd="0" presId="urn:microsoft.com/office/officeart/2005/8/layout/default"/>
    <dgm:cxn modelId="{1082E2DF-7F84-42A7-ADC1-865D57ABA856}" type="presOf" srcId="{CEAFB098-326B-4358-85C3-B1C8A9D45246}" destId="{29696AAF-7B73-4941-AF34-DAF21EE32874}" srcOrd="0" destOrd="0" presId="urn:microsoft.com/office/officeart/2005/8/layout/default"/>
    <dgm:cxn modelId="{3E4607E7-562A-469C-96F7-925FB6813B36}" srcId="{3FFC58F1-5CC5-4F95-AB90-2746478EDEEC}" destId="{CEAFB098-326B-4358-85C3-B1C8A9D45246}" srcOrd="0" destOrd="0" parTransId="{CD9FBB68-B73A-45ED-B979-7195757CD5C4}" sibTransId="{095F70EE-B55A-45C9-9AFF-E437341C7833}"/>
    <dgm:cxn modelId="{F770D619-C43D-48BF-9FB3-8E520B2DBECB}" type="presParOf" srcId="{B13C63FA-30DC-47FF-8AD2-B00F177B2C55}" destId="{29696AAF-7B73-4941-AF34-DAF21EE32874}" srcOrd="0" destOrd="0" presId="urn:microsoft.com/office/officeart/2005/8/layout/default"/>
    <dgm:cxn modelId="{53668372-3FF0-43D6-ACC2-8E015C3C45DE}" type="presParOf" srcId="{B13C63FA-30DC-47FF-8AD2-B00F177B2C55}" destId="{F99077FC-3E54-4372-95A2-01DAA2E694B4}" srcOrd="1" destOrd="0" presId="urn:microsoft.com/office/officeart/2005/8/layout/default"/>
    <dgm:cxn modelId="{C9434B84-6D4A-4A9F-B33D-33BD995CA8D6}" type="presParOf" srcId="{B13C63FA-30DC-47FF-8AD2-B00F177B2C55}" destId="{F59FB5BA-80BC-45C7-A03B-BF2FDC9EBFAC}" srcOrd="2" destOrd="0" presId="urn:microsoft.com/office/officeart/2005/8/layout/default"/>
    <dgm:cxn modelId="{96B61AD4-802A-4572-B653-F47E1685583F}" type="presParOf" srcId="{B13C63FA-30DC-47FF-8AD2-B00F177B2C55}" destId="{6123A186-E2FB-4274-9387-5FC318B6D1FE}" srcOrd="3" destOrd="0" presId="urn:microsoft.com/office/officeart/2005/8/layout/default"/>
    <dgm:cxn modelId="{0CC56D4B-F816-40BE-A80F-354F33738F22}" type="presParOf" srcId="{B13C63FA-30DC-47FF-8AD2-B00F177B2C55}" destId="{16C20A2C-E14D-4FAB-B64A-9FF56A0CD0FE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FFC58F1-5CC5-4F95-AB90-2746478EDEE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EAFB098-326B-4358-85C3-B1C8A9D45246}">
      <dgm:prSet phldrT="[Текст]" custT="1"/>
      <dgm:spPr/>
      <dgm:t>
        <a:bodyPr/>
        <a:lstStyle/>
        <a:p>
          <a:r>
            <a:rPr lang="ru-RU" sz="3200" smtClean="0">
              <a:latin typeface="Times New Roman" pitchFamily="18" charset="0"/>
              <a:cs typeface="Times New Roman" pitchFamily="18" charset="0"/>
            </a:rPr>
            <a:t>Использование карт покрытия сети для визуализации результатов замеров.</a:t>
          </a:r>
          <a:endParaRPr lang="ru-RU" sz="3200" dirty="0">
            <a:latin typeface="Times New Roman" pitchFamily="18" charset="0"/>
            <a:cs typeface="Times New Roman" pitchFamily="18" charset="0"/>
          </a:endParaRPr>
        </a:p>
      </dgm:t>
    </dgm:pt>
    <dgm:pt modelId="{CD9FBB68-B73A-45ED-B979-7195757CD5C4}" type="parTrans" cxnId="{3E4607E7-562A-469C-96F7-925FB6813B36}">
      <dgm:prSet/>
      <dgm:spPr/>
      <dgm:t>
        <a:bodyPr/>
        <a:lstStyle/>
        <a:p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095F70EE-B55A-45C9-9AFF-E437341C7833}" type="sibTrans" cxnId="{3E4607E7-562A-469C-96F7-925FB6813B36}">
      <dgm:prSet/>
      <dgm:spPr/>
      <dgm:t>
        <a:bodyPr/>
        <a:lstStyle/>
        <a:p>
          <a:endParaRPr lang="ru-RU" sz="1600">
            <a:latin typeface="Times New Roman" pitchFamily="18" charset="0"/>
            <a:cs typeface="Times New Roman" pitchFamily="18" charset="0"/>
          </a:endParaRPr>
        </a:p>
      </dgm:t>
    </dgm:pt>
    <dgm:pt modelId="{05BF9D5B-B37B-4BA6-9280-388FC857E597}">
      <dgm:prSet custT="1"/>
      <dgm:spPr/>
      <dgm:t>
        <a:bodyPr/>
        <a:lstStyle/>
        <a:p>
          <a:r>
            <a:rPr lang="ru-RU" sz="3200" dirty="0" smtClean="0">
              <a:latin typeface="Times New Roman" pitchFamily="18" charset="0"/>
              <a:cs typeface="Times New Roman" pitchFamily="18" charset="0"/>
            </a:rPr>
            <a:t>Оптимизация параметров передачи данных для минимизации потерь сигнала.</a:t>
          </a:r>
        </a:p>
      </dgm:t>
    </dgm:pt>
    <dgm:pt modelId="{A1263B51-D199-4D11-95CD-00EB66FDFDF5}" type="parTrans" cxnId="{9562B609-CA32-4022-AA7D-B1A046769B7D}">
      <dgm:prSet/>
      <dgm:spPr/>
      <dgm:t>
        <a:bodyPr/>
        <a:lstStyle/>
        <a:p>
          <a:endParaRPr lang="ru-RU" sz="1600"/>
        </a:p>
      </dgm:t>
    </dgm:pt>
    <dgm:pt modelId="{9BCA28FF-83C2-4087-B65A-3E6A0F9FE7B7}" type="sibTrans" cxnId="{9562B609-CA32-4022-AA7D-B1A046769B7D}">
      <dgm:prSet/>
      <dgm:spPr/>
      <dgm:t>
        <a:bodyPr/>
        <a:lstStyle/>
        <a:p>
          <a:endParaRPr lang="ru-RU" sz="1600"/>
        </a:p>
      </dgm:t>
    </dgm:pt>
    <dgm:pt modelId="{B13C63FA-30DC-47FF-8AD2-B00F177B2C55}" type="pres">
      <dgm:prSet presAssocID="{3FFC58F1-5CC5-4F95-AB90-2746478EDEE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29696AAF-7B73-4941-AF34-DAF21EE32874}" type="pres">
      <dgm:prSet presAssocID="{CEAFB098-326B-4358-85C3-B1C8A9D45246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99077FC-3E54-4372-95A2-01DAA2E694B4}" type="pres">
      <dgm:prSet presAssocID="{095F70EE-B55A-45C9-9AFF-E437341C7833}" presName="sibTrans" presStyleCnt="0"/>
      <dgm:spPr/>
    </dgm:pt>
    <dgm:pt modelId="{07048259-9167-4695-B5B2-FC28F2FD9FC8}" type="pres">
      <dgm:prSet presAssocID="{05BF9D5B-B37B-4BA6-9280-388FC857E597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30ED45C-2A83-4EFF-993D-9CA83ACA177A}" type="presOf" srcId="{3FFC58F1-5CC5-4F95-AB90-2746478EDEEC}" destId="{B13C63FA-30DC-47FF-8AD2-B00F177B2C55}" srcOrd="0" destOrd="0" presId="urn:microsoft.com/office/officeart/2005/8/layout/default"/>
    <dgm:cxn modelId="{9CC03B5F-1D07-4C3B-804B-7EC147F84493}" type="presOf" srcId="{05BF9D5B-B37B-4BA6-9280-388FC857E597}" destId="{07048259-9167-4695-B5B2-FC28F2FD9FC8}" srcOrd="0" destOrd="0" presId="urn:microsoft.com/office/officeart/2005/8/layout/default"/>
    <dgm:cxn modelId="{8014520B-D47D-4733-9484-ED6BC7C6092C}" type="presOf" srcId="{CEAFB098-326B-4358-85C3-B1C8A9D45246}" destId="{29696AAF-7B73-4941-AF34-DAF21EE32874}" srcOrd="0" destOrd="0" presId="urn:microsoft.com/office/officeart/2005/8/layout/default"/>
    <dgm:cxn modelId="{9562B609-CA32-4022-AA7D-B1A046769B7D}" srcId="{3FFC58F1-5CC5-4F95-AB90-2746478EDEEC}" destId="{05BF9D5B-B37B-4BA6-9280-388FC857E597}" srcOrd="1" destOrd="0" parTransId="{A1263B51-D199-4D11-95CD-00EB66FDFDF5}" sibTransId="{9BCA28FF-83C2-4087-B65A-3E6A0F9FE7B7}"/>
    <dgm:cxn modelId="{3E4607E7-562A-469C-96F7-925FB6813B36}" srcId="{3FFC58F1-5CC5-4F95-AB90-2746478EDEEC}" destId="{CEAFB098-326B-4358-85C3-B1C8A9D45246}" srcOrd="0" destOrd="0" parTransId="{CD9FBB68-B73A-45ED-B979-7195757CD5C4}" sibTransId="{095F70EE-B55A-45C9-9AFF-E437341C7833}"/>
    <dgm:cxn modelId="{216D5A41-BB5D-4781-83B2-0F941F8CB53D}" type="presParOf" srcId="{B13C63FA-30DC-47FF-8AD2-B00F177B2C55}" destId="{29696AAF-7B73-4941-AF34-DAF21EE32874}" srcOrd="0" destOrd="0" presId="urn:microsoft.com/office/officeart/2005/8/layout/default"/>
    <dgm:cxn modelId="{7ADFCF5A-2BC5-4380-AACB-6EC4CCA0E4C5}" type="presParOf" srcId="{B13C63FA-30DC-47FF-8AD2-B00F177B2C55}" destId="{F99077FC-3E54-4372-95A2-01DAA2E694B4}" srcOrd="1" destOrd="0" presId="urn:microsoft.com/office/officeart/2005/8/layout/default"/>
    <dgm:cxn modelId="{2ABDDC34-BAC5-4A18-A6B7-066845E5E215}" type="presParOf" srcId="{B13C63FA-30DC-47FF-8AD2-B00F177B2C55}" destId="{07048259-9167-4695-B5B2-FC28F2FD9FC8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BA94D93-6419-4BDB-A3DC-9DB00318AC1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89239F4-D86A-4D77-8B7B-8B6AB6E241E2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Использование GPS и лазерных сканеров:  </a:t>
          </a: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Создание точной трехмерной модели маршрута с использованием данных GPS и лазерного сканирования.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9630E647-248C-48F1-A231-91EE3F0A3640}" type="parTrans" cxnId="{4B2AE985-55A3-48F6-B11C-6E1A5C27DBAF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4C888EA8-9CF3-45C3-A8F9-41754B1B8340}" type="sibTrans" cxnId="{4B2AE985-55A3-48F6-B11C-6E1A5C27DBAF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C9AC1E3-2DCC-45FE-B9A4-6D67BBA3AE0D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Ручная обработка данных: </a:t>
          </a: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Добавление информации о дорожных знаках, светофорах, пешеходных переходах и других объектах.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D265E46E-24D4-4235-BAA3-0FADFE572FB5}" type="parTrans" cxnId="{8699E34C-D9F6-484C-9F72-626492357AD0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4FD65DD-DD4D-4EEE-B0E8-9C9D321CE231}" type="sibTrans" cxnId="{8699E34C-D9F6-484C-9F72-626492357AD0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75AA085-03B6-4F8C-8695-0440A369FB15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Регулярное обновление карты:</a:t>
          </a: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Своевременное внесение изменений в карту при изменении дорожной обстановки.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21B3F5D1-00CF-4943-9C6B-3A94A9DABB24}" type="parTrans" cxnId="{2372A670-4EF4-46E5-AB6A-EDD93786D181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4373FC6-65C1-41F6-A108-43CAF2999FC5}" type="sibTrans" cxnId="{2372A670-4EF4-46E5-AB6A-EDD93786D181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33DEDDD9-8DCB-4714-87FB-F070E00EA71C}" type="pres">
      <dgm:prSet presAssocID="{8BA94D93-6419-4BDB-A3DC-9DB00318AC1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0FE3E95-AAEB-4C40-BE3B-B120BFAAE399}" type="pres">
      <dgm:prSet presAssocID="{E89239F4-D86A-4D77-8B7B-8B6AB6E241E2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A4F19F-DEE8-4A7F-8E16-D5D458407A76}" type="pres">
      <dgm:prSet presAssocID="{4C888EA8-9CF3-45C3-A8F9-41754B1B8340}" presName="sibTrans" presStyleCnt="0"/>
      <dgm:spPr/>
    </dgm:pt>
    <dgm:pt modelId="{1419BED0-B991-4FF0-BD13-D41C1005049E}" type="pres">
      <dgm:prSet presAssocID="{AC9AC1E3-2DCC-45FE-B9A4-6D67BBA3AE0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E2A6DCC4-C704-48E7-B87B-C9C3C6AEFE75}" type="pres">
      <dgm:prSet presAssocID="{A4FD65DD-DD4D-4EEE-B0E8-9C9D321CE231}" presName="sibTrans" presStyleCnt="0"/>
      <dgm:spPr/>
    </dgm:pt>
    <dgm:pt modelId="{703C3373-D07B-427B-9355-33393E210A0B}" type="pres">
      <dgm:prSet presAssocID="{175AA085-03B6-4F8C-8695-0440A369FB15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EEF108B-F777-45AA-BF05-67CA99474306}" type="presOf" srcId="{8BA94D93-6419-4BDB-A3DC-9DB00318AC16}" destId="{33DEDDD9-8DCB-4714-87FB-F070E00EA71C}" srcOrd="0" destOrd="0" presId="urn:microsoft.com/office/officeart/2005/8/layout/default"/>
    <dgm:cxn modelId="{26409CC7-9369-47A4-B7CD-31D51233E591}" type="presOf" srcId="{175AA085-03B6-4F8C-8695-0440A369FB15}" destId="{703C3373-D07B-427B-9355-33393E210A0B}" srcOrd="0" destOrd="0" presId="urn:microsoft.com/office/officeart/2005/8/layout/default"/>
    <dgm:cxn modelId="{4B2AE985-55A3-48F6-B11C-6E1A5C27DBAF}" srcId="{8BA94D93-6419-4BDB-A3DC-9DB00318AC16}" destId="{E89239F4-D86A-4D77-8B7B-8B6AB6E241E2}" srcOrd="0" destOrd="0" parTransId="{9630E647-248C-48F1-A231-91EE3F0A3640}" sibTransId="{4C888EA8-9CF3-45C3-A8F9-41754B1B8340}"/>
    <dgm:cxn modelId="{2372A670-4EF4-46E5-AB6A-EDD93786D181}" srcId="{8BA94D93-6419-4BDB-A3DC-9DB00318AC16}" destId="{175AA085-03B6-4F8C-8695-0440A369FB15}" srcOrd="2" destOrd="0" parTransId="{21B3F5D1-00CF-4943-9C6B-3A94A9DABB24}" sibTransId="{A4373FC6-65C1-41F6-A108-43CAF2999FC5}"/>
    <dgm:cxn modelId="{8699E34C-D9F6-484C-9F72-626492357AD0}" srcId="{8BA94D93-6419-4BDB-A3DC-9DB00318AC16}" destId="{AC9AC1E3-2DCC-45FE-B9A4-6D67BBA3AE0D}" srcOrd="1" destOrd="0" parTransId="{D265E46E-24D4-4235-BAA3-0FADFE572FB5}" sibTransId="{A4FD65DD-DD4D-4EEE-B0E8-9C9D321CE231}"/>
    <dgm:cxn modelId="{DB730D56-2B56-4CB2-83F8-18DEC619015C}" type="presOf" srcId="{E89239F4-D86A-4D77-8B7B-8B6AB6E241E2}" destId="{00FE3E95-AAEB-4C40-BE3B-B120BFAAE399}" srcOrd="0" destOrd="0" presId="urn:microsoft.com/office/officeart/2005/8/layout/default"/>
    <dgm:cxn modelId="{3F5DDCB6-24A4-4510-B9E6-424FDE98580E}" type="presOf" srcId="{AC9AC1E3-2DCC-45FE-B9A4-6D67BBA3AE0D}" destId="{1419BED0-B991-4FF0-BD13-D41C1005049E}" srcOrd="0" destOrd="0" presId="urn:microsoft.com/office/officeart/2005/8/layout/default"/>
    <dgm:cxn modelId="{61424EC6-FEF2-48E6-86B6-5DF3DDF50E2C}" type="presParOf" srcId="{33DEDDD9-8DCB-4714-87FB-F070E00EA71C}" destId="{00FE3E95-AAEB-4C40-BE3B-B120BFAAE399}" srcOrd="0" destOrd="0" presId="urn:microsoft.com/office/officeart/2005/8/layout/default"/>
    <dgm:cxn modelId="{8CBCD140-FBA7-4527-BAD1-E89DC5FD0F68}" type="presParOf" srcId="{33DEDDD9-8DCB-4714-87FB-F070E00EA71C}" destId="{F4A4F19F-DEE8-4A7F-8E16-D5D458407A76}" srcOrd="1" destOrd="0" presId="urn:microsoft.com/office/officeart/2005/8/layout/default"/>
    <dgm:cxn modelId="{E3E5E3F3-E292-492A-BC9F-1C045C5616B4}" type="presParOf" srcId="{33DEDDD9-8DCB-4714-87FB-F070E00EA71C}" destId="{1419BED0-B991-4FF0-BD13-D41C1005049E}" srcOrd="2" destOrd="0" presId="urn:microsoft.com/office/officeart/2005/8/layout/default"/>
    <dgm:cxn modelId="{AEA5BBEC-32D9-4C54-A5EF-6527E4D5C46E}" type="presParOf" srcId="{33DEDDD9-8DCB-4714-87FB-F070E00EA71C}" destId="{E2A6DCC4-C704-48E7-B87B-C9C3C6AEFE75}" srcOrd="3" destOrd="0" presId="urn:microsoft.com/office/officeart/2005/8/layout/default"/>
    <dgm:cxn modelId="{89BC6A0A-4D09-4AF4-8538-03BAAAE9AAB4}" type="presParOf" srcId="{33DEDDD9-8DCB-4714-87FB-F070E00EA71C}" destId="{703C3373-D07B-427B-9355-33393E210A0B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BA94D93-6419-4BDB-A3DC-9DB00318AC1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89239F4-D86A-4D77-8B7B-8B6AB6E241E2}">
      <dgm:prSet phldrT="[Текст]" custT="1"/>
      <dgm:spPr/>
      <dgm:t>
        <a:bodyPr/>
        <a:lstStyle/>
        <a:p>
          <a:r>
            <a:rPr lang="ru-RU" sz="2800" dirty="0" smtClean="0">
              <a:latin typeface="Times New Roman" pitchFamily="18" charset="0"/>
              <a:cs typeface="Times New Roman" pitchFamily="18" charset="0"/>
            </a:rPr>
            <a:t>Использование высокоточных карт с сантиметровой точностью.</a:t>
          </a:r>
          <a:endParaRPr lang="ru-RU" sz="2800" dirty="0">
            <a:latin typeface="Times New Roman" pitchFamily="18" charset="0"/>
            <a:cs typeface="Times New Roman" pitchFamily="18" charset="0"/>
          </a:endParaRPr>
        </a:p>
      </dgm:t>
    </dgm:pt>
    <dgm:pt modelId="{9630E647-248C-48F1-A231-91EE3F0A3640}" type="parTrans" cxnId="{4B2AE985-55A3-48F6-B11C-6E1A5C27DBAF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4C888EA8-9CF3-45C3-A8F9-41754B1B8340}" type="sibTrans" cxnId="{4B2AE985-55A3-48F6-B11C-6E1A5C27DBAF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9766D955-8091-47F2-BC0B-0663083A60CE}">
      <dgm:prSet custT="1"/>
      <dgm:spPr/>
      <dgm:t>
        <a:bodyPr/>
        <a:lstStyle/>
        <a:p>
          <a:r>
            <a:rPr lang="ru-RU" sz="2800" dirty="0" smtClean="0">
              <a:latin typeface="Times New Roman" pitchFamily="18" charset="0"/>
              <a:cs typeface="Times New Roman" pitchFamily="18" charset="0"/>
            </a:rPr>
            <a:t>Интеграция цифровой карты с системой управления БТС</a:t>
          </a:r>
        </a:p>
      </dgm:t>
    </dgm:pt>
    <dgm:pt modelId="{AF760B2C-E36A-4B1F-891F-6EB711F35E8D}" type="parTrans" cxnId="{870B4C6F-8BC0-4CFA-8F1A-E1FFC9022245}">
      <dgm:prSet/>
      <dgm:spPr/>
      <dgm:t>
        <a:bodyPr/>
        <a:lstStyle/>
        <a:p>
          <a:endParaRPr lang="ru-RU" sz="2400"/>
        </a:p>
      </dgm:t>
    </dgm:pt>
    <dgm:pt modelId="{F577BF98-49DF-4471-A6DB-DDCC55503F4C}" type="sibTrans" cxnId="{870B4C6F-8BC0-4CFA-8F1A-E1FFC9022245}">
      <dgm:prSet/>
      <dgm:spPr/>
      <dgm:t>
        <a:bodyPr/>
        <a:lstStyle/>
        <a:p>
          <a:endParaRPr lang="ru-RU" sz="2400"/>
        </a:p>
      </dgm:t>
    </dgm:pt>
    <dgm:pt modelId="{33DEDDD9-8DCB-4714-87FB-F070E00EA71C}" type="pres">
      <dgm:prSet presAssocID="{8BA94D93-6419-4BDB-A3DC-9DB00318AC1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0FE3E95-AAEB-4C40-BE3B-B120BFAAE399}" type="pres">
      <dgm:prSet presAssocID="{E89239F4-D86A-4D77-8B7B-8B6AB6E241E2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F4A4F19F-DEE8-4A7F-8E16-D5D458407A76}" type="pres">
      <dgm:prSet presAssocID="{4C888EA8-9CF3-45C3-A8F9-41754B1B8340}" presName="sibTrans" presStyleCnt="0"/>
      <dgm:spPr/>
    </dgm:pt>
    <dgm:pt modelId="{C345C142-E2CB-4DBF-BB03-FCFD5BF3F1C8}" type="pres">
      <dgm:prSet presAssocID="{9766D955-8091-47F2-BC0B-0663083A60CE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4C10AFE-05AA-4E4B-90F3-BBA319FC5421}" type="presOf" srcId="{8BA94D93-6419-4BDB-A3DC-9DB00318AC16}" destId="{33DEDDD9-8DCB-4714-87FB-F070E00EA71C}" srcOrd="0" destOrd="0" presId="urn:microsoft.com/office/officeart/2005/8/layout/default"/>
    <dgm:cxn modelId="{85A0CB58-8982-4B2E-815D-F25DB2CA9295}" type="presOf" srcId="{E89239F4-D86A-4D77-8B7B-8B6AB6E241E2}" destId="{00FE3E95-AAEB-4C40-BE3B-B120BFAAE399}" srcOrd="0" destOrd="0" presId="urn:microsoft.com/office/officeart/2005/8/layout/default"/>
    <dgm:cxn modelId="{9E38338B-9C07-4DDA-8200-35E6067670EB}" type="presOf" srcId="{9766D955-8091-47F2-BC0B-0663083A60CE}" destId="{C345C142-E2CB-4DBF-BB03-FCFD5BF3F1C8}" srcOrd="0" destOrd="0" presId="urn:microsoft.com/office/officeart/2005/8/layout/default"/>
    <dgm:cxn modelId="{870B4C6F-8BC0-4CFA-8F1A-E1FFC9022245}" srcId="{8BA94D93-6419-4BDB-A3DC-9DB00318AC16}" destId="{9766D955-8091-47F2-BC0B-0663083A60CE}" srcOrd="1" destOrd="0" parTransId="{AF760B2C-E36A-4B1F-891F-6EB711F35E8D}" sibTransId="{F577BF98-49DF-4471-A6DB-DDCC55503F4C}"/>
    <dgm:cxn modelId="{4B2AE985-55A3-48F6-B11C-6E1A5C27DBAF}" srcId="{8BA94D93-6419-4BDB-A3DC-9DB00318AC16}" destId="{E89239F4-D86A-4D77-8B7B-8B6AB6E241E2}" srcOrd="0" destOrd="0" parTransId="{9630E647-248C-48F1-A231-91EE3F0A3640}" sibTransId="{4C888EA8-9CF3-45C3-A8F9-41754B1B8340}"/>
    <dgm:cxn modelId="{B00C1245-D8EB-49A2-B011-5EF5EE438C00}" type="presParOf" srcId="{33DEDDD9-8DCB-4714-87FB-F070E00EA71C}" destId="{00FE3E95-AAEB-4C40-BE3B-B120BFAAE399}" srcOrd="0" destOrd="0" presId="urn:microsoft.com/office/officeart/2005/8/layout/default"/>
    <dgm:cxn modelId="{AD10F6C6-ABEA-4305-8537-509A0455F61F}" type="presParOf" srcId="{33DEDDD9-8DCB-4714-87FB-F070E00EA71C}" destId="{F4A4F19F-DEE8-4A7F-8E16-D5D458407A76}" srcOrd="1" destOrd="0" presId="urn:microsoft.com/office/officeart/2005/8/layout/default"/>
    <dgm:cxn modelId="{A18E55EA-E9B5-4B4B-B7FF-A4D54D9E0EB3}" type="presParOf" srcId="{33DEDDD9-8DCB-4714-87FB-F070E00EA71C}" destId="{C345C142-E2CB-4DBF-BB03-FCFD5BF3F1C8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8BA94D93-6419-4BDB-A3DC-9DB00318AC1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E89239F4-D86A-4D77-8B7B-8B6AB6E241E2}">
      <dgm:prSet phldrT="[Текст]"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Использование высокоточных карт с сантиметровой точностью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9630E647-248C-48F1-A231-91EE3F0A3640}" type="parTrans" cxnId="{4B2AE985-55A3-48F6-B11C-6E1A5C27DBAF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4C888EA8-9CF3-45C3-A8F9-41754B1B8340}" type="sibTrans" cxnId="{4B2AE985-55A3-48F6-B11C-6E1A5C27DBAF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33DEDDD9-8DCB-4714-87FB-F070E00EA71C}" type="pres">
      <dgm:prSet presAssocID="{8BA94D93-6419-4BDB-A3DC-9DB00318AC1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00FE3E95-AAEB-4C40-BE3B-B120BFAAE399}" type="pres">
      <dgm:prSet presAssocID="{E89239F4-D86A-4D77-8B7B-8B6AB6E241E2}" presName="node" presStyleLbl="node1" presStyleIdx="0" presStyleCnt="1" custScaleX="35236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DDB72B0-CFF5-4435-B9C8-BB17A23D5F9A}" type="presOf" srcId="{8BA94D93-6419-4BDB-A3DC-9DB00318AC16}" destId="{33DEDDD9-8DCB-4714-87FB-F070E00EA71C}" srcOrd="0" destOrd="0" presId="urn:microsoft.com/office/officeart/2005/8/layout/default"/>
    <dgm:cxn modelId="{587B61AF-304C-407D-8320-306AABB1AC22}" type="presOf" srcId="{E89239F4-D86A-4D77-8B7B-8B6AB6E241E2}" destId="{00FE3E95-AAEB-4C40-BE3B-B120BFAAE399}" srcOrd="0" destOrd="0" presId="urn:microsoft.com/office/officeart/2005/8/layout/default"/>
    <dgm:cxn modelId="{4B2AE985-55A3-48F6-B11C-6E1A5C27DBAF}" srcId="{8BA94D93-6419-4BDB-A3DC-9DB00318AC16}" destId="{E89239F4-D86A-4D77-8B7B-8B6AB6E241E2}" srcOrd="0" destOrd="0" parTransId="{9630E647-248C-48F1-A231-91EE3F0A3640}" sibTransId="{4C888EA8-9CF3-45C3-A8F9-41754B1B8340}"/>
    <dgm:cxn modelId="{CA90DE68-D4AA-4B65-9F73-23513FD45E02}" type="presParOf" srcId="{33DEDDD9-8DCB-4714-87FB-F070E00EA71C}" destId="{00FE3E95-AAEB-4C40-BE3B-B120BFAAE399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A8BD0F73-35FB-41E6-9A36-73307C9E106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6C55549-B1C7-4BC6-951E-ED13D78D6443}">
      <dgm:prSet phldrT="[Текст]" custT="1"/>
      <dgm:spPr/>
      <dgm:t>
        <a:bodyPr/>
        <a:lstStyle/>
        <a:p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TerraStar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-C PRO. Подходит для высокоточных приложений в реальном времени, требующих сантиметрового уровня точности без использования базовых станций. Сервис доступен по всему миру и поддерживается линейкой продуктов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NovAtel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 7-го поколения.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EBF21AFB-4910-4229-8B9D-F2A196B6AEC6}" type="parTrans" cxnId="{2D0E50F0-D349-48D5-A44E-F72BDD2357C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3C1D5F2-991A-4BD7-81ED-F95393B88F6F}" type="sibTrans" cxnId="{2D0E50F0-D349-48D5-A44E-F72BDD2357CE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94DBD0D-A507-479A-B0CB-8622A52CB50B}">
      <dgm:prSet custT="1"/>
      <dgm:spPr/>
      <dgm:t>
        <a:bodyPr/>
        <a:lstStyle/>
        <a:p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TerraStar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-X. Использует алгоритмы точного позиционирования (PPP) и крупнейшую в мире сеть локальных опорных станций на территории США для обеспечения сходимости решения с точностью до 2 сантиметров менее чем за минуту. Сервис в настоящее время предоставляется только на территории США.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42AFF3AD-78BE-4537-A7F8-254E0BA49289}" type="parTrans" cxnId="{D533644D-A048-4142-A4FC-6B76A87498B0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E0ED6366-0BB3-4577-A9DA-BAA1C72608B0}" type="sibTrans" cxnId="{D533644D-A048-4142-A4FC-6B76A87498B0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B1A051EE-2FD3-47CD-987D-3C20E15E7BF7}">
      <dgm:prSet custT="1"/>
      <dgm:spPr/>
      <dgm:t>
        <a:bodyPr/>
        <a:lstStyle/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ГНСС-карта ANNA-F9 от компании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Antzertech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. Поддерживает коррекцию в формате RTCM и позиционирование на сантиметровом уровне от локальных базовых станций или виртуальных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референцных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 станций (ВРС) в структуре </a:t>
          </a:r>
          <a:r>
            <a:rPr lang="ru-RU" sz="1600" dirty="0" err="1" smtClean="0">
              <a:latin typeface="Times New Roman" pitchFamily="18" charset="0"/>
              <a:cs typeface="Times New Roman" pitchFamily="18" charset="0"/>
            </a:rPr>
            <a:t>Network</a:t>
          </a:r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 RTK.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43C17812-A9F1-4848-A0B1-61B5C347AFDA}" type="parTrans" cxnId="{BD13846F-BE4D-4DE5-B534-A637B22FA2BB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A6C71A25-122C-408B-9E42-FB55F34C57A5}" type="sibTrans" cxnId="{BD13846F-BE4D-4DE5-B534-A637B22FA2BB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2CDF25C8-917D-4D82-8F19-EC3E11A0FCF9}" type="pres">
      <dgm:prSet presAssocID="{A8BD0F73-35FB-41E6-9A36-73307C9E106B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2F831DE-ABB4-41E4-94FB-8AD258712E1E}" type="pres">
      <dgm:prSet presAssocID="{06C55549-B1C7-4BC6-951E-ED13D78D6443}" presName="node" presStyleLbl="node1" presStyleIdx="0" presStyleCnt="3" custScaleY="18568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B1696FF-93F1-47FA-9361-C83EA2B24328}" type="pres">
      <dgm:prSet presAssocID="{E3C1D5F2-991A-4BD7-81ED-F95393B88F6F}" presName="sibTrans" presStyleCnt="0"/>
      <dgm:spPr/>
    </dgm:pt>
    <dgm:pt modelId="{4801E248-EE5D-48C0-B71B-D6858B3AF0B6}" type="pres">
      <dgm:prSet presAssocID="{294DBD0D-A507-479A-B0CB-8622A52CB50B}" presName="node" presStyleLbl="node1" presStyleIdx="1" presStyleCnt="3" custScaleY="18568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8D1A6805-EC57-49A2-AB21-98870185DD19}" type="pres">
      <dgm:prSet presAssocID="{E0ED6366-0BB3-4577-A9DA-BAA1C72608B0}" presName="sibTrans" presStyleCnt="0"/>
      <dgm:spPr/>
    </dgm:pt>
    <dgm:pt modelId="{76924A13-9704-4A7C-8489-732F7474A46E}" type="pres">
      <dgm:prSet presAssocID="{B1A051EE-2FD3-47CD-987D-3C20E15E7BF7}" presName="node" presStyleLbl="node1" presStyleIdx="2" presStyleCnt="3" custScaleY="18568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D533644D-A048-4142-A4FC-6B76A87498B0}" srcId="{A8BD0F73-35FB-41E6-9A36-73307C9E106B}" destId="{294DBD0D-A507-479A-B0CB-8622A52CB50B}" srcOrd="1" destOrd="0" parTransId="{42AFF3AD-78BE-4537-A7F8-254E0BA49289}" sibTransId="{E0ED6366-0BB3-4577-A9DA-BAA1C72608B0}"/>
    <dgm:cxn modelId="{59F7CB90-0B7A-4AAD-B9AC-346953B433BF}" type="presOf" srcId="{06C55549-B1C7-4BC6-951E-ED13D78D6443}" destId="{32F831DE-ABB4-41E4-94FB-8AD258712E1E}" srcOrd="0" destOrd="0" presId="urn:microsoft.com/office/officeart/2005/8/layout/default"/>
    <dgm:cxn modelId="{AB036956-BB01-4CAC-BBBF-7C3B0F91A590}" type="presOf" srcId="{294DBD0D-A507-479A-B0CB-8622A52CB50B}" destId="{4801E248-EE5D-48C0-B71B-D6858B3AF0B6}" srcOrd="0" destOrd="0" presId="urn:microsoft.com/office/officeart/2005/8/layout/default"/>
    <dgm:cxn modelId="{46D0F163-E4D6-4B0D-BAC4-553751BFC1BC}" type="presOf" srcId="{B1A051EE-2FD3-47CD-987D-3C20E15E7BF7}" destId="{76924A13-9704-4A7C-8489-732F7474A46E}" srcOrd="0" destOrd="0" presId="urn:microsoft.com/office/officeart/2005/8/layout/default"/>
    <dgm:cxn modelId="{2D0E50F0-D349-48D5-A44E-F72BDD2357CE}" srcId="{A8BD0F73-35FB-41E6-9A36-73307C9E106B}" destId="{06C55549-B1C7-4BC6-951E-ED13D78D6443}" srcOrd="0" destOrd="0" parTransId="{EBF21AFB-4910-4229-8B9D-F2A196B6AEC6}" sibTransId="{E3C1D5F2-991A-4BD7-81ED-F95393B88F6F}"/>
    <dgm:cxn modelId="{E81F78DF-CAF7-4C53-8F9F-358F3CAACCA8}" type="presOf" srcId="{A8BD0F73-35FB-41E6-9A36-73307C9E106B}" destId="{2CDF25C8-917D-4D82-8F19-EC3E11A0FCF9}" srcOrd="0" destOrd="0" presId="urn:microsoft.com/office/officeart/2005/8/layout/default"/>
    <dgm:cxn modelId="{BD13846F-BE4D-4DE5-B534-A637B22FA2BB}" srcId="{A8BD0F73-35FB-41E6-9A36-73307C9E106B}" destId="{B1A051EE-2FD3-47CD-987D-3C20E15E7BF7}" srcOrd="2" destOrd="0" parTransId="{43C17812-A9F1-4848-A0B1-61B5C347AFDA}" sibTransId="{A6C71A25-122C-408B-9E42-FB55F34C57A5}"/>
    <dgm:cxn modelId="{F9A1CD50-E446-44C9-B2B9-02A71B7CC5B2}" type="presParOf" srcId="{2CDF25C8-917D-4D82-8F19-EC3E11A0FCF9}" destId="{32F831DE-ABB4-41E4-94FB-8AD258712E1E}" srcOrd="0" destOrd="0" presId="urn:microsoft.com/office/officeart/2005/8/layout/default"/>
    <dgm:cxn modelId="{DC10F621-C544-4487-A590-55251A6BA9A2}" type="presParOf" srcId="{2CDF25C8-917D-4D82-8F19-EC3E11A0FCF9}" destId="{DB1696FF-93F1-47FA-9361-C83EA2B24328}" srcOrd="1" destOrd="0" presId="urn:microsoft.com/office/officeart/2005/8/layout/default"/>
    <dgm:cxn modelId="{DB457BD5-568F-443A-98B3-4D8EDEEE5CCB}" type="presParOf" srcId="{2CDF25C8-917D-4D82-8F19-EC3E11A0FCF9}" destId="{4801E248-EE5D-48C0-B71B-D6858B3AF0B6}" srcOrd="2" destOrd="0" presId="urn:microsoft.com/office/officeart/2005/8/layout/default"/>
    <dgm:cxn modelId="{D2FA8335-A636-402C-A8C9-99113E71CE83}" type="presParOf" srcId="{2CDF25C8-917D-4D82-8F19-EC3E11A0FCF9}" destId="{8D1A6805-EC57-49A2-AB21-98870185DD19}" srcOrd="3" destOrd="0" presId="urn:microsoft.com/office/officeart/2005/8/layout/default"/>
    <dgm:cxn modelId="{D5740FAD-FD8F-4C1E-8F45-D869E51EAFFC}" type="presParOf" srcId="{2CDF25C8-917D-4D82-8F19-EC3E11A0FCF9}" destId="{76924A13-9704-4A7C-8489-732F7474A46E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8BA94D93-6419-4BDB-A3DC-9DB00318AC1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766D955-8091-47F2-BC0B-0663083A60CE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Интеграция цифровой карты с системой управления БТС</a:t>
          </a:r>
        </a:p>
      </dgm:t>
    </dgm:pt>
    <dgm:pt modelId="{AF760B2C-E36A-4B1F-891F-6EB711F35E8D}" type="parTrans" cxnId="{870B4C6F-8BC0-4CFA-8F1A-E1FFC9022245}">
      <dgm:prSet/>
      <dgm:spPr/>
      <dgm:t>
        <a:bodyPr/>
        <a:lstStyle/>
        <a:p>
          <a:endParaRPr lang="ru-RU" sz="2400"/>
        </a:p>
      </dgm:t>
    </dgm:pt>
    <dgm:pt modelId="{F577BF98-49DF-4471-A6DB-DDCC55503F4C}" type="sibTrans" cxnId="{870B4C6F-8BC0-4CFA-8F1A-E1FFC9022245}">
      <dgm:prSet/>
      <dgm:spPr/>
      <dgm:t>
        <a:bodyPr/>
        <a:lstStyle/>
        <a:p>
          <a:endParaRPr lang="ru-RU" sz="2400"/>
        </a:p>
      </dgm:t>
    </dgm:pt>
    <dgm:pt modelId="{33DEDDD9-8DCB-4714-87FB-F070E00EA71C}" type="pres">
      <dgm:prSet presAssocID="{8BA94D93-6419-4BDB-A3DC-9DB00318AC1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345C142-E2CB-4DBF-BB03-FCFD5BF3F1C8}" type="pres">
      <dgm:prSet presAssocID="{9766D955-8091-47F2-BC0B-0663083A60CE}" presName="node" presStyleLbl="node1" presStyleIdx="0" presStyleCnt="1" custScaleX="57705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3C63364-48F4-45DC-837C-17F2524251E8}" type="presOf" srcId="{9766D955-8091-47F2-BC0B-0663083A60CE}" destId="{C345C142-E2CB-4DBF-BB03-FCFD5BF3F1C8}" srcOrd="0" destOrd="0" presId="urn:microsoft.com/office/officeart/2005/8/layout/default"/>
    <dgm:cxn modelId="{7EDC1630-55DB-4D83-A890-2E6710B37F3A}" type="presOf" srcId="{8BA94D93-6419-4BDB-A3DC-9DB00318AC16}" destId="{33DEDDD9-8DCB-4714-87FB-F070E00EA71C}" srcOrd="0" destOrd="0" presId="urn:microsoft.com/office/officeart/2005/8/layout/default"/>
    <dgm:cxn modelId="{870B4C6F-8BC0-4CFA-8F1A-E1FFC9022245}" srcId="{8BA94D93-6419-4BDB-A3DC-9DB00318AC16}" destId="{9766D955-8091-47F2-BC0B-0663083A60CE}" srcOrd="0" destOrd="0" parTransId="{AF760B2C-E36A-4B1F-891F-6EB711F35E8D}" sibTransId="{F577BF98-49DF-4471-A6DB-DDCC55503F4C}"/>
    <dgm:cxn modelId="{04E3F71E-95BF-485A-B4C8-AA8531BC9BF4}" type="presParOf" srcId="{33DEDDD9-8DCB-4714-87FB-F070E00EA71C}" destId="{C345C142-E2CB-4DBF-BB03-FCFD5BF3F1C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128A4850-C143-4839-8122-8195253E548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8002627-EA1A-4A6B-821B-3CFC9D5964E6}">
      <dgm:prSet phldrT="[Текст]"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Поступления данных от дорожной инфраструктуры о трафике, метеоусловиях, дорожно-транспортных происшествиях. 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0B36CE8F-4FFA-4B09-83C0-4BD3E9710EA8}" type="parTrans" cxnId="{90D06F4D-9B6F-4F44-81BD-12AEC608DF8E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284480B4-9866-4F02-A44C-3B6DA735181E}" type="sibTrans" cxnId="{90D06F4D-9B6F-4F44-81BD-12AEC608DF8E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90F6B2D8-6A86-40FA-9EC0-0C2E595A88F6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Учёта изменений в дорожной обстановке, которые происходят за границами сенсорных систем автомобиля (дальность которых ограничена физической зоной видимости). 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B7F951E0-7319-41E7-A4B8-22D864E02482}" type="parTrans" cxnId="{E05D06CF-04EC-4353-B29C-1954105FC14E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3E31E327-4ED5-464E-B6E6-B7AE1BAAD04D}" type="sibTrans" cxnId="{E05D06CF-04EC-4353-B29C-1954105FC14E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5432CC1-D6C6-47D4-AB2C-E81032DBF638}">
      <dgm:prSet custT="1"/>
      <dgm:spPr/>
      <dgm:t>
        <a:bodyPr/>
        <a:lstStyle/>
        <a:p>
          <a:r>
            <a:rPr lang="ru-RU" sz="1800" dirty="0" smtClean="0">
              <a:latin typeface="Times New Roman" pitchFamily="18" charset="0"/>
              <a:cs typeface="Times New Roman" pitchFamily="18" charset="0"/>
            </a:rPr>
            <a:t>Построения маршрута с учётом актуальной дорожной обстановки, что позволяет генерировать оптимальные маршруты и выполнять манёвры с учётом траекторий движения других транспортных средств.</a:t>
          </a:r>
          <a:endParaRPr lang="ru-RU" sz="1800" dirty="0">
            <a:latin typeface="Times New Roman" pitchFamily="18" charset="0"/>
            <a:cs typeface="Times New Roman" pitchFamily="18" charset="0"/>
          </a:endParaRPr>
        </a:p>
      </dgm:t>
    </dgm:pt>
    <dgm:pt modelId="{4981AFB7-9335-42A5-B9CD-CFB1FF7B0444}" type="parTrans" cxnId="{D7E77F1F-2FC3-483C-9034-7DAB91A09664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B7138DC7-71F8-417D-92FD-040E8B9C919E}" type="sibTrans" cxnId="{D7E77F1F-2FC3-483C-9034-7DAB91A09664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BB54B5F8-7CC8-415E-A63A-A4C5DDEABD8E}" type="pres">
      <dgm:prSet presAssocID="{128A4850-C143-4839-8122-8195253E548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C2A5AE6-5735-45EE-9BA2-CB225A79D3A2}" type="pres">
      <dgm:prSet presAssocID="{B8002627-EA1A-4A6B-821B-3CFC9D5964E6}" presName="node" presStyleLbl="node1" presStyleIdx="0" presStyleCnt="3" custScaleX="12741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7C2D06-8A68-4E83-8664-E3C2210B0558}" type="pres">
      <dgm:prSet presAssocID="{284480B4-9866-4F02-A44C-3B6DA735181E}" presName="sibTrans" presStyleCnt="0"/>
      <dgm:spPr/>
    </dgm:pt>
    <dgm:pt modelId="{8F0DD911-036C-434A-8A9B-BEEE47B1198A}" type="pres">
      <dgm:prSet presAssocID="{90F6B2D8-6A86-40FA-9EC0-0C2E595A88F6}" presName="node" presStyleLbl="node1" presStyleIdx="1" presStyleCnt="3" custScaleX="12600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32CA4F3-B1CB-4320-BF2C-49CD9F2F291C}" type="pres">
      <dgm:prSet presAssocID="{3E31E327-4ED5-464E-B6E6-B7AE1BAAD04D}" presName="sibTrans" presStyleCnt="0"/>
      <dgm:spPr/>
    </dgm:pt>
    <dgm:pt modelId="{AA77DD51-9600-44F8-ABA3-2F4B3F5000A7}" type="pres">
      <dgm:prSet presAssocID="{15432CC1-D6C6-47D4-AB2C-E81032DBF638}" presName="node" presStyleLbl="node1" presStyleIdx="2" presStyleCnt="3" custScaleX="146098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A2107702-4A44-4424-AFAC-B45DD3EF85BB}" type="presOf" srcId="{128A4850-C143-4839-8122-8195253E548C}" destId="{BB54B5F8-7CC8-415E-A63A-A4C5DDEABD8E}" srcOrd="0" destOrd="0" presId="urn:microsoft.com/office/officeart/2005/8/layout/default"/>
    <dgm:cxn modelId="{C9E05E98-5B75-4C10-8B58-11AED2B82689}" type="presOf" srcId="{90F6B2D8-6A86-40FA-9EC0-0C2E595A88F6}" destId="{8F0DD911-036C-434A-8A9B-BEEE47B1198A}" srcOrd="0" destOrd="0" presId="urn:microsoft.com/office/officeart/2005/8/layout/default"/>
    <dgm:cxn modelId="{409402D0-E64D-44E9-AF1C-478FEFCA53A8}" type="presOf" srcId="{15432CC1-D6C6-47D4-AB2C-E81032DBF638}" destId="{AA77DD51-9600-44F8-ABA3-2F4B3F5000A7}" srcOrd="0" destOrd="0" presId="urn:microsoft.com/office/officeart/2005/8/layout/default"/>
    <dgm:cxn modelId="{90D06F4D-9B6F-4F44-81BD-12AEC608DF8E}" srcId="{128A4850-C143-4839-8122-8195253E548C}" destId="{B8002627-EA1A-4A6B-821B-3CFC9D5964E6}" srcOrd="0" destOrd="0" parTransId="{0B36CE8F-4FFA-4B09-83C0-4BD3E9710EA8}" sibTransId="{284480B4-9866-4F02-A44C-3B6DA735181E}"/>
    <dgm:cxn modelId="{2485FA73-9CE4-463B-A5EA-6857EAE595F1}" type="presOf" srcId="{B8002627-EA1A-4A6B-821B-3CFC9D5964E6}" destId="{AC2A5AE6-5735-45EE-9BA2-CB225A79D3A2}" srcOrd="0" destOrd="0" presId="urn:microsoft.com/office/officeart/2005/8/layout/default"/>
    <dgm:cxn modelId="{E05D06CF-04EC-4353-B29C-1954105FC14E}" srcId="{128A4850-C143-4839-8122-8195253E548C}" destId="{90F6B2D8-6A86-40FA-9EC0-0C2E595A88F6}" srcOrd="1" destOrd="0" parTransId="{B7F951E0-7319-41E7-A4B8-22D864E02482}" sibTransId="{3E31E327-4ED5-464E-B6E6-B7AE1BAAD04D}"/>
    <dgm:cxn modelId="{D7E77F1F-2FC3-483C-9034-7DAB91A09664}" srcId="{128A4850-C143-4839-8122-8195253E548C}" destId="{15432CC1-D6C6-47D4-AB2C-E81032DBF638}" srcOrd="2" destOrd="0" parTransId="{4981AFB7-9335-42A5-B9CD-CFB1FF7B0444}" sibTransId="{B7138DC7-71F8-417D-92FD-040E8B9C919E}"/>
    <dgm:cxn modelId="{675EDBA4-3E0F-449A-896D-B849B665A122}" type="presParOf" srcId="{BB54B5F8-7CC8-415E-A63A-A4C5DDEABD8E}" destId="{AC2A5AE6-5735-45EE-9BA2-CB225A79D3A2}" srcOrd="0" destOrd="0" presId="urn:microsoft.com/office/officeart/2005/8/layout/default"/>
    <dgm:cxn modelId="{45C3EBB6-AC4A-44CC-AA5B-95E2D3033C8C}" type="presParOf" srcId="{BB54B5F8-7CC8-415E-A63A-A4C5DDEABD8E}" destId="{6D7C2D06-8A68-4E83-8664-E3C2210B0558}" srcOrd="1" destOrd="0" presId="urn:microsoft.com/office/officeart/2005/8/layout/default"/>
    <dgm:cxn modelId="{7078076A-9BA2-4808-8119-7108FDAFC0F1}" type="presParOf" srcId="{BB54B5F8-7CC8-415E-A63A-A4C5DDEABD8E}" destId="{8F0DD911-036C-434A-8A9B-BEEE47B1198A}" srcOrd="2" destOrd="0" presId="urn:microsoft.com/office/officeart/2005/8/layout/default"/>
    <dgm:cxn modelId="{B2D3ADDA-D5B9-4AC2-959A-F839FF6D9581}" type="presParOf" srcId="{BB54B5F8-7CC8-415E-A63A-A4C5DDEABD8E}" destId="{932CA4F3-B1CB-4320-BF2C-49CD9F2F291C}" srcOrd="3" destOrd="0" presId="urn:microsoft.com/office/officeart/2005/8/layout/default"/>
    <dgm:cxn modelId="{0D0100EF-E406-4F1E-AF8B-5711DE2F54BA}" type="presParOf" srcId="{BB54B5F8-7CC8-415E-A63A-A4C5DDEABD8E}" destId="{AA77DD51-9600-44F8-ABA3-2F4B3F5000A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8BA94D93-6419-4BDB-A3DC-9DB00318AC1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766D955-8091-47F2-BC0B-0663083A60CE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Интеграция цифровой карты с системой управления БТС</a:t>
          </a:r>
        </a:p>
      </dgm:t>
    </dgm:pt>
    <dgm:pt modelId="{AF760B2C-E36A-4B1F-891F-6EB711F35E8D}" type="parTrans" cxnId="{870B4C6F-8BC0-4CFA-8F1A-E1FFC9022245}">
      <dgm:prSet/>
      <dgm:spPr/>
      <dgm:t>
        <a:bodyPr/>
        <a:lstStyle/>
        <a:p>
          <a:endParaRPr lang="ru-RU" sz="2400"/>
        </a:p>
      </dgm:t>
    </dgm:pt>
    <dgm:pt modelId="{F577BF98-49DF-4471-A6DB-DDCC55503F4C}" type="sibTrans" cxnId="{870B4C6F-8BC0-4CFA-8F1A-E1FFC9022245}">
      <dgm:prSet/>
      <dgm:spPr/>
      <dgm:t>
        <a:bodyPr/>
        <a:lstStyle/>
        <a:p>
          <a:endParaRPr lang="ru-RU" sz="2400"/>
        </a:p>
      </dgm:t>
    </dgm:pt>
    <dgm:pt modelId="{33DEDDD9-8DCB-4714-87FB-F070E00EA71C}" type="pres">
      <dgm:prSet presAssocID="{8BA94D93-6419-4BDB-A3DC-9DB00318AC1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345C142-E2CB-4DBF-BB03-FCFD5BF3F1C8}" type="pres">
      <dgm:prSet presAssocID="{9766D955-8091-47F2-BC0B-0663083A60CE}" presName="node" presStyleLbl="node1" presStyleIdx="0" presStyleCnt="1" custScaleX="57705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75BFDFF-0596-43A7-BDA2-6E716DC8A1F9}" type="presOf" srcId="{9766D955-8091-47F2-BC0B-0663083A60CE}" destId="{C345C142-E2CB-4DBF-BB03-FCFD5BF3F1C8}" srcOrd="0" destOrd="0" presId="urn:microsoft.com/office/officeart/2005/8/layout/default"/>
    <dgm:cxn modelId="{E051C8A1-4DB4-4B55-8197-2903FBED030F}" type="presOf" srcId="{8BA94D93-6419-4BDB-A3DC-9DB00318AC16}" destId="{33DEDDD9-8DCB-4714-87FB-F070E00EA71C}" srcOrd="0" destOrd="0" presId="urn:microsoft.com/office/officeart/2005/8/layout/default"/>
    <dgm:cxn modelId="{870B4C6F-8BC0-4CFA-8F1A-E1FFC9022245}" srcId="{8BA94D93-6419-4BDB-A3DC-9DB00318AC16}" destId="{9766D955-8091-47F2-BC0B-0663083A60CE}" srcOrd="0" destOrd="0" parTransId="{AF760B2C-E36A-4B1F-891F-6EB711F35E8D}" sibTransId="{F577BF98-49DF-4471-A6DB-DDCC55503F4C}"/>
    <dgm:cxn modelId="{A002CAE2-EA33-451D-91E8-F5B8EB6B4A81}" type="presParOf" srcId="{33DEDDD9-8DCB-4714-87FB-F070E00EA71C}" destId="{C345C142-E2CB-4DBF-BB03-FCFD5BF3F1C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128A4850-C143-4839-8122-8195253E548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B8002627-EA1A-4A6B-821B-3CFC9D5964E6}">
      <dgm:prSet phldrT="[Текст]"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Карты высокого разрешения (HD-карты). </a:t>
          </a: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Содержат детальную информацию о дорожной инфраструктуре, знаках, разметке и других объектах, необходимых для автономного движения. </a:t>
          </a:r>
          <a:endParaRPr lang="ru-RU" sz="2000" dirty="0">
            <a:latin typeface="Times New Roman" pitchFamily="18" charset="0"/>
            <a:cs typeface="Times New Roman" pitchFamily="18" charset="0"/>
          </a:endParaRPr>
        </a:p>
      </dgm:t>
    </dgm:pt>
    <dgm:pt modelId="{0B36CE8F-4FFA-4B09-83C0-4BD3E9710EA8}" type="parTrans" cxnId="{90D06F4D-9B6F-4F44-81BD-12AEC608DF8E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284480B4-9866-4F02-A44C-3B6DA735181E}" type="sibTrans" cxnId="{90D06F4D-9B6F-4F44-81BD-12AEC608DF8E}">
      <dgm:prSet/>
      <dgm:spPr/>
      <dgm:t>
        <a:bodyPr/>
        <a:lstStyle/>
        <a:p>
          <a:endParaRPr lang="ru-RU" sz="2800">
            <a:latin typeface="Times New Roman" pitchFamily="18" charset="0"/>
            <a:cs typeface="Times New Roman" pitchFamily="18" charset="0"/>
          </a:endParaRPr>
        </a:p>
      </dgm:t>
    </dgm:pt>
    <dgm:pt modelId="{4DCAB9F0-0164-4E64-9E9F-D22A938C8DB6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Технология связи V2X (</a:t>
          </a:r>
          <a:r>
            <a:rPr lang="ru-RU" sz="2000" dirty="0" err="1" smtClean="0">
              <a:latin typeface="Times New Roman" pitchFamily="18" charset="0"/>
              <a:cs typeface="Times New Roman" pitchFamily="18" charset="0"/>
            </a:rPr>
            <a:t>vehicle-to-everything</a:t>
          </a:r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 - «автомобиль, подключённый ко всему»). </a:t>
          </a: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Позволяет передавать данные в реальном времени между беспилотным автомобилем и инфраструктурой. </a:t>
          </a:r>
        </a:p>
      </dgm:t>
    </dgm:pt>
    <dgm:pt modelId="{91374DB0-40EC-47EF-B06A-50FE44EE8E5E}" type="parTrans" cxnId="{E6D6AA68-A543-40B1-A438-A71C781A6A6A}">
      <dgm:prSet/>
      <dgm:spPr/>
      <dgm:t>
        <a:bodyPr/>
        <a:lstStyle/>
        <a:p>
          <a:endParaRPr lang="ru-RU" sz="2000"/>
        </a:p>
      </dgm:t>
    </dgm:pt>
    <dgm:pt modelId="{B805EB16-BC02-4574-A275-2214F71BDC7F}" type="sibTrans" cxnId="{E6D6AA68-A543-40B1-A438-A71C781A6A6A}">
      <dgm:prSet/>
      <dgm:spPr/>
      <dgm:t>
        <a:bodyPr/>
        <a:lstStyle/>
        <a:p>
          <a:endParaRPr lang="ru-RU" sz="2000"/>
        </a:p>
      </dgm:t>
    </dgm:pt>
    <dgm:pt modelId="{F6E27E7B-5674-4E97-882B-495F5EA5ABBA}">
      <dgm:prSet custT="1"/>
      <dgm:spPr/>
      <dgm:t>
        <a:bodyPr/>
        <a:lstStyle/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Алгоритмы онлайн-детекции. </a:t>
          </a:r>
        </a:p>
        <a:p>
          <a:r>
            <a:rPr lang="ru-RU" sz="2000" dirty="0" smtClean="0">
              <a:latin typeface="Times New Roman" pitchFamily="18" charset="0"/>
              <a:cs typeface="Times New Roman" pitchFamily="18" charset="0"/>
            </a:rPr>
            <a:t>Из данных карты беспилотный автомобиль берёт информацию об ожидаемых объектах, и если в реальности этот объект не был найден или поменял своё расположение, отправляет об этом сигнал. </a:t>
          </a:r>
        </a:p>
      </dgm:t>
    </dgm:pt>
    <dgm:pt modelId="{3A2C2BD0-36AB-405D-8B71-4953D954D020}" type="parTrans" cxnId="{A159509E-71EB-41A2-A2AE-CE6C961AE838}">
      <dgm:prSet/>
      <dgm:spPr/>
      <dgm:t>
        <a:bodyPr/>
        <a:lstStyle/>
        <a:p>
          <a:endParaRPr lang="ru-RU" sz="2000"/>
        </a:p>
      </dgm:t>
    </dgm:pt>
    <dgm:pt modelId="{B38AF9D3-6BFB-4722-BD37-6E9DAFA6BC60}" type="sibTrans" cxnId="{A159509E-71EB-41A2-A2AE-CE6C961AE838}">
      <dgm:prSet/>
      <dgm:spPr/>
      <dgm:t>
        <a:bodyPr/>
        <a:lstStyle/>
        <a:p>
          <a:endParaRPr lang="ru-RU" sz="2000"/>
        </a:p>
      </dgm:t>
    </dgm:pt>
    <dgm:pt modelId="{BB54B5F8-7CC8-415E-A63A-A4C5DDEABD8E}" type="pres">
      <dgm:prSet presAssocID="{128A4850-C143-4839-8122-8195253E548C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AC2A5AE6-5735-45EE-9BA2-CB225A79D3A2}" type="pres">
      <dgm:prSet presAssocID="{B8002627-EA1A-4A6B-821B-3CFC9D5964E6}" presName="node" presStyleLbl="node1" presStyleIdx="0" presStyleCnt="3" custScaleX="165659" custScaleY="139943" custLinFactNeighborX="-706" custLinFactNeighborY="-358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D7C2D06-8A68-4E83-8664-E3C2210B0558}" type="pres">
      <dgm:prSet presAssocID="{284480B4-9866-4F02-A44C-3B6DA735181E}" presName="sibTrans" presStyleCnt="0"/>
      <dgm:spPr/>
    </dgm:pt>
    <dgm:pt modelId="{125129AE-CA02-4323-86AE-418FA39AAE77}" type="pres">
      <dgm:prSet presAssocID="{4DCAB9F0-0164-4E64-9E9F-D22A938C8DB6}" presName="node" presStyleLbl="node1" presStyleIdx="1" presStyleCnt="3" custScaleX="143606" custScaleY="14005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BA92E1C-05A3-4FDE-B107-9B45B7E168D9}" type="pres">
      <dgm:prSet presAssocID="{B805EB16-BC02-4574-A275-2214F71BDC7F}" presName="sibTrans" presStyleCnt="0"/>
      <dgm:spPr/>
    </dgm:pt>
    <dgm:pt modelId="{830BE69F-0607-4525-BEEC-D554A18FBEDD}" type="pres">
      <dgm:prSet presAssocID="{F6E27E7B-5674-4E97-882B-495F5EA5ABBA}" presName="node" presStyleLbl="node1" presStyleIdx="2" presStyleCnt="3" custScaleX="22975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91A84C9-3912-4BA7-8C34-B85A445E7054}" type="presOf" srcId="{4DCAB9F0-0164-4E64-9E9F-D22A938C8DB6}" destId="{125129AE-CA02-4323-86AE-418FA39AAE77}" srcOrd="0" destOrd="0" presId="urn:microsoft.com/office/officeart/2005/8/layout/default"/>
    <dgm:cxn modelId="{90D06F4D-9B6F-4F44-81BD-12AEC608DF8E}" srcId="{128A4850-C143-4839-8122-8195253E548C}" destId="{B8002627-EA1A-4A6B-821B-3CFC9D5964E6}" srcOrd="0" destOrd="0" parTransId="{0B36CE8F-4FFA-4B09-83C0-4BD3E9710EA8}" sibTransId="{284480B4-9866-4F02-A44C-3B6DA735181E}"/>
    <dgm:cxn modelId="{E6D6AA68-A543-40B1-A438-A71C781A6A6A}" srcId="{128A4850-C143-4839-8122-8195253E548C}" destId="{4DCAB9F0-0164-4E64-9E9F-D22A938C8DB6}" srcOrd="1" destOrd="0" parTransId="{91374DB0-40EC-47EF-B06A-50FE44EE8E5E}" sibTransId="{B805EB16-BC02-4574-A275-2214F71BDC7F}"/>
    <dgm:cxn modelId="{A159509E-71EB-41A2-A2AE-CE6C961AE838}" srcId="{128A4850-C143-4839-8122-8195253E548C}" destId="{F6E27E7B-5674-4E97-882B-495F5EA5ABBA}" srcOrd="2" destOrd="0" parTransId="{3A2C2BD0-36AB-405D-8B71-4953D954D020}" sibTransId="{B38AF9D3-6BFB-4722-BD37-6E9DAFA6BC60}"/>
    <dgm:cxn modelId="{2AC66479-D4D9-4720-AC73-91A33E077A1B}" type="presOf" srcId="{128A4850-C143-4839-8122-8195253E548C}" destId="{BB54B5F8-7CC8-415E-A63A-A4C5DDEABD8E}" srcOrd="0" destOrd="0" presId="urn:microsoft.com/office/officeart/2005/8/layout/default"/>
    <dgm:cxn modelId="{392A85EC-8945-4600-85D9-5BBA15DDAD7E}" type="presOf" srcId="{B8002627-EA1A-4A6B-821B-3CFC9D5964E6}" destId="{AC2A5AE6-5735-45EE-9BA2-CB225A79D3A2}" srcOrd="0" destOrd="0" presId="urn:microsoft.com/office/officeart/2005/8/layout/default"/>
    <dgm:cxn modelId="{69B226A1-ED65-4334-8906-FE9C62FB8A02}" type="presOf" srcId="{F6E27E7B-5674-4E97-882B-495F5EA5ABBA}" destId="{830BE69F-0607-4525-BEEC-D554A18FBEDD}" srcOrd="0" destOrd="0" presId="urn:microsoft.com/office/officeart/2005/8/layout/default"/>
    <dgm:cxn modelId="{D64B6419-565B-4462-A628-24D39C043948}" type="presParOf" srcId="{BB54B5F8-7CC8-415E-A63A-A4C5DDEABD8E}" destId="{AC2A5AE6-5735-45EE-9BA2-CB225A79D3A2}" srcOrd="0" destOrd="0" presId="urn:microsoft.com/office/officeart/2005/8/layout/default"/>
    <dgm:cxn modelId="{30E7CFBE-B92F-46DD-A87E-1B176A57CD26}" type="presParOf" srcId="{BB54B5F8-7CC8-415E-A63A-A4C5DDEABD8E}" destId="{6D7C2D06-8A68-4E83-8664-E3C2210B0558}" srcOrd="1" destOrd="0" presId="urn:microsoft.com/office/officeart/2005/8/layout/default"/>
    <dgm:cxn modelId="{9BC063F6-7C8C-47DE-A860-822745E6CF42}" type="presParOf" srcId="{BB54B5F8-7CC8-415E-A63A-A4C5DDEABD8E}" destId="{125129AE-CA02-4323-86AE-418FA39AAE77}" srcOrd="2" destOrd="0" presId="urn:microsoft.com/office/officeart/2005/8/layout/default"/>
    <dgm:cxn modelId="{4096BF3A-9B53-4CBF-BC6C-0BD087B61933}" type="presParOf" srcId="{BB54B5F8-7CC8-415E-A63A-A4C5DDEABD8E}" destId="{0BA92E1C-05A3-4FDE-B107-9B45B7E168D9}" srcOrd="3" destOrd="0" presId="urn:microsoft.com/office/officeart/2005/8/layout/default"/>
    <dgm:cxn modelId="{B4797BA4-928B-4FF4-8F89-83B01A8D74C7}" type="presParOf" srcId="{BB54B5F8-7CC8-415E-A63A-A4C5DDEABD8E}" destId="{830BE69F-0607-4525-BEEC-D554A18FBED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8BA94D93-6419-4BDB-A3DC-9DB00318AC1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766D955-8091-47F2-BC0B-0663083A60CE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Интеграция цифровой карты с системой управления БТС</a:t>
          </a:r>
        </a:p>
      </dgm:t>
    </dgm:pt>
    <dgm:pt modelId="{AF760B2C-E36A-4B1F-891F-6EB711F35E8D}" type="parTrans" cxnId="{870B4C6F-8BC0-4CFA-8F1A-E1FFC9022245}">
      <dgm:prSet/>
      <dgm:spPr/>
      <dgm:t>
        <a:bodyPr/>
        <a:lstStyle/>
        <a:p>
          <a:endParaRPr lang="ru-RU" sz="2400"/>
        </a:p>
      </dgm:t>
    </dgm:pt>
    <dgm:pt modelId="{F577BF98-49DF-4471-A6DB-DDCC55503F4C}" type="sibTrans" cxnId="{870B4C6F-8BC0-4CFA-8F1A-E1FFC9022245}">
      <dgm:prSet/>
      <dgm:spPr/>
      <dgm:t>
        <a:bodyPr/>
        <a:lstStyle/>
        <a:p>
          <a:endParaRPr lang="ru-RU" sz="2400"/>
        </a:p>
      </dgm:t>
    </dgm:pt>
    <dgm:pt modelId="{33DEDDD9-8DCB-4714-87FB-F070E00EA71C}" type="pres">
      <dgm:prSet presAssocID="{8BA94D93-6419-4BDB-A3DC-9DB00318AC1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345C142-E2CB-4DBF-BB03-FCFD5BF3F1C8}" type="pres">
      <dgm:prSet presAssocID="{9766D955-8091-47F2-BC0B-0663083A60CE}" presName="node" presStyleLbl="node1" presStyleIdx="0" presStyleCnt="1" custScaleX="57705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4537B8A-636E-4635-B00F-82C758A2F4D4}" type="presOf" srcId="{8BA94D93-6419-4BDB-A3DC-9DB00318AC16}" destId="{33DEDDD9-8DCB-4714-87FB-F070E00EA71C}" srcOrd="0" destOrd="0" presId="urn:microsoft.com/office/officeart/2005/8/layout/default"/>
    <dgm:cxn modelId="{870B4C6F-8BC0-4CFA-8F1A-E1FFC9022245}" srcId="{8BA94D93-6419-4BDB-A3DC-9DB00318AC16}" destId="{9766D955-8091-47F2-BC0B-0663083A60CE}" srcOrd="0" destOrd="0" parTransId="{AF760B2C-E36A-4B1F-891F-6EB711F35E8D}" sibTransId="{F577BF98-49DF-4471-A6DB-DDCC55503F4C}"/>
    <dgm:cxn modelId="{E6E78C70-AF90-4BCB-8146-0AE55BE8697E}" type="presOf" srcId="{9766D955-8091-47F2-BC0B-0663083A60CE}" destId="{C345C142-E2CB-4DBF-BB03-FCFD5BF3F1C8}" srcOrd="0" destOrd="0" presId="urn:microsoft.com/office/officeart/2005/8/layout/default"/>
    <dgm:cxn modelId="{73EF9F33-87E8-47FE-A987-1B5C7AD8A820}" type="presParOf" srcId="{33DEDDD9-8DCB-4714-87FB-F070E00EA71C}" destId="{C345C142-E2CB-4DBF-BB03-FCFD5BF3F1C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BA94D93-6419-4BDB-A3DC-9DB00318AC1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766D955-8091-47F2-BC0B-0663083A60CE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Интеграция цифровой карты с системой управления БТС</a:t>
          </a:r>
        </a:p>
      </dgm:t>
    </dgm:pt>
    <dgm:pt modelId="{AF760B2C-E36A-4B1F-891F-6EB711F35E8D}" type="parTrans" cxnId="{870B4C6F-8BC0-4CFA-8F1A-E1FFC9022245}">
      <dgm:prSet/>
      <dgm:spPr/>
      <dgm:t>
        <a:bodyPr/>
        <a:lstStyle/>
        <a:p>
          <a:endParaRPr lang="ru-RU" sz="2400"/>
        </a:p>
      </dgm:t>
    </dgm:pt>
    <dgm:pt modelId="{F577BF98-49DF-4471-A6DB-DDCC55503F4C}" type="sibTrans" cxnId="{870B4C6F-8BC0-4CFA-8F1A-E1FFC9022245}">
      <dgm:prSet/>
      <dgm:spPr/>
      <dgm:t>
        <a:bodyPr/>
        <a:lstStyle/>
        <a:p>
          <a:endParaRPr lang="ru-RU" sz="2400"/>
        </a:p>
      </dgm:t>
    </dgm:pt>
    <dgm:pt modelId="{33DEDDD9-8DCB-4714-87FB-F070E00EA71C}" type="pres">
      <dgm:prSet presAssocID="{8BA94D93-6419-4BDB-A3DC-9DB00318AC1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345C142-E2CB-4DBF-BB03-FCFD5BF3F1C8}" type="pres">
      <dgm:prSet presAssocID="{9766D955-8091-47F2-BC0B-0663083A60CE}" presName="node" presStyleLbl="node1" presStyleIdx="0" presStyleCnt="1" custScaleX="57705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B4B2F96-F399-47C9-BE5A-23D3C07088CA}" type="presOf" srcId="{8BA94D93-6419-4BDB-A3DC-9DB00318AC16}" destId="{33DEDDD9-8DCB-4714-87FB-F070E00EA71C}" srcOrd="0" destOrd="0" presId="urn:microsoft.com/office/officeart/2005/8/layout/default"/>
    <dgm:cxn modelId="{870B4C6F-8BC0-4CFA-8F1A-E1FFC9022245}" srcId="{8BA94D93-6419-4BDB-A3DC-9DB00318AC16}" destId="{9766D955-8091-47F2-BC0B-0663083A60CE}" srcOrd="0" destOrd="0" parTransId="{AF760B2C-E36A-4B1F-891F-6EB711F35E8D}" sibTransId="{F577BF98-49DF-4471-A6DB-DDCC55503F4C}"/>
    <dgm:cxn modelId="{086010B0-E149-41AE-A07F-8FE66F594674}" type="presOf" srcId="{9766D955-8091-47F2-BC0B-0663083A60CE}" destId="{C345C142-E2CB-4DBF-BB03-FCFD5BF3F1C8}" srcOrd="0" destOrd="0" presId="urn:microsoft.com/office/officeart/2005/8/layout/default"/>
    <dgm:cxn modelId="{15AA319B-DC72-418E-9888-64B1674760E8}" type="presParOf" srcId="{33DEDDD9-8DCB-4714-87FB-F070E00EA71C}" destId="{C345C142-E2CB-4DBF-BB03-FCFD5BF3F1C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8BA94D93-6419-4BDB-A3DC-9DB00318AC1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766D955-8091-47F2-BC0B-0663083A60CE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Интеграция цифровой карты с системой управления БТС</a:t>
          </a:r>
        </a:p>
      </dgm:t>
    </dgm:pt>
    <dgm:pt modelId="{AF760B2C-E36A-4B1F-891F-6EB711F35E8D}" type="parTrans" cxnId="{870B4C6F-8BC0-4CFA-8F1A-E1FFC9022245}">
      <dgm:prSet/>
      <dgm:spPr/>
      <dgm:t>
        <a:bodyPr/>
        <a:lstStyle/>
        <a:p>
          <a:endParaRPr lang="ru-RU" sz="2400"/>
        </a:p>
      </dgm:t>
    </dgm:pt>
    <dgm:pt modelId="{F577BF98-49DF-4471-A6DB-DDCC55503F4C}" type="sibTrans" cxnId="{870B4C6F-8BC0-4CFA-8F1A-E1FFC9022245}">
      <dgm:prSet/>
      <dgm:spPr/>
      <dgm:t>
        <a:bodyPr/>
        <a:lstStyle/>
        <a:p>
          <a:endParaRPr lang="ru-RU" sz="2400"/>
        </a:p>
      </dgm:t>
    </dgm:pt>
    <dgm:pt modelId="{33DEDDD9-8DCB-4714-87FB-F070E00EA71C}" type="pres">
      <dgm:prSet presAssocID="{8BA94D93-6419-4BDB-A3DC-9DB00318AC1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C345C142-E2CB-4DBF-BB03-FCFD5BF3F1C8}" type="pres">
      <dgm:prSet presAssocID="{9766D955-8091-47F2-BC0B-0663083A60CE}" presName="node" presStyleLbl="node1" presStyleIdx="0" presStyleCnt="1" custScaleX="57705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854D953-9000-4786-8F01-788D40196305}" type="presOf" srcId="{9766D955-8091-47F2-BC0B-0663083A60CE}" destId="{C345C142-E2CB-4DBF-BB03-FCFD5BF3F1C8}" srcOrd="0" destOrd="0" presId="urn:microsoft.com/office/officeart/2005/8/layout/default"/>
    <dgm:cxn modelId="{50AEB7DF-2542-47FF-AB16-EB5391DBE257}" type="presOf" srcId="{8BA94D93-6419-4BDB-A3DC-9DB00318AC16}" destId="{33DEDDD9-8DCB-4714-87FB-F070E00EA71C}" srcOrd="0" destOrd="0" presId="urn:microsoft.com/office/officeart/2005/8/layout/default"/>
    <dgm:cxn modelId="{870B4C6F-8BC0-4CFA-8F1A-E1FFC9022245}" srcId="{8BA94D93-6419-4BDB-A3DC-9DB00318AC16}" destId="{9766D955-8091-47F2-BC0B-0663083A60CE}" srcOrd="0" destOrd="0" parTransId="{AF760B2C-E36A-4B1F-891F-6EB711F35E8D}" sibTransId="{F577BF98-49DF-4471-A6DB-DDCC55503F4C}"/>
    <dgm:cxn modelId="{B15BEDED-80EB-4577-AA71-1EFBC4E3778E}" type="presParOf" srcId="{33DEDDD9-8DCB-4714-87FB-F070E00EA71C}" destId="{C345C142-E2CB-4DBF-BB03-FCFD5BF3F1C8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A0559CD7-DD7A-439C-A7D1-B045D594975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C50A651-90AB-498C-A24D-F3224FE7619D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Оснащение диспетчерского пункта: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Установка мониторов, средств связи, компьютеров и другого оборудования, необходимого для эффективной работы диспетчеров.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B97F4140-4045-464C-A500-9C18F5DA970F}" type="parTrans" cxnId="{A8BA2EB9-51E5-43C2-A094-1F9C90350D5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9F1852C-B2AE-4AA4-AF61-53139649DB5A}" type="sibTrans" cxnId="{A8BA2EB9-51E5-43C2-A094-1F9C90350D5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8CFF9C6-7A22-4502-B473-099DFB2D96D9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Разработка регламентов работы: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Определение порядка действий диспетчеров в различных ситуациях, включая аварийные.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BDCAAC1-B881-4A11-98BF-B5BABF77314C}" type="parTrans" cxnId="{6A82FCD3-765A-44D9-ABC1-DE2778BF998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1BA13F57-DECF-439B-97C3-C53F9F7BC9A4}" type="sibTrans" cxnId="{6A82FCD3-765A-44D9-ABC1-DE2778BF9982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86D349B-5C7C-48D0-AA3A-42CFBD1A537C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Обучение персонала: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  Подготовка диспетчеров по управлению БТС и реагированию на нештатные ситуации.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61991CA-46A9-4142-8476-934256E41B04}" type="parTrans" cxnId="{DB6777CB-7068-4E2B-805B-422A93A5209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288473B6-3AE7-4A67-A94D-89FA50A66173}" type="sibTrans" cxnId="{DB6777CB-7068-4E2B-805B-422A93A5209F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8ED0772-E5D0-4C7D-A606-C673E274E372}" type="pres">
      <dgm:prSet presAssocID="{A0559CD7-DD7A-439C-A7D1-B045D594975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484E798-06BE-47CC-B748-570BDFE9C1EA}" type="pres">
      <dgm:prSet presAssocID="{8C50A651-90AB-498C-A24D-F3224FE7619D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E1A8AB-0A63-4B0E-A523-84EB3ECF9984}" type="pres">
      <dgm:prSet presAssocID="{D9F1852C-B2AE-4AA4-AF61-53139649DB5A}" presName="sibTrans" presStyleCnt="0"/>
      <dgm:spPr/>
    </dgm:pt>
    <dgm:pt modelId="{7B5BAB4A-9067-41E5-BE4D-31DC3527A7F9}" type="pres">
      <dgm:prSet presAssocID="{58CFF9C6-7A22-4502-B473-099DFB2D96D9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654BF43-2BE3-409D-885A-77C602F31274}" type="pres">
      <dgm:prSet presAssocID="{1BA13F57-DECF-439B-97C3-C53F9F7BC9A4}" presName="sibTrans" presStyleCnt="0"/>
      <dgm:spPr/>
    </dgm:pt>
    <dgm:pt modelId="{E30E7953-AB2E-4AFA-BC86-8D3FBB5BDAA8}" type="pres">
      <dgm:prSet presAssocID="{786D349B-5C7C-48D0-AA3A-42CFBD1A537C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6A82FCD3-765A-44D9-ABC1-DE2778BF9982}" srcId="{A0559CD7-DD7A-439C-A7D1-B045D5949758}" destId="{58CFF9C6-7A22-4502-B473-099DFB2D96D9}" srcOrd="1" destOrd="0" parTransId="{EBDCAAC1-B881-4A11-98BF-B5BABF77314C}" sibTransId="{1BA13F57-DECF-439B-97C3-C53F9F7BC9A4}"/>
    <dgm:cxn modelId="{AB265F89-9958-4979-95A9-AF9FE4AFA5D7}" type="presOf" srcId="{8C50A651-90AB-498C-A24D-F3224FE7619D}" destId="{D484E798-06BE-47CC-B748-570BDFE9C1EA}" srcOrd="0" destOrd="0" presId="urn:microsoft.com/office/officeart/2005/8/layout/default"/>
    <dgm:cxn modelId="{DB6777CB-7068-4E2B-805B-422A93A5209F}" srcId="{A0559CD7-DD7A-439C-A7D1-B045D5949758}" destId="{786D349B-5C7C-48D0-AA3A-42CFBD1A537C}" srcOrd="2" destOrd="0" parTransId="{E61991CA-46A9-4142-8476-934256E41B04}" sibTransId="{288473B6-3AE7-4A67-A94D-89FA50A66173}"/>
    <dgm:cxn modelId="{0E707F1E-6A2C-4B1D-9793-875B6455B963}" type="presOf" srcId="{A0559CD7-DD7A-439C-A7D1-B045D5949758}" destId="{F8ED0772-E5D0-4C7D-A606-C673E274E372}" srcOrd="0" destOrd="0" presId="urn:microsoft.com/office/officeart/2005/8/layout/default"/>
    <dgm:cxn modelId="{ABB1B233-6390-4799-A755-54C7593111CB}" type="presOf" srcId="{786D349B-5C7C-48D0-AA3A-42CFBD1A537C}" destId="{E30E7953-AB2E-4AFA-BC86-8D3FBB5BDAA8}" srcOrd="0" destOrd="0" presId="urn:microsoft.com/office/officeart/2005/8/layout/default"/>
    <dgm:cxn modelId="{A8BA2EB9-51E5-43C2-A094-1F9C90350D56}" srcId="{A0559CD7-DD7A-439C-A7D1-B045D5949758}" destId="{8C50A651-90AB-498C-A24D-F3224FE7619D}" srcOrd="0" destOrd="0" parTransId="{B97F4140-4045-464C-A500-9C18F5DA970F}" sibTransId="{D9F1852C-B2AE-4AA4-AF61-53139649DB5A}"/>
    <dgm:cxn modelId="{C8230256-4B1C-40C7-A848-3D3615C849BD}" type="presOf" srcId="{58CFF9C6-7A22-4502-B473-099DFB2D96D9}" destId="{7B5BAB4A-9067-41E5-BE4D-31DC3527A7F9}" srcOrd="0" destOrd="0" presId="urn:microsoft.com/office/officeart/2005/8/layout/default"/>
    <dgm:cxn modelId="{74F7BC84-74BD-4F6E-8C8F-10903B45994E}" type="presParOf" srcId="{F8ED0772-E5D0-4C7D-A606-C673E274E372}" destId="{D484E798-06BE-47CC-B748-570BDFE9C1EA}" srcOrd="0" destOrd="0" presId="urn:microsoft.com/office/officeart/2005/8/layout/default"/>
    <dgm:cxn modelId="{23C182B1-265E-4BB6-9BCE-CF506DBFD607}" type="presParOf" srcId="{F8ED0772-E5D0-4C7D-A606-C673E274E372}" destId="{2CE1A8AB-0A63-4B0E-A523-84EB3ECF9984}" srcOrd="1" destOrd="0" presId="urn:microsoft.com/office/officeart/2005/8/layout/default"/>
    <dgm:cxn modelId="{0A9AD7A0-E499-404B-9BF3-895AB8EDD0B4}" type="presParOf" srcId="{F8ED0772-E5D0-4C7D-A606-C673E274E372}" destId="{7B5BAB4A-9067-41E5-BE4D-31DC3527A7F9}" srcOrd="2" destOrd="0" presId="urn:microsoft.com/office/officeart/2005/8/layout/default"/>
    <dgm:cxn modelId="{C75785A7-A8D6-45AF-B51C-C007C2FE2CD9}" type="presParOf" srcId="{F8ED0772-E5D0-4C7D-A606-C673E274E372}" destId="{0654BF43-2BE3-409D-885A-77C602F31274}" srcOrd="3" destOrd="0" presId="urn:microsoft.com/office/officeart/2005/8/layout/default"/>
    <dgm:cxn modelId="{F4E593E4-55B7-4B04-89D5-2911B5FF7FDA}" type="presParOf" srcId="{F8ED0772-E5D0-4C7D-A606-C673E274E372}" destId="{E30E7953-AB2E-4AFA-BC86-8D3FBB5BDAA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A0559CD7-DD7A-439C-A7D1-B045D5949758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8C50A651-90AB-498C-A24D-F3224FE7619D}">
      <dgm:prSet phldrT="[Текст]"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Использование программного обеспечения для мониторинга состояния БТС в реальном времени.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B97F4140-4045-464C-A500-9C18F5DA970F}" type="parTrans" cxnId="{A8BA2EB9-51E5-43C2-A094-1F9C90350D5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9F1852C-B2AE-4AA4-AF61-53139649DB5A}" type="sibTrans" cxnId="{A8BA2EB9-51E5-43C2-A094-1F9C90350D5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74C3DA35-0A97-42B0-A483-3859CB075FC8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Организация круглосуточной работы диспетчерского пункта.</a:t>
          </a:r>
        </a:p>
      </dgm:t>
    </dgm:pt>
    <dgm:pt modelId="{4AB11FB0-A790-4E56-BE07-C8F4665B66D0}" type="parTrans" cxnId="{57A62704-F6A1-4994-99EB-0D25619B8FB6}">
      <dgm:prSet/>
      <dgm:spPr/>
      <dgm:t>
        <a:bodyPr/>
        <a:lstStyle/>
        <a:p>
          <a:endParaRPr lang="ru-RU"/>
        </a:p>
      </dgm:t>
    </dgm:pt>
    <dgm:pt modelId="{03D94F41-C61F-4065-BC8B-51513F09F117}" type="sibTrans" cxnId="{57A62704-F6A1-4994-99EB-0D25619B8FB6}">
      <dgm:prSet/>
      <dgm:spPr/>
      <dgm:t>
        <a:bodyPr/>
        <a:lstStyle/>
        <a:p>
          <a:endParaRPr lang="ru-RU"/>
        </a:p>
      </dgm:t>
    </dgm:pt>
    <dgm:pt modelId="{F8ED0772-E5D0-4C7D-A606-C673E274E372}" type="pres">
      <dgm:prSet presAssocID="{A0559CD7-DD7A-439C-A7D1-B045D5949758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D484E798-06BE-47CC-B748-570BDFE9C1EA}" type="pres">
      <dgm:prSet presAssocID="{8C50A651-90AB-498C-A24D-F3224FE7619D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CE1A8AB-0A63-4B0E-A523-84EB3ECF9984}" type="pres">
      <dgm:prSet presAssocID="{D9F1852C-B2AE-4AA4-AF61-53139649DB5A}" presName="sibTrans" presStyleCnt="0"/>
      <dgm:spPr/>
    </dgm:pt>
    <dgm:pt modelId="{5FCED495-5D1D-4D99-BCAD-D8AE32BE2E1A}" type="pres">
      <dgm:prSet presAssocID="{74C3DA35-0A97-42B0-A483-3859CB075FC8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26A09F72-6739-4241-BC61-202326095AF2}" type="presOf" srcId="{8C50A651-90AB-498C-A24D-F3224FE7619D}" destId="{D484E798-06BE-47CC-B748-570BDFE9C1EA}" srcOrd="0" destOrd="0" presId="urn:microsoft.com/office/officeart/2005/8/layout/default"/>
    <dgm:cxn modelId="{C65D75BD-67B1-45DE-B341-4F4CE370E220}" type="presOf" srcId="{74C3DA35-0A97-42B0-A483-3859CB075FC8}" destId="{5FCED495-5D1D-4D99-BCAD-D8AE32BE2E1A}" srcOrd="0" destOrd="0" presId="urn:microsoft.com/office/officeart/2005/8/layout/default"/>
    <dgm:cxn modelId="{57A62704-F6A1-4994-99EB-0D25619B8FB6}" srcId="{A0559CD7-DD7A-439C-A7D1-B045D5949758}" destId="{74C3DA35-0A97-42B0-A483-3859CB075FC8}" srcOrd="1" destOrd="0" parTransId="{4AB11FB0-A790-4E56-BE07-C8F4665B66D0}" sibTransId="{03D94F41-C61F-4065-BC8B-51513F09F117}"/>
    <dgm:cxn modelId="{FB6D3CFF-4068-4B30-B728-F5C3449FAD0A}" type="presOf" srcId="{A0559CD7-DD7A-439C-A7D1-B045D5949758}" destId="{F8ED0772-E5D0-4C7D-A606-C673E274E372}" srcOrd="0" destOrd="0" presId="urn:microsoft.com/office/officeart/2005/8/layout/default"/>
    <dgm:cxn modelId="{A8BA2EB9-51E5-43C2-A094-1F9C90350D56}" srcId="{A0559CD7-DD7A-439C-A7D1-B045D5949758}" destId="{8C50A651-90AB-498C-A24D-F3224FE7619D}" srcOrd="0" destOrd="0" parTransId="{B97F4140-4045-464C-A500-9C18F5DA970F}" sibTransId="{D9F1852C-B2AE-4AA4-AF61-53139649DB5A}"/>
    <dgm:cxn modelId="{7A76CC2E-A3F0-4338-8173-3FC71764D7CB}" type="presParOf" srcId="{F8ED0772-E5D0-4C7D-A606-C673E274E372}" destId="{D484E798-06BE-47CC-B748-570BDFE9C1EA}" srcOrd="0" destOrd="0" presId="urn:microsoft.com/office/officeart/2005/8/layout/default"/>
    <dgm:cxn modelId="{6DFFB5DF-81B1-4C13-B25A-85A7B79BA941}" type="presParOf" srcId="{F8ED0772-E5D0-4C7D-A606-C673E274E372}" destId="{2CE1A8AB-0A63-4B0E-A523-84EB3ECF9984}" srcOrd="1" destOrd="0" presId="urn:microsoft.com/office/officeart/2005/8/layout/default"/>
    <dgm:cxn modelId="{D2E7CECB-F37D-4D46-AE27-2787EAD75E00}" type="presParOf" srcId="{F8ED0772-E5D0-4C7D-A606-C673E274E372}" destId="{5FCED495-5D1D-4D99-BCAD-D8AE32BE2E1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8290BD2A-25B7-4DDD-A3C7-EB6E1658EC4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9400E85-DC84-4793-9EFD-82A20B3DF124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Сбор данных: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Сбор большого объема данных с датчиков БТС в различных условиях эксплуатации.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9670204-00C5-4630-A361-D5C8CA4C70B2}" type="parTrans" cxnId="{54242CD6-6D82-4955-B630-773637964F2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B6F296D-C3B1-4F9D-A54D-C3C6EAFF2335}" type="sibTrans" cxnId="{54242CD6-6D82-4955-B630-773637964F2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E7DE8A0-4CDE-4655-B3AA-A151DABF852A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Разметка данных: 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Разметка данных для обучения нейронной сети, например, выделение объектов на изображениях.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9CE6864-2212-49B4-8460-32006E7A8AD4}" type="parTrans" cxnId="{6BD39BBB-4505-40CF-AB48-D084DBCB776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9BCD58D3-760D-488F-ACBB-54B371E19E1A}" type="sibTrans" cxnId="{6BD39BBB-4505-40CF-AB48-D084DBCB776E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B62944C-3E12-4D22-ADF0-0EEC9120F973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Обучение нейронной сети: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 Использование алгоритмов машинного обучения для обучения нейронной сети на собранных данных.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E0F08920-B1DB-4BF2-AEC0-F1B828470E6D}" type="parTrans" cxnId="{957AAECC-7050-46B1-B751-A982FC263B9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91D881C-D298-41F4-B37E-329936F8DF53}" type="sibTrans" cxnId="{957AAECC-7050-46B1-B751-A982FC263B9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C94D4CB-8F9B-446E-99B1-35AEDEA04644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Тестирование нейронной сети: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Проверка точности и надежности работы нейронной сети в реальных условиях эксплуатации.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CED3104F-9BE9-45AB-BCD8-22A166FCF93C}" type="parTrans" cxnId="{CF8A241B-B505-4CA7-9434-CAC09DB51C2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DE1F313-4E70-4EA4-8A64-708B00706FA6}" type="sibTrans" cxnId="{CF8A241B-B505-4CA7-9434-CAC09DB51C2A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090B64E3-A9F3-4B34-9FCD-C648205E2516}" type="pres">
      <dgm:prSet presAssocID="{8290BD2A-25B7-4DDD-A3C7-EB6E1658EC4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B3AC66C-3FA0-49AD-BB54-1037890A45BB}" type="pres">
      <dgm:prSet presAssocID="{19400E85-DC84-4793-9EFD-82A20B3DF124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B71F487-E9A7-42EE-BF22-047FA2592CD7}" type="pres">
      <dgm:prSet presAssocID="{EB6F296D-C3B1-4F9D-A54D-C3C6EAFF2335}" presName="sibTrans" presStyleCnt="0"/>
      <dgm:spPr/>
    </dgm:pt>
    <dgm:pt modelId="{67B119B5-CFC1-49F1-9802-B19EA7FEB420}" type="pres">
      <dgm:prSet presAssocID="{4E7DE8A0-4CDE-4655-B3AA-A151DABF852A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7140018-448F-4EF2-B889-172B9DD7C33C}" type="pres">
      <dgm:prSet presAssocID="{9BCD58D3-760D-488F-ACBB-54B371E19E1A}" presName="sibTrans" presStyleCnt="0"/>
      <dgm:spPr/>
    </dgm:pt>
    <dgm:pt modelId="{BD8B5291-2816-43A5-8DF5-829EC4453A80}" type="pres">
      <dgm:prSet presAssocID="{0B62944C-3E12-4D22-ADF0-0EEC9120F973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B6D6DD7-B95A-4647-A846-8E0B6B341F41}" type="pres">
      <dgm:prSet presAssocID="{F91D881C-D298-41F4-B37E-329936F8DF53}" presName="sibTrans" presStyleCnt="0"/>
      <dgm:spPr/>
    </dgm:pt>
    <dgm:pt modelId="{EA8A2E80-6AE3-49F3-A33C-5B7BA4F65298}" type="pres">
      <dgm:prSet presAssocID="{EC94D4CB-8F9B-446E-99B1-35AEDEA04644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3ED00DD-5CB8-40E8-A976-CCD886023F3D}" type="presOf" srcId="{0B62944C-3E12-4D22-ADF0-0EEC9120F973}" destId="{BD8B5291-2816-43A5-8DF5-829EC4453A80}" srcOrd="0" destOrd="0" presId="urn:microsoft.com/office/officeart/2005/8/layout/default"/>
    <dgm:cxn modelId="{6BD39BBB-4505-40CF-AB48-D084DBCB776E}" srcId="{8290BD2A-25B7-4DDD-A3C7-EB6E1658EC4E}" destId="{4E7DE8A0-4CDE-4655-B3AA-A151DABF852A}" srcOrd="1" destOrd="0" parTransId="{49CE6864-2212-49B4-8460-32006E7A8AD4}" sibTransId="{9BCD58D3-760D-488F-ACBB-54B371E19E1A}"/>
    <dgm:cxn modelId="{CF8A241B-B505-4CA7-9434-CAC09DB51C2A}" srcId="{8290BD2A-25B7-4DDD-A3C7-EB6E1658EC4E}" destId="{EC94D4CB-8F9B-446E-99B1-35AEDEA04644}" srcOrd="3" destOrd="0" parTransId="{CED3104F-9BE9-45AB-BCD8-22A166FCF93C}" sibTransId="{EDE1F313-4E70-4EA4-8A64-708B00706FA6}"/>
    <dgm:cxn modelId="{54242CD6-6D82-4955-B630-773637964F26}" srcId="{8290BD2A-25B7-4DDD-A3C7-EB6E1658EC4E}" destId="{19400E85-DC84-4793-9EFD-82A20B3DF124}" srcOrd="0" destOrd="0" parTransId="{99670204-00C5-4630-A361-D5C8CA4C70B2}" sibTransId="{EB6F296D-C3B1-4F9D-A54D-C3C6EAFF2335}"/>
    <dgm:cxn modelId="{C4971625-4FF8-4B22-BDC6-8ADFC42187E9}" type="presOf" srcId="{19400E85-DC84-4793-9EFD-82A20B3DF124}" destId="{7B3AC66C-3FA0-49AD-BB54-1037890A45BB}" srcOrd="0" destOrd="0" presId="urn:microsoft.com/office/officeart/2005/8/layout/default"/>
    <dgm:cxn modelId="{320AA644-25C6-42B3-8C0B-4B9B5FBBA8AC}" type="presOf" srcId="{EC94D4CB-8F9B-446E-99B1-35AEDEA04644}" destId="{EA8A2E80-6AE3-49F3-A33C-5B7BA4F65298}" srcOrd="0" destOrd="0" presId="urn:microsoft.com/office/officeart/2005/8/layout/default"/>
    <dgm:cxn modelId="{E3961E7B-8474-456C-9B1D-D2D463872BCB}" type="presOf" srcId="{4E7DE8A0-4CDE-4655-B3AA-A151DABF852A}" destId="{67B119B5-CFC1-49F1-9802-B19EA7FEB420}" srcOrd="0" destOrd="0" presId="urn:microsoft.com/office/officeart/2005/8/layout/default"/>
    <dgm:cxn modelId="{A02FD58B-E482-4946-BFC1-AC831AE9C0E4}" type="presOf" srcId="{8290BD2A-25B7-4DDD-A3C7-EB6E1658EC4E}" destId="{090B64E3-A9F3-4B34-9FCD-C648205E2516}" srcOrd="0" destOrd="0" presId="urn:microsoft.com/office/officeart/2005/8/layout/default"/>
    <dgm:cxn modelId="{957AAECC-7050-46B1-B751-A982FC263B97}" srcId="{8290BD2A-25B7-4DDD-A3C7-EB6E1658EC4E}" destId="{0B62944C-3E12-4D22-ADF0-0EEC9120F973}" srcOrd="2" destOrd="0" parTransId="{E0F08920-B1DB-4BF2-AEC0-F1B828470E6D}" sibTransId="{F91D881C-D298-41F4-B37E-329936F8DF53}"/>
    <dgm:cxn modelId="{9AC2C9A4-2F77-48A1-BF51-E40926E05E25}" type="presParOf" srcId="{090B64E3-A9F3-4B34-9FCD-C648205E2516}" destId="{7B3AC66C-3FA0-49AD-BB54-1037890A45BB}" srcOrd="0" destOrd="0" presId="urn:microsoft.com/office/officeart/2005/8/layout/default"/>
    <dgm:cxn modelId="{E250FEC7-2BF9-4209-9D4C-4BAC4FB376D7}" type="presParOf" srcId="{090B64E3-A9F3-4B34-9FCD-C648205E2516}" destId="{3B71F487-E9A7-42EE-BF22-047FA2592CD7}" srcOrd="1" destOrd="0" presId="urn:microsoft.com/office/officeart/2005/8/layout/default"/>
    <dgm:cxn modelId="{473E0D6B-6DEA-4CAA-9288-169CAAB113E8}" type="presParOf" srcId="{090B64E3-A9F3-4B34-9FCD-C648205E2516}" destId="{67B119B5-CFC1-49F1-9802-B19EA7FEB420}" srcOrd="2" destOrd="0" presId="urn:microsoft.com/office/officeart/2005/8/layout/default"/>
    <dgm:cxn modelId="{1F9DEB3B-37C7-424B-9958-CBFA9BEFDC1A}" type="presParOf" srcId="{090B64E3-A9F3-4B34-9FCD-C648205E2516}" destId="{D7140018-448F-4EF2-B889-172B9DD7C33C}" srcOrd="3" destOrd="0" presId="urn:microsoft.com/office/officeart/2005/8/layout/default"/>
    <dgm:cxn modelId="{A694EEB9-0E2E-4587-8F27-C470DF6E64C0}" type="presParOf" srcId="{090B64E3-A9F3-4B34-9FCD-C648205E2516}" destId="{BD8B5291-2816-43A5-8DF5-829EC4453A80}" srcOrd="4" destOrd="0" presId="urn:microsoft.com/office/officeart/2005/8/layout/default"/>
    <dgm:cxn modelId="{06D8566A-5DDC-448D-B797-6FE16E36EC62}" type="presParOf" srcId="{090B64E3-A9F3-4B34-9FCD-C648205E2516}" destId="{1B6D6DD7-B95A-4647-A846-8E0B6B341F41}" srcOrd="5" destOrd="0" presId="urn:microsoft.com/office/officeart/2005/8/layout/default"/>
    <dgm:cxn modelId="{B5AD9EB9-30CF-42E1-98AC-FC82EAA251D2}" type="presParOf" srcId="{090B64E3-A9F3-4B34-9FCD-C648205E2516}" destId="{EA8A2E80-6AE3-49F3-A33C-5B7BA4F65298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8290BD2A-25B7-4DDD-A3C7-EB6E1658EC4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19400E85-DC84-4793-9EFD-82A20B3DF124}">
      <dgm:prSet phldrT="[Текст]"/>
      <dgm:spPr/>
      <dgm:t>
        <a:bodyPr/>
        <a:lstStyle/>
        <a:p>
          <a:r>
            <a:rPr lang="ru-RU" smtClean="0">
              <a:latin typeface="Times New Roman" pitchFamily="18" charset="0"/>
              <a:cs typeface="Times New Roman" pitchFamily="18" charset="0"/>
            </a:rPr>
            <a:t>Использование предварительно обученных нейронных сетей для распознавания объектов.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99670204-00C5-4630-A361-D5C8CA4C70B2}" type="parTrans" cxnId="{54242CD6-6D82-4955-B630-773637964F2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EB6F296D-C3B1-4F9D-A54D-C3C6EAFF2335}" type="sibTrans" cxnId="{54242CD6-6D82-4955-B630-773637964F26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4794013A-3650-442A-9F7C-B77B8D29309C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Применение методов Transfer Learning для ускорения обучения нейронной сети.</a:t>
          </a:r>
        </a:p>
      </dgm:t>
    </dgm:pt>
    <dgm:pt modelId="{4BA3E9E0-4BD8-4704-917D-F94C6EC538ED}" type="parTrans" cxnId="{C0B8421B-8F40-4887-B0D3-29C5E509B815}">
      <dgm:prSet/>
      <dgm:spPr/>
      <dgm:t>
        <a:bodyPr/>
        <a:lstStyle/>
        <a:p>
          <a:endParaRPr lang="ru-RU"/>
        </a:p>
      </dgm:t>
    </dgm:pt>
    <dgm:pt modelId="{AF766EB2-9015-4A10-88E8-333496A3FBC7}" type="sibTrans" cxnId="{C0B8421B-8F40-4887-B0D3-29C5E509B815}">
      <dgm:prSet/>
      <dgm:spPr/>
      <dgm:t>
        <a:bodyPr/>
        <a:lstStyle/>
        <a:p>
          <a:endParaRPr lang="ru-RU"/>
        </a:p>
      </dgm:t>
    </dgm:pt>
    <dgm:pt modelId="{090B64E3-A9F3-4B34-9FCD-C648205E2516}" type="pres">
      <dgm:prSet presAssocID="{8290BD2A-25B7-4DDD-A3C7-EB6E1658EC4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B3AC66C-3FA0-49AD-BB54-1037890A45BB}" type="pres">
      <dgm:prSet presAssocID="{19400E85-DC84-4793-9EFD-82A20B3DF124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B71F487-E9A7-42EE-BF22-047FA2592CD7}" type="pres">
      <dgm:prSet presAssocID="{EB6F296D-C3B1-4F9D-A54D-C3C6EAFF2335}" presName="sibTrans" presStyleCnt="0"/>
      <dgm:spPr/>
    </dgm:pt>
    <dgm:pt modelId="{6875884B-F0B4-4971-963C-6F2E59CF4133}" type="pres">
      <dgm:prSet presAssocID="{4794013A-3650-442A-9F7C-B77B8D29309C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54242CD6-6D82-4955-B630-773637964F26}" srcId="{8290BD2A-25B7-4DDD-A3C7-EB6E1658EC4E}" destId="{19400E85-DC84-4793-9EFD-82A20B3DF124}" srcOrd="0" destOrd="0" parTransId="{99670204-00C5-4630-A361-D5C8CA4C70B2}" sibTransId="{EB6F296D-C3B1-4F9D-A54D-C3C6EAFF2335}"/>
    <dgm:cxn modelId="{FAD4D0A3-CD38-4592-8455-94C29F81D966}" type="presOf" srcId="{19400E85-DC84-4793-9EFD-82A20B3DF124}" destId="{7B3AC66C-3FA0-49AD-BB54-1037890A45BB}" srcOrd="0" destOrd="0" presId="urn:microsoft.com/office/officeart/2005/8/layout/default"/>
    <dgm:cxn modelId="{D1358526-462B-49FF-9D76-EA29C3CAFBAC}" type="presOf" srcId="{8290BD2A-25B7-4DDD-A3C7-EB6E1658EC4E}" destId="{090B64E3-A9F3-4B34-9FCD-C648205E2516}" srcOrd="0" destOrd="0" presId="urn:microsoft.com/office/officeart/2005/8/layout/default"/>
    <dgm:cxn modelId="{C0B8421B-8F40-4887-B0D3-29C5E509B815}" srcId="{8290BD2A-25B7-4DDD-A3C7-EB6E1658EC4E}" destId="{4794013A-3650-442A-9F7C-B77B8D29309C}" srcOrd="1" destOrd="0" parTransId="{4BA3E9E0-4BD8-4704-917D-F94C6EC538ED}" sibTransId="{AF766EB2-9015-4A10-88E8-333496A3FBC7}"/>
    <dgm:cxn modelId="{B6F9D895-7244-4BD7-9C80-7762B9A502ED}" type="presOf" srcId="{4794013A-3650-442A-9F7C-B77B8D29309C}" destId="{6875884B-F0B4-4971-963C-6F2E59CF4133}" srcOrd="0" destOrd="0" presId="urn:microsoft.com/office/officeart/2005/8/layout/default"/>
    <dgm:cxn modelId="{4055B9FF-1D39-4F81-82C8-87BD5D6F92AE}" type="presParOf" srcId="{090B64E3-A9F3-4B34-9FCD-C648205E2516}" destId="{7B3AC66C-3FA0-49AD-BB54-1037890A45BB}" srcOrd="0" destOrd="0" presId="urn:microsoft.com/office/officeart/2005/8/layout/default"/>
    <dgm:cxn modelId="{CAF27CF9-47C9-4E63-8348-87DB3DEC3218}" type="presParOf" srcId="{090B64E3-A9F3-4B34-9FCD-C648205E2516}" destId="{3B71F487-E9A7-42EE-BF22-047FA2592CD7}" srcOrd="1" destOrd="0" presId="urn:microsoft.com/office/officeart/2005/8/layout/default"/>
    <dgm:cxn modelId="{81A76C68-4E7B-4E7C-9934-1E43794C4FD6}" type="presParOf" srcId="{090B64E3-A9F3-4B34-9FCD-C648205E2516}" destId="{6875884B-F0B4-4971-963C-6F2E59CF4133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8290BD2A-25B7-4DDD-A3C7-EB6E1658EC4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794013A-3650-442A-9F7C-B77B8D29309C}">
      <dgm:prSet custT="1"/>
      <dgm:spPr/>
      <dgm:t>
        <a:bodyPr/>
        <a:lstStyle/>
        <a:p>
          <a:r>
            <a:rPr lang="ru-RU" sz="3200" dirty="0" smtClean="0">
              <a:latin typeface="Times New Roman" pitchFamily="18" charset="0"/>
              <a:cs typeface="Times New Roman" pitchFamily="18" charset="0"/>
            </a:rPr>
            <a:t>Применение методов Transfer Learning для ускорения обучения нейронной сети.</a:t>
          </a:r>
        </a:p>
      </dgm:t>
    </dgm:pt>
    <dgm:pt modelId="{4BA3E9E0-4BD8-4704-917D-F94C6EC538ED}" type="parTrans" cxnId="{C0B8421B-8F40-4887-B0D3-29C5E509B815}">
      <dgm:prSet/>
      <dgm:spPr/>
      <dgm:t>
        <a:bodyPr/>
        <a:lstStyle/>
        <a:p>
          <a:endParaRPr lang="ru-RU" sz="1600"/>
        </a:p>
      </dgm:t>
    </dgm:pt>
    <dgm:pt modelId="{AF766EB2-9015-4A10-88E8-333496A3FBC7}" type="sibTrans" cxnId="{C0B8421B-8F40-4887-B0D3-29C5E509B815}">
      <dgm:prSet/>
      <dgm:spPr/>
      <dgm:t>
        <a:bodyPr/>
        <a:lstStyle/>
        <a:p>
          <a:endParaRPr lang="ru-RU" sz="1600"/>
        </a:p>
      </dgm:t>
    </dgm:pt>
    <dgm:pt modelId="{090B64E3-A9F3-4B34-9FCD-C648205E2516}" type="pres">
      <dgm:prSet presAssocID="{8290BD2A-25B7-4DDD-A3C7-EB6E1658EC4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875884B-F0B4-4971-963C-6F2E59CF4133}" type="pres">
      <dgm:prSet presAssocID="{4794013A-3650-442A-9F7C-B77B8D29309C}" presName="node" presStyleLbl="node1" presStyleIdx="0" presStyleCnt="1" custScaleX="156506" custScaleY="3869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F5BA6DEE-A438-4D2E-8F0F-20935092DF4A}" type="presOf" srcId="{4794013A-3650-442A-9F7C-B77B8D29309C}" destId="{6875884B-F0B4-4971-963C-6F2E59CF4133}" srcOrd="0" destOrd="0" presId="urn:microsoft.com/office/officeart/2005/8/layout/default"/>
    <dgm:cxn modelId="{C0B8421B-8F40-4887-B0D3-29C5E509B815}" srcId="{8290BD2A-25B7-4DDD-A3C7-EB6E1658EC4E}" destId="{4794013A-3650-442A-9F7C-B77B8D29309C}" srcOrd="0" destOrd="0" parTransId="{4BA3E9E0-4BD8-4704-917D-F94C6EC538ED}" sibTransId="{AF766EB2-9015-4A10-88E8-333496A3FBC7}"/>
    <dgm:cxn modelId="{E2F27A66-F556-4F6F-AE8D-B550551EDA02}" type="presOf" srcId="{8290BD2A-25B7-4DDD-A3C7-EB6E1658EC4E}" destId="{090B64E3-A9F3-4B34-9FCD-C648205E2516}" srcOrd="0" destOrd="0" presId="urn:microsoft.com/office/officeart/2005/8/layout/default"/>
    <dgm:cxn modelId="{4AE895AE-B898-4368-8A54-63015B573E95}" type="presParOf" srcId="{090B64E3-A9F3-4B34-9FCD-C648205E2516}" destId="{6875884B-F0B4-4971-963C-6F2E59CF4133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8290BD2A-25B7-4DDD-A3C7-EB6E1658EC4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794013A-3650-442A-9F7C-B77B8D29309C}">
      <dgm:prSet custT="1"/>
      <dgm:spPr/>
      <dgm:t>
        <a:bodyPr/>
        <a:lstStyle/>
        <a:p>
          <a:r>
            <a:rPr lang="ru-RU" sz="2800" dirty="0" smtClean="0">
              <a:latin typeface="Times New Roman" pitchFamily="18" charset="0"/>
              <a:cs typeface="Times New Roman" pitchFamily="18" charset="0"/>
            </a:rPr>
            <a:t>Применение методов Transfer Learning для ускорения обучения нейронной сети.</a:t>
          </a:r>
        </a:p>
      </dgm:t>
    </dgm:pt>
    <dgm:pt modelId="{4BA3E9E0-4BD8-4704-917D-F94C6EC538ED}" type="parTrans" cxnId="{C0B8421B-8F40-4887-B0D3-29C5E509B815}">
      <dgm:prSet/>
      <dgm:spPr/>
      <dgm:t>
        <a:bodyPr/>
        <a:lstStyle/>
        <a:p>
          <a:endParaRPr lang="ru-RU" sz="1600"/>
        </a:p>
      </dgm:t>
    </dgm:pt>
    <dgm:pt modelId="{AF766EB2-9015-4A10-88E8-333496A3FBC7}" type="sibTrans" cxnId="{C0B8421B-8F40-4887-B0D3-29C5E509B815}">
      <dgm:prSet/>
      <dgm:spPr/>
      <dgm:t>
        <a:bodyPr/>
        <a:lstStyle/>
        <a:p>
          <a:endParaRPr lang="ru-RU" sz="1600"/>
        </a:p>
      </dgm:t>
    </dgm:pt>
    <dgm:pt modelId="{090B64E3-A9F3-4B34-9FCD-C648205E2516}" type="pres">
      <dgm:prSet presAssocID="{8290BD2A-25B7-4DDD-A3C7-EB6E1658EC4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875884B-F0B4-4971-963C-6F2E59CF4133}" type="pres">
      <dgm:prSet presAssocID="{4794013A-3650-442A-9F7C-B77B8D29309C}" presName="node" presStyleLbl="node1" presStyleIdx="0" presStyleCnt="1" custScaleX="156506" custScaleY="3869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0B8421B-8F40-4887-B0D3-29C5E509B815}" srcId="{8290BD2A-25B7-4DDD-A3C7-EB6E1658EC4E}" destId="{4794013A-3650-442A-9F7C-B77B8D29309C}" srcOrd="0" destOrd="0" parTransId="{4BA3E9E0-4BD8-4704-917D-F94C6EC538ED}" sibTransId="{AF766EB2-9015-4A10-88E8-333496A3FBC7}"/>
    <dgm:cxn modelId="{5894D498-D6C4-4018-AFD5-B085B51DC513}" type="presOf" srcId="{8290BD2A-25B7-4DDD-A3C7-EB6E1658EC4E}" destId="{090B64E3-A9F3-4B34-9FCD-C648205E2516}" srcOrd="0" destOrd="0" presId="urn:microsoft.com/office/officeart/2005/8/layout/default"/>
    <dgm:cxn modelId="{7F3437CE-6F10-494F-AC59-F755DB6FA137}" type="presOf" srcId="{4794013A-3650-442A-9F7C-B77B8D29309C}" destId="{6875884B-F0B4-4971-963C-6F2E59CF4133}" srcOrd="0" destOrd="0" presId="urn:microsoft.com/office/officeart/2005/8/layout/default"/>
    <dgm:cxn modelId="{24F09303-6EEC-4589-B48B-E6D731B9F6B5}" type="presParOf" srcId="{090B64E3-A9F3-4B34-9FCD-C648205E2516}" destId="{6875884B-F0B4-4971-963C-6F2E59CF4133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766573C3-6B85-4759-A39C-09A88A7FFD13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CB9EE796-977D-49F6-B40D-B2FBF8ECAA62}">
      <dgm:prSet phldrT="[Текст]" custT="1"/>
      <dgm:spPr/>
      <dgm:t>
        <a:bodyPr/>
        <a:lstStyle/>
        <a:p>
          <a:r>
            <a:rPr lang="ru-RU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Перенос экземпляра (</a:t>
          </a:r>
          <a:r>
            <a:rPr lang="ru-RU" sz="1600" b="1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Instance</a:t>
          </a:r>
          <a:r>
            <a:rPr lang="ru-RU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b="1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Transfer</a:t>
          </a:r>
          <a:r>
            <a:rPr lang="ru-RU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).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Выбираются и повторно используются отдельные примеры (экземпляры) из исходного набора данных.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Даже если данные из исходного и целевого доменов немного отличаются, схожие примеры помогают модели быстрее адаптироваться. 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DF907FCE-BC31-4E30-8169-69A09733F07B}" type="parTrans" cxnId="{10E1A0C7-8F05-454B-AD21-075665C433D6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A2BCE035-1CEC-4FF8-A0B1-B06F03DBF530}" type="sibTrans" cxnId="{10E1A0C7-8F05-454B-AD21-075665C433D6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66CBE9FE-385E-4347-834C-59EAD726EE4D}">
      <dgm:prSet custT="1"/>
      <dgm:spPr/>
      <dgm:t>
        <a:bodyPr/>
        <a:lstStyle/>
        <a:p>
          <a:r>
            <a:rPr lang="ru-RU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Функция-передача представления</a:t>
          </a:r>
        </a:p>
        <a:p>
          <a:r>
            <a:rPr lang="ru-RU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(</a:t>
          </a:r>
          <a:r>
            <a:rPr lang="ru-RU" sz="1600" b="1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Feature</a:t>
          </a:r>
          <a:r>
            <a:rPr lang="ru-RU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b="1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Representation</a:t>
          </a:r>
          <a:r>
            <a:rPr lang="ru-RU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1600" b="1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Transfer</a:t>
          </a:r>
          <a:r>
            <a:rPr lang="ru-RU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).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Модель, обученная на одном наборе данных, использует свои навыки выделения важных признаков (характеристик) для работы с новыми данными. 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713EF05B-0457-40DC-9AEC-638AC0FFE4B5}" type="parTrans" cxnId="{C6C513FC-355B-46E1-ADCE-84E9C8AB414B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E2599A5A-6DB4-4080-9556-DC56CBDDB440}" type="sibTrans" cxnId="{C6C513FC-355B-46E1-ADCE-84E9C8AB414B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8CB97750-A44E-4C01-95AA-7122012FFA1D}">
      <dgm:prSet custT="1"/>
      <dgm:spPr/>
      <dgm:t>
        <a:bodyPr/>
        <a:lstStyle/>
        <a:p>
          <a:r>
            <a:rPr lang="ru-RU" sz="1600" b="1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Донастройка</a:t>
          </a:r>
          <a:r>
            <a:rPr lang="ru-RU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 перенесённых весов </a:t>
          </a:r>
        </a:p>
        <a:p>
          <a:r>
            <a:rPr lang="ru-RU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(</a:t>
          </a:r>
          <a:r>
            <a:rPr lang="ru-RU" sz="1600" b="1" dirty="0" err="1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finetuning</a:t>
          </a:r>
          <a:r>
            <a:rPr lang="ru-RU" sz="16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). </a:t>
          </a:r>
        </a:p>
        <a:p>
          <a:r>
            <a:rPr lang="ru-RU" sz="1600" dirty="0" smtClean="0">
              <a:latin typeface="Times New Roman" pitchFamily="18" charset="0"/>
              <a:cs typeface="Times New Roman" pitchFamily="18" charset="0"/>
            </a:rPr>
            <a:t>Поскольку задача, для которой модель уже обучена, несколько отличается от целевой, низкоуровневые признаки, перенесённые с первых слоёв, могут немного отличаться. </a:t>
          </a:r>
          <a:endParaRPr lang="ru-RU" sz="1600" dirty="0">
            <a:latin typeface="Times New Roman" pitchFamily="18" charset="0"/>
            <a:cs typeface="Times New Roman" pitchFamily="18" charset="0"/>
          </a:endParaRPr>
        </a:p>
      </dgm:t>
    </dgm:pt>
    <dgm:pt modelId="{F835BF7D-D33D-4926-BCBF-D47421FC9DBF}" type="parTrans" cxnId="{15DD05D6-2B96-4846-906A-ACBE4BA00640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4248CA83-95BE-4CD5-8B1C-F2A6BE6A0D01}" type="sibTrans" cxnId="{15DD05D6-2B96-4846-906A-ACBE4BA00640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56A3D2B6-466B-4D47-B506-186A03D18497}" type="pres">
      <dgm:prSet presAssocID="{766573C3-6B85-4759-A39C-09A88A7FFD13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6AC2763-26A4-4D85-AC5F-EDDD3EBE5D85}" type="pres">
      <dgm:prSet presAssocID="{CB9EE796-977D-49F6-B40D-B2FBF8ECAA62}" presName="node" presStyleLbl="node1" presStyleIdx="0" presStyleCnt="3" custScaleY="17742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C6FB547-54C5-4C74-9DE0-C05A67E58FD2}" type="pres">
      <dgm:prSet presAssocID="{A2BCE035-1CEC-4FF8-A0B1-B06F03DBF530}" presName="sibTrans" presStyleCnt="0"/>
      <dgm:spPr/>
    </dgm:pt>
    <dgm:pt modelId="{3B635040-526E-4469-ACFB-97C9502A6BD4}" type="pres">
      <dgm:prSet presAssocID="{66CBE9FE-385E-4347-834C-59EAD726EE4D}" presName="node" presStyleLbl="node1" presStyleIdx="1" presStyleCnt="3" custScaleY="175714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2B8585E-30A2-4387-9F1E-A3E8C8AAC3B0}" type="pres">
      <dgm:prSet presAssocID="{E2599A5A-6DB4-4080-9556-DC56CBDDB440}" presName="sibTrans" presStyleCnt="0"/>
      <dgm:spPr/>
    </dgm:pt>
    <dgm:pt modelId="{D44121C4-FB6C-4490-B2B1-AD013724E1B7}" type="pres">
      <dgm:prSet presAssocID="{8CB97750-A44E-4C01-95AA-7122012FFA1D}" presName="node" presStyleLbl="node1" presStyleIdx="2" presStyleCnt="3" custScaleY="174001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2F38FA7-8074-49D4-BC05-822C0F821DC6}" type="presOf" srcId="{66CBE9FE-385E-4347-834C-59EAD726EE4D}" destId="{3B635040-526E-4469-ACFB-97C9502A6BD4}" srcOrd="0" destOrd="0" presId="urn:microsoft.com/office/officeart/2005/8/layout/default"/>
    <dgm:cxn modelId="{9E988DDA-5ECB-4A05-8024-E0B10433720A}" type="presOf" srcId="{766573C3-6B85-4759-A39C-09A88A7FFD13}" destId="{56A3D2B6-466B-4D47-B506-186A03D18497}" srcOrd="0" destOrd="0" presId="urn:microsoft.com/office/officeart/2005/8/layout/default"/>
    <dgm:cxn modelId="{10E1A0C7-8F05-454B-AD21-075665C433D6}" srcId="{766573C3-6B85-4759-A39C-09A88A7FFD13}" destId="{CB9EE796-977D-49F6-B40D-B2FBF8ECAA62}" srcOrd="0" destOrd="0" parTransId="{DF907FCE-BC31-4E30-8169-69A09733F07B}" sibTransId="{A2BCE035-1CEC-4FF8-A0B1-B06F03DBF530}"/>
    <dgm:cxn modelId="{15DD05D6-2B96-4846-906A-ACBE4BA00640}" srcId="{766573C3-6B85-4759-A39C-09A88A7FFD13}" destId="{8CB97750-A44E-4C01-95AA-7122012FFA1D}" srcOrd="2" destOrd="0" parTransId="{F835BF7D-D33D-4926-BCBF-D47421FC9DBF}" sibTransId="{4248CA83-95BE-4CD5-8B1C-F2A6BE6A0D01}"/>
    <dgm:cxn modelId="{15AC69E9-C25F-4E9C-8FFE-EBF3D7BF85DE}" type="presOf" srcId="{CB9EE796-977D-49F6-B40D-B2FBF8ECAA62}" destId="{E6AC2763-26A4-4D85-AC5F-EDDD3EBE5D85}" srcOrd="0" destOrd="0" presId="urn:microsoft.com/office/officeart/2005/8/layout/default"/>
    <dgm:cxn modelId="{C6C513FC-355B-46E1-ADCE-84E9C8AB414B}" srcId="{766573C3-6B85-4759-A39C-09A88A7FFD13}" destId="{66CBE9FE-385E-4347-834C-59EAD726EE4D}" srcOrd="1" destOrd="0" parTransId="{713EF05B-0457-40DC-9AEC-638AC0FFE4B5}" sibTransId="{E2599A5A-6DB4-4080-9556-DC56CBDDB440}"/>
    <dgm:cxn modelId="{B2751AA5-89C2-4657-91EA-9E98E6C7F29D}" type="presOf" srcId="{8CB97750-A44E-4C01-95AA-7122012FFA1D}" destId="{D44121C4-FB6C-4490-B2B1-AD013724E1B7}" srcOrd="0" destOrd="0" presId="urn:microsoft.com/office/officeart/2005/8/layout/default"/>
    <dgm:cxn modelId="{9580B75D-313D-496E-9ED9-FFC4B9538FE6}" type="presParOf" srcId="{56A3D2B6-466B-4D47-B506-186A03D18497}" destId="{E6AC2763-26A4-4D85-AC5F-EDDD3EBE5D85}" srcOrd="0" destOrd="0" presId="urn:microsoft.com/office/officeart/2005/8/layout/default"/>
    <dgm:cxn modelId="{1A5BC82D-D696-4BD6-B1B5-175985AD3D78}" type="presParOf" srcId="{56A3D2B6-466B-4D47-B506-186A03D18497}" destId="{AC6FB547-54C5-4C74-9DE0-C05A67E58FD2}" srcOrd="1" destOrd="0" presId="urn:microsoft.com/office/officeart/2005/8/layout/default"/>
    <dgm:cxn modelId="{A2E9769C-B864-429D-888F-2F4D66918C01}" type="presParOf" srcId="{56A3D2B6-466B-4D47-B506-186A03D18497}" destId="{3B635040-526E-4469-ACFB-97C9502A6BD4}" srcOrd="2" destOrd="0" presId="urn:microsoft.com/office/officeart/2005/8/layout/default"/>
    <dgm:cxn modelId="{7F2232A4-F65C-4A21-B3F2-8E42C75AD0ED}" type="presParOf" srcId="{56A3D2B6-466B-4D47-B506-186A03D18497}" destId="{32B8585E-30A2-4387-9F1E-A3E8C8AAC3B0}" srcOrd="3" destOrd="0" presId="urn:microsoft.com/office/officeart/2005/8/layout/default"/>
    <dgm:cxn modelId="{10949BC8-29DC-4B8E-8521-743913DE9D1C}" type="presParOf" srcId="{56A3D2B6-466B-4D47-B506-186A03D18497}" destId="{D44121C4-FB6C-4490-B2B1-AD013724E1B7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8290BD2A-25B7-4DDD-A3C7-EB6E1658EC4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4794013A-3650-442A-9F7C-B77B8D29309C}">
      <dgm:prSet custT="1"/>
      <dgm:spPr/>
      <dgm:t>
        <a:bodyPr/>
        <a:lstStyle/>
        <a:p>
          <a:r>
            <a:rPr lang="ru-RU" sz="2800" dirty="0" smtClean="0">
              <a:latin typeface="Times New Roman" pitchFamily="18" charset="0"/>
              <a:cs typeface="Times New Roman" pitchFamily="18" charset="0"/>
            </a:rPr>
            <a:t>Применение методов Transfer Learning для ускорения обучения нейронной сети.</a:t>
          </a:r>
        </a:p>
      </dgm:t>
    </dgm:pt>
    <dgm:pt modelId="{4BA3E9E0-4BD8-4704-917D-F94C6EC538ED}" type="parTrans" cxnId="{C0B8421B-8F40-4887-B0D3-29C5E509B815}">
      <dgm:prSet/>
      <dgm:spPr/>
      <dgm:t>
        <a:bodyPr/>
        <a:lstStyle/>
        <a:p>
          <a:endParaRPr lang="ru-RU" sz="1600"/>
        </a:p>
      </dgm:t>
    </dgm:pt>
    <dgm:pt modelId="{AF766EB2-9015-4A10-88E8-333496A3FBC7}" type="sibTrans" cxnId="{C0B8421B-8F40-4887-B0D3-29C5E509B815}">
      <dgm:prSet/>
      <dgm:spPr/>
      <dgm:t>
        <a:bodyPr/>
        <a:lstStyle/>
        <a:p>
          <a:endParaRPr lang="ru-RU" sz="1600"/>
        </a:p>
      </dgm:t>
    </dgm:pt>
    <dgm:pt modelId="{090B64E3-A9F3-4B34-9FCD-C648205E2516}" type="pres">
      <dgm:prSet presAssocID="{8290BD2A-25B7-4DDD-A3C7-EB6E1658EC4E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875884B-F0B4-4971-963C-6F2E59CF4133}" type="pres">
      <dgm:prSet presAssocID="{4794013A-3650-442A-9F7C-B77B8D29309C}" presName="node" presStyleLbl="node1" presStyleIdx="0" presStyleCnt="1" custScaleX="156506" custScaleY="3869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C0B8421B-8F40-4887-B0D3-29C5E509B815}" srcId="{8290BD2A-25B7-4DDD-A3C7-EB6E1658EC4E}" destId="{4794013A-3650-442A-9F7C-B77B8D29309C}" srcOrd="0" destOrd="0" parTransId="{4BA3E9E0-4BD8-4704-917D-F94C6EC538ED}" sibTransId="{AF766EB2-9015-4A10-88E8-333496A3FBC7}"/>
    <dgm:cxn modelId="{BD8D34B3-5F58-46BC-B720-85768C995644}" type="presOf" srcId="{8290BD2A-25B7-4DDD-A3C7-EB6E1658EC4E}" destId="{090B64E3-A9F3-4B34-9FCD-C648205E2516}" srcOrd="0" destOrd="0" presId="urn:microsoft.com/office/officeart/2005/8/layout/default"/>
    <dgm:cxn modelId="{0D565655-34CC-4E90-8B35-A78BC90BEBD2}" type="presOf" srcId="{4794013A-3650-442A-9F7C-B77B8D29309C}" destId="{6875884B-F0B4-4971-963C-6F2E59CF4133}" srcOrd="0" destOrd="0" presId="urn:microsoft.com/office/officeart/2005/8/layout/default"/>
    <dgm:cxn modelId="{9A803C46-EA8E-4976-B783-D96BEBFCF17C}" type="presParOf" srcId="{090B64E3-A9F3-4B34-9FCD-C648205E2516}" destId="{6875884B-F0B4-4971-963C-6F2E59CF4133}" srcOrd="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2219206D-5A5A-47D2-B40E-7EE8D07AC93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30E475A-281A-4CEF-95DB-769A4EC1215E}">
      <dgm:prSet phldrT="[Текст]"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Подготовка плана демонстрации: Определение целей и задач демонстрации, выбор маршрута и времени проведения.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69AD07BA-A621-4434-8467-5ACA2748C6D4}" type="parTrans" cxnId="{4DB470B1-ABBC-42A6-A686-FF725758384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D41C4F67-B117-4F4B-9518-935EFC126B31}" type="sibTrans" cxnId="{4DB470B1-ABBC-42A6-A686-FF725758384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10B88D27-1485-48A2-AF6D-04DA06AE1DBD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Инструктаж сотрудников:  Ознакомление сотрудников предприятия с принципами работы БТС и правилами поведения во время демонстрации.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FC17FD8C-094C-4D21-AFEA-0281B46B2ECE}" type="parTrans" cxnId="{BC31113C-11D5-408E-897D-58F18F53D5A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7E9580CF-875F-4434-9410-0AF724F68F68}" type="sibTrans" cxnId="{BC31113C-11D5-408E-897D-58F18F53D5A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FEC8DF59-2C39-4844-8E91-198FAEB48719}">
      <dgm:prSet custT="1"/>
      <dgm:spPr/>
      <dgm:t>
        <a:bodyPr/>
        <a:lstStyle/>
        <a:p>
          <a:r>
            <a:rPr lang="ru-RU" sz="2400" dirty="0" smtClean="0">
              <a:latin typeface="Times New Roman" pitchFamily="18" charset="0"/>
              <a:cs typeface="Times New Roman" pitchFamily="18" charset="0"/>
            </a:rPr>
            <a:t>Обеспечение безопасности:  Принятие мер для обеспечения безопасности людей и оборудования во время демонстрации.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2A891EA2-82C9-4563-ABC8-54F8344F7795}" type="parTrans" cxnId="{8C9E2E99-4F5D-4EE9-8C2F-8ECFD5FE445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CF3C8961-76B7-4318-B378-40F92FAFDBCF}" type="sibTrans" cxnId="{8C9E2E99-4F5D-4EE9-8C2F-8ECFD5FE4456}">
      <dgm:prSet/>
      <dgm:spPr/>
      <dgm:t>
        <a:bodyPr/>
        <a:lstStyle/>
        <a:p>
          <a:endParaRPr lang="ru-RU" sz="2000">
            <a:latin typeface="Times New Roman" pitchFamily="18" charset="0"/>
            <a:cs typeface="Times New Roman" pitchFamily="18" charset="0"/>
          </a:endParaRPr>
        </a:p>
      </dgm:t>
    </dgm:pt>
    <dgm:pt modelId="{52F7C742-60B0-431F-B06E-D7ACEEFB0467}" type="pres">
      <dgm:prSet presAssocID="{2219206D-5A5A-47D2-B40E-7EE8D07AC93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C65C58A-EEBB-4786-A094-F0E6BF304DD9}" type="pres">
      <dgm:prSet presAssocID="{630E475A-281A-4CEF-95DB-769A4EC1215E}" presName="node" presStyleLbl="node1" presStyleIdx="0" presStyleCnt="3" custScaleX="11726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9A34573-2513-43D2-8EEE-5B790031B3C4}" type="pres">
      <dgm:prSet presAssocID="{D41C4F67-B117-4F4B-9518-935EFC126B31}" presName="sibTrans" presStyleCnt="0"/>
      <dgm:spPr/>
    </dgm:pt>
    <dgm:pt modelId="{FDFB48AF-2110-431C-A82C-61D2167E3DE4}" type="pres">
      <dgm:prSet presAssocID="{10B88D27-1485-48A2-AF6D-04DA06AE1DBD}" presName="node" presStyleLbl="node1" presStyleIdx="1" presStyleCnt="3" custScaleX="13460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14B2BD5-4660-414C-9C96-2162CB722384}" type="pres">
      <dgm:prSet presAssocID="{7E9580CF-875F-4434-9410-0AF724F68F68}" presName="sibTrans" presStyleCnt="0"/>
      <dgm:spPr/>
    </dgm:pt>
    <dgm:pt modelId="{0DC2C6E4-FA06-48A7-A0CF-E2C5D2A92F74}" type="pres">
      <dgm:prSet presAssocID="{FEC8DF59-2C39-4844-8E91-198FAEB48719}" presName="node" presStyleLbl="node1" presStyleIdx="2" presStyleCnt="3" custScaleX="13146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BC31113C-11D5-408E-897D-58F18F53D5A6}" srcId="{2219206D-5A5A-47D2-B40E-7EE8D07AC936}" destId="{10B88D27-1485-48A2-AF6D-04DA06AE1DBD}" srcOrd="1" destOrd="0" parTransId="{FC17FD8C-094C-4D21-AFEA-0281B46B2ECE}" sibTransId="{7E9580CF-875F-4434-9410-0AF724F68F68}"/>
    <dgm:cxn modelId="{4DB470B1-ABBC-42A6-A686-FF7257583846}" srcId="{2219206D-5A5A-47D2-B40E-7EE8D07AC936}" destId="{630E475A-281A-4CEF-95DB-769A4EC1215E}" srcOrd="0" destOrd="0" parTransId="{69AD07BA-A621-4434-8467-5ACA2748C6D4}" sibTransId="{D41C4F67-B117-4F4B-9518-935EFC126B31}"/>
    <dgm:cxn modelId="{8C9E2E99-4F5D-4EE9-8C2F-8ECFD5FE4456}" srcId="{2219206D-5A5A-47D2-B40E-7EE8D07AC936}" destId="{FEC8DF59-2C39-4844-8E91-198FAEB48719}" srcOrd="2" destOrd="0" parTransId="{2A891EA2-82C9-4563-ABC8-54F8344F7795}" sibTransId="{CF3C8961-76B7-4318-B378-40F92FAFDBCF}"/>
    <dgm:cxn modelId="{7FEF847B-9F66-4F66-B522-B00110B1DE5B}" type="presOf" srcId="{2219206D-5A5A-47D2-B40E-7EE8D07AC936}" destId="{52F7C742-60B0-431F-B06E-D7ACEEFB0467}" srcOrd="0" destOrd="0" presId="urn:microsoft.com/office/officeart/2005/8/layout/default"/>
    <dgm:cxn modelId="{140330D1-6127-45A8-89E4-2E2A6DA9D8B4}" type="presOf" srcId="{630E475A-281A-4CEF-95DB-769A4EC1215E}" destId="{7C65C58A-EEBB-4786-A094-F0E6BF304DD9}" srcOrd="0" destOrd="0" presId="urn:microsoft.com/office/officeart/2005/8/layout/default"/>
    <dgm:cxn modelId="{DEFEA554-6288-433A-ACD0-7C8B3F80BBE6}" type="presOf" srcId="{10B88D27-1485-48A2-AF6D-04DA06AE1DBD}" destId="{FDFB48AF-2110-431C-A82C-61D2167E3DE4}" srcOrd="0" destOrd="0" presId="urn:microsoft.com/office/officeart/2005/8/layout/default"/>
    <dgm:cxn modelId="{3B2669F1-EEFE-466D-85F9-239655DA45C8}" type="presOf" srcId="{FEC8DF59-2C39-4844-8E91-198FAEB48719}" destId="{0DC2C6E4-FA06-48A7-A0CF-E2C5D2A92F74}" srcOrd="0" destOrd="0" presId="urn:microsoft.com/office/officeart/2005/8/layout/default"/>
    <dgm:cxn modelId="{C1EC382A-F24A-4FD4-B09B-8A1EC8A7D74B}" type="presParOf" srcId="{52F7C742-60B0-431F-B06E-D7ACEEFB0467}" destId="{7C65C58A-EEBB-4786-A094-F0E6BF304DD9}" srcOrd="0" destOrd="0" presId="urn:microsoft.com/office/officeart/2005/8/layout/default"/>
    <dgm:cxn modelId="{D2BECFFF-9BFE-4219-9D1F-C6C37B078D16}" type="presParOf" srcId="{52F7C742-60B0-431F-B06E-D7ACEEFB0467}" destId="{79A34573-2513-43D2-8EEE-5B790031B3C4}" srcOrd="1" destOrd="0" presId="urn:microsoft.com/office/officeart/2005/8/layout/default"/>
    <dgm:cxn modelId="{4F0C4F75-D660-492C-B0A1-CF105D4E2976}" type="presParOf" srcId="{52F7C742-60B0-431F-B06E-D7ACEEFB0467}" destId="{FDFB48AF-2110-431C-A82C-61D2167E3DE4}" srcOrd="2" destOrd="0" presId="urn:microsoft.com/office/officeart/2005/8/layout/default"/>
    <dgm:cxn modelId="{436E40B5-B546-4054-995A-BFFB65D729FD}" type="presParOf" srcId="{52F7C742-60B0-431F-B06E-D7ACEEFB0467}" destId="{C14B2BD5-4660-414C-9C96-2162CB722384}" srcOrd="3" destOrd="0" presId="urn:microsoft.com/office/officeart/2005/8/layout/default"/>
    <dgm:cxn modelId="{D9D4AC2E-87C3-4D63-9905-7E60C97B75D4}" type="presParOf" srcId="{52F7C742-60B0-431F-B06E-D7ACEEFB0467}" destId="{0DC2C6E4-FA06-48A7-A0CF-E2C5D2A92F7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2219206D-5A5A-47D2-B40E-7EE8D07AC936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630E475A-281A-4CEF-95DB-769A4EC1215E}">
      <dgm:prSet phldrT="[Текст]" custT="1"/>
      <dgm:spPr/>
      <dgm:t>
        <a:bodyPr/>
        <a:lstStyle/>
        <a:p>
          <a:r>
            <a:rPr lang="ru-RU" sz="2800" smtClean="0">
              <a:latin typeface="Times New Roman" pitchFamily="18" charset="0"/>
              <a:cs typeface="Times New Roman" pitchFamily="18" charset="0"/>
            </a:rPr>
            <a:t>Проведение демонстрации в контролируемых условиях на огороженной территории.</a:t>
          </a:r>
          <a:endParaRPr lang="ru-RU" sz="2800" dirty="0">
            <a:latin typeface="Times New Roman" pitchFamily="18" charset="0"/>
            <a:cs typeface="Times New Roman" pitchFamily="18" charset="0"/>
          </a:endParaRPr>
        </a:p>
      </dgm:t>
    </dgm:pt>
    <dgm:pt modelId="{69AD07BA-A621-4434-8467-5ACA2748C6D4}" type="parTrans" cxnId="{4DB470B1-ABBC-42A6-A686-FF7257583846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D41C4F67-B117-4F4B-9518-935EFC126B31}" type="sibTrans" cxnId="{4DB470B1-ABBC-42A6-A686-FF7257583846}">
      <dgm:prSet/>
      <dgm:spPr/>
      <dgm:t>
        <a:bodyPr/>
        <a:lstStyle/>
        <a:p>
          <a:endParaRPr lang="ru-RU" sz="2400">
            <a:latin typeface="Times New Roman" pitchFamily="18" charset="0"/>
            <a:cs typeface="Times New Roman" pitchFamily="18" charset="0"/>
          </a:endParaRPr>
        </a:p>
      </dgm:t>
    </dgm:pt>
    <dgm:pt modelId="{1D90FD30-7256-400F-A30A-F2A18896BE75}">
      <dgm:prSet custT="1"/>
      <dgm:spPr/>
      <dgm:t>
        <a:bodyPr/>
        <a:lstStyle/>
        <a:p>
          <a:r>
            <a:rPr lang="ru-RU" sz="2800" dirty="0" smtClean="0">
              <a:latin typeface="Times New Roman" pitchFamily="18" charset="0"/>
              <a:cs typeface="Times New Roman" pitchFamily="18" charset="0"/>
            </a:rPr>
            <a:t>Приглашение экспертов для оценки работы БТС.</a:t>
          </a:r>
        </a:p>
      </dgm:t>
    </dgm:pt>
    <dgm:pt modelId="{C4DD6DC0-C191-44AF-B3A0-D041F9672D70}" type="parTrans" cxnId="{4CE28CF9-67FF-4682-95DC-E52CE71A0FBD}">
      <dgm:prSet/>
      <dgm:spPr/>
      <dgm:t>
        <a:bodyPr/>
        <a:lstStyle/>
        <a:p>
          <a:endParaRPr lang="ru-RU" sz="2000"/>
        </a:p>
      </dgm:t>
    </dgm:pt>
    <dgm:pt modelId="{2A5551ED-19E5-4453-BDDE-F5ED445E9C68}" type="sibTrans" cxnId="{4CE28CF9-67FF-4682-95DC-E52CE71A0FBD}">
      <dgm:prSet/>
      <dgm:spPr/>
      <dgm:t>
        <a:bodyPr/>
        <a:lstStyle/>
        <a:p>
          <a:endParaRPr lang="ru-RU" sz="2000"/>
        </a:p>
      </dgm:t>
    </dgm:pt>
    <dgm:pt modelId="{52F7C742-60B0-431F-B06E-D7ACEEFB0467}" type="pres">
      <dgm:prSet presAssocID="{2219206D-5A5A-47D2-B40E-7EE8D07AC936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7C65C58A-EEBB-4786-A094-F0E6BF304DD9}" type="pres">
      <dgm:prSet presAssocID="{630E475A-281A-4CEF-95DB-769A4EC1215E}" presName="node" presStyleLbl="node1" presStyleIdx="0" presStyleCnt="2" custScaleX="117265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9A34573-2513-43D2-8EEE-5B790031B3C4}" type="pres">
      <dgm:prSet presAssocID="{D41C4F67-B117-4F4B-9518-935EFC126B31}" presName="sibTrans" presStyleCnt="0"/>
      <dgm:spPr/>
    </dgm:pt>
    <dgm:pt modelId="{536B3159-2C6A-4720-B73A-421EFAA47B5A}" type="pres">
      <dgm:prSet presAssocID="{1D90FD30-7256-400F-A30A-F2A18896BE75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CE28CF9-67FF-4682-95DC-E52CE71A0FBD}" srcId="{2219206D-5A5A-47D2-B40E-7EE8D07AC936}" destId="{1D90FD30-7256-400F-A30A-F2A18896BE75}" srcOrd="1" destOrd="0" parTransId="{C4DD6DC0-C191-44AF-B3A0-D041F9672D70}" sibTransId="{2A5551ED-19E5-4453-BDDE-F5ED445E9C68}"/>
    <dgm:cxn modelId="{5E9D4A9F-BA18-4989-B97E-538785454E39}" type="presOf" srcId="{630E475A-281A-4CEF-95DB-769A4EC1215E}" destId="{7C65C58A-EEBB-4786-A094-F0E6BF304DD9}" srcOrd="0" destOrd="0" presId="urn:microsoft.com/office/officeart/2005/8/layout/default"/>
    <dgm:cxn modelId="{5B35B5A7-3CA3-4F68-BC21-F91AAC78847A}" type="presOf" srcId="{2219206D-5A5A-47D2-B40E-7EE8D07AC936}" destId="{52F7C742-60B0-431F-B06E-D7ACEEFB0467}" srcOrd="0" destOrd="0" presId="urn:microsoft.com/office/officeart/2005/8/layout/default"/>
    <dgm:cxn modelId="{4DB470B1-ABBC-42A6-A686-FF7257583846}" srcId="{2219206D-5A5A-47D2-B40E-7EE8D07AC936}" destId="{630E475A-281A-4CEF-95DB-769A4EC1215E}" srcOrd="0" destOrd="0" parTransId="{69AD07BA-A621-4434-8467-5ACA2748C6D4}" sibTransId="{D41C4F67-B117-4F4B-9518-935EFC126B31}"/>
    <dgm:cxn modelId="{D8400067-98EB-4201-9C3B-32120CE039C5}" type="presOf" srcId="{1D90FD30-7256-400F-A30A-F2A18896BE75}" destId="{536B3159-2C6A-4720-B73A-421EFAA47B5A}" srcOrd="0" destOrd="0" presId="urn:microsoft.com/office/officeart/2005/8/layout/default"/>
    <dgm:cxn modelId="{E3B59766-85FD-43A7-8EF4-54FB8A5FBC92}" type="presParOf" srcId="{52F7C742-60B0-431F-B06E-D7ACEEFB0467}" destId="{7C65C58A-EEBB-4786-A094-F0E6BF304DD9}" srcOrd="0" destOrd="0" presId="urn:microsoft.com/office/officeart/2005/8/layout/default"/>
    <dgm:cxn modelId="{F0FCA22E-941E-4066-BE1B-67FF09773101}" type="presParOf" srcId="{52F7C742-60B0-431F-B06E-D7ACEEFB0467}" destId="{79A34573-2513-43D2-8EEE-5B790031B3C4}" srcOrd="1" destOrd="0" presId="urn:microsoft.com/office/officeart/2005/8/layout/default"/>
    <dgm:cxn modelId="{456EC6CF-2D01-4290-850C-9F560C234387}" type="presParOf" srcId="{52F7C742-60B0-431F-B06E-D7ACEEFB0467}" destId="{536B3159-2C6A-4720-B73A-421EFAA47B5A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945E8C0D-2BC2-4FD6-8A55-905A02A768B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295FEA1-2FF7-439C-A351-1F8DA63FA6FF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Планирование тестовых заездов: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Определение целей тестовых заездов, выбор маршрутов и времени проведения.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381BB2C-3825-4292-BBB3-DBC16D7FAEDB}" type="parTrans" cxnId="{9A7311D3-42D4-4C00-A44D-B3C72C52BF4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E72A594-6DE0-4A08-8525-096B342BB691}" type="sibTrans" cxnId="{9A7311D3-42D4-4C00-A44D-B3C72C52BF4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B6C05DCB-C747-4188-920A-433A18F49A1F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Сбор данных:  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Сбор данных с датчиков БТС во время тестовых заездов для анализа и оценки работы системы.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69F14EAD-2F7E-4654-90E0-FB5E2E6FA581}" type="parTrans" cxnId="{7718B76C-4252-4BAF-83CF-6827390D1EE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DD308345-E65D-405A-A942-081A56BBF3A9}" type="sibTrans" cxnId="{7718B76C-4252-4BAF-83CF-6827390D1EE1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EE726E3-12B4-43C2-A1C3-BEFF4DF05E90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Анализ результатов:</a:t>
          </a:r>
        </a:p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 Анализ собранных данных для выявления проблем и внесения корректировок.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E8124C9-6FEF-48C6-83B5-466A80A11FDF}" type="parTrans" cxnId="{4B4A629A-F4EF-4D7E-866C-A478716C785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8546D7B1-07A5-4EEA-AD3C-5A78521F5F55}" type="sibTrans" cxnId="{4B4A629A-F4EF-4D7E-866C-A478716C7859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F20E95F5-5B82-418B-A0D7-803AB9ED8F7E}" type="pres">
      <dgm:prSet presAssocID="{945E8C0D-2BC2-4FD6-8A55-905A02A768B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F5FBDBA-97B8-4C06-80A9-8D523FA48A69}" type="pres">
      <dgm:prSet presAssocID="{0295FEA1-2FF7-439C-A351-1F8DA63FA6FF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2980E39-F460-47CE-B396-471F344F6CD4}" type="pres">
      <dgm:prSet presAssocID="{5E72A594-6DE0-4A08-8525-096B342BB691}" presName="sibTrans" presStyleCnt="0"/>
      <dgm:spPr/>
    </dgm:pt>
    <dgm:pt modelId="{2C6AF48F-B8B6-4F36-A211-960426E1FE61}" type="pres">
      <dgm:prSet presAssocID="{B6C05DCB-C747-4188-920A-433A18F49A1F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AB7AA02-81E7-49C3-BDF9-8EAB4BD9C92F}" type="pres">
      <dgm:prSet presAssocID="{DD308345-E65D-405A-A942-081A56BBF3A9}" presName="sibTrans" presStyleCnt="0"/>
      <dgm:spPr/>
    </dgm:pt>
    <dgm:pt modelId="{96EE8EA0-1DBF-4B72-BE36-A04222512E98}" type="pres">
      <dgm:prSet presAssocID="{FEE726E3-12B4-43C2-A1C3-BEFF4DF05E90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9EDCDD11-26DD-4DF5-93BA-59A38677D93E}" type="presOf" srcId="{FEE726E3-12B4-43C2-A1C3-BEFF4DF05E90}" destId="{96EE8EA0-1DBF-4B72-BE36-A04222512E98}" srcOrd="0" destOrd="0" presId="urn:microsoft.com/office/officeart/2005/8/layout/default"/>
    <dgm:cxn modelId="{10CEFA6F-AB1C-4121-ACCF-35159E0A1718}" type="presOf" srcId="{945E8C0D-2BC2-4FD6-8A55-905A02A768BD}" destId="{F20E95F5-5B82-418B-A0D7-803AB9ED8F7E}" srcOrd="0" destOrd="0" presId="urn:microsoft.com/office/officeart/2005/8/layout/default"/>
    <dgm:cxn modelId="{2E9B6925-DDB8-427D-8BD8-F06622D154A8}" type="presOf" srcId="{B6C05DCB-C747-4188-920A-433A18F49A1F}" destId="{2C6AF48F-B8B6-4F36-A211-960426E1FE61}" srcOrd="0" destOrd="0" presId="urn:microsoft.com/office/officeart/2005/8/layout/default"/>
    <dgm:cxn modelId="{F6D23699-B2B0-4DE1-B6B0-5408F1CA2D50}" type="presOf" srcId="{0295FEA1-2FF7-439C-A351-1F8DA63FA6FF}" destId="{8F5FBDBA-97B8-4C06-80A9-8D523FA48A69}" srcOrd="0" destOrd="0" presId="urn:microsoft.com/office/officeart/2005/8/layout/default"/>
    <dgm:cxn modelId="{9A7311D3-42D4-4C00-A44D-B3C72C52BF47}" srcId="{945E8C0D-2BC2-4FD6-8A55-905A02A768BD}" destId="{0295FEA1-2FF7-439C-A351-1F8DA63FA6FF}" srcOrd="0" destOrd="0" parTransId="{4381BB2C-3825-4292-BBB3-DBC16D7FAEDB}" sibTransId="{5E72A594-6DE0-4A08-8525-096B342BB691}"/>
    <dgm:cxn modelId="{7718B76C-4252-4BAF-83CF-6827390D1EE1}" srcId="{945E8C0D-2BC2-4FD6-8A55-905A02A768BD}" destId="{B6C05DCB-C747-4188-920A-433A18F49A1F}" srcOrd="1" destOrd="0" parTransId="{69F14EAD-2F7E-4654-90E0-FB5E2E6FA581}" sibTransId="{DD308345-E65D-405A-A942-081A56BBF3A9}"/>
    <dgm:cxn modelId="{4B4A629A-F4EF-4D7E-866C-A478716C7859}" srcId="{945E8C0D-2BC2-4FD6-8A55-905A02A768BD}" destId="{FEE726E3-12B4-43C2-A1C3-BEFF4DF05E90}" srcOrd="2" destOrd="0" parTransId="{4E8124C9-6FEF-48C6-83B5-466A80A11FDF}" sibTransId="{8546D7B1-07A5-4EEA-AD3C-5A78521F5F55}"/>
    <dgm:cxn modelId="{B052F2AA-33C1-47CF-AD74-2ECB327353A9}" type="presParOf" srcId="{F20E95F5-5B82-418B-A0D7-803AB9ED8F7E}" destId="{8F5FBDBA-97B8-4C06-80A9-8D523FA48A69}" srcOrd="0" destOrd="0" presId="urn:microsoft.com/office/officeart/2005/8/layout/default"/>
    <dgm:cxn modelId="{627961AA-6294-4F7E-B479-D3E3241F1705}" type="presParOf" srcId="{F20E95F5-5B82-418B-A0D7-803AB9ED8F7E}" destId="{92980E39-F460-47CE-B396-471F344F6CD4}" srcOrd="1" destOrd="0" presId="urn:microsoft.com/office/officeart/2005/8/layout/default"/>
    <dgm:cxn modelId="{495030B0-E9EB-4571-8444-C58079D76838}" type="presParOf" srcId="{F20E95F5-5B82-418B-A0D7-803AB9ED8F7E}" destId="{2C6AF48F-B8B6-4F36-A211-960426E1FE61}" srcOrd="2" destOrd="0" presId="urn:microsoft.com/office/officeart/2005/8/layout/default"/>
    <dgm:cxn modelId="{4F7DBE4E-504A-42C6-826E-9AA405D43ED9}" type="presParOf" srcId="{F20E95F5-5B82-418B-A0D7-803AB9ED8F7E}" destId="{3AB7AA02-81E7-49C3-BDF9-8EAB4BD9C92F}" srcOrd="3" destOrd="0" presId="urn:microsoft.com/office/officeart/2005/8/layout/default"/>
    <dgm:cxn modelId="{CD222750-2BC7-4D56-B8E1-138254C4B97F}" type="presParOf" srcId="{F20E95F5-5B82-418B-A0D7-803AB9ED8F7E}" destId="{96EE8EA0-1DBF-4B72-BE36-A04222512E98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945E8C0D-2BC2-4FD6-8A55-905A02A768B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295FEA1-2FF7-439C-A351-1F8DA63FA6FF}">
      <dgm:prSet phldrT="[Текст]"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Проведение тестовых заездов в различных погодных условиях.</a:t>
          </a:r>
          <a:endParaRPr lang="ru-RU" dirty="0">
            <a:latin typeface="Times New Roman" pitchFamily="18" charset="0"/>
            <a:cs typeface="Times New Roman" pitchFamily="18" charset="0"/>
          </a:endParaRPr>
        </a:p>
      </dgm:t>
    </dgm:pt>
    <dgm:pt modelId="{4381BB2C-3825-4292-BBB3-DBC16D7FAEDB}" type="parTrans" cxnId="{9A7311D3-42D4-4C00-A44D-B3C72C52BF4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5E72A594-6DE0-4A08-8525-096B342BB691}" type="sibTrans" cxnId="{9A7311D3-42D4-4C00-A44D-B3C72C52BF47}">
      <dgm:prSet/>
      <dgm:spPr/>
      <dgm:t>
        <a:bodyPr/>
        <a:lstStyle/>
        <a:p>
          <a:endParaRPr lang="ru-RU">
            <a:latin typeface="Times New Roman" pitchFamily="18" charset="0"/>
            <a:cs typeface="Times New Roman" pitchFamily="18" charset="0"/>
          </a:endParaRPr>
        </a:p>
      </dgm:t>
    </dgm:pt>
    <dgm:pt modelId="{C879C455-6691-478E-B7CB-0D43896C9743}">
      <dgm:prSet/>
      <dgm:spPr/>
      <dgm:t>
        <a:bodyPr/>
        <a:lstStyle/>
        <a:p>
          <a:r>
            <a:rPr lang="ru-RU" dirty="0" smtClean="0">
              <a:latin typeface="Times New Roman" pitchFamily="18" charset="0"/>
              <a:cs typeface="Times New Roman" pitchFamily="18" charset="0"/>
            </a:rPr>
            <a:t>Моделирование нештатных ситуаций для проверки реакции БТС.</a:t>
          </a:r>
        </a:p>
      </dgm:t>
    </dgm:pt>
    <dgm:pt modelId="{40D60D22-AF60-44CE-B4B6-A15BAB1AEA87}" type="parTrans" cxnId="{B93B670C-68CA-458B-9E33-A5567F0B1953}">
      <dgm:prSet/>
      <dgm:spPr/>
      <dgm:t>
        <a:bodyPr/>
        <a:lstStyle/>
        <a:p>
          <a:endParaRPr lang="ru-RU"/>
        </a:p>
      </dgm:t>
    </dgm:pt>
    <dgm:pt modelId="{6D5D7DE0-EDB1-48FE-A83F-8BD264AA3A6D}" type="sibTrans" cxnId="{B93B670C-68CA-458B-9E33-A5567F0B1953}">
      <dgm:prSet/>
      <dgm:spPr/>
      <dgm:t>
        <a:bodyPr/>
        <a:lstStyle/>
        <a:p>
          <a:endParaRPr lang="ru-RU"/>
        </a:p>
      </dgm:t>
    </dgm:pt>
    <dgm:pt modelId="{F20E95F5-5B82-418B-A0D7-803AB9ED8F7E}" type="pres">
      <dgm:prSet presAssocID="{945E8C0D-2BC2-4FD6-8A55-905A02A768B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F5FBDBA-97B8-4C06-80A9-8D523FA48A69}" type="pres">
      <dgm:prSet presAssocID="{0295FEA1-2FF7-439C-A351-1F8DA63FA6FF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2980E39-F460-47CE-B396-471F344F6CD4}" type="pres">
      <dgm:prSet presAssocID="{5E72A594-6DE0-4A08-8525-096B342BB691}" presName="sibTrans" presStyleCnt="0"/>
      <dgm:spPr/>
    </dgm:pt>
    <dgm:pt modelId="{B477FC75-E79E-416A-AC1D-2B639FCA1DF7}" type="pres">
      <dgm:prSet presAssocID="{C879C455-6691-478E-B7CB-0D43896C9743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4D97C5B9-FA9A-4C08-A842-40820BA21B82}" type="presOf" srcId="{0295FEA1-2FF7-439C-A351-1F8DA63FA6FF}" destId="{8F5FBDBA-97B8-4C06-80A9-8D523FA48A69}" srcOrd="0" destOrd="0" presId="urn:microsoft.com/office/officeart/2005/8/layout/default"/>
    <dgm:cxn modelId="{891C64F4-9F85-4181-9EE0-391267B5628B}" type="presOf" srcId="{C879C455-6691-478E-B7CB-0D43896C9743}" destId="{B477FC75-E79E-416A-AC1D-2B639FCA1DF7}" srcOrd="0" destOrd="0" presId="urn:microsoft.com/office/officeart/2005/8/layout/default"/>
    <dgm:cxn modelId="{3E841895-31D8-4A6D-9956-FD1F62CB775E}" type="presOf" srcId="{945E8C0D-2BC2-4FD6-8A55-905A02A768BD}" destId="{F20E95F5-5B82-418B-A0D7-803AB9ED8F7E}" srcOrd="0" destOrd="0" presId="urn:microsoft.com/office/officeart/2005/8/layout/default"/>
    <dgm:cxn modelId="{9A7311D3-42D4-4C00-A44D-B3C72C52BF47}" srcId="{945E8C0D-2BC2-4FD6-8A55-905A02A768BD}" destId="{0295FEA1-2FF7-439C-A351-1F8DA63FA6FF}" srcOrd="0" destOrd="0" parTransId="{4381BB2C-3825-4292-BBB3-DBC16D7FAEDB}" sibTransId="{5E72A594-6DE0-4A08-8525-096B342BB691}"/>
    <dgm:cxn modelId="{B93B670C-68CA-458B-9E33-A5567F0B1953}" srcId="{945E8C0D-2BC2-4FD6-8A55-905A02A768BD}" destId="{C879C455-6691-478E-B7CB-0D43896C9743}" srcOrd="1" destOrd="0" parTransId="{40D60D22-AF60-44CE-B4B6-A15BAB1AEA87}" sibTransId="{6D5D7DE0-EDB1-48FE-A83F-8BD264AA3A6D}"/>
    <dgm:cxn modelId="{D9AF05AD-4055-4C1B-80E6-1AD21302A796}" type="presParOf" srcId="{F20E95F5-5B82-418B-A0D7-803AB9ED8F7E}" destId="{8F5FBDBA-97B8-4C06-80A9-8D523FA48A69}" srcOrd="0" destOrd="0" presId="urn:microsoft.com/office/officeart/2005/8/layout/default"/>
    <dgm:cxn modelId="{93574A46-DD53-454B-A1E4-201726E982D7}" type="presParOf" srcId="{F20E95F5-5B82-418B-A0D7-803AB9ED8F7E}" destId="{92980E39-F460-47CE-B396-471F344F6CD4}" srcOrd="1" destOrd="0" presId="urn:microsoft.com/office/officeart/2005/8/layout/default"/>
    <dgm:cxn modelId="{37BB6805-E8DE-4EA0-B80F-28F4272F59E1}" type="presParOf" srcId="{F20E95F5-5B82-418B-A0D7-803AB9ED8F7E}" destId="{B477FC75-E79E-416A-AC1D-2B639FCA1DF7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84F18E-DEA6-4895-88D4-2DEA32692A58}">
      <dsp:nvSpPr>
        <dsp:cNvPr id="0" name=""/>
        <dsp:cNvSpPr/>
      </dsp:nvSpPr>
      <dsp:spPr>
        <a:xfrm>
          <a:off x="50454" y="1601"/>
          <a:ext cx="4348841" cy="20707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Аудит маршрута: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Тщательное обследование маршрута для определения участков, требующих разметки.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0454" y="1601"/>
        <a:ext cx="4348841" cy="2070794"/>
      </dsp:txXfrm>
    </dsp:sp>
    <dsp:sp modelId="{89F3B21B-A554-4609-BA0C-34B5ECB6E461}">
      <dsp:nvSpPr>
        <dsp:cNvPr id="0" name=""/>
        <dsp:cNvSpPr/>
      </dsp:nvSpPr>
      <dsp:spPr>
        <a:xfrm>
          <a:off x="4744428" y="1601"/>
          <a:ext cx="4349117" cy="20707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Выбор материалов: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Использование долговечных и хорошо видимых материалов для разметки, устойчивых к погодным условиям и износу.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744428" y="1601"/>
        <a:ext cx="4349117" cy="2070794"/>
      </dsp:txXfrm>
    </dsp:sp>
    <dsp:sp modelId="{AA5CB42F-09BB-4A16-AB46-1D243B5F7312}">
      <dsp:nvSpPr>
        <dsp:cNvPr id="0" name=""/>
        <dsp:cNvSpPr/>
      </dsp:nvSpPr>
      <dsp:spPr>
        <a:xfrm>
          <a:off x="2222907" y="2417528"/>
          <a:ext cx="4698184" cy="207079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Соответствие стандартам: 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Соблюдение государственных и отраслевых стандартов при нанесении разметки.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222907" y="2417528"/>
        <a:ext cx="4698184" cy="207079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4E49AF-A296-4558-B7E1-B7E9CA6606A7}">
      <dsp:nvSpPr>
        <dsp:cNvPr id="0" name=""/>
        <dsp:cNvSpPr/>
      </dsp:nvSpPr>
      <dsp:spPr>
        <a:xfrm>
          <a:off x="130556" y="1765"/>
          <a:ext cx="3123437" cy="18740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>
              <a:latin typeface="Times New Roman" pitchFamily="18" charset="0"/>
              <a:cs typeface="Times New Roman" pitchFamily="18" charset="0"/>
            </a:rPr>
            <a:t>Разметка в виде сплошных и прерывистых линий, стрелок, знаков приоритета.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30556" y="1765"/>
        <a:ext cx="3123437" cy="1874062"/>
      </dsp:txXfrm>
    </dsp:sp>
    <dsp:sp modelId="{2D062BBD-FE57-45C3-BB6A-12B145EE6ED8}">
      <dsp:nvSpPr>
        <dsp:cNvPr id="0" name=""/>
        <dsp:cNvSpPr/>
      </dsp:nvSpPr>
      <dsp:spPr>
        <a:xfrm>
          <a:off x="130556" y="2188171"/>
          <a:ext cx="3123437" cy="18740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300" kern="1200" dirty="0" smtClean="0">
              <a:latin typeface="Times New Roman" pitchFamily="18" charset="0"/>
              <a:cs typeface="Times New Roman" pitchFamily="18" charset="0"/>
            </a:rPr>
            <a:t>Использование светоотражающих материалов для повышения видимости в темное время суток.</a:t>
          </a:r>
          <a:endParaRPr lang="ru-RU" sz="23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30556" y="2188171"/>
        <a:ext cx="3123437" cy="187406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36817D-9803-4ACB-AC67-877AA5CBA465}">
      <dsp:nvSpPr>
        <dsp:cNvPr id="0" name=""/>
        <dsp:cNvSpPr/>
      </dsp:nvSpPr>
      <dsp:spPr>
        <a:xfrm>
          <a:off x="304795" y="0"/>
          <a:ext cx="3890647" cy="1859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Выбор камер: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Использование камер высокого разрешения с широким углом обзора и возможностью ночной съемки.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4795" y="0"/>
        <a:ext cx="3890647" cy="1859433"/>
      </dsp:txXfrm>
    </dsp:sp>
    <dsp:sp modelId="{D55552BD-7F8C-4EBA-9994-A571E1C373F9}">
      <dsp:nvSpPr>
        <dsp:cNvPr id="0" name=""/>
        <dsp:cNvSpPr/>
      </dsp:nvSpPr>
      <dsp:spPr>
        <a:xfrm>
          <a:off x="4505348" y="1975"/>
          <a:ext cx="3663641" cy="1859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Размещение камер: 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Оптимальное расположение камер для обеспечения полного обзора перекрестка и перекрытия «слепых зон».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05348" y="1975"/>
        <a:ext cx="3663641" cy="1859433"/>
      </dsp:txXfrm>
    </dsp:sp>
    <dsp:sp modelId="{01595798-DC17-4174-AC32-E4FE362A31D1}">
      <dsp:nvSpPr>
        <dsp:cNvPr id="0" name=""/>
        <dsp:cNvSpPr/>
      </dsp:nvSpPr>
      <dsp:spPr>
        <a:xfrm>
          <a:off x="1477246" y="2171314"/>
          <a:ext cx="5519293" cy="1859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Интеграция с системой управления: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Подключение камер к центральной системе управления БТС для автоматической обработки видеоданных и оповещения об опасных ситуациях.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477246" y="2171314"/>
        <a:ext cx="5519293" cy="185943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36817D-9803-4ACB-AC67-877AA5CBA465}">
      <dsp:nvSpPr>
        <dsp:cNvPr id="0" name=""/>
        <dsp:cNvSpPr/>
      </dsp:nvSpPr>
      <dsp:spPr>
        <a:xfrm>
          <a:off x="525098" y="594"/>
          <a:ext cx="3466384" cy="205703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Камеры с функцией распознавания объектов и автоматического отслеживания движения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525098" y="594"/>
        <a:ext cx="3466384" cy="2057035"/>
      </dsp:txXfrm>
    </dsp:sp>
    <dsp:sp modelId="{D55552BD-7F8C-4EBA-9994-A571E1C373F9}">
      <dsp:nvSpPr>
        <dsp:cNvPr id="0" name=""/>
        <dsp:cNvSpPr/>
      </dsp:nvSpPr>
      <dsp:spPr>
        <a:xfrm>
          <a:off x="626224" y="2335695"/>
          <a:ext cx="3264133" cy="19843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smtClean="0">
              <a:latin typeface="Times New Roman" pitchFamily="18" charset="0"/>
              <a:cs typeface="Times New Roman" pitchFamily="18" charset="0"/>
            </a:rPr>
            <a:t>Камеры с возможностью передачи видео в реальном времени на диспетчерский пункт.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26224" y="2335695"/>
        <a:ext cx="3264133" cy="19843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8E2EF9-ACFA-40B9-97CB-19207C1698B1}">
      <dsp:nvSpPr>
        <dsp:cNvPr id="0" name=""/>
        <dsp:cNvSpPr/>
      </dsp:nvSpPr>
      <dsp:spPr>
        <a:xfrm>
          <a:off x="374071" y="870"/>
          <a:ext cx="3338948" cy="14632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Расчет расположения ретрансляторов: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Определение оптимального расстояния между ретрансляторами на основе проведенных замеров уровня сигнала.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74071" y="870"/>
        <a:ext cx="3338948" cy="1463210"/>
      </dsp:txXfrm>
    </dsp:sp>
    <dsp:sp modelId="{BD03F74F-2F01-4330-854D-F42A2A7DDD97}">
      <dsp:nvSpPr>
        <dsp:cNvPr id="0" name=""/>
        <dsp:cNvSpPr/>
      </dsp:nvSpPr>
      <dsp:spPr>
        <a:xfrm>
          <a:off x="290948" y="1707949"/>
          <a:ext cx="3505193" cy="14632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Выбор ретрансляторов: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Использование промышленных </a:t>
          </a:r>
          <a:r>
            <a:rPr lang="ru-RU" sz="1500" kern="1200" dirty="0" err="1" smtClean="0">
              <a:latin typeface="Times New Roman" pitchFamily="18" charset="0"/>
              <a:cs typeface="Times New Roman" pitchFamily="18" charset="0"/>
            </a:rPr>
            <a:t>WiFi</a:t>
          </a: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 ретрансляторов с высокой мощностью и защитой от внешних воздействий.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90948" y="1707949"/>
        <a:ext cx="3505193" cy="1463210"/>
      </dsp:txXfrm>
    </dsp:sp>
    <dsp:sp modelId="{4553DBF2-EEB2-4ACF-8D47-EEFF64AC9F04}">
      <dsp:nvSpPr>
        <dsp:cNvPr id="0" name=""/>
        <dsp:cNvSpPr/>
      </dsp:nvSpPr>
      <dsp:spPr>
        <a:xfrm>
          <a:off x="290948" y="3415028"/>
          <a:ext cx="3505193" cy="14632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Настройка сети: </a:t>
          </a:r>
        </a:p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500" kern="1200" dirty="0" smtClean="0">
              <a:latin typeface="Times New Roman" pitchFamily="18" charset="0"/>
              <a:cs typeface="Times New Roman" pitchFamily="18" charset="0"/>
            </a:rPr>
            <a:t>Создание единой беспроводной сети с автоматическим переключением между ретрансляторами для обеспечения непрерывного соединения.</a:t>
          </a:r>
          <a:endParaRPr lang="ru-RU" sz="1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90948" y="3415028"/>
        <a:ext cx="3505193" cy="14632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8E2EF9-ACFA-40B9-97CB-19207C1698B1}">
      <dsp:nvSpPr>
        <dsp:cNvPr id="0" name=""/>
        <dsp:cNvSpPr/>
      </dsp:nvSpPr>
      <dsp:spPr>
        <a:xfrm>
          <a:off x="1031" y="1046230"/>
          <a:ext cx="4020959" cy="2412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kern="1200" dirty="0" smtClean="0">
              <a:latin typeface="Times New Roman" pitchFamily="18" charset="0"/>
              <a:cs typeface="Times New Roman" pitchFamily="18" charset="0"/>
            </a:rPr>
            <a:t>Использование ретрансляторов с технологией </a:t>
          </a:r>
          <a:r>
            <a:rPr lang="ru-RU" sz="2700" kern="1200" dirty="0" err="1" smtClean="0">
              <a:latin typeface="Times New Roman" pitchFamily="18" charset="0"/>
              <a:cs typeface="Times New Roman" pitchFamily="18" charset="0"/>
            </a:rPr>
            <a:t>Mesh</a:t>
          </a:r>
          <a:r>
            <a:rPr lang="ru-RU" sz="2700" kern="1200" dirty="0" smtClean="0">
              <a:latin typeface="Times New Roman" pitchFamily="18" charset="0"/>
              <a:cs typeface="Times New Roman" pitchFamily="18" charset="0"/>
            </a:rPr>
            <a:t> для создания самоорганизующейся сети.</a:t>
          </a:r>
          <a:endParaRPr lang="ru-RU" sz="27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031" y="1046230"/>
        <a:ext cx="4020959" cy="2412575"/>
      </dsp:txXfrm>
    </dsp:sp>
    <dsp:sp modelId="{BEA2B928-DD18-4FAB-AFE0-3A9ACAAAB725}">
      <dsp:nvSpPr>
        <dsp:cNvPr id="0" name=""/>
        <dsp:cNvSpPr/>
      </dsp:nvSpPr>
      <dsp:spPr>
        <a:xfrm>
          <a:off x="4424086" y="1046230"/>
          <a:ext cx="4020959" cy="24125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700" kern="1200" dirty="0" smtClean="0">
              <a:latin typeface="Times New Roman" pitchFamily="18" charset="0"/>
              <a:cs typeface="Times New Roman" pitchFamily="18" charset="0"/>
            </a:rPr>
            <a:t>Применение защищенных протоколов передачи данных для обеспечения конфиденциальности информации.</a:t>
          </a:r>
        </a:p>
      </dsp:txBody>
      <dsp:txXfrm>
        <a:off x="4424086" y="1046230"/>
        <a:ext cx="4020959" cy="241257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2F8A53-7B5E-41F0-8DCF-9CE158B93470}">
      <dsp:nvSpPr>
        <dsp:cNvPr id="0" name=""/>
        <dsp:cNvSpPr/>
      </dsp:nvSpPr>
      <dsp:spPr>
        <a:xfrm>
          <a:off x="286946" y="692"/>
          <a:ext cx="3632380" cy="21794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Создавать большие зоны покрытия за счёт присоединения новых узлов.</a:t>
          </a:r>
          <a:endParaRPr lang="ru-RU" sz="2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86946" y="692"/>
        <a:ext cx="3632380" cy="2179428"/>
      </dsp:txXfrm>
    </dsp:sp>
    <dsp:sp modelId="{D68C6529-DB2D-44DA-BE6F-2297CB8FD40B}">
      <dsp:nvSpPr>
        <dsp:cNvPr id="0" name=""/>
        <dsp:cNvSpPr/>
      </dsp:nvSpPr>
      <dsp:spPr>
        <a:xfrm>
          <a:off x="4282564" y="692"/>
          <a:ext cx="3632380" cy="21794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Обеспечивать высокую отказоустойчивость - сеть продолжает функционировать даже если один или несколько узлов выйдут из строя.</a:t>
          </a:r>
          <a:endParaRPr lang="ru-RU" sz="2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282564" y="692"/>
        <a:ext cx="3632380" cy="2179428"/>
      </dsp:txXfrm>
    </dsp:sp>
    <dsp:sp modelId="{FA7574FE-47BA-4CA1-83EB-34D3816B8969}">
      <dsp:nvSpPr>
        <dsp:cNvPr id="0" name=""/>
        <dsp:cNvSpPr/>
      </dsp:nvSpPr>
      <dsp:spPr>
        <a:xfrm>
          <a:off x="2284755" y="2543358"/>
          <a:ext cx="3632380" cy="21794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500" kern="1200" dirty="0" smtClean="0">
              <a:latin typeface="Times New Roman" pitchFamily="18" charset="0"/>
              <a:cs typeface="Times New Roman" pitchFamily="18" charset="0"/>
            </a:rPr>
            <a:t>Масштабировать сеть - новые узлы добавляются в сеть автоматически.</a:t>
          </a:r>
          <a:endParaRPr lang="ru-RU" sz="25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284755" y="2543358"/>
        <a:ext cx="3632380" cy="217942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5EB25D-CAE3-43B8-9FDE-63009173E0A4}">
      <dsp:nvSpPr>
        <dsp:cNvPr id="0" name=""/>
        <dsp:cNvSpPr/>
      </dsp:nvSpPr>
      <dsp:spPr>
        <a:xfrm>
          <a:off x="415630" y="944"/>
          <a:ext cx="3614809" cy="18748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Динамической маршрутизации - трафик идёт по кратчайшим или наиболее качественным путям среди соседних узлов. 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15630" y="944"/>
        <a:ext cx="3614809" cy="1874820"/>
      </dsp:txXfrm>
    </dsp:sp>
    <dsp:sp modelId="{0F6B6AAA-59F2-42D8-9041-CCEFEE5E574E}">
      <dsp:nvSpPr>
        <dsp:cNvPr id="0" name=""/>
        <dsp:cNvSpPr/>
      </dsp:nvSpPr>
      <dsp:spPr>
        <a:xfrm>
          <a:off x="4342910" y="944"/>
          <a:ext cx="3595748" cy="18748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Автоматического перенаправления трафика -  при отказе какой-либо точки происходит перенаправление трафика по другому маршруту. 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342910" y="944"/>
        <a:ext cx="3595748" cy="1874820"/>
      </dsp:txXfrm>
    </dsp:sp>
    <dsp:sp modelId="{D57CCDE0-0AA6-4244-9123-699FFF630EBA}">
      <dsp:nvSpPr>
        <dsp:cNvPr id="0" name=""/>
        <dsp:cNvSpPr/>
      </dsp:nvSpPr>
      <dsp:spPr>
        <a:xfrm>
          <a:off x="2008915" y="2188235"/>
          <a:ext cx="4336459" cy="18748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Бесшовного роуминга - при перемещении из зоны в зону процесс передачи пакетов данных не прекращается и не замедляется, так как устройства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Mesh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 общаются между собой с помощью встроенных </a:t>
          </a:r>
          <a:r>
            <a:rPr lang="ru-RU" sz="1800" kern="1200" dirty="0" err="1" smtClean="0">
              <a:latin typeface="Times New Roman" pitchFamily="18" charset="0"/>
              <a:cs typeface="Times New Roman" pitchFamily="18" charset="0"/>
            </a:rPr>
            <a:t>Backhaul</a:t>
          </a: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-модулей и не занимают основные каналы. 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008915" y="2188235"/>
        <a:ext cx="4336459" cy="18748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90326D-D096-4B39-91C4-1E2B2BC1E817}">
      <dsp:nvSpPr>
        <dsp:cNvPr id="0" name=""/>
        <dsp:cNvSpPr/>
      </dsp:nvSpPr>
      <dsp:spPr>
        <a:xfrm>
          <a:off x="1007" y="176875"/>
          <a:ext cx="3931091" cy="320987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err="1" smtClean="0">
              <a:latin typeface="Times New Roman" pitchFamily="18" charset="0"/>
              <a:cs typeface="Times New Roman" pitchFamily="18" charset="0"/>
            </a:rPr>
            <a:t>Проактивные</a:t>
          </a: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 (табличные) - каждый узел строит свою таблицу маршрутизации и делится информацией об изменении топологии сети со своими соседями.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007" y="176875"/>
        <a:ext cx="3931091" cy="3209870"/>
      </dsp:txXfrm>
    </dsp:sp>
    <dsp:sp modelId="{01C2968A-E2FF-48D2-81DE-073C35ACFBF7}">
      <dsp:nvSpPr>
        <dsp:cNvPr id="0" name=""/>
        <dsp:cNvSpPr/>
      </dsp:nvSpPr>
      <dsp:spPr>
        <a:xfrm>
          <a:off x="4325209" y="204589"/>
          <a:ext cx="3931091" cy="31544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Реактивные (работающие по запросу) - таблицы маршрутизации не строятся, маршрут составляется по мере необходимости. Для определения пути отправки сообщения используется широковещание.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325209" y="204589"/>
        <a:ext cx="3931091" cy="315444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BAB371-7E3E-4803-80F0-12FD5AB57A7B}">
      <dsp:nvSpPr>
        <dsp:cNvPr id="0" name=""/>
        <dsp:cNvSpPr/>
      </dsp:nvSpPr>
      <dsp:spPr>
        <a:xfrm>
          <a:off x="304794" y="2071"/>
          <a:ext cx="3824946" cy="18737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Выбор оборудования:  </a:t>
          </a:r>
          <a:endParaRPr lang="en-US" sz="2000" kern="1200" dirty="0" smtClean="0">
            <a:latin typeface="Times New Roman" pitchFamily="18" charset="0"/>
            <a:cs typeface="Times New Roman" pitchFamily="18" charset="0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Использование серверов высокой производительности и специализированного программного обеспечения для управления БТС.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4794" y="2071"/>
        <a:ext cx="3824946" cy="1873779"/>
      </dsp:txXfrm>
    </dsp:sp>
    <dsp:sp modelId="{9C9C0FD2-2563-4D8D-BADF-9A8602F07F31}">
      <dsp:nvSpPr>
        <dsp:cNvPr id="0" name=""/>
        <dsp:cNvSpPr/>
      </dsp:nvSpPr>
      <dsp:spPr>
        <a:xfrm>
          <a:off x="4442038" y="2071"/>
          <a:ext cx="3657680" cy="18737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Организация диспетчерского пункта: </a:t>
          </a:r>
          <a:endParaRPr lang="en-US" sz="2000" kern="1200" dirty="0" smtClean="0">
            <a:latin typeface="Times New Roman" pitchFamily="18" charset="0"/>
            <a:cs typeface="Times New Roman" pitchFamily="18" charset="0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Создание комфортного рабочего места для диспетчеров с установкой мониторов и средств связи.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42038" y="2071"/>
        <a:ext cx="3657680" cy="1873779"/>
      </dsp:txXfrm>
    </dsp:sp>
    <dsp:sp modelId="{332AC650-BC9A-4578-B99D-8F80A32527F9}">
      <dsp:nvSpPr>
        <dsp:cNvPr id="0" name=""/>
        <dsp:cNvSpPr/>
      </dsp:nvSpPr>
      <dsp:spPr>
        <a:xfrm>
          <a:off x="2086837" y="2188148"/>
          <a:ext cx="4230838" cy="187377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Резервирование питания и связи: </a:t>
          </a:r>
          <a:endParaRPr lang="en-US" sz="2000" kern="1200" dirty="0" smtClean="0">
            <a:latin typeface="Times New Roman" pitchFamily="18" charset="0"/>
            <a:cs typeface="Times New Roman" pitchFamily="18" charset="0"/>
          </a:endParaRP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Обеспечение бесперебойной работы базовой станции в случае отключения электроэнергии или потери связи.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086837" y="2188148"/>
        <a:ext cx="4230838" cy="187377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BAB371-7E3E-4803-80F0-12FD5AB57A7B}">
      <dsp:nvSpPr>
        <dsp:cNvPr id="0" name=""/>
        <dsp:cNvSpPr/>
      </dsp:nvSpPr>
      <dsp:spPr>
        <a:xfrm>
          <a:off x="4501" y="948605"/>
          <a:ext cx="4423065" cy="21667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smtClean="0">
              <a:latin typeface="Times New Roman" pitchFamily="18" charset="0"/>
              <a:cs typeface="Times New Roman" pitchFamily="18" charset="0"/>
            </a:rPr>
            <a:t>Использование облачных платформ для хранения и обработки данных БТС.</a:t>
          </a:r>
          <a:endParaRPr lang="ru-RU" sz="2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501" y="948605"/>
        <a:ext cx="4423065" cy="2166788"/>
      </dsp:txXfrm>
    </dsp:sp>
    <dsp:sp modelId="{B21F8D90-467E-4027-A50D-2BC769F6F12B}">
      <dsp:nvSpPr>
        <dsp:cNvPr id="0" name=""/>
        <dsp:cNvSpPr/>
      </dsp:nvSpPr>
      <dsp:spPr>
        <a:xfrm>
          <a:off x="4788698" y="948605"/>
          <a:ext cx="3611314" cy="216678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>
              <a:latin typeface="Times New Roman" pitchFamily="18" charset="0"/>
              <a:cs typeface="Times New Roman" pitchFamily="18" charset="0"/>
            </a:rPr>
            <a:t>Интеграция базовой станции с системами управления предприятием (ERP, CRM).</a:t>
          </a:r>
        </a:p>
      </dsp:txBody>
      <dsp:txXfrm>
        <a:off x="4788698" y="948605"/>
        <a:ext cx="3611314" cy="216678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696AAF-7B73-4941-AF34-DAF21EE32874}">
      <dsp:nvSpPr>
        <dsp:cNvPr id="0" name=""/>
        <dsp:cNvSpPr/>
      </dsp:nvSpPr>
      <dsp:spPr>
        <a:xfrm>
          <a:off x="615176" y="647"/>
          <a:ext cx="3517701" cy="21106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Использование специального оборудования: </a:t>
          </a:r>
          <a:endParaRPr lang="en-US" sz="1900" kern="1200" dirty="0" smtClean="0">
            <a:latin typeface="Times New Roman" pitchFamily="18" charset="0"/>
            <a:cs typeface="Times New Roman" pitchFamily="18" charset="0"/>
          </a:endParaRP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Применение анализаторов спектра и другого оборудования для измерения уровня сигнала </a:t>
          </a:r>
          <a:r>
            <a:rPr lang="ru-RU" sz="1900" kern="1200" dirty="0" err="1" smtClean="0">
              <a:latin typeface="Times New Roman" pitchFamily="18" charset="0"/>
              <a:cs typeface="Times New Roman" pitchFamily="18" charset="0"/>
            </a:rPr>
            <a:t>WiFi</a:t>
          </a: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, сотовой связи и других каналов передачи данных.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15176" y="647"/>
        <a:ext cx="3517701" cy="2110620"/>
      </dsp:txXfrm>
    </dsp:sp>
    <dsp:sp modelId="{F59FB5BA-80BC-45C7-A03B-BF2FDC9EBFAC}">
      <dsp:nvSpPr>
        <dsp:cNvPr id="0" name=""/>
        <dsp:cNvSpPr/>
      </dsp:nvSpPr>
      <dsp:spPr>
        <a:xfrm>
          <a:off x="4484648" y="647"/>
          <a:ext cx="3517701" cy="21106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Проведение замеров в разное время суток: </a:t>
          </a:r>
          <a:endParaRPr lang="en-US" sz="1900" kern="1200" dirty="0" smtClean="0">
            <a:latin typeface="Times New Roman" pitchFamily="18" charset="0"/>
            <a:cs typeface="Times New Roman" pitchFamily="18" charset="0"/>
          </a:endParaRP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Выявление зависимости уровня сигнала от времени суток и загруженности сети.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484648" y="647"/>
        <a:ext cx="3517701" cy="2110620"/>
      </dsp:txXfrm>
    </dsp:sp>
    <dsp:sp modelId="{16C20A2C-E14D-4FAB-B64A-9FF56A0CD0FE}">
      <dsp:nvSpPr>
        <dsp:cNvPr id="0" name=""/>
        <dsp:cNvSpPr/>
      </dsp:nvSpPr>
      <dsp:spPr>
        <a:xfrm>
          <a:off x="2549912" y="2463038"/>
          <a:ext cx="3517701" cy="21106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Анализ результатов: </a:t>
          </a:r>
          <a:endParaRPr lang="en-US" sz="1900" kern="1200" dirty="0" smtClean="0">
            <a:latin typeface="Times New Roman" pitchFamily="18" charset="0"/>
            <a:cs typeface="Times New Roman" pitchFamily="18" charset="0"/>
          </a:endParaRPr>
        </a:p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900" kern="1200" dirty="0" smtClean="0">
              <a:latin typeface="Times New Roman" pitchFamily="18" charset="0"/>
              <a:cs typeface="Times New Roman" pitchFamily="18" charset="0"/>
            </a:rPr>
            <a:t>Определение зон с низким уровнем сигнала и выработка рекомендаций по его улучшению.</a:t>
          </a:r>
          <a:endParaRPr lang="ru-RU" sz="19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549912" y="2463038"/>
        <a:ext cx="3517701" cy="211062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696AAF-7B73-4941-AF34-DAF21EE32874}">
      <dsp:nvSpPr>
        <dsp:cNvPr id="0" name=""/>
        <dsp:cNvSpPr/>
      </dsp:nvSpPr>
      <dsp:spPr>
        <a:xfrm>
          <a:off x="1051" y="1056378"/>
          <a:ext cx="4102582" cy="24615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smtClean="0">
              <a:latin typeface="Times New Roman" pitchFamily="18" charset="0"/>
              <a:cs typeface="Times New Roman" pitchFamily="18" charset="0"/>
            </a:rPr>
            <a:t>Использование карт покрытия сети для визуализации результатов замеров.</a:t>
          </a:r>
          <a:endParaRPr lang="ru-RU" sz="32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051" y="1056378"/>
        <a:ext cx="4102582" cy="2461549"/>
      </dsp:txXfrm>
    </dsp:sp>
    <dsp:sp modelId="{07048259-9167-4695-B5B2-FC28F2FD9FC8}">
      <dsp:nvSpPr>
        <dsp:cNvPr id="0" name=""/>
        <dsp:cNvSpPr/>
      </dsp:nvSpPr>
      <dsp:spPr>
        <a:xfrm>
          <a:off x="4513892" y="1056378"/>
          <a:ext cx="4102582" cy="24615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3200" kern="1200" dirty="0" smtClean="0">
              <a:latin typeface="Times New Roman" pitchFamily="18" charset="0"/>
              <a:cs typeface="Times New Roman" pitchFamily="18" charset="0"/>
            </a:rPr>
            <a:t>Оптимизация параметров передачи данных для минимизации потерь сигнала.</a:t>
          </a:r>
        </a:p>
      </dsp:txBody>
      <dsp:txXfrm>
        <a:off x="4513892" y="1056378"/>
        <a:ext cx="4102582" cy="2461549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FE3E95-AAEB-4C40-BE3B-B120BFAAE399}">
      <dsp:nvSpPr>
        <dsp:cNvPr id="0" name=""/>
        <dsp:cNvSpPr/>
      </dsp:nvSpPr>
      <dsp:spPr>
        <a:xfrm>
          <a:off x="422605" y="829"/>
          <a:ext cx="3593070" cy="21558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Использование GPS и лазерных сканеров: 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Создание точной трехмерной модели маршрута с использованием данных GPS и лазерного сканирования.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22605" y="829"/>
        <a:ext cx="3593070" cy="2155842"/>
      </dsp:txXfrm>
    </dsp:sp>
    <dsp:sp modelId="{1419BED0-B991-4FF0-BD13-D41C1005049E}">
      <dsp:nvSpPr>
        <dsp:cNvPr id="0" name=""/>
        <dsp:cNvSpPr/>
      </dsp:nvSpPr>
      <dsp:spPr>
        <a:xfrm>
          <a:off x="4374983" y="829"/>
          <a:ext cx="3593070" cy="21558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Ручная обработка данных: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Добавление информации о дорожных знаках, светофорах, пешеходных переходах и других объектах.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374983" y="829"/>
        <a:ext cx="3593070" cy="2155842"/>
      </dsp:txXfrm>
    </dsp:sp>
    <dsp:sp modelId="{703C3373-D07B-427B-9355-33393E210A0B}">
      <dsp:nvSpPr>
        <dsp:cNvPr id="0" name=""/>
        <dsp:cNvSpPr/>
      </dsp:nvSpPr>
      <dsp:spPr>
        <a:xfrm>
          <a:off x="2398794" y="2515978"/>
          <a:ext cx="3593070" cy="21558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Регулярное обновление карты: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 Своевременное внесение изменений в карту при изменении дорожной обстановки.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398794" y="2515978"/>
        <a:ext cx="3593070" cy="215584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FE3E95-AAEB-4C40-BE3B-B120BFAAE399}">
      <dsp:nvSpPr>
        <dsp:cNvPr id="0" name=""/>
        <dsp:cNvSpPr/>
      </dsp:nvSpPr>
      <dsp:spPr>
        <a:xfrm>
          <a:off x="1024" y="1137952"/>
          <a:ext cx="3994576" cy="23967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>
              <a:latin typeface="Times New Roman" pitchFamily="18" charset="0"/>
              <a:cs typeface="Times New Roman" pitchFamily="18" charset="0"/>
            </a:rPr>
            <a:t>Использование высокоточных карт с сантиметровой точностью.</a:t>
          </a:r>
          <a:endParaRPr lang="ru-RU" sz="2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024" y="1137952"/>
        <a:ext cx="3994576" cy="2396745"/>
      </dsp:txXfrm>
    </dsp:sp>
    <dsp:sp modelId="{C345C142-E2CB-4DBF-BB03-FCFD5BF3F1C8}">
      <dsp:nvSpPr>
        <dsp:cNvPr id="0" name=""/>
        <dsp:cNvSpPr/>
      </dsp:nvSpPr>
      <dsp:spPr>
        <a:xfrm>
          <a:off x="4395058" y="1137952"/>
          <a:ext cx="3994576" cy="23967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800" kern="1200" dirty="0" smtClean="0">
              <a:latin typeface="Times New Roman" pitchFamily="18" charset="0"/>
              <a:cs typeface="Times New Roman" pitchFamily="18" charset="0"/>
            </a:rPr>
            <a:t>Интеграция цифровой карты с системой управления БТС</a:t>
          </a:r>
        </a:p>
      </dsp:txBody>
      <dsp:txXfrm>
        <a:off x="4395058" y="1137952"/>
        <a:ext cx="3994576" cy="239674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FE3E95-AAEB-4C40-BE3B-B120BFAAE399}">
      <dsp:nvSpPr>
        <dsp:cNvPr id="0" name=""/>
        <dsp:cNvSpPr/>
      </dsp:nvSpPr>
      <dsp:spPr>
        <a:xfrm>
          <a:off x="1304415" y="550"/>
          <a:ext cx="5781827" cy="98450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Использование высокоточных карт с сантиметровой точностью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1304415" y="550"/>
        <a:ext cx="5781827" cy="984509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F831DE-ABB4-41E4-94FB-8AD258712E1E}">
      <dsp:nvSpPr>
        <dsp:cNvPr id="0" name=""/>
        <dsp:cNvSpPr/>
      </dsp:nvSpPr>
      <dsp:spPr>
        <a:xfrm>
          <a:off x="0" y="0"/>
          <a:ext cx="2775238" cy="30918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TerraStar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-C PRO. Подходит для высокоточных приложений в реальном времени, требующих сантиметрового уровня точности без использования базовых станций. Сервис доступен по всему миру и поддерживается линейкой продуктов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NovAtel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 7-го поколения.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0" y="0"/>
        <a:ext cx="2775238" cy="3091871"/>
      </dsp:txXfrm>
    </dsp:sp>
    <dsp:sp modelId="{4801E248-EE5D-48C0-B71B-D6858B3AF0B6}">
      <dsp:nvSpPr>
        <dsp:cNvPr id="0" name=""/>
        <dsp:cNvSpPr/>
      </dsp:nvSpPr>
      <dsp:spPr>
        <a:xfrm>
          <a:off x="3052762" y="0"/>
          <a:ext cx="2775238" cy="30918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TerraStar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-X. Использует алгоритмы точного позиционирования (PPP) и крупнейшую в мире сеть локальных опорных станций на территории США для обеспечения сходимости решения с точностью до 2 сантиметров менее чем за минуту. Сервис в настоящее время предоставляется только на территории США.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3052762" y="0"/>
        <a:ext cx="2775238" cy="3091871"/>
      </dsp:txXfrm>
    </dsp:sp>
    <dsp:sp modelId="{76924A13-9704-4A7C-8489-732F7474A46E}">
      <dsp:nvSpPr>
        <dsp:cNvPr id="0" name=""/>
        <dsp:cNvSpPr/>
      </dsp:nvSpPr>
      <dsp:spPr>
        <a:xfrm>
          <a:off x="6105525" y="0"/>
          <a:ext cx="2775238" cy="30918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ГНСС-карта ANNA-F9 от компании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Antzertech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. Поддерживает коррекцию в формате RTCM и позиционирование на сантиметровом уровне от локальных базовых станций или виртуальных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референцных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 станций (ВРС) в структуре </a:t>
          </a:r>
          <a:r>
            <a:rPr lang="ru-RU" sz="1600" kern="1200" dirty="0" err="1" smtClean="0">
              <a:latin typeface="Times New Roman" pitchFamily="18" charset="0"/>
              <a:cs typeface="Times New Roman" pitchFamily="18" charset="0"/>
            </a:rPr>
            <a:t>Network</a:t>
          </a:r>
          <a:r>
            <a:rPr lang="ru-RU" sz="1600" kern="1200" dirty="0" smtClean="0">
              <a:latin typeface="Times New Roman" pitchFamily="18" charset="0"/>
              <a:cs typeface="Times New Roman" pitchFamily="18" charset="0"/>
            </a:rPr>
            <a:t> RTK.</a:t>
          </a:r>
          <a:endParaRPr lang="ru-RU" sz="16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105525" y="0"/>
        <a:ext cx="2775238" cy="309187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5C142-E2CB-4DBF-BB03-FCFD5BF3F1C8}">
      <dsp:nvSpPr>
        <dsp:cNvPr id="0" name=""/>
        <dsp:cNvSpPr/>
      </dsp:nvSpPr>
      <dsp:spPr>
        <a:xfrm>
          <a:off x="193963" y="554"/>
          <a:ext cx="8002731" cy="8321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Интеграция цифровой карты с системой управления БТС</a:t>
          </a:r>
        </a:p>
      </dsp:txBody>
      <dsp:txXfrm>
        <a:off x="193963" y="554"/>
        <a:ext cx="8002731" cy="832100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A5AE6-5735-45EE-9BA2-CB225A79D3A2}">
      <dsp:nvSpPr>
        <dsp:cNvPr id="0" name=""/>
        <dsp:cNvSpPr/>
      </dsp:nvSpPr>
      <dsp:spPr>
        <a:xfrm>
          <a:off x="493563" y="869"/>
          <a:ext cx="3581081" cy="16863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Поступления данных от дорожной инфраструктуры о трафике, метеоусловиях, дорожно-транспортных происшествиях. 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93563" y="869"/>
        <a:ext cx="3581081" cy="1686325"/>
      </dsp:txXfrm>
    </dsp:sp>
    <dsp:sp modelId="{8F0DD911-036C-434A-8A9B-BEEE47B1198A}">
      <dsp:nvSpPr>
        <dsp:cNvPr id="0" name=""/>
        <dsp:cNvSpPr/>
      </dsp:nvSpPr>
      <dsp:spPr>
        <a:xfrm>
          <a:off x="4355699" y="869"/>
          <a:ext cx="3541396" cy="16863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Учёта изменений в дорожной обстановке, которые происходят за границами сенсорных систем автомобиля (дальность которых ограничена физической зоной видимости). 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4355699" y="869"/>
        <a:ext cx="3541396" cy="1686325"/>
      </dsp:txXfrm>
    </dsp:sp>
    <dsp:sp modelId="{AA77DD51-9600-44F8-ABA3-2F4B3F5000A7}">
      <dsp:nvSpPr>
        <dsp:cNvPr id="0" name=""/>
        <dsp:cNvSpPr/>
      </dsp:nvSpPr>
      <dsp:spPr>
        <a:xfrm>
          <a:off x="2142255" y="1968249"/>
          <a:ext cx="4106147" cy="168632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800" kern="1200" dirty="0" smtClean="0">
              <a:latin typeface="Times New Roman" pitchFamily="18" charset="0"/>
              <a:cs typeface="Times New Roman" pitchFamily="18" charset="0"/>
            </a:rPr>
            <a:t>Построения маршрута с учётом актуальной дорожной обстановки, что позволяет генерировать оптимальные маршруты и выполнять манёвры с учётом траекторий движения других транспортных средств.</a:t>
          </a:r>
          <a:endParaRPr lang="ru-RU" sz="18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142255" y="1968249"/>
        <a:ext cx="4106147" cy="1686325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5C142-E2CB-4DBF-BB03-FCFD5BF3F1C8}">
      <dsp:nvSpPr>
        <dsp:cNvPr id="0" name=""/>
        <dsp:cNvSpPr/>
      </dsp:nvSpPr>
      <dsp:spPr>
        <a:xfrm>
          <a:off x="193963" y="554"/>
          <a:ext cx="8002731" cy="8321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Интеграция цифровой карты с системой управления БТС</a:t>
          </a:r>
        </a:p>
      </dsp:txBody>
      <dsp:txXfrm>
        <a:off x="193963" y="554"/>
        <a:ext cx="8002731" cy="832100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2A5AE6-5735-45EE-9BA2-CB225A79D3A2}">
      <dsp:nvSpPr>
        <dsp:cNvPr id="0" name=""/>
        <dsp:cNvSpPr/>
      </dsp:nvSpPr>
      <dsp:spPr>
        <a:xfrm>
          <a:off x="259581" y="0"/>
          <a:ext cx="4405417" cy="2232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Карты высокого разрешения (HD-карты).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Содержат детальную информацию о дорожной инфраструктуре, знаках, разметке и других объектах, необходимых для автономного движения. </a:t>
          </a:r>
          <a:endParaRPr lang="ru-RU" sz="20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259581" y="0"/>
        <a:ext cx="4405417" cy="2232926"/>
      </dsp:txXfrm>
    </dsp:sp>
    <dsp:sp modelId="{125129AE-CA02-4323-86AE-418FA39AAE77}">
      <dsp:nvSpPr>
        <dsp:cNvPr id="0" name=""/>
        <dsp:cNvSpPr/>
      </dsp:nvSpPr>
      <dsp:spPr>
        <a:xfrm>
          <a:off x="4949706" y="3401"/>
          <a:ext cx="3818955" cy="22346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Технология связи V2X (</a:t>
          </a:r>
          <a:r>
            <a:rPr lang="ru-RU" sz="2000" kern="1200" dirty="0" err="1" smtClean="0">
              <a:latin typeface="Times New Roman" pitchFamily="18" charset="0"/>
              <a:cs typeface="Times New Roman" pitchFamily="18" charset="0"/>
            </a:rPr>
            <a:t>vehicle-to-everything</a:t>
          </a: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 - «автомобиль, подключённый ко всему»).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Позволяет передавать данные в реальном времени между беспилотным автомобилем и инфраструктурой. </a:t>
          </a:r>
        </a:p>
      </dsp:txBody>
      <dsp:txXfrm>
        <a:off x="4949706" y="3401"/>
        <a:ext cx="3818955" cy="2234633"/>
      </dsp:txXfrm>
    </dsp:sp>
    <dsp:sp modelId="{830BE69F-0607-4525-BEEC-D554A18FBEDD}">
      <dsp:nvSpPr>
        <dsp:cNvPr id="0" name=""/>
        <dsp:cNvSpPr/>
      </dsp:nvSpPr>
      <dsp:spPr>
        <a:xfrm>
          <a:off x="1468578" y="2503967"/>
          <a:ext cx="6109860" cy="15955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Алгоритмы онлайн-детекции. </a:t>
          </a:r>
        </a:p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 smtClean="0">
              <a:latin typeface="Times New Roman" pitchFamily="18" charset="0"/>
              <a:cs typeface="Times New Roman" pitchFamily="18" charset="0"/>
            </a:rPr>
            <a:t>Из данных карты беспилотный автомобиль берёт информацию об ожидаемых объектах, и если в реальности этот объект не был найден или поменял своё расположение, отправляет об этом сигнал. </a:t>
          </a:r>
        </a:p>
      </dsp:txBody>
      <dsp:txXfrm>
        <a:off x="1468578" y="2503967"/>
        <a:ext cx="6109860" cy="1595597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5C142-E2CB-4DBF-BB03-FCFD5BF3F1C8}">
      <dsp:nvSpPr>
        <dsp:cNvPr id="0" name=""/>
        <dsp:cNvSpPr/>
      </dsp:nvSpPr>
      <dsp:spPr>
        <a:xfrm>
          <a:off x="193963" y="554"/>
          <a:ext cx="8002731" cy="8321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Интеграция цифровой карты с системой управления БТС</a:t>
          </a:r>
        </a:p>
      </dsp:txBody>
      <dsp:txXfrm>
        <a:off x="193963" y="554"/>
        <a:ext cx="8002731" cy="832100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45C142-E2CB-4DBF-BB03-FCFD5BF3F1C8}">
      <dsp:nvSpPr>
        <dsp:cNvPr id="0" name=""/>
        <dsp:cNvSpPr/>
      </dsp:nvSpPr>
      <dsp:spPr>
        <a:xfrm>
          <a:off x="193963" y="554"/>
          <a:ext cx="8002731" cy="8321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kern="1200" dirty="0" smtClean="0">
              <a:latin typeface="Times New Roman" pitchFamily="18" charset="0"/>
              <a:cs typeface="Times New Roman" pitchFamily="18" charset="0"/>
            </a:rPr>
            <a:t>Интеграция цифровой карты с системой управления БТС</a:t>
          </a:r>
        </a:p>
      </dsp:txBody>
      <dsp:txXfrm>
        <a:off x="193963" y="554"/>
        <a:ext cx="8002731" cy="83210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6/26/2026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6/26/2026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6/26/2026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6/26/2026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6/26/2026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1450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056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9861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746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xmlns="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417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5831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xmlns="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0310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5698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xmlns="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3881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1906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>
                <a:solidFill>
                  <a:prstClr val="black"/>
                </a:solidFill>
              </a:rPr>
              <a:pPr/>
              <a:t>6/26/2026</a:t>
            </a:fld>
            <a:endParaRPr lang="ru-RU">
              <a:solidFill>
                <a:prstClr val="black"/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>
              <a:solidFill>
                <a:prstClr val="black"/>
              </a:solidFill>
            </a:endParaRP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xmlns="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>
                <a:solidFill>
                  <a:prstClr val="black"/>
                </a:solidFill>
              </a:rPr>
              <a:pPr/>
              <a:t>‹#›</a:t>
            </a:fld>
            <a:endParaRPr 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6868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884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avatars.mds.yandex.net/i?id=cb1dbceb7c06f96b79a386722ec4a07ab7a3a2f9-4774717-images-thumbs&amp;n=13" TargetMode="External"/><Relationship Id="rId3" Type="http://schemas.openxmlformats.org/officeDocument/2006/relationships/diagramLayout" Target="../diagrams/layout2.xml"/><Relationship Id="rId7" Type="http://schemas.openxmlformats.org/officeDocument/2006/relationships/image" Target="../media/image2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4.jpe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7.xml"/><Relationship Id="rId3" Type="http://schemas.openxmlformats.org/officeDocument/2006/relationships/diagramLayout" Target="../diagrams/layout16.xml"/><Relationship Id="rId7" Type="http://schemas.openxmlformats.org/officeDocument/2006/relationships/diagramData" Target="../diagrams/data17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6.xml"/><Relationship Id="rId11" Type="http://schemas.microsoft.com/office/2007/relationships/diagramDrawing" Target="../diagrams/drawing17.xml"/><Relationship Id="rId5" Type="http://schemas.openxmlformats.org/officeDocument/2006/relationships/diagramColors" Target="../diagrams/colors16.xml"/><Relationship Id="rId10" Type="http://schemas.openxmlformats.org/officeDocument/2006/relationships/diagramColors" Target="../diagrams/colors17.xml"/><Relationship Id="rId4" Type="http://schemas.openxmlformats.org/officeDocument/2006/relationships/diagramQuickStyle" Target="../diagrams/quickStyle16.xml"/><Relationship Id="rId9" Type="http://schemas.openxmlformats.org/officeDocument/2006/relationships/diagramQuickStyle" Target="../diagrams/quickStyle1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9.xml"/><Relationship Id="rId3" Type="http://schemas.openxmlformats.org/officeDocument/2006/relationships/diagramLayout" Target="../diagrams/layout18.xml"/><Relationship Id="rId7" Type="http://schemas.openxmlformats.org/officeDocument/2006/relationships/diagramData" Target="../diagrams/data19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8.xml"/><Relationship Id="rId11" Type="http://schemas.microsoft.com/office/2007/relationships/diagramDrawing" Target="../diagrams/drawing19.xml"/><Relationship Id="rId5" Type="http://schemas.openxmlformats.org/officeDocument/2006/relationships/diagramColors" Target="../diagrams/colors18.xml"/><Relationship Id="rId10" Type="http://schemas.openxmlformats.org/officeDocument/2006/relationships/diagramColors" Target="../diagrams/colors19.xml"/><Relationship Id="rId4" Type="http://schemas.openxmlformats.org/officeDocument/2006/relationships/diagramQuickStyle" Target="../diagrams/quickStyle18.xml"/><Relationship Id="rId9" Type="http://schemas.openxmlformats.org/officeDocument/2006/relationships/diagramQuickStyle" Target="../diagrams/quickStyle19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1.xml"/><Relationship Id="rId3" Type="http://schemas.openxmlformats.org/officeDocument/2006/relationships/diagramLayout" Target="../diagrams/layout20.xml"/><Relationship Id="rId7" Type="http://schemas.openxmlformats.org/officeDocument/2006/relationships/diagramData" Target="../diagrams/data21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0.xml"/><Relationship Id="rId11" Type="http://schemas.microsoft.com/office/2007/relationships/diagramDrawing" Target="../diagrams/drawing21.xml"/><Relationship Id="rId5" Type="http://schemas.openxmlformats.org/officeDocument/2006/relationships/diagramColors" Target="../diagrams/colors20.xml"/><Relationship Id="rId10" Type="http://schemas.openxmlformats.org/officeDocument/2006/relationships/diagramColors" Target="../diagrams/colors21.xml"/><Relationship Id="rId4" Type="http://schemas.openxmlformats.org/officeDocument/2006/relationships/diagramQuickStyle" Target="../diagrams/quickStyle20.xml"/><Relationship Id="rId9" Type="http://schemas.openxmlformats.org/officeDocument/2006/relationships/diagramQuickStyle" Target="../diagrams/quickStyle2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10.pn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7" Type="http://schemas.openxmlformats.org/officeDocument/2006/relationships/image" Target="../media/image11.pn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1.xml"/><Relationship Id="rId3" Type="http://schemas.openxmlformats.org/officeDocument/2006/relationships/diagramLayout" Target="../diagrams/layout30.xml"/><Relationship Id="rId7" Type="http://schemas.openxmlformats.org/officeDocument/2006/relationships/diagramData" Target="../diagrams/data31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0.xml"/><Relationship Id="rId11" Type="http://schemas.microsoft.com/office/2007/relationships/diagramDrawing" Target="../diagrams/drawing31.xml"/><Relationship Id="rId5" Type="http://schemas.openxmlformats.org/officeDocument/2006/relationships/diagramColors" Target="../diagrams/colors30.xml"/><Relationship Id="rId10" Type="http://schemas.openxmlformats.org/officeDocument/2006/relationships/diagramColors" Target="../diagrams/colors31.xml"/><Relationship Id="rId4" Type="http://schemas.openxmlformats.org/officeDocument/2006/relationships/diagramQuickStyle" Target="../diagrams/quickStyle30.xml"/><Relationship Id="rId9" Type="http://schemas.openxmlformats.org/officeDocument/2006/relationships/diagramQuickStyle" Target="../diagrams/quickStyle3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36.xml"/><Relationship Id="rId7" Type="http://schemas.openxmlformats.org/officeDocument/2006/relationships/image" Target="../media/image12.png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563117"/>
            <a:ext cx="6858000" cy="3202847"/>
          </a:xfrm>
        </p:spPr>
        <p:txBody>
          <a:bodyPr/>
          <a:lstStyle/>
          <a:p>
            <a:pPr algn="l"/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ДИСЦИЛИНА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Трансформация производственных процессов на основе беспилотных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технологий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>ИНСТИТУТ </a:t>
            </a:r>
            <a:r>
              <a:rPr lang="ru-RU" sz="1800" dirty="0" smtClean="0">
                <a:latin typeface="Times New Roman" pitchFamily="18" charset="0"/>
                <a:cs typeface="Times New Roman" pitchFamily="18" charset="0"/>
              </a:rPr>
              <a:t>ИПТИП</a:t>
            </a:r>
            <a:r>
              <a:rPr lang="ru-RU" sz="1800" b="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КАФЕДРА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индустриального программирования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ВИД УЧЕБНОГО МАТЕРИАЛА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Лекция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ПРЕПОДАВАТЕЛЬ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Ризаева Юлия Николаевна</a:t>
            </a: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sz="1800" b="0" dirty="0">
                <a:latin typeface="Times New Roman" pitchFamily="18" charset="0"/>
                <a:cs typeface="Times New Roman" pitchFamily="18" charset="0"/>
              </a:rPr>
            </a:br>
            <a:r>
              <a:rPr lang="ru-RU" sz="1800" b="0" dirty="0">
                <a:latin typeface="Times New Roman" pitchFamily="18" charset="0"/>
                <a:cs typeface="Times New Roman" pitchFamily="18" charset="0"/>
              </a:rPr>
              <a:t>СЕМЕСТР </a:t>
            </a:r>
            <a:r>
              <a:rPr lang="ru-RU" sz="1800" dirty="0">
                <a:latin typeface="Times New Roman" pitchFamily="18" charset="0"/>
                <a:cs typeface="Times New Roman" pitchFamily="18" charset="0"/>
              </a:rPr>
              <a:t>3, 2026-2027 уч. 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г.</a:t>
            </a:r>
            <a:br>
              <a:rPr lang="ru-RU" sz="1800">
                <a:latin typeface="Times New Roman" pitchFamily="18" charset="0"/>
                <a:cs typeface="Times New Roman" pitchFamily="18" charset="0"/>
              </a:rPr>
            </a:br>
            <a:endParaRPr lang="ru-RU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041237" y="855231"/>
            <a:ext cx="5562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Титульный лист материалов по дисциплине</a:t>
            </a:r>
            <a:br>
              <a:rPr lang="ru-RU" sz="2000" b="1" dirty="0">
                <a:solidFill>
                  <a:prstClr val="black"/>
                </a:solidFill>
                <a:latin typeface="Times New Roman" pitchFamily="18" charset="0"/>
                <a:ea typeface="+mj-ea"/>
                <a:cs typeface="Times New Roman" pitchFamily="18" charset="0"/>
              </a:rPr>
            </a:b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226399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Заголовок 9">
            <a:extLst>
              <a:ext uri="{FF2B5EF4-FFF2-40B4-BE49-F238E27FC236}">
                <a16:creationId xmlns:a16="http://schemas.microsoft.com/office/drawing/2014/main" xmlns="" id="{4C6D146A-8A1D-466F-95B0-D4B5B952F6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164" y="2563091"/>
            <a:ext cx="7730835" cy="1690254"/>
          </a:xfrm>
        </p:spPr>
        <p:txBody>
          <a:bodyPr/>
          <a:lstStyle/>
          <a:p>
            <a:r>
              <a:rPr lang="ru-RU" sz="4400" b="0" dirty="0" smtClean="0">
                <a:latin typeface="Times New Roman" pitchFamily="18" charset="0"/>
                <a:cs typeface="Times New Roman" pitchFamily="18" charset="0"/>
              </a:rPr>
              <a:t>Этапы подготовки предприятия </a:t>
            </a:r>
            <a:r>
              <a:rPr lang="ru-RU" sz="4400" b="0" dirty="0">
                <a:latin typeface="Times New Roman" pitchFamily="18" charset="0"/>
                <a:cs typeface="Times New Roman" pitchFamily="18" charset="0"/>
              </a:rPr>
              <a:t>к эксплуатации </a:t>
            </a:r>
            <a:r>
              <a:rPr lang="ru-RU" sz="4400" b="0" dirty="0" smtClean="0">
                <a:latin typeface="Times New Roman" pitchFamily="18" charset="0"/>
                <a:cs typeface="Times New Roman" pitchFamily="18" charset="0"/>
              </a:rPr>
              <a:t>БТС</a:t>
            </a:r>
            <a:endParaRPr lang="ru-RU" sz="4400" b="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одзаголовок 10">
            <a:extLst>
              <a:ext uri="{FF2B5EF4-FFF2-40B4-BE49-F238E27FC236}">
                <a16:creationId xmlns:a16="http://schemas.microsoft.com/office/drawing/2014/main" xmlns="" id="{C1B65F80-40E4-4163-81DA-43F424C0A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smtClean="0">
                <a:latin typeface="Times New Roman" pitchFamily="18" charset="0"/>
                <a:cs typeface="Times New Roman" pitchFamily="18" charset="0"/>
              </a:rPr>
              <a:t>Лекция </a:t>
            </a:r>
            <a:r>
              <a:rPr lang="ru-RU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A172C6BE-6279-1472-C916-7648D9F1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0878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План лекции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52143"/>
            <a:ext cx="7886700" cy="5204207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/>
                <a:ea typeface="Times New Roman"/>
              </a:rPr>
              <a:t>Нанесение </a:t>
            </a:r>
            <a:r>
              <a:rPr lang="ru-RU" sz="2000" dirty="0">
                <a:latin typeface="Times New Roman"/>
                <a:ea typeface="Times New Roman"/>
              </a:rPr>
              <a:t>дорожной разметки с обозначением обочины на маршрутах следования.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Установка камер наблюдения на </a:t>
            </a:r>
            <a:r>
              <a:rPr lang="ru-RU" sz="2000" dirty="0" smtClean="0">
                <a:latin typeface="Times New Roman"/>
                <a:ea typeface="Times New Roman"/>
              </a:rPr>
              <a:t>наиболее загруженны</a:t>
            </a:r>
            <a:r>
              <a:rPr lang="ru-RU" sz="2000" dirty="0">
                <a:latin typeface="Times New Roman"/>
                <a:ea typeface="Times New Roman"/>
              </a:rPr>
              <a:t>е</a:t>
            </a:r>
            <a:r>
              <a:rPr lang="ru-RU" sz="2000" dirty="0" smtClean="0">
                <a:latin typeface="Times New Roman"/>
                <a:ea typeface="Times New Roman"/>
              </a:rPr>
              <a:t> перекрестки </a:t>
            </a:r>
            <a:r>
              <a:rPr lang="ru-RU" sz="2000" dirty="0">
                <a:latin typeface="Times New Roman"/>
                <a:ea typeface="Times New Roman"/>
              </a:rPr>
              <a:t>по маршруту в прямом и обратном направлении движения составов.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Установка </a:t>
            </a:r>
            <a:r>
              <a:rPr lang="ru-RU" sz="2000" dirty="0" err="1" smtClean="0">
                <a:latin typeface="Times New Roman"/>
                <a:ea typeface="Times New Roman"/>
              </a:rPr>
              <a:t>WiFi</a:t>
            </a:r>
            <a:r>
              <a:rPr lang="ru-RU" sz="2000" dirty="0" smtClean="0">
                <a:latin typeface="Times New Roman"/>
                <a:ea typeface="Times New Roman"/>
              </a:rPr>
              <a:t> </a:t>
            </a:r>
            <a:r>
              <a:rPr lang="ru-RU" sz="2000" dirty="0">
                <a:latin typeface="Times New Roman"/>
                <a:ea typeface="Times New Roman"/>
              </a:rPr>
              <a:t>ретрансляторов по маршруту следования.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Установка базовой станции в центральном офисе.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Замеры по системам связи уровня </a:t>
            </a:r>
            <a:r>
              <a:rPr lang="ru-RU" sz="2000" dirty="0" smtClean="0">
                <a:latin typeface="Times New Roman"/>
                <a:ea typeface="Times New Roman"/>
              </a:rPr>
              <a:t>сигнала.</a:t>
            </a:r>
            <a:endParaRPr lang="ru-RU" sz="2000" dirty="0">
              <a:latin typeface="Times New Roman"/>
              <a:ea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Запись цифровой карты </a:t>
            </a:r>
            <a:r>
              <a:rPr lang="ru-RU" sz="2000" dirty="0" smtClean="0">
                <a:latin typeface="Times New Roman"/>
                <a:ea typeface="Times New Roman"/>
              </a:rPr>
              <a:t>маршрута.</a:t>
            </a:r>
            <a:endParaRPr lang="ru-RU" sz="2000" dirty="0">
              <a:latin typeface="Times New Roman"/>
              <a:ea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Установка диспетчерского пункта в центральном офисе.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Обучение нейронной сети под </a:t>
            </a:r>
            <a:r>
              <a:rPr lang="ru-RU" sz="2000" dirty="0" smtClean="0">
                <a:latin typeface="Times New Roman"/>
                <a:ea typeface="Times New Roman"/>
              </a:rPr>
              <a:t>место.</a:t>
            </a:r>
            <a:endParaRPr lang="ru-RU" sz="2000" dirty="0">
              <a:latin typeface="Times New Roman"/>
              <a:ea typeface="Times New Roman"/>
            </a:endParaRP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 smtClean="0">
                <a:latin typeface="Times New Roman"/>
                <a:ea typeface="Times New Roman"/>
              </a:rPr>
              <a:t>Инструктаж </a:t>
            </a:r>
            <a:r>
              <a:rPr lang="ru-RU" sz="2000" dirty="0">
                <a:latin typeface="Times New Roman"/>
                <a:ea typeface="Times New Roman"/>
              </a:rPr>
              <a:t>сотрудников предприятия </a:t>
            </a:r>
            <a:r>
              <a:rPr lang="ru-RU" sz="2000" dirty="0" smtClean="0">
                <a:latin typeface="Times New Roman"/>
                <a:ea typeface="Times New Roman"/>
              </a:rPr>
              <a:t>о </a:t>
            </a:r>
            <a:r>
              <a:rPr lang="ru-RU" sz="2000" dirty="0">
                <a:latin typeface="Times New Roman"/>
                <a:ea typeface="Times New Roman"/>
              </a:rPr>
              <a:t>проведении демонстрации беспилотного ТС.</a:t>
            </a:r>
          </a:p>
          <a:p>
            <a:pPr marL="342900" indent="-342900" algn="just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ru-RU" sz="2000" dirty="0">
                <a:latin typeface="Times New Roman"/>
                <a:ea typeface="Times New Roman"/>
              </a:rPr>
              <a:t>Тестовые </a:t>
            </a:r>
            <a:r>
              <a:rPr lang="ru-RU" sz="2000" dirty="0" smtClean="0">
                <a:latin typeface="Times New Roman"/>
                <a:ea typeface="Times New Roman"/>
              </a:rPr>
              <a:t>заезды.</a:t>
            </a:r>
            <a:endParaRPr lang="ru-RU" sz="2000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065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5741" y="495800"/>
            <a:ext cx="7886700" cy="1325563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Этапы подготовки предприятия к эксплуатации БТС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4284228"/>
              </p:ext>
            </p:extLst>
          </p:nvPr>
        </p:nvGraphicFramePr>
        <p:xfrm>
          <a:off x="628650" y="1821363"/>
          <a:ext cx="7886700" cy="488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4405"/>
                <a:gridCol w="7282295"/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№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buFont typeface="+mj-lt"/>
                        <a:buNone/>
                      </a:pP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Этап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ru-RU" sz="1800" dirty="0" smtClean="0">
                          <a:latin typeface="Times New Roman"/>
                          <a:ea typeface="Times New Roman"/>
                        </a:rPr>
                        <a:t>Нанесение дорожной разметки с обозначением обочины на маршрутах следования.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Установка камер наблюдения на наиболее загруженные перекрестки по маршруту в прямом и обратном направлении движения составов.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Установка </a:t>
                      </a:r>
                      <a:r>
                        <a:rPr lang="ru-RU" dirty="0" err="1" smtClean="0"/>
                        <a:t>WiFi</a:t>
                      </a:r>
                      <a:r>
                        <a:rPr lang="ru-RU" dirty="0" smtClean="0"/>
                        <a:t> ретрансляторов по маршруту следования.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4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Установка базовой станции в центральном офисе.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Замеры по системам связи уровня сигнала.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Запись цифровой карты маршрута.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Установка диспетчерского пункта в центральном офисе.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Обучение нейронной сети под место.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9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Инструктаж сотрудников предприятия о проведении демонстрации беспилотного ТС.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 smtClean="0"/>
                        <a:t>10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Тестовые заезды.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2408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1. Нанесение дорожной разметки с обозначением обочины на маршрутах следования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969282"/>
            <a:ext cx="7886700" cy="1563628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Актуальность:  </a:t>
            </a:r>
            <a:endParaRPr lang="ru-RU" sz="32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Правильная </a:t>
            </a:r>
            <a:r>
              <a:rPr lang="ru-RU" dirty="0">
                <a:latin typeface="Times New Roman"/>
                <a:ea typeface="Times New Roman"/>
              </a:rPr>
              <a:t>разметка дорог критически важна для навигации БТС, особенно в условиях ограниченной видимости или при отсутствии GPS сигнала.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Обозначение </a:t>
            </a:r>
            <a:r>
              <a:rPr lang="ru-RU" dirty="0">
                <a:latin typeface="Times New Roman"/>
                <a:ea typeface="Times New Roman"/>
              </a:rPr>
              <a:t>обочины позволяет БТС точно определять границы полосы движения и избегать съезда с дороги.</a:t>
            </a: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679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95615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1. Нанесение дорожной разметки с обозначением обочины на маршрутах следования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651594"/>
            <a:ext cx="7886700" cy="524536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Техническое исполнение</a:t>
            </a:r>
            <a:r>
              <a:rPr lang="ru-RU" dirty="0" smtClean="0">
                <a:latin typeface="Times New Roman"/>
                <a:ea typeface="Times New Roman"/>
              </a:rPr>
              <a:t>:</a:t>
            </a: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6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399917236"/>
              </p:ext>
            </p:extLst>
          </p:nvPr>
        </p:nvGraphicFramePr>
        <p:xfrm>
          <a:off x="1" y="2231551"/>
          <a:ext cx="9144000" cy="44899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61195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1. Нанесение дорожной разметки с обозначением обочины на маршрутах следования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969282"/>
            <a:ext cx="7886700" cy="579954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Практические примеры</a:t>
            </a:r>
            <a:r>
              <a:rPr lang="ru-RU" dirty="0" smtClean="0">
                <a:latin typeface="Times New Roman"/>
                <a:ea typeface="Times New Roman"/>
              </a:rPr>
              <a:t>:</a:t>
            </a: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7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958006781"/>
              </p:ext>
            </p:extLst>
          </p:nvPr>
        </p:nvGraphicFramePr>
        <p:xfrm>
          <a:off x="827232" y="2549236"/>
          <a:ext cx="338455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8" name="Picture 4" descr="https://avatars.mds.yandex.net/i?id=cb1dbceb7c06f96b79a386722ec4a07ab7a3a2f9-4774717-images-thumbs&amp;n=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364" y="2549236"/>
            <a:ext cx="2792223" cy="1814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7509163" y="2902711"/>
            <a:ext cx="1496291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hlinkClick r:id="rId8"/>
              </a:rPr>
              <a:t>https://</a:t>
            </a:r>
            <a:r>
              <a:rPr lang="en-US" sz="1100" dirty="0" smtClean="0">
                <a:hlinkClick r:id="rId8"/>
              </a:rPr>
              <a:t>avatars.mds.yandex.net/i?id=cb1dbceb7c06f96b79a386722ec4a07ab7a3a2f9-4774717-images-thumbs&amp;n=13</a:t>
            </a:r>
            <a:r>
              <a:rPr lang="ru-RU" sz="1100" dirty="0" smtClean="0"/>
              <a:t> </a:t>
            </a:r>
            <a:endParaRPr lang="ru-RU" sz="1100" dirty="0"/>
          </a:p>
        </p:txBody>
      </p:sp>
      <p:pic>
        <p:nvPicPr>
          <p:cNvPr id="1030" name="Picture 6" descr="https://avatars.mds.yandex.net/i?id=1304735991274ad939ab5c5b4a37b812-5527829-images-thumbs&amp;n=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1281" y="4702319"/>
            <a:ext cx="3007883" cy="1980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7675418" y="5230749"/>
            <a:ext cx="1330036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https://avatars.mds.yandex.net/i?id=1304735991274ad939ab5c5b4a37b812-5527829-images-thumbs&amp;n=13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99799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1910272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. Установка камер наблюдения на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наиболее загруженные перекрестки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 маршруту в прямом и обратном направлении движения составов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2440336"/>
            <a:ext cx="7886700" cy="3916013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Актуальность: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Видеонаблюдение </a:t>
            </a:r>
            <a:r>
              <a:rPr lang="ru-RU" dirty="0">
                <a:latin typeface="Times New Roman"/>
                <a:ea typeface="Times New Roman"/>
              </a:rPr>
              <a:t>на перекрестках повышает безопасность движения БТС, позволяя операторам и системам управления в режиме реального времени </a:t>
            </a:r>
            <a:r>
              <a:rPr lang="ru-RU" dirty="0" err="1">
                <a:latin typeface="Times New Roman"/>
                <a:ea typeface="Times New Roman"/>
              </a:rPr>
              <a:t>мониторить</a:t>
            </a:r>
            <a:r>
              <a:rPr lang="ru-RU" dirty="0">
                <a:latin typeface="Times New Roman"/>
                <a:ea typeface="Times New Roman"/>
              </a:rPr>
              <a:t> ситуацию на дороге,  выявлять потенциальные опасности, такие как пешеходы, автомобили или другие препятствия.</a:t>
            </a: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3973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1910272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. Установка камер наблюдения на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наиболее загруженные перекрестки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 маршруту в прямом и обратном направлении движения составов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2191923"/>
            <a:ext cx="7886700" cy="496828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Техническое исполнение</a:t>
            </a:r>
            <a:r>
              <a:rPr lang="ru-RU" dirty="0" smtClean="0">
                <a:latin typeface="Times New Roman"/>
                <a:ea typeface="Times New Roman"/>
              </a:rPr>
              <a:t>:</a:t>
            </a: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9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676450519"/>
              </p:ext>
            </p:extLst>
          </p:nvPr>
        </p:nvGraphicFramePr>
        <p:xfrm>
          <a:off x="346364" y="2688751"/>
          <a:ext cx="8473786" cy="4032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649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181765"/>
            <a:ext cx="7886700" cy="1910272"/>
          </a:xfrm>
        </p:spPr>
        <p:txBody>
          <a:bodyPr/>
          <a:lstStyle/>
          <a:p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. Установка камер наблюдения на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наиболее загруженные перекрестки </a:t>
            </a: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по маршруту в прямом и обратном направлении движения составов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10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698372450"/>
              </p:ext>
            </p:extLst>
          </p:nvPr>
        </p:nvGraphicFramePr>
        <p:xfrm>
          <a:off x="180109" y="2479962"/>
          <a:ext cx="4516582" cy="4322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2547504" y="1911929"/>
            <a:ext cx="4566805" cy="441130"/>
          </a:xfrm>
        </p:spPr>
        <p:txBody>
          <a:bodyPr/>
          <a:lstStyle/>
          <a:p>
            <a:pPr marL="0" indent="0">
              <a:buNone/>
            </a:pPr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Практические </a:t>
            </a:r>
            <a:r>
              <a:rPr lang="ru-RU" sz="3200" dirty="0" smtClean="0">
                <a:latin typeface="Times New Roman" pitchFamily="18" charset="0"/>
                <a:cs typeface="Times New Roman" pitchFamily="18" charset="0"/>
              </a:rPr>
              <a:t>примеры: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AutoShape 2" descr="https://yandex-images.clstorage.net/Hq47QX281/06fc0agA35/FXEWdeOjGGE-5N4HPV0I7zow52TddFrSXy71yd2Qxyu6Q1m9ioV8S4Qt_XQOiX2FXuGb874L1R0Sdy2top0W-VQkUDmk6A47b6TIUzVeDe0nbaR1wS5ej0VspsaJka1BnTouhvCzU231AeUiWN18xBb315rWSLUnBQZI06X7aNw6ZSVx1rlTYjznlTIrZh3sGEnGb_k0db1lE6W59-GAeZ0jBpXctHtG7ybmF2P-c9F8_cS0_gmvLwIHbtibxXTsLUMHWtiTQkAr_rISNWsI2xpo-UjNA2uEYRiKvcrlu2y0DRW6zaJ5ZMwr8Dd31H_dS_bWo88CqxYNIlrFqvlX7wd6FFP1h2NWFvilNDNwAMM6WeF0xxFDhlAYib3A0LlsmQ84uviiQE79Jus6TOxa12Lm6IvcA44XDAt8xZD_dfANWTte1LFVQR_dnBk7VjvzIXvQROIvUaZXLYOs3uG9cbYyGIz8kXN6-CHpM1nzad1i3dKrwAeoGD4JVNmJxFPPJ3sUbtedY2Q35ZkHLX4kxCtL6EzFDHWpXRqbgenWmFesOiejyrNVedgj9Qh47GPScdLgn988nA08B1HHu8ZW4hlYJUDAvHtAFMK4MTNgFeMtRuRF_yNpt1EEqYzB0rtslTguqc6qVUTTLOUxTN512lHf9rTBH50YAxth04TFWOwmdxR_3Lh0Zx__pDc5VSvIIEjdbscpeohjLay88duXdo08GozNp1d63wXGEX_MdNd3wMOL8DqmJhw0f8mZ4nDsKXoDXcWYeno12IUvGmkt3QVp30nQPViKQRCAtfnamEyyDwG72Yx_csQA_SZC00raWejTo8Ajiws2N2zHt8Zy9ABnBH3XpFV2Gc6-DgRVFc8gaeJm3wpfpHAdsrLt0qB2qgE4k-2Zb1PYJfA5evdV6UvR2qPAGp4ZARt037DVe_MyVi1m4LFcXBDlvxgbZw3lE1XNTPgVe5tiJ5y1_9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3" name="Picture 5" descr="https://avatars.mds.yandex.net/i?id=ba2ee8ed05075b47eef41f71cfa0d39fc8b6ddaa-3459015-images-thumbs&amp;n=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22" y="2479962"/>
            <a:ext cx="2530475" cy="2024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7114309" y="3488680"/>
            <a:ext cx="191885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https://avatars.mds.yandex.net/i?id=ba2ee8ed05075b47eef41f71cfa0d39fc8b6ddaa-3459015-images-thumbs&amp;n=13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9299" y="4917931"/>
            <a:ext cx="3148004" cy="1803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7633855" y="5462539"/>
            <a:ext cx="1399310" cy="1277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https://avatars.mds.yandex.net/i?id=d3e2777e134092c15221cf914f9528be0ec438a0-12500642-images-thumbs&amp;n=13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2949971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3. Установка </a:t>
            </a:r>
            <a:r>
              <a:rPr lang="ru-RU" sz="3600" dirty="0" err="1" smtClean="0">
                <a:latin typeface="Times New Roman" pitchFamily="18" charset="0"/>
                <a:cs typeface="Times New Roman" pitchFamily="18" charset="0"/>
              </a:rPr>
              <a:t>WiFi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ретрансляторов по маршруту следования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969282"/>
            <a:ext cx="7886700" cy="1563628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Актуальность: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Надежное беспроводное соединение необходимо для обмена данными между БТС, диспетчерским центром и другими элементами инфраструктуры. </a:t>
            </a:r>
            <a:r>
              <a:rPr lang="ru-RU" dirty="0" err="1">
                <a:latin typeface="Times New Roman"/>
                <a:ea typeface="Times New Roman"/>
              </a:rPr>
              <a:t>WiFi</a:t>
            </a:r>
            <a:r>
              <a:rPr lang="ru-RU" dirty="0">
                <a:latin typeface="Times New Roman"/>
                <a:ea typeface="Times New Roman"/>
              </a:rPr>
              <a:t> ретрансляторы обеспечивают стабильное покрытие сигнала на протяжении всего маршрута, особенно в условиях сложного рельефа или городской застройки.</a:t>
            </a: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1608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37182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3. Установка </a:t>
            </a:r>
            <a:r>
              <a:rPr lang="ru-RU" sz="3600" dirty="0" err="1" smtClean="0">
                <a:latin typeface="Times New Roman" pitchFamily="18" charset="0"/>
                <a:cs typeface="Times New Roman" pitchFamily="18" charset="0"/>
              </a:rPr>
              <a:t>WiFi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ретрансляторов по маршруту следования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933450" y="1301955"/>
            <a:ext cx="7886700" cy="676936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Техническое исполнение: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12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193047015"/>
              </p:ext>
            </p:extLst>
          </p:nvPr>
        </p:nvGraphicFramePr>
        <p:xfrm>
          <a:off x="221673" y="1895760"/>
          <a:ext cx="4087091" cy="48791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7700" y="2082797"/>
            <a:ext cx="436245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099214" y="5641262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https://avatars.mds.yandex.net/i?id=e09ee6136743d866863bc0c32c0f67749f8f6494-9066604-images-thumbs&amp;n=13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6882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3. Установка </a:t>
            </a:r>
            <a:r>
              <a:rPr lang="ru-RU" sz="3600" dirty="0" err="1" smtClean="0">
                <a:latin typeface="Times New Roman" pitchFamily="18" charset="0"/>
                <a:cs typeface="Times New Roman" pitchFamily="18" charset="0"/>
              </a:rPr>
              <a:t>WiFi</a:t>
            </a:r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ретрансляторов по маршруту следования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56664"/>
            <a:ext cx="7886700" cy="676936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Практические </a:t>
            </a:r>
            <a:r>
              <a:rPr lang="ru-RU" dirty="0" smtClean="0">
                <a:latin typeface="Times New Roman"/>
                <a:ea typeface="Times New Roman"/>
              </a:rPr>
              <a:t>примеры:  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13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973246544"/>
              </p:ext>
            </p:extLst>
          </p:nvPr>
        </p:nvGraphicFramePr>
        <p:xfrm>
          <a:off x="374073" y="1978891"/>
          <a:ext cx="8446077" cy="45050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941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382" y="260266"/>
            <a:ext cx="8132618" cy="65412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Ретрансляторы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 технологией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Mesh 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110580"/>
            <a:ext cx="7886700" cy="3653219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Ретрансляторы (узлы) используются в технологии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Mesh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(ячеистой сети) для создания самоорганизующейся сети.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отличие от традиционной схемы «роутер-клиент»,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Mesh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создаёт децентрализованную сеть, где каждый узел может выполнять роль ретранслятора для других узлов.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7718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382" y="260266"/>
            <a:ext cx="8132618" cy="65412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Ретрансляторы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 технологией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Mesh 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110581"/>
            <a:ext cx="7886700" cy="468838"/>
          </a:xfrm>
        </p:spPr>
        <p:txBody>
          <a:bodyPr/>
          <a:lstStyle/>
          <a:p>
            <a:pPr marL="0" indent="0" algn="just">
              <a:buNone/>
            </a:pP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Это позволяет: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567968572"/>
              </p:ext>
            </p:extLst>
          </p:nvPr>
        </p:nvGraphicFramePr>
        <p:xfrm>
          <a:off x="484909" y="1757218"/>
          <a:ext cx="8201891" cy="47234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5419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382" y="260266"/>
            <a:ext cx="8132618" cy="65412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Ретрансляторы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 технологией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Mesh 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6355" y="841524"/>
            <a:ext cx="7886700" cy="53811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Принцип работы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28650" y="1648691"/>
            <a:ext cx="80581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Узлы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Mesh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автоматически находят оптимальные пути передачи данных. Это достигается за счёт: </a:t>
            </a: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1178623321"/>
              </p:ext>
            </p:extLst>
          </p:nvPr>
        </p:nvGraphicFramePr>
        <p:xfrm>
          <a:off x="498765" y="2479688"/>
          <a:ext cx="835429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0228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382" y="260266"/>
            <a:ext cx="8132618" cy="65412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Ретрансляторы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 технологией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Mesh 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6355" y="841524"/>
            <a:ext cx="7886700" cy="53811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Принцип работы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28650" y="1648691"/>
            <a:ext cx="805815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Виды</a:t>
            </a:r>
          </a:p>
          <a:p>
            <a:endParaRPr lang="ru-RU" sz="24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реализации технологии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Mesh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используются специальные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mesh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-ретрансляторы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устройства, которые являются промежуточными звеньями и устанавливаются между роутером и терминальными устройствами. 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Они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обеспечивают расширение зоны покрытия и совместимость с технологией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Mesh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, даже если роутер не поддерживает технологию.</a:t>
            </a:r>
          </a:p>
        </p:txBody>
      </p:sp>
    </p:spTree>
    <p:extLst>
      <p:ext uri="{BB962C8B-B14F-4D97-AF65-F5344CB8AC3E}">
        <p14:creationId xmlns:p14="http://schemas.microsoft.com/office/powerpoint/2010/main" val="1304737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11382" y="260266"/>
            <a:ext cx="8132618" cy="654127"/>
          </a:xfrm>
        </p:spPr>
        <p:txBody>
          <a:bodyPr/>
          <a:lstStyle/>
          <a:p>
            <a:r>
              <a:rPr lang="ru-RU" sz="4000" dirty="0" smtClean="0">
                <a:latin typeface="Times New Roman" pitchFamily="18" charset="0"/>
                <a:cs typeface="Times New Roman" pitchFamily="18" charset="0"/>
              </a:rPr>
              <a:t>Ретрансляторы </a:t>
            </a:r>
            <a:r>
              <a:rPr lang="ru-RU" sz="4000" dirty="0">
                <a:latin typeface="Times New Roman" pitchFamily="18" charset="0"/>
                <a:cs typeface="Times New Roman" pitchFamily="18" charset="0"/>
              </a:rPr>
              <a:t>с технологией </a:t>
            </a:r>
            <a:r>
              <a:rPr lang="en-US" sz="4000" dirty="0">
                <a:latin typeface="Times New Roman" pitchFamily="18" charset="0"/>
                <a:cs typeface="Times New Roman" pitchFamily="18" charset="0"/>
              </a:rPr>
              <a:t>Mesh </a:t>
            </a:r>
            <a:br>
              <a:rPr lang="en-US" sz="4000" dirty="0">
                <a:latin typeface="Times New Roman" pitchFamily="18" charset="0"/>
                <a:cs typeface="Times New Roman" pitchFamily="18" charset="0"/>
              </a:rPr>
            </a:br>
            <a:endParaRPr lang="ru-RU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66355" y="841524"/>
            <a:ext cx="7886700" cy="538111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>
                <a:latin typeface="Times New Roman" pitchFamily="18" charset="0"/>
                <a:cs typeface="Times New Roman" pitchFamily="18" charset="0"/>
              </a:rPr>
              <a:t>Принцип работы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28650" y="1648691"/>
            <a:ext cx="805815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Виды</a:t>
            </a: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Также 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для построения сети используются протоколы маршрутизации, которые делят на два класса:</a:t>
            </a:r>
          </a:p>
        </p:txBody>
      </p:sp>
      <p:graphicFrame>
        <p:nvGraphicFramePr>
          <p:cNvPr id="6" name="Схема 5"/>
          <p:cNvGraphicFramePr/>
          <p:nvPr>
            <p:extLst>
              <p:ext uri="{D42A27DB-BD31-4B8C-83A1-F6EECF244321}">
                <p14:modId xmlns:p14="http://schemas.microsoft.com/office/powerpoint/2010/main" val="2222041881"/>
              </p:ext>
            </p:extLst>
          </p:nvPr>
        </p:nvGraphicFramePr>
        <p:xfrm>
          <a:off x="429491" y="2917076"/>
          <a:ext cx="8257309" cy="35636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43406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4. Установка базовой станции в центральном офисе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59197" y="1560573"/>
            <a:ext cx="4866986" cy="5160902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Актуальность: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 Базовая станция является центральным узлом для управления БТС.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Она </a:t>
            </a:r>
            <a:r>
              <a:rPr lang="ru-RU" dirty="0">
                <a:latin typeface="Times New Roman"/>
                <a:ea typeface="Times New Roman"/>
              </a:rPr>
              <a:t>обеспечивает связь с транспортными средствами, сбор и обработку данных, а также мониторинг ситуации на маршруте.</a:t>
            </a: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19</a:t>
            </a:fld>
            <a:endParaRPr lang="ru-RU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827"/>
          <a:stretch/>
        </p:blipFill>
        <p:spPr bwMode="auto">
          <a:xfrm>
            <a:off x="6049411" y="1904999"/>
            <a:ext cx="2770739" cy="2639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5887485" y="4654943"/>
            <a:ext cx="309458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https://avatars.mds.yandex.net/i?id=b521d827fc7ea2e7a2f1d9c3f19b092298e495fc-5220849-images-thumbs&amp;n=13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7958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4. Установка базовой станции в центральном офисе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60534"/>
            <a:ext cx="7886700" cy="510683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Техническое исполнение: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 </a:t>
            </a: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20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829888565"/>
              </p:ext>
            </p:extLst>
          </p:nvPr>
        </p:nvGraphicFramePr>
        <p:xfrm>
          <a:off x="415636" y="2317750"/>
          <a:ext cx="840451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03101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4. Установка базовой станции в центральном офисе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60534"/>
            <a:ext cx="7886700" cy="510683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Практические примеры: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 </a:t>
            </a: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21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836236746"/>
              </p:ext>
            </p:extLst>
          </p:nvPr>
        </p:nvGraphicFramePr>
        <p:xfrm>
          <a:off x="415636" y="2317750"/>
          <a:ext cx="840451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30897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5. Замеры по системам связи цифрового сигнала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304801" y="1498227"/>
            <a:ext cx="4696690" cy="3918900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Актуальность: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Перед запуском БТС необходимо провести тщательное тестирование всех систем связи для проверки их надежности и стабильности. Замеры уровня сигнала позволяют выявить участки с плохим покрытием и принять меры для его улучшения.</a:t>
            </a: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22</a:t>
            </a:fld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618" y="2510576"/>
            <a:ext cx="3430532" cy="1965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5137538" y="5173332"/>
            <a:ext cx="393469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00" dirty="0"/>
              <a:t>https://yandex-images.clstorage.net/Hq47QX281/06fc0agA35/FXEWdeOjGGE-5N4HPV0I7zow52TddFrSXy71nd6Sk33qSlXghtN8E4h6-XoHiS3fXOHA8-hc1BxBfS-v884Wq1p1UDmg4gI7aa_DTHFaAesle_os3TNGgFQ57prV0slw4UpfhuCgW2jjAM4KcfBXxVnrxqDxRpYKKxE5zJneasktdDZe1YlDSz_QmRsyVRzvDmnccM8BZKJYGqe96PGrc540L6vYoEJA8CzJIlrqcMZs0OWv5CycGQU5eNaR2WvvJkoIQuWeZWkU3rMKEEIFyC530WX4A0Wdfy6Qo9H1oFyaCSuQzYlsU9893yB4yX3QTMTPo-gblwsSCHPSqNZO2zt7NGHmtFx6HfOnKwZ_A98Iccpt4CN0hUMkgovTxKBfmgMeks2kbn7fCN8ZUvhwy0H_94biMoc1Ohty96nXZ_07QTJD-b5_VRDSkR0RdibmJXnsVtA4VrRzAbyZ88OVVYsdL5bQi1Ne6QzsKmb9d8lI6ui16DK8DxoHdtGm5WXVJ1gJZcaUXXog0b0rNF4e4ztvxEnnMmaMeyafvfzJok2mKhiz9pFbYcY6zgxl3XXVc8v3v-chsz0uGE3ls-dr0DlqC2Drqn5LDsacMxB9OcINcdp4wDRrgHIcsKHixbx_qwIckM2oWWjMPtcMWNZ6xUr_xanvAb4rBQZu5KbYd-AtVQhu5ZVRejHamDw3dgTeC3vvRus5ZblZJLqy3feVepsyFbzXsF1c6T3aDmbaU-ZqzNeo4iehHjo3S9-Yx1j-N0gvRuWaXG0Tw7gyKlwj_xNY00D-HES7fjOukN_VqFaSOhSz7Y9uR94p8SZuwVbdXfHIlu8JiQ4SB1Lyte1b7TlmC0T9s0FqM9GEHSZwNcQyRu947DlEhlE8mZfx5KVklS4ci9eXYH72HeQ2T91z0ELJ7IncG7AHEgdr56fad_UhYRhN-oFwQyjmkRQMeR7FJFndYMYKeKl7G4azzvY</a:t>
            </a:r>
            <a:endParaRPr lang="ru-RU" sz="600" dirty="0"/>
          </a:p>
        </p:txBody>
      </p:sp>
    </p:spTree>
    <p:extLst>
      <p:ext uri="{BB962C8B-B14F-4D97-AF65-F5344CB8AC3E}">
        <p14:creationId xmlns:p14="http://schemas.microsoft.com/office/powerpoint/2010/main" val="3673158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0310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5. Замеры по системам связи цифрового сигнала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28650" y="1397001"/>
            <a:ext cx="7886700" cy="625764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Техническое исполнение: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23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618838557"/>
              </p:ext>
            </p:extLst>
          </p:nvPr>
        </p:nvGraphicFramePr>
        <p:xfrm>
          <a:off x="249382" y="2034310"/>
          <a:ext cx="8617527" cy="45743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8143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20310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5. Замеры по системам связи цифрового сигнала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28650" y="1397001"/>
            <a:ext cx="7886700" cy="625764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Практические примеры: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24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708402847"/>
              </p:ext>
            </p:extLst>
          </p:nvPr>
        </p:nvGraphicFramePr>
        <p:xfrm>
          <a:off x="249382" y="2034310"/>
          <a:ext cx="8617527" cy="45743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86446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6. Запись цифровой карты маршрута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245340" y="1304264"/>
            <a:ext cx="4562187" cy="5052086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Актуальность: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Цифровая карта маршрута является основой для навигации БТС.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Содержит </a:t>
            </a:r>
            <a:r>
              <a:rPr lang="ru-RU" dirty="0">
                <a:latin typeface="Times New Roman"/>
                <a:ea typeface="Times New Roman"/>
              </a:rPr>
              <a:t>информацию </a:t>
            </a:r>
            <a:r>
              <a:rPr lang="ru-RU" dirty="0" smtClean="0">
                <a:latin typeface="Times New Roman"/>
                <a:ea typeface="Times New Roman"/>
              </a:rPr>
              <a:t>о: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en-US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геометрии </a:t>
            </a:r>
            <a:r>
              <a:rPr lang="ru-RU" dirty="0">
                <a:latin typeface="Times New Roman"/>
                <a:ea typeface="Times New Roman"/>
              </a:rPr>
              <a:t>дороги, </a:t>
            </a:r>
            <a:endParaRPr lang="en-US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расположении </a:t>
            </a:r>
            <a:r>
              <a:rPr lang="ru-RU" dirty="0">
                <a:latin typeface="Times New Roman"/>
                <a:ea typeface="Times New Roman"/>
              </a:rPr>
              <a:t>препятствий, </a:t>
            </a:r>
            <a:endParaRPr lang="en-US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знаках </a:t>
            </a:r>
            <a:r>
              <a:rPr lang="ru-RU" dirty="0">
                <a:latin typeface="Times New Roman"/>
                <a:ea typeface="Times New Roman"/>
              </a:rPr>
              <a:t>дорожного </a:t>
            </a:r>
            <a:r>
              <a:rPr lang="ru-RU" dirty="0" smtClean="0">
                <a:latin typeface="Times New Roman"/>
                <a:ea typeface="Times New Roman"/>
              </a:rPr>
              <a:t>движения,</a:t>
            </a:r>
            <a:endParaRPr lang="en-US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других </a:t>
            </a:r>
            <a:r>
              <a:rPr lang="ru-RU" dirty="0">
                <a:latin typeface="Times New Roman"/>
                <a:ea typeface="Times New Roman"/>
              </a:rPr>
              <a:t>важных объектах.</a:t>
            </a: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25</a:t>
            </a:fld>
            <a:endParaRPr lang="ru-RU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2306782"/>
            <a:ext cx="3638550" cy="2726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5181600" y="5433020"/>
            <a:ext cx="363855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https://avatars.mds.yandex.net/i?id=94f89c39c4193ec59fda9bd163d02a231915c6a2-8565700-images-thumbs&amp;n=13</a:t>
            </a:r>
            <a:endParaRPr lang="ru-RU" sz="1000" dirty="0"/>
          </a:p>
        </p:txBody>
      </p:sp>
    </p:spTree>
    <p:extLst>
      <p:ext uri="{BB962C8B-B14F-4D97-AF65-F5344CB8AC3E}">
        <p14:creationId xmlns:p14="http://schemas.microsoft.com/office/powerpoint/2010/main" val="315455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6. Запись цифровой карты маршрута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052945"/>
            <a:ext cx="7886700" cy="579954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Техническое </a:t>
            </a:r>
            <a:r>
              <a:rPr lang="ru-RU" dirty="0">
                <a:latin typeface="Times New Roman"/>
                <a:ea typeface="Times New Roman"/>
              </a:rPr>
              <a:t>исполнение: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26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148336742"/>
              </p:ext>
            </p:extLst>
          </p:nvPr>
        </p:nvGraphicFramePr>
        <p:xfrm>
          <a:off x="429491" y="1632899"/>
          <a:ext cx="8390659" cy="4672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83984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6. Запись цифровой карты маршрута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052945"/>
            <a:ext cx="7886700" cy="579954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Практические примеры: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27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857888858"/>
              </p:ext>
            </p:extLst>
          </p:nvPr>
        </p:nvGraphicFramePr>
        <p:xfrm>
          <a:off x="429491" y="1632899"/>
          <a:ext cx="8390659" cy="4672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90140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6. Запись цифровой карты маршрута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052945"/>
            <a:ext cx="7886700" cy="579954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Практические примеры: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28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586818443"/>
              </p:ext>
            </p:extLst>
          </p:nvPr>
        </p:nvGraphicFramePr>
        <p:xfrm>
          <a:off x="429491" y="1632900"/>
          <a:ext cx="8390659" cy="985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235527" y="2780253"/>
            <a:ext cx="87560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Некоторые системы, обеспечивающие высокую точность позиционирования</a:t>
            </a:r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4061978934"/>
              </p:ext>
            </p:extLst>
          </p:nvPr>
        </p:nvGraphicFramePr>
        <p:xfrm>
          <a:off x="110836" y="3394364"/>
          <a:ext cx="8880764" cy="30918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297376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6. Запись цифровой карты маршрута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052945"/>
            <a:ext cx="7886700" cy="579954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Практические примеры: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29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386816100"/>
              </p:ext>
            </p:extLst>
          </p:nvPr>
        </p:nvGraphicFramePr>
        <p:xfrm>
          <a:off x="429491" y="1632899"/>
          <a:ext cx="8390659" cy="833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3107094" y="2466109"/>
            <a:ext cx="34496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Это достигается за счёт: </a:t>
            </a:r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4208816510"/>
              </p:ext>
            </p:extLst>
          </p:nvPr>
        </p:nvGraphicFramePr>
        <p:xfrm>
          <a:off x="429490" y="3066031"/>
          <a:ext cx="8390659" cy="36554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99522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3717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6. Запись цифровой карты маршрута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762968"/>
            <a:ext cx="7886700" cy="579954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Практические примеры: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30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822127946"/>
              </p:ext>
            </p:extLst>
          </p:nvPr>
        </p:nvGraphicFramePr>
        <p:xfrm>
          <a:off x="429491" y="1216294"/>
          <a:ext cx="8390659" cy="833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3855238" y="2049504"/>
            <a:ext cx="18880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Технологии: </a:t>
            </a:r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691922907"/>
              </p:ext>
            </p:extLst>
          </p:nvPr>
        </p:nvGraphicFramePr>
        <p:xfrm>
          <a:off x="0" y="2618509"/>
          <a:ext cx="9047018" cy="4102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4303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3717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6. Запись цифровой карты маршрута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762968"/>
            <a:ext cx="7886700" cy="579954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Практические примеры: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31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288797262"/>
              </p:ext>
            </p:extLst>
          </p:nvPr>
        </p:nvGraphicFramePr>
        <p:xfrm>
          <a:off x="429491" y="1216294"/>
          <a:ext cx="8390659" cy="833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3855238" y="2049504"/>
            <a:ext cx="24988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Алгоритм работы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979746"/>
              </p:ext>
            </p:extLst>
          </p:nvPr>
        </p:nvGraphicFramePr>
        <p:xfrm>
          <a:off x="429491" y="2774405"/>
          <a:ext cx="8390659" cy="3718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882"/>
                <a:gridCol w="7875777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Локализация - определение местоположения </a:t>
                      </a:r>
                      <a:r>
                        <a:rPr lang="ru-RU" sz="2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беспилотника</a:t>
                      </a:r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 с сантиметровой точностью на основе данных с сенсоров и высокоточных карт.</a:t>
                      </a:r>
                    </a:p>
                  </a:txBody>
                  <a:tcPr/>
                </a:tc>
              </a:tr>
              <a:tr h="633813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Восприятие - идентификация окружающих объектов, определение скорости и направления движения.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Предсказание - </a:t>
                      </a:r>
                      <a:r>
                        <a:rPr lang="ru-RU" sz="2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беспилотник</a:t>
                      </a:r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 пытается спрогнозировать движение других участников дорожного движения.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ru-RU" sz="22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Планирование - исходя из трёх предыдущих задач, алгоритмы </a:t>
                      </a:r>
                      <a:r>
                        <a:rPr lang="ru-RU" sz="22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беспилотника</a:t>
                      </a:r>
                      <a:r>
                        <a:rPr lang="ru-RU" sz="2200" dirty="0" smtClean="0">
                          <a:latin typeface="Times New Roman" pitchFamily="18" charset="0"/>
                          <a:cs typeface="Times New Roman" pitchFamily="18" charset="0"/>
                        </a:rPr>
                        <a:t> «определяют» собственные действия и отдают команды системам управления.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6640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3717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6. Запись цифровой карты маршрута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762968"/>
            <a:ext cx="7886700" cy="579954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Практические примеры: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32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267469674"/>
              </p:ext>
            </p:extLst>
          </p:nvPr>
        </p:nvGraphicFramePr>
        <p:xfrm>
          <a:off x="429491" y="1216294"/>
          <a:ext cx="8390659" cy="833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3855238" y="2104924"/>
            <a:ext cx="15356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Проекты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2427" y="2784753"/>
            <a:ext cx="4572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Цифровой двойник трассы М-11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-</a:t>
            </a:r>
            <a:r>
              <a:rPr lang="ru-RU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высокоточная цифровая карта дороги и её инфраструктуры, взаимодействующая с автономным транспортом.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Включает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центр управления, который собирает данные о состоянии дороги в реальном времени и подключается к интеллектуальной системе управления дорожным движением. 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позволяет беспилотному автомобилю получать данные от «умной» дороги и «видеть» любые события, находящиеся за границами сенсорных систем автомобиля.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075698"/>
            <a:ext cx="4045420" cy="2021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4876800" y="5247572"/>
            <a:ext cx="404542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https://iy.kommersant.ru/ISSUES.PHOTO/PARTNERS_DOCS/2023/06/14/m11_telematika222222.jpg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624638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3717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6. Запись цифровой карты маршрута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762968"/>
            <a:ext cx="7886700" cy="579954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Практические примеры: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33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069557562"/>
              </p:ext>
            </p:extLst>
          </p:nvPr>
        </p:nvGraphicFramePr>
        <p:xfrm>
          <a:off x="429491" y="1216294"/>
          <a:ext cx="8390659" cy="8332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3855238" y="2104924"/>
            <a:ext cx="15356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Проекты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245340" y="2793119"/>
            <a:ext cx="3947391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Универсальная беспилотная система управления NAMI </a:t>
            </a:r>
            <a:r>
              <a:rPr lang="ru-RU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Self-Driving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System</a:t>
            </a:r>
            <a:r>
              <a:rPr lang="ru-RU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-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 модуле используются цифровые карты с высоким разрешением и комбинированная навигационная система, учитывающая показания различных датчиков. </a:t>
            </a:r>
            <a:endParaRPr lang="ru-RU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позволяет определять текущие координаты транспортного средства с высокой точностью.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9833" y="2906861"/>
            <a:ext cx="4290317" cy="3217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4529833" y="6271202"/>
            <a:ext cx="429031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/>
              <a:t>https://habrastorage.org/r/w780/getpro/habr/upload_files/1a6/f2d/35c/1a6f2d35c802e349e0d0fcb40926f3ab.jpg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4250569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7. Установка диспетчерского пункта в центральном офисе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969281"/>
            <a:ext cx="7886700" cy="379420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Актуальность: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Диспетчерский пункт является центром управления и контроля за работой БТС.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Он </a:t>
            </a:r>
            <a:r>
              <a:rPr lang="ru-RU" dirty="0">
                <a:latin typeface="Times New Roman"/>
                <a:ea typeface="Times New Roman"/>
              </a:rPr>
              <a:t>обеспечивает мониторинг состояния транспортных средств, планирование маршрутов, оперативное реагирование на нештатные ситуации и связь с водителями (при наличии).</a:t>
            </a:r>
            <a:endParaRPr lang="ru-RU" dirty="0">
              <a:latin typeface="Times New Roman" pitchFamily="18" charset="0"/>
              <a:ea typeface="Times New Roman"/>
              <a:cs typeface="Times New Roman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8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7. Установка диспетчерского пункта в центральном офисе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32825"/>
            <a:ext cx="7886700" cy="524537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Техническое исполнение:  </a:t>
            </a:r>
            <a:endParaRPr lang="ru-RU" sz="3200" dirty="0" smtClean="0">
              <a:latin typeface="Times New Roman"/>
              <a:ea typeface="Times New Roman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32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35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774920809"/>
              </p:ext>
            </p:extLst>
          </p:nvPr>
        </p:nvGraphicFramePr>
        <p:xfrm>
          <a:off x="96982" y="2175164"/>
          <a:ext cx="9047018" cy="4382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3422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7. Установка диспетчерского пункта в центральном офисе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432825"/>
            <a:ext cx="7886700" cy="524537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Практические примеры:  </a:t>
            </a:r>
            <a:endParaRPr lang="ru-RU" sz="3200" dirty="0" smtClean="0">
              <a:latin typeface="Times New Roman"/>
              <a:ea typeface="Times New Roman"/>
            </a:endParaRP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lang="ru-RU" sz="32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36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4097819290"/>
              </p:ext>
            </p:extLst>
          </p:nvPr>
        </p:nvGraphicFramePr>
        <p:xfrm>
          <a:off x="360218" y="2175164"/>
          <a:ext cx="8459931" cy="43826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5924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8. Обучение нейронной сети под место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000448"/>
            <a:ext cx="7886700" cy="5355902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>
                <a:latin typeface="Times New Roman"/>
                <a:ea typeface="Times New Roman"/>
              </a:rPr>
              <a:t>Актуальность: 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Нейронные </a:t>
            </a:r>
            <a:r>
              <a:rPr lang="ru-RU" dirty="0">
                <a:latin typeface="Times New Roman"/>
                <a:ea typeface="Times New Roman"/>
              </a:rPr>
              <a:t>сети используются для обработки данных с датчиков БТС, распознавания объектов, принятия решений и управления движением.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Обучение </a:t>
            </a:r>
            <a:r>
              <a:rPr lang="ru-RU" dirty="0">
                <a:latin typeface="Times New Roman"/>
                <a:ea typeface="Times New Roman"/>
              </a:rPr>
              <a:t>нейронной сети под конкретное место эксплуатации позволяет адаптировать ее к местным условиям, таким </a:t>
            </a:r>
            <a:r>
              <a:rPr lang="ru-RU" dirty="0" smtClean="0">
                <a:latin typeface="Times New Roman"/>
                <a:ea typeface="Times New Roman"/>
              </a:rPr>
              <a:t>как: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погодные </a:t>
            </a:r>
            <a:r>
              <a:rPr lang="ru-RU" dirty="0">
                <a:latin typeface="Times New Roman"/>
                <a:ea typeface="Times New Roman"/>
              </a:rPr>
              <a:t>условия, </a:t>
            </a:r>
            <a:endParaRPr lang="ru-RU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тип дорог,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dirty="0" smtClean="0">
                <a:latin typeface="Times New Roman"/>
                <a:ea typeface="Times New Roman"/>
              </a:rPr>
              <a:t>особенности </a:t>
            </a:r>
            <a:r>
              <a:rPr lang="ru-RU" dirty="0">
                <a:latin typeface="Times New Roman"/>
                <a:ea typeface="Times New Roman"/>
              </a:rPr>
              <a:t>движения.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599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8. Обучение нейронной сети под место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589809" y="1025236"/>
            <a:ext cx="6321136" cy="617648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Техническое исполнение</a:t>
            </a:r>
            <a:r>
              <a:rPr lang="ru-RU" sz="3200" dirty="0" smtClean="0">
                <a:latin typeface="Times New Roman"/>
                <a:ea typeface="Times New Roman"/>
              </a:rPr>
              <a:t>:</a:t>
            </a:r>
            <a:endParaRPr lang="ru-RU" sz="32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38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881884594"/>
              </p:ext>
            </p:extLst>
          </p:nvPr>
        </p:nvGraphicFramePr>
        <p:xfrm>
          <a:off x="512618" y="1717964"/>
          <a:ext cx="8307532" cy="4638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741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8. Обучение нейронной сети под место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1100316"/>
            <a:ext cx="7886700" cy="617648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Практические примеры: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39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1216809697"/>
              </p:ext>
            </p:extLst>
          </p:nvPr>
        </p:nvGraphicFramePr>
        <p:xfrm>
          <a:off x="512618" y="1717964"/>
          <a:ext cx="8307532" cy="4638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5563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5115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8. Обучение нейронной сети под место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791492"/>
            <a:ext cx="7886700" cy="617648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Практические примеры: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40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051981503"/>
              </p:ext>
            </p:extLst>
          </p:nvPr>
        </p:nvGraphicFramePr>
        <p:xfrm>
          <a:off x="512618" y="1353722"/>
          <a:ext cx="8307532" cy="1108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277090" y="2621156"/>
            <a:ext cx="854305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Методы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Transfer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Learning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2800" dirty="0" err="1">
                <a:latin typeface="Times New Roman" pitchFamily="18" charset="0"/>
                <a:cs typeface="Times New Roman" pitchFamily="18" charset="0"/>
              </a:rPr>
              <a:t>трансферного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 обучения) для ускорения обучения нейронной сети позволяют использовать предварительно обученные модели для решения новой, но сходной задачи. </a:t>
            </a:r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Это </a:t>
            </a:r>
            <a:r>
              <a:rPr lang="ru-RU" sz="2800" dirty="0">
                <a:latin typeface="Times New Roman" pitchFamily="18" charset="0"/>
                <a:cs typeface="Times New Roman" pitchFamily="18" charset="0"/>
              </a:rPr>
              <a:t>сокращает время обучения, так как модель не нужно обучать с нуля. </a:t>
            </a:r>
          </a:p>
        </p:txBody>
      </p:sp>
    </p:spTree>
    <p:extLst>
      <p:ext uri="{BB962C8B-B14F-4D97-AF65-F5344CB8AC3E}">
        <p14:creationId xmlns:p14="http://schemas.microsoft.com/office/powerpoint/2010/main" val="2751140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5115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8. Обучение нейронной сети под место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791492"/>
            <a:ext cx="7886700" cy="617648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Практические примеры: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41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2199700793"/>
              </p:ext>
            </p:extLst>
          </p:nvPr>
        </p:nvGraphicFramePr>
        <p:xfrm>
          <a:off x="512618" y="1353722"/>
          <a:ext cx="8307532" cy="1108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3477491" y="2676297"/>
            <a:ext cx="13355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dirty="0">
                <a:latin typeface="Times New Roman" pitchFamily="18" charset="0"/>
                <a:cs typeface="Times New Roman" pitchFamily="18" charset="0"/>
              </a:rPr>
              <a:t>Виды</a:t>
            </a:r>
          </a:p>
        </p:txBody>
      </p:sp>
      <p:graphicFrame>
        <p:nvGraphicFramePr>
          <p:cNvPr id="8" name="Схема 7"/>
          <p:cNvGraphicFramePr/>
          <p:nvPr>
            <p:extLst>
              <p:ext uri="{D42A27DB-BD31-4B8C-83A1-F6EECF244321}">
                <p14:modId xmlns:p14="http://schemas.microsoft.com/office/powerpoint/2010/main" val="575418971"/>
              </p:ext>
            </p:extLst>
          </p:nvPr>
        </p:nvGraphicFramePr>
        <p:xfrm>
          <a:off x="224420" y="3179524"/>
          <a:ext cx="8626186" cy="3410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05349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225115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8. Обучение нейронной сети под место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827232" y="791492"/>
            <a:ext cx="7886700" cy="617648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Практические примеры: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42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205602441"/>
              </p:ext>
            </p:extLst>
          </p:nvPr>
        </p:nvGraphicFramePr>
        <p:xfrm>
          <a:off x="512618" y="1353722"/>
          <a:ext cx="8307532" cy="1108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933450" y="2462084"/>
            <a:ext cx="75819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Алгоритм</a:t>
            </a:r>
          </a:p>
          <a:p>
            <a:pPr algn="ctr"/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Процесс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Transfer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Learning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включает: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465322"/>
              </p:ext>
            </p:extLst>
          </p:nvPr>
        </p:nvGraphicFramePr>
        <p:xfrm>
          <a:off x="665018" y="3528608"/>
          <a:ext cx="8048914" cy="249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134"/>
                <a:gridCol w="73537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№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Этап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Обучение исходной модели (например, </a:t>
                      </a:r>
                      <a:r>
                        <a:rPr lang="ru-RU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ImageNet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 для классификации изображений).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Перенос знаний (веса модели) на новую задачу.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ru-RU" sz="20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dirty="0" err="1" smtClean="0">
                          <a:latin typeface="Times New Roman" pitchFamily="18" charset="0"/>
                          <a:cs typeface="Times New Roman" pitchFamily="18" charset="0"/>
                        </a:rPr>
                        <a:t>Дообучение</a:t>
                      </a:r>
                      <a:r>
                        <a:rPr lang="ru-RU" sz="2000" dirty="0" smtClean="0">
                          <a:latin typeface="Times New Roman" pitchFamily="18" charset="0"/>
                          <a:cs typeface="Times New Roman" pitchFamily="18" charset="0"/>
                        </a:rPr>
                        <a:t>: последние слои модели адаптируются под конкретную задачу, а остальные либо замораживаются, либо слегка корректируются.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4500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9. Инструктаж сотрудников предприятия о проведении демонстрации беспилотного ТС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27627" y="2067229"/>
            <a:ext cx="7886700" cy="4181171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Актуальность:  </a:t>
            </a:r>
            <a:endParaRPr lang="ru-RU" sz="32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32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/>
                <a:ea typeface="Times New Roman"/>
              </a:rPr>
              <a:t>Демонстрация </a:t>
            </a:r>
            <a:r>
              <a:rPr lang="ru-RU" sz="3200" dirty="0">
                <a:latin typeface="Times New Roman"/>
                <a:ea typeface="Times New Roman"/>
              </a:rPr>
              <a:t>БТС является важным этапом внедрения технологии.  Правильно проведенная демонстрация позволяет убедить руководство и сотрудников предприятия в эффективности и безопасности БТС.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90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9. Инструктаж сотрудников предприятия о проведении демонстрации беспилотного ТС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27627" y="2067230"/>
            <a:ext cx="7886700" cy="606698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Техническое исполнение:  </a:t>
            </a:r>
            <a:endParaRPr lang="ru-RU" sz="32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3200" dirty="0" smtClean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44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061516529"/>
              </p:ext>
            </p:extLst>
          </p:nvPr>
        </p:nvGraphicFramePr>
        <p:xfrm>
          <a:off x="290944" y="2699328"/>
          <a:ext cx="8529205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15476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9. Инструктаж сотрудников предприятия о проведении демонстрации беспилотного ТС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27627" y="2067230"/>
            <a:ext cx="7886700" cy="606698"/>
          </a:xfrm>
        </p:spPr>
        <p:txBody>
          <a:bodyPr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Практические примеры:  </a:t>
            </a:r>
            <a:endParaRPr lang="ru-RU" sz="32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3200" dirty="0" smtClean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45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649118043"/>
              </p:ext>
            </p:extLst>
          </p:nvPr>
        </p:nvGraphicFramePr>
        <p:xfrm>
          <a:off x="290944" y="2699328"/>
          <a:ext cx="8529205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0733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. Тестовые заезды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527627" y="1460531"/>
            <a:ext cx="7886700" cy="4302959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Актуальность:  </a:t>
            </a:r>
            <a:endParaRPr lang="ru-RU" sz="3200" dirty="0" smtClean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endParaRPr lang="ru-RU" sz="3200" dirty="0">
              <a:latin typeface="Times New Roman"/>
              <a:ea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 smtClean="0">
                <a:latin typeface="Times New Roman"/>
                <a:ea typeface="Times New Roman"/>
              </a:rPr>
              <a:t>Тестовые </a:t>
            </a:r>
            <a:r>
              <a:rPr lang="ru-RU" sz="3200" dirty="0">
                <a:latin typeface="Times New Roman"/>
                <a:ea typeface="Times New Roman"/>
              </a:rPr>
              <a:t>заезды необходимы для проверки работоспособности БТС в реальных условиях эксплуатации, выявления возможных проблем и внесения необходимых корректировок в программное обеспечение и оборудование.</a:t>
            </a:r>
            <a:endParaRPr lang="ru-RU" sz="3200" dirty="0" smtClean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53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. Тестовые заезды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28650" y="1052946"/>
            <a:ext cx="7886700" cy="659214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Техническое исполнение</a:t>
            </a:r>
            <a:r>
              <a:rPr lang="ru-RU" sz="3200" dirty="0" smtClean="0">
                <a:latin typeface="Times New Roman"/>
                <a:ea typeface="Times New Roman"/>
              </a:rPr>
              <a:t>:</a:t>
            </a:r>
            <a:endParaRPr lang="ru-RU" sz="3200" dirty="0">
              <a:latin typeface="Times New Roman"/>
              <a:ea typeface="Times New Roman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47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61677882"/>
              </p:ext>
            </p:extLst>
          </p:nvPr>
        </p:nvGraphicFramePr>
        <p:xfrm>
          <a:off x="526473" y="1773928"/>
          <a:ext cx="8118763" cy="4582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4730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933450" y="348019"/>
            <a:ext cx="7886700" cy="677217"/>
          </a:xfrm>
        </p:spPr>
        <p:txBody>
          <a:bodyPr/>
          <a:lstStyle/>
          <a:p>
            <a:r>
              <a:rPr lang="ru-RU" sz="3600" dirty="0" smtClean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ru-RU" sz="3600" dirty="0">
                <a:latin typeface="Times New Roman" pitchFamily="18" charset="0"/>
                <a:cs typeface="Times New Roman" pitchFamily="18" charset="0"/>
              </a:rPr>
              <a:t>. Тестовые заезды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628650" y="1052946"/>
            <a:ext cx="7886700" cy="659214"/>
          </a:xfrm>
        </p:spPr>
        <p:txBody>
          <a:bodyPr/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ru-RU" sz="3200" dirty="0">
                <a:latin typeface="Times New Roman"/>
                <a:ea typeface="Times New Roman"/>
              </a:rPr>
              <a:t>Практические примеры: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xmlns="" id="{5A4856CC-D20E-42A1-24DD-282B00F7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413790"/>
            <a:ext cx="2057400" cy="365125"/>
          </a:xfrm>
          <a:prstGeom prst="rect">
            <a:avLst/>
          </a:prstGeom>
        </p:spPr>
        <p:txBody>
          <a:bodyPr/>
          <a:lstStyle/>
          <a:p>
            <a:fld id="{52259990-D040-4A93-9573-D8805257596F}" type="slidenum">
              <a:rPr lang="ru-RU" smtClean="0"/>
              <a:t>48</a:t>
            </a:fld>
            <a:endParaRPr lang="ru-RU"/>
          </a:p>
        </p:txBody>
      </p:sp>
      <p:graphicFrame>
        <p:nvGraphicFramePr>
          <p:cNvPr id="3" name="Схема 2"/>
          <p:cNvGraphicFramePr/>
          <p:nvPr>
            <p:extLst>
              <p:ext uri="{D42A27DB-BD31-4B8C-83A1-F6EECF244321}">
                <p14:modId xmlns:p14="http://schemas.microsoft.com/office/powerpoint/2010/main" val="3679800406"/>
              </p:ext>
            </p:extLst>
          </p:nvPr>
        </p:nvGraphicFramePr>
        <p:xfrm>
          <a:off x="124691" y="1815493"/>
          <a:ext cx="4197927" cy="45824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0383" y="1776112"/>
            <a:ext cx="3167109" cy="2367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7287492" y="2939646"/>
            <a:ext cx="173181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https://avatars.mds.yandex.net/i?id=060b4bd6407bc58d0f655c3088f570c8cb4d2812-5878638-images-thumbs&amp;n=13</a:t>
            </a:r>
            <a:endParaRPr lang="ru-RU" sz="1050" dirty="0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0383" y="4267201"/>
            <a:ext cx="3216172" cy="2130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7412756" y="4337740"/>
            <a:ext cx="1690255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500" dirty="0"/>
              <a:t>https://yandex-images.clstorage.net/Hq47QX281/06fc0agA35/FXEWdeOjGGE-5N4HPV0I7zow52TddFrSXy71yY7Dwy_rTFngi9cqG912qicAjy7dAbLGpOhe10hEfyiu984W_VckVjmk5gM7bKXJUzVeDe0nbaR1wS5ej0VsqZbImZwj7Ugzhv6gWHXzHdUEf_dg3Vbhx72nGpEgK25IxbDnc9YHRChQyKVxaR3-lRA6QwnGNUv4Z_MMfINmJY6r6_ufXJM4Hr7-uXBm3xr9L2XQY-htwsiozRCCDgMvUs235lXdOXo0YN-DU0IT1IQyLVou5itG7VDxLUOkUhKQku_wsFiuPCWr15djSc4M_w1G3XXIeejEpPobkBkyJFb0uMNhwAhGF2P1ukBLPsClJBBcOcAtXeVI0RxbmFgAuJDe8LNYpAknq_qVTkn7DMYnd9BuxULQ4a7TC64xISVz9bnqR8AyQDV8_5lvRh_2kzMZeQDtJXveeMo-aqh9Pqqw2cW5Sbo4I7bVqG5__z_1E3LXbMxXz9Kk0zCUET0hVfqL6G_cK3sTQ9W7QHYc2qUWMUEF8zNTwU_ADlKgWh2Ov9PyoWSNDwaQz6BRUMkd0xBS1XD3dtDYq8A_piUiGmHvieZqwhl5Fm7rmHFYC_u9MhJmJMUtTfBoxgNeqWAykqHf7JNppQslq_aiWFrNBNMtWdpgzkLizqPgMrAOPDlg-rb6WtYmehhg1LdAZxf_shUZWzjDJ3jOQ8sNZ4JYOIGe7cWWWZUCCbHupmx_zgnRE1XzQ-5x8M-uxi2FMQ0cW8Sp1UTMO10wYNu6V0UO37wIM3wZ2wREyFbuLGWlTyyjnM_4ulCdAwaL0ZV3SNoi-RtO9njZTO_xo-gFlRk9BXbpg9ZXwhV5Mnjyp1BlHOOTBB9qIvoaePBEyyxYikAbpLL-9YhXiQs-scmbTmDuN-k6UtN1xnTL7pD6PJwZPTxj-7T6T9oSajt_wJZ5fiv2mi4WQSPsBUrobvgQd6BnBICN7M8</a:t>
            </a:r>
            <a:endParaRPr lang="ru-RU" sz="500" dirty="0"/>
          </a:p>
        </p:txBody>
      </p:sp>
    </p:spTree>
    <p:extLst>
      <p:ext uri="{BB962C8B-B14F-4D97-AF65-F5344CB8AC3E}">
        <p14:creationId xmlns:p14="http://schemas.microsoft.com/office/powerpoint/2010/main" val="536155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832284"/>
            <a:ext cx="7886700" cy="2852737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6259</TotalTime>
  <Words>2736</Words>
  <Application>Microsoft Office PowerPoint</Application>
  <PresentationFormat>Экран (4:3)</PresentationFormat>
  <Paragraphs>384</Paragraphs>
  <Slides>49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49</vt:i4>
      </vt:variant>
    </vt:vector>
  </HeadingPairs>
  <TitlesOfParts>
    <vt:vector size="51" baseType="lpstr">
      <vt:lpstr>Специальное оформление</vt:lpstr>
      <vt:lpstr>1_Специальное оформление</vt:lpstr>
      <vt:lpstr>ДИСЦИЛИНА Трансформация производственных процессов на основе беспилотных технологий  ИНСТИТУТ ИПТИП  КАФЕДРА индустриального программирования  ВИД УЧЕБНОГО МАТЕРИАЛА Лекция  ПРЕПОДАВАТЕЛЬ Ризаева Юлия Николаевна  СЕМЕСТР 3, 2026-2027 уч. г. </vt:lpstr>
      <vt:lpstr>Этапы подготовки предприятия к эксплуатации БТС</vt:lpstr>
      <vt:lpstr>План лекции</vt:lpstr>
      <vt:lpstr>Этапы подготовки предприятия к эксплуатации БТС</vt:lpstr>
      <vt:lpstr>1. Нанесение дорожной разметки с обозначением обочины на маршрутах следования</vt:lpstr>
      <vt:lpstr>1. Нанесение дорожной разметки с обозначением обочины на маршрутах следования</vt:lpstr>
      <vt:lpstr>1. Нанесение дорожной разметки с обозначением обочины на маршрутах следования</vt:lpstr>
      <vt:lpstr>2. Установка камер наблюдения на наиболее загруженные перекрестки по маршруту в прямом и обратном направлении движения составов</vt:lpstr>
      <vt:lpstr>2. Установка камер наблюдения на наиболее загруженные перекрестки по маршруту в прямом и обратном направлении движения составов</vt:lpstr>
      <vt:lpstr>2. Установка камер наблюдения на наиболее загруженные перекрестки по маршруту в прямом и обратном направлении движения составов</vt:lpstr>
      <vt:lpstr>3. Установка WiFi ретрансляторов по маршруту следования</vt:lpstr>
      <vt:lpstr>3. Установка WiFi ретрансляторов по маршруту следования</vt:lpstr>
      <vt:lpstr>3. Установка WiFi ретрансляторов по маршруту следования</vt:lpstr>
      <vt:lpstr>Ретрансляторы с технологией Mesh  </vt:lpstr>
      <vt:lpstr>Ретрансляторы с технологией Mesh  </vt:lpstr>
      <vt:lpstr>Ретрансляторы с технологией Mesh  </vt:lpstr>
      <vt:lpstr>Ретрансляторы с технологией Mesh  </vt:lpstr>
      <vt:lpstr>Ретрансляторы с технологией Mesh  </vt:lpstr>
      <vt:lpstr>4. Установка базовой станции в центральном офисе</vt:lpstr>
      <vt:lpstr>4. Установка базовой станции в центральном офисе</vt:lpstr>
      <vt:lpstr>4. Установка базовой станции в центральном офисе</vt:lpstr>
      <vt:lpstr>5. Замеры по системам связи цифрового сигнала</vt:lpstr>
      <vt:lpstr>5. Замеры по системам связи цифрового сигнала</vt:lpstr>
      <vt:lpstr>5. Замеры по системам связи цифрового сигнала</vt:lpstr>
      <vt:lpstr>6. Запись цифровой карты маршрута</vt:lpstr>
      <vt:lpstr>6. Запись цифровой карты маршрута</vt:lpstr>
      <vt:lpstr>6. Запись цифровой карты маршрута</vt:lpstr>
      <vt:lpstr>6. Запись цифровой карты маршрута</vt:lpstr>
      <vt:lpstr>6. Запись цифровой карты маршрута</vt:lpstr>
      <vt:lpstr>6. Запись цифровой карты маршрута</vt:lpstr>
      <vt:lpstr>6. Запись цифровой карты маршрута</vt:lpstr>
      <vt:lpstr>6. Запись цифровой карты маршрута</vt:lpstr>
      <vt:lpstr>6. Запись цифровой карты маршрута</vt:lpstr>
      <vt:lpstr>7. Установка диспетчерского пункта в центральном офисе</vt:lpstr>
      <vt:lpstr>7. Установка диспетчерского пункта в центральном офисе</vt:lpstr>
      <vt:lpstr>7. Установка диспетчерского пункта в центральном офисе</vt:lpstr>
      <vt:lpstr>8. Обучение нейронной сети под место</vt:lpstr>
      <vt:lpstr>8. Обучение нейронной сети под место</vt:lpstr>
      <vt:lpstr>8. Обучение нейронной сети под место</vt:lpstr>
      <vt:lpstr>8. Обучение нейронной сети под место</vt:lpstr>
      <vt:lpstr>8. Обучение нейронной сети под место</vt:lpstr>
      <vt:lpstr>8. Обучение нейронной сети под место</vt:lpstr>
      <vt:lpstr>9. Инструктаж сотрудников предприятия о проведении демонстрации беспилотного ТС</vt:lpstr>
      <vt:lpstr>9. Инструктаж сотрудников предприятия о проведении демонстрации беспилотного ТС</vt:lpstr>
      <vt:lpstr>9. Инструктаж сотрудников предприятия о проведении демонстрации беспилотного ТС</vt:lpstr>
      <vt:lpstr>10. Тестовые заезды</vt:lpstr>
      <vt:lpstr>10. Тестовые заезды</vt:lpstr>
      <vt:lpstr>10. Тестовые заезды</vt:lpstr>
      <vt:lpstr>Спасибо за внимание!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Аня</cp:lastModifiedBy>
  <cp:revision>363</cp:revision>
  <dcterms:created xsi:type="dcterms:W3CDTF">2015-07-29T11:14:37Z</dcterms:created>
  <dcterms:modified xsi:type="dcterms:W3CDTF">2026-06-26T21:00:17Z</dcterms:modified>
</cp:coreProperties>
</file>