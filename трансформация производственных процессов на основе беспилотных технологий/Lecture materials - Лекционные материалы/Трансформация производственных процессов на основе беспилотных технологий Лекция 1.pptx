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116"/>
  </p:notesMasterIdLst>
  <p:sldIdLst>
    <p:sldId id="325" r:id="rId3"/>
    <p:sldId id="391" r:id="rId4"/>
    <p:sldId id="392" r:id="rId5"/>
    <p:sldId id="326" r:id="rId6"/>
    <p:sldId id="357" r:id="rId7"/>
    <p:sldId id="328" r:id="rId8"/>
    <p:sldId id="329" r:id="rId9"/>
    <p:sldId id="330" r:id="rId10"/>
    <p:sldId id="331" r:id="rId11"/>
    <p:sldId id="332" r:id="rId12"/>
    <p:sldId id="358" r:id="rId13"/>
    <p:sldId id="359" r:id="rId14"/>
    <p:sldId id="360" r:id="rId15"/>
    <p:sldId id="361" r:id="rId16"/>
    <p:sldId id="383" r:id="rId17"/>
    <p:sldId id="366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81" r:id="rId27"/>
    <p:sldId id="380" r:id="rId28"/>
    <p:sldId id="354" r:id="rId29"/>
    <p:sldId id="355" r:id="rId30"/>
    <p:sldId id="356" r:id="rId31"/>
    <p:sldId id="333" r:id="rId32"/>
    <p:sldId id="364" r:id="rId33"/>
    <p:sldId id="389" r:id="rId34"/>
    <p:sldId id="390" r:id="rId35"/>
    <p:sldId id="335" r:id="rId36"/>
    <p:sldId id="336" r:id="rId37"/>
    <p:sldId id="363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  <p:sldId id="376" r:id="rId48"/>
    <p:sldId id="362" r:id="rId49"/>
    <p:sldId id="338" r:id="rId50"/>
    <p:sldId id="377" r:id="rId51"/>
    <p:sldId id="378" r:id="rId52"/>
    <p:sldId id="379" r:id="rId53"/>
    <p:sldId id="339" r:id="rId54"/>
    <p:sldId id="340" r:id="rId55"/>
    <p:sldId id="341" r:id="rId56"/>
    <p:sldId id="342" r:id="rId57"/>
    <p:sldId id="343" r:id="rId58"/>
    <p:sldId id="344" r:id="rId59"/>
    <p:sldId id="327" r:id="rId60"/>
    <p:sldId id="382" r:id="rId61"/>
    <p:sldId id="384" r:id="rId62"/>
    <p:sldId id="385" r:id="rId63"/>
    <p:sldId id="386" r:id="rId64"/>
    <p:sldId id="387" r:id="rId65"/>
    <p:sldId id="388" r:id="rId66"/>
    <p:sldId id="396" r:id="rId67"/>
    <p:sldId id="397" r:id="rId68"/>
    <p:sldId id="398" r:id="rId69"/>
    <p:sldId id="399" r:id="rId70"/>
    <p:sldId id="400" r:id="rId71"/>
    <p:sldId id="401" r:id="rId72"/>
    <p:sldId id="402" r:id="rId73"/>
    <p:sldId id="403" r:id="rId74"/>
    <p:sldId id="404" r:id="rId75"/>
    <p:sldId id="405" r:id="rId76"/>
    <p:sldId id="406" r:id="rId77"/>
    <p:sldId id="407" r:id="rId78"/>
    <p:sldId id="408" r:id="rId79"/>
    <p:sldId id="409" r:id="rId80"/>
    <p:sldId id="410" r:id="rId81"/>
    <p:sldId id="411" r:id="rId82"/>
    <p:sldId id="412" r:id="rId83"/>
    <p:sldId id="413" r:id="rId84"/>
    <p:sldId id="414" r:id="rId85"/>
    <p:sldId id="415" r:id="rId86"/>
    <p:sldId id="416" r:id="rId87"/>
    <p:sldId id="417" r:id="rId88"/>
    <p:sldId id="418" r:id="rId89"/>
    <p:sldId id="419" r:id="rId90"/>
    <p:sldId id="420" r:id="rId91"/>
    <p:sldId id="421" r:id="rId92"/>
    <p:sldId id="422" r:id="rId93"/>
    <p:sldId id="423" r:id="rId94"/>
    <p:sldId id="424" r:id="rId95"/>
    <p:sldId id="425" r:id="rId96"/>
    <p:sldId id="426" r:id="rId97"/>
    <p:sldId id="427" r:id="rId98"/>
    <p:sldId id="428" r:id="rId99"/>
    <p:sldId id="429" r:id="rId100"/>
    <p:sldId id="430" r:id="rId101"/>
    <p:sldId id="431" r:id="rId102"/>
    <p:sldId id="432" r:id="rId103"/>
    <p:sldId id="433" r:id="rId104"/>
    <p:sldId id="434" r:id="rId105"/>
    <p:sldId id="435" r:id="rId106"/>
    <p:sldId id="436" r:id="rId107"/>
    <p:sldId id="437" r:id="rId108"/>
    <p:sldId id="438" r:id="rId109"/>
    <p:sldId id="439" r:id="rId110"/>
    <p:sldId id="440" r:id="rId111"/>
    <p:sldId id="441" r:id="rId112"/>
    <p:sldId id="442" r:id="rId113"/>
    <p:sldId id="443" r:id="rId114"/>
    <p:sldId id="264" r:id="rId1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1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7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presProps" Target="pres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slide" Target="slides/slide111.xml"/><Relationship Id="rId11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8CFC06-9221-4E29-9B63-9E6AAF9BC7C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CE9261E-A554-4E15-A18C-02EC758DEF7A}">
      <dgm:prSet phldrT="[Текст]"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Усиление конкуренции:  Глобализация рынков, развитие интернета и электронной коммерции привели к усилению конкуренции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F2966295-9E16-4B75-A845-53F1F783589B}" type="parTrans" cxnId="{0C9B2FD3-856D-442B-BAA2-62631BD16A13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1178E01E-63C4-4AA5-8329-3AA5E8232FDF}" type="sibTrans" cxnId="{0C9B2FD3-856D-442B-BAA2-62631BD16A13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C5EBEC63-ECC8-4281-8A92-D7EDB19E481F}">
      <dgm:prSet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Повышение требований потребителей: Современные потребители становятся все более требовательными к качеству продукции, скорости доставки, уровню сервиса и </a:t>
          </a:r>
          <a:r>
            <a:rPr lang="ru-RU" sz="1300" dirty="0" err="1" smtClean="0">
              <a:latin typeface="Times New Roman" pitchFamily="18" charset="0"/>
              <a:cs typeface="Times New Roman" pitchFamily="18" charset="0"/>
            </a:rPr>
            <a:t>экологичности</a:t>
          </a:r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4EFAF9E4-A8B6-4D51-8FBF-AEEECE51C2C7}" type="parTrans" cxnId="{30319EB4-B82F-4A70-907F-9228C0E0E907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F7D6AD71-1552-4147-88A3-353A209A05DE}" type="sibTrans" cxnId="{30319EB4-B82F-4A70-907F-9228C0E0E907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226D0530-9A1A-49FE-ADDC-3A8374D5C5BE}">
      <dgm:prSet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Сокращение жизненного цикла продукции:  Технологии развиваются стремительно, и жизненный цикл многих товаров постоянно сокращается. Компании должны быть гибкими и быстро адаптироваться к изменениям рынка, чтобы оставаться конкурентоспособными.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E09F68BD-4906-458B-B702-80BD66E5ECA0}" type="parTrans" cxnId="{F24CB30D-3F59-47C6-88DA-9170BA10AB29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7F33267D-B90E-4D7C-9DD9-5CF125AFD1E8}" type="sibTrans" cxnId="{F24CB30D-3F59-47C6-88DA-9170BA10AB29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0738D3E5-19C0-4CAE-934B-E9660BAA1A0F}">
      <dgm:prSet custT="1"/>
      <dgm:spPr/>
      <dgm:t>
        <a:bodyPr/>
        <a:lstStyle/>
        <a:p>
          <a:r>
            <a:rPr lang="ru-RU" sz="1300" dirty="0" smtClean="0">
              <a:latin typeface="Times New Roman" pitchFamily="18" charset="0"/>
              <a:cs typeface="Times New Roman" pitchFamily="18" charset="0"/>
            </a:rPr>
            <a:t>Необходимость снижения издержек:  В условиях жесткой конкуренции предприятия стремятся снизить все виды издержек</a:t>
          </a:r>
          <a:endParaRPr lang="ru-RU" sz="1300" dirty="0">
            <a:latin typeface="Times New Roman" pitchFamily="18" charset="0"/>
            <a:cs typeface="Times New Roman" pitchFamily="18" charset="0"/>
          </a:endParaRPr>
        </a:p>
      </dgm:t>
    </dgm:pt>
    <dgm:pt modelId="{A975A5CF-5AE0-4AFB-8AA6-48C76ED10668}" type="parTrans" cxnId="{081383D7-C9FC-4D96-AC2A-F42298E52FEE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E9654165-079D-42F4-B18B-4BA36342A3E5}" type="sibTrans" cxnId="{081383D7-C9FC-4D96-AC2A-F42298E52FEE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A128AE0C-262A-4F78-B624-11B418C62931}">
      <dgm:prSet custT="1"/>
      <dgm:spPr/>
      <dgm:t>
        <a:bodyPr/>
        <a:lstStyle/>
        <a:p>
          <a:r>
            <a:rPr lang="ru-RU" sz="1300" smtClean="0">
              <a:latin typeface="Times New Roman" pitchFamily="18" charset="0"/>
              <a:cs typeface="Times New Roman" pitchFamily="18" charset="0"/>
            </a:rPr>
            <a:t>Улучшение качества продукции:  Повышение качества продукции – это не только удовлетворение потребностей потребителей, но и снижение затрат на исправление брака, гарантийное обслуживание и т.д.</a:t>
          </a:r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B105AF86-8250-44B4-868D-4040CB5900BA}" type="parTrans" cxnId="{401F189E-374C-4050-973F-B4B17A28E86B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2F05FDFC-AB0A-4CBC-97F8-270A641C0867}" type="sibTrans" cxnId="{401F189E-374C-4050-973F-B4B17A28E86B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EC55D098-59D4-42FC-816C-12C746FEC6D7}">
      <dgm:prSet custT="1"/>
      <dgm:spPr/>
      <dgm:t>
        <a:bodyPr/>
        <a:lstStyle/>
        <a:p>
          <a:r>
            <a:rPr lang="ru-RU" sz="1300" smtClean="0">
              <a:latin typeface="Times New Roman" pitchFamily="18" charset="0"/>
              <a:cs typeface="Times New Roman" pitchFamily="18" charset="0"/>
            </a:rPr>
            <a:t>Повышение безопасности труда:  Автоматизация и роботизация производственных процессов позволяют снизить количество опасных и монотонных операций, что способствует повышению безопасности труда и снижению травматизма.</a:t>
          </a:r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66466566-304B-403A-B607-9B7F604CD8E7}" type="parTrans" cxnId="{803A1C0D-07D5-4BBB-960E-67B4FE925773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D9DE8F45-3A18-4517-AAEA-7575095853EF}" type="sibTrans" cxnId="{803A1C0D-07D5-4BBB-960E-67B4FE925773}">
      <dgm:prSet/>
      <dgm:spPr/>
      <dgm:t>
        <a:bodyPr/>
        <a:lstStyle/>
        <a:p>
          <a:endParaRPr lang="ru-RU" sz="1300">
            <a:latin typeface="Times New Roman" pitchFamily="18" charset="0"/>
            <a:cs typeface="Times New Roman" pitchFamily="18" charset="0"/>
          </a:endParaRPr>
        </a:p>
      </dgm:t>
    </dgm:pt>
    <dgm:pt modelId="{A27F0B68-31E2-4D24-A27B-15163E50DC27}" type="pres">
      <dgm:prSet presAssocID="{CC8CFC06-9221-4E29-9B63-9E6AAF9BC7C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012966B-FDDE-4A86-87AB-6CA8CA9C483B}" type="pres">
      <dgm:prSet presAssocID="{BCE9261E-A554-4E15-A18C-02EC758DEF7A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58B129-C4C1-4EB1-98C1-D177A67D6177}" type="pres">
      <dgm:prSet presAssocID="{1178E01E-63C4-4AA5-8329-3AA5E8232FDF}" presName="sibTrans" presStyleCnt="0"/>
      <dgm:spPr/>
    </dgm:pt>
    <dgm:pt modelId="{165C698F-A05F-414D-9448-ADF6D0A1F2AC}" type="pres">
      <dgm:prSet presAssocID="{C5EBEC63-ECC8-4281-8A92-D7EDB19E481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32BE0D2-050F-4869-B322-1A23BCA9999B}" type="pres">
      <dgm:prSet presAssocID="{F7D6AD71-1552-4147-88A3-353A209A05DE}" presName="sibTrans" presStyleCnt="0"/>
      <dgm:spPr/>
    </dgm:pt>
    <dgm:pt modelId="{65E9003E-86D8-4509-91A9-881DEF5C8469}" type="pres">
      <dgm:prSet presAssocID="{226D0530-9A1A-49FE-ADDC-3A8374D5C5BE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83AA423-491B-4108-B9D4-FC9F5527C1D2}" type="pres">
      <dgm:prSet presAssocID="{7F33267D-B90E-4D7C-9DD9-5CF125AFD1E8}" presName="sibTrans" presStyleCnt="0"/>
      <dgm:spPr/>
    </dgm:pt>
    <dgm:pt modelId="{74956B61-A9D0-4A2C-8A04-DAABEC004593}" type="pres">
      <dgm:prSet presAssocID="{0738D3E5-19C0-4CAE-934B-E9660BAA1A0F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477EAD8-4DCA-4EED-AB73-D98BFEB87851}" type="pres">
      <dgm:prSet presAssocID="{E9654165-079D-42F4-B18B-4BA36342A3E5}" presName="sibTrans" presStyleCnt="0"/>
      <dgm:spPr/>
    </dgm:pt>
    <dgm:pt modelId="{239C57EE-E94F-4258-99AF-697AD0266198}" type="pres">
      <dgm:prSet presAssocID="{A128AE0C-262A-4F78-B624-11B418C62931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ED47A7-7012-427C-99A3-F33A7A7621DD}" type="pres">
      <dgm:prSet presAssocID="{2F05FDFC-AB0A-4CBC-97F8-270A641C0867}" presName="sibTrans" presStyleCnt="0"/>
      <dgm:spPr/>
    </dgm:pt>
    <dgm:pt modelId="{FF3C9214-43F8-4A77-B6FB-D159484272A3}" type="pres">
      <dgm:prSet presAssocID="{EC55D098-59D4-42FC-816C-12C746FEC6D7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0192E96-FC57-4436-A44E-5E9D340CC0DE}" type="presOf" srcId="{BCE9261E-A554-4E15-A18C-02EC758DEF7A}" destId="{3012966B-FDDE-4A86-87AB-6CA8CA9C483B}" srcOrd="0" destOrd="0" presId="urn:microsoft.com/office/officeart/2005/8/layout/default"/>
    <dgm:cxn modelId="{F24CB30D-3F59-47C6-88DA-9170BA10AB29}" srcId="{CC8CFC06-9221-4E29-9B63-9E6AAF9BC7C1}" destId="{226D0530-9A1A-49FE-ADDC-3A8374D5C5BE}" srcOrd="2" destOrd="0" parTransId="{E09F68BD-4906-458B-B702-80BD66E5ECA0}" sibTransId="{7F33267D-B90E-4D7C-9DD9-5CF125AFD1E8}"/>
    <dgm:cxn modelId="{5B0F74D7-D135-4C18-9D70-7E5760D18C0C}" type="presOf" srcId="{EC55D098-59D4-42FC-816C-12C746FEC6D7}" destId="{FF3C9214-43F8-4A77-B6FB-D159484272A3}" srcOrd="0" destOrd="0" presId="urn:microsoft.com/office/officeart/2005/8/layout/default"/>
    <dgm:cxn modelId="{081383D7-C9FC-4D96-AC2A-F42298E52FEE}" srcId="{CC8CFC06-9221-4E29-9B63-9E6AAF9BC7C1}" destId="{0738D3E5-19C0-4CAE-934B-E9660BAA1A0F}" srcOrd="3" destOrd="0" parTransId="{A975A5CF-5AE0-4AFB-8AA6-48C76ED10668}" sibTransId="{E9654165-079D-42F4-B18B-4BA36342A3E5}"/>
    <dgm:cxn modelId="{FF13EB7E-B974-464E-9E4B-9B7AA1B888A5}" type="presOf" srcId="{226D0530-9A1A-49FE-ADDC-3A8374D5C5BE}" destId="{65E9003E-86D8-4509-91A9-881DEF5C8469}" srcOrd="0" destOrd="0" presId="urn:microsoft.com/office/officeart/2005/8/layout/default"/>
    <dgm:cxn modelId="{44709E00-F07E-4053-BE61-FA499C6DAB0A}" type="presOf" srcId="{CC8CFC06-9221-4E29-9B63-9E6AAF9BC7C1}" destId="{A27F0B68-31E2-4D24-A27B-15163E50DC27}" srcOrd="0" destOrd="0" presId="urn:microsoft.com/office/officeart/2005/8/layout/default"/>
    <dgm:cxn modelId="{30319EB4-B82F-4A70-907F-9228C0E0E907}" srcId="{CC8CFC06-9221-4E29-9B63-9E6AAF9BC7C1}" destId="{C5EBEC63-ECC8-4281-8A92-D7EDB19E481F}" srcOrd="1" destOrd="0" parTransId="{4EFAF9E4-A8B6-4D51-8FBF-AEEECE51C2C7}" sibTransId="{F7D6AD71-1552-4147-88A3-353A209A05DE}"/>
    <dgm:cxn modelId="{401F189E-374C-4050-973F-B4B17A28E86B}" srcId="{CC8CFC06-9221-4E29-9B63-9E6AAF9BC7C1}" destId="{A128AE0C-262A-4F78-B624-11B418C62931}" srcOrd="4" destOrd="0" parTransId="{B105AF86-8250-44B4-868D-4040CB5900BA}" sibTransId="{2F05FDFC-AB0A-4CBC-97F8-270A641C0867}"/>
    <dgm:cxn modelId="{2CBCBEB1-7B7A-4D3A-B5FA-C06BDB7EA5CF}" type="presOf" srcId="{A128AE0C-262A-4F78-B624-11B418C62931}" destId="{239C57EE-E94F-4258-99AF-697AD0266198}" srcOrd="0" destOrd="0" presId="urn:microsoft.com/office/officeart/2005/8/layout/default"/>
    <dgm:cxn modelId="{803A1C0D-07D5-4BBB-960E-67B4FE925773}" srcId="{CC8CFC06-9221-4E29-9B63-9E6AAF9BC7C1}" destId="{EC55D098-59D4-42FC-816C-12C746FEC6D7}" srcOrd="5" destOrd="0" parTransId="{66466566-304B-403A-B607-9B7F604CD8E7}" sibTransId="{D9DE8F45-3A18-4517-AAEA-7575095853EF}"/>
    <dgm:cxn modelId="{7F5265E8-9051-4B75-ACE5-9D929C5FCC1D}" type="presOf" srcId="{0738D3E5-19C0-4CAE-934B-E9660BAA1A0F}" destId="{74956B61-A9D0-4A2C-8A04-DAABEC004593}" srcOrd="0" destOrd="0" presId="urn:microsoft.com/office/officeart/2005/8/layout/default"/>
    <dgm:cxn modelId="{0C9B2FD3-856D-442B-BAA2-62631BD16A13}" srcId="{CC8CFC06-9221-4E29-9B63-9E6AAF9BC7C1}" destId="{BCE9261E-A554-4E15-A18C-02EC758DEF7A}" srcOrd="0" destOrd="0" parTransId="{F2966295-9E16-4B75-A845-53F1F783589B}" sibTransId="{1178E01E-63C4-4AA5-8329-3AA5E8232FDF}"/>
    <dgm:cxn modelId="{94559697-7F03-4C06-9A67-E1A40E320ABF}" type="presOf" srcId="{C5EBEC63-ECC8-4281-8A92-D7EDB19E481F}" destId="{165C698F-A05F-414D-9448-ADF6D0A1F2AC}" srcOrd="0" destOrd="0" presId="urn:microsoft.com/office/officeart/2005/8/layout/default"/>
    <dgm:cxn modelId="{5F72437C-4938-4CD3-940F-514430695765}" type="presParOf" srcId="{A27F0B68-31E2-4D24-A27B-15163E50DC27}" destId="{3012966B-FDDE-4A86-87AB-6CA8CA9C483B}" srcOrd="0" destOrd="0" presId="urn:microsoft.com/office/officeart/2005/8/layout/default"/>
    <dgm:cxn modelId="{669A0D6C-B724-4138-9D8E-B58EC46E62F6}" type="presParOf" srcId="{A27F0B68-31E2-4D24-A27B-15163E50DC27}" destId="{0758B129-C4C1-4EB1-98C1-D177A67D6177}" srcOrd="1" destOrd="0" presId="urn:microsoft.com/office/officeart/2005/8/layout/default"/>
    <dgm:cxn modelId="{68B6F3CE-72D3-468D-8916-74C529DCE246}" type="presParOf" srcId="{A27F0B68-31E2-4D24-A27B-15163E50DC27}" destId="{165C698F-A05F-414D-9448-ADF6D0A1F2AC}" srcOrd="2" destOrd="0" presId="urn:microsoft.com/office/officeart/2005/8/layout/default"/>
    <dgm:cxn modelId="{FD13D992-34C7-42C4-831D-F2E87CAA70C6}" type="presParOf" srcId="{A27F0B68-31E2-4D24-A27B-15163E50DC27}" destId="{332BE0D2-050F-4869-B322-1A23BCA9999B}" srcOrd="3" destOrd="0" presId="urn:microsoft.com/office/officeart/2005/8/layout/default"/>
    <dgm:cxn modelId="{FF5BFB36-F9E5-4A7C-91A0-B87690F56F5F}" type="presParOf" srcId="{A27F0B68-31E2-4D24-A27B-15163E50DC27}" destId="{65E9003E-86D8-4509-91A9-881DEF5C8469}" srcOrd="4" destOrd="0" presId="urn:microsoft.com/office/officeart/2005/8/layout/default"/>
    <dgm:cxn modelId="{3165820D-6D42-4B5B-9E86-2DFBF9B1CDB5}" type="presParOf" srcId="{A27F0B68-31E2-4D24-A27B-15163E50DC27}" destId="{983AA423-491B-4108-B9D4-FC9F5527C1D2}" srcOrd="5" destOrd="0" presId="urn:microsoft.com/office/officeart/2005/8/layout/default"/>
    <dgm:cxn modelId="{1966B3EE-CE79-4B3F-AEF6-25C2DB80487C}" type="presParOf" srcId="{A27F0B68-31E2-4D24-A27B-15163E50DC27}" destId="{74956B61-A9D0-4A2C-8A04-DAABEC004593}" srcOrd="6" destOrd="0" presId="urn:microsoft.com/office/officeart/2005/8/layout/default"/>
    <dgm:cxn modelId="{85D3DD65-6440-4D28-9FA8-063F2D0FE82E}" type="presParOf" srcId="{A27F0B68-31E2-4D24-A27B-15163E50DC27}" destId="{4477EAD8-4DCA-4EED-AB73-D98BFEB87851}" srcOrd="7" destOrd="0" presId="urn:microsoft.com/office/officeart/2005/8/layout/default"/>
    <dgm:cxn modelId="{9F18B279-18D4-450B-B775-7D6AE10AE77B}" type="presParOf" srcId="{A27F0B68-31E2-4D24-A27B-15163E50DC27}" destId="{239C57EE-E94F-4258-99AF-697AD0266198}" srcOrd="8" destOrd="0" presId="urn:microsoft.com/office/officeart/2005/8/layout/default"/>
    <dgm:cxn modelId="{DB40291F-D2DC-4616-A10F-20A73A2FE13A}" type="presParOf" srcId="{A27F0B68-31E2-4D24-A27B-15163E50DC27}" destId="{3AED47A7-7012-427C-99A3-F33A7A7621DD}" srcOrd="9" destOrd="0" presId="urn:microsoft.com/office/officeart/2005/8/layout/default"/>
    <dgm:cxn modelId="{F5D4D733-A883-482C-9D50-6E14703A6E29}" type="presParOf" srcId="{A27F0B68-31E2-4D24-A27B-15163E50DC27}" destId="{FF3C9214-43F8-4A77-B6FB-D159484272A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F6F026-488F-4E4C-87ED-B46B35E594C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809D583-2D83-4266-B19B-41DE47CC9FE1}">
      <dgm:prSet phldrT="[Текст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Конкуренция вынуждает предприятия использовать все доступные ресурсы и технологии для достижения максимальной эффективности.  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Беспилотные технологии – это одно из решений, которое позволяет добиться значительных результатов в этой области.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596424BA-431D-4B8D-B7E0-5D03CF1DF74D}" type="parTrans" cxnId="{DDF51453-E36A-4028-833F-02B07F5DF5D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24D87794-8D41-4567-AE92-D9EA5CE53C01}" type="sibTrans" cxnId="{DDF51453-E36A-4028-833F-02B07F5DF5D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0113E523-2F34-4521-847C-77E5F4E63575}" type="pres">
      <dgm:prSet presAssocID="{19F6F026-488F-4E4C-87ED-B46B35E594C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B078D02-C244-4831-A715-D8D147CBAE3F}" type="pres">
      <dgm:prSet presAssocID="{C809D583-2D83-4266-B19B-41DE47CC9FE1}" presName="node" presStyleLbl="node1" presStyleIdx="0" presStyleCnt="1" custScaleX="114031" custScaleY="24835" custLinFactNeighborX="0" custLinFactNeighborY="-56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FE50A1A-B151-4D40-B84F-C4A9157D05DA}" type="presOf" srcId="{C809D583-2D83-4266-B19B-41DE47CC9FE1}" destId="{5B078D02-C244-4831-A715-D8D147CBAE3F}" srcOrd="0" destOrd="0" presId="urn:microsoft.com/office/officeart/2005/8/layout/default"/>
    <dgm:cxn modelId="{B6EACD99-4A20-4D36-893C-809C650E07BF}" type="presOf" srcId="{19F6F026-488F-4E4C-87ED-B46B35E594C6}" destId="{0113E523-2F34-4521-847C-77E5F4E63575}" srcOrd="0" destOrd="0" presId="urn:microsoft.com/office/officeart/2005/8/layout/default"/>
    <dgm:cxn modelId="{DDF51453-E36A-4028-833F-02B07F5DF5D6}" srcId="{19F6F026-488F-4E4C-87ED-B46B35E594C6}" destId="{C809D583-2D83-4266-B19B-41DE47CC9FE1}" srcOrd="0" destOrd="0" parTransId="{596424BA-431D-4B8D-B7E0-5D03CF1DF74D}" sibTransId="{24D87794-8D41-4567-AE92-D9EA5CE53C01}"/>
    <dgm:cxn modelId="{279A1627-ED88-4BF0-A789-F52ACE9BDB49}" type="presParOf" srcId="{0113E523-2F34-4521-847C-77E5F4E63575}" destId="{5B078D02-C244-4831-A715-D8D147CBAE3F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EAF73E-AE29-401F-A2A4-0756E5A8DD5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05EC469-0796-4B79-A976-4FCAFAB63B1B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По прогнозу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McKinsey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, к 2030 году около 400 миллионов человек на планете, или 14% рабочей силы, потеряют работу из-за того, что их функции станут выполнять программы и роботы.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1F8A5D22-FE55-404A-9B7A-37820868320B}" type="parTrans" cxnId="{F72EF86A-B9E1-4962-B62F-6CB01F06525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D951C25-211C-4B70-8CA2-0BB3F1387D3F}" type="sibTrans" cxnId="{F72EF86A-B9E1-4962-B62F-6CB01F06525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813C4B8-1C8A-4663-A9B2-C108DB696959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53% работников считают, что автоматизация значительно изменит или сделает их работу устаревшей в течение следующих десяти лет (только 28% считают, что это маловероятно).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EDE135FB-3BA8-4DA9-8B6F-D08AA10F7CAD}" type="parTrans" cxnId="{BADB98C1-DA90-471F-BB32-3B6258CFF45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D208E77-EFAE-4C94-902F-D41CE9C14A54}" type="sibTrans" cxnId="{BADB98C1-DA90-471F-BB32-3B6258CFF45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75BC4C5-9E2D-4AF7-8EAE-BE025A44CB00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77% работников будут вынуждены в ближайшее время приобрести новые навыки или полностью переквалифицироваться в связи с роботизацией.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F490C5A8-F8AB-48DD-93A1-13FD99CC0BFD}" type="parTrans" cxnId="{8C1556A4-21D5-4821-89D2-3BD2927ED0D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C695CF6-8DC5-488D-853B-9CDDA96427CC}" type="sibTrans" cxnId="{8C1556A4-21D5-4821-89D2-3BD2927ED0D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14D34E7-45AF-4AAB-9B7D-C11AC6FF7CDB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80% мужчин в связи с роботизацией приобретают новые навыки в сравнении с 74% женщин.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7FCAB166-3A6E-4206-8CF6-8A7C7009E087}" type="parTrans" cxnId="{C0375D9E-CF9D-418C-956E-0339BDC15B3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25E91B2-B97F-4FFB-B567-1829885CAD86}" type="sibTrans" cxnId="{C0375D9E-CF9D-418C-956E-0339BDC15B3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9CDD8B6-6B84-4417-94A8-75C3BA2E8A13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34% взрослых людей, не имеющих среднего и высшего образования, не считают нужным развивать новые цифровые навыки.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E688D8D1-8480-4D18-8074-57F0A04FACF8}" type="parTrans" cxnId="{33B5268D-8A36-4FD1-BD65-35B3E4AF0FFF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D601B6A-E6CB-45DD-8DC6-C11DA0DA84A7}" type="sibTrans" cxnId="{33B5268D-8A36-4FD1-BD65-35B3E4AF0FFF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092405C-A2EA-4F74-A40B-15237E43AB7C}">
      <dgm:prSet custT="1"/>
      <dgm:spPr/>
      <dgm:t>
        <a:bodyPr/>
        <a:lstStyle/>
        <a:p>
          <a:r>
            <a:rPr lang="ru-RU" sz="1600" smtClean="0">
              <a:latin typeface="Times New Roman" pitchFamily="18" charset="0"/>
              <a:cs typeface="Times New Roman" pitchFamily="18" charset="0"/>
            </a:rPr>
            <a:t>69% людей в возрасте от 18 до 34 лет положительно оценивают потенциальное влияние цифровизации на рынок труда. Их мнение разделяют 59% людей в возрасте от 35 до 54 лет и 50% – в возрасте старше 55 лет</a:t>
          </a:r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E7FE89B8-C3FD-4D95-BC02-E0F74E46EDD2}" type="parTrans" cxnId="{6190A530-CAC2-4E36-8A77-F6984825E93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083E620-9354-43CB-BD4C-2187455FB4C9}" type="sibTrans" cxnId="{6190A530-CAC2-4E36-8A77-F6984825E93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84A2FB4-29ED-40EC-95FD-8E9222AD3558}" type="pres">
      <dgm:prSet presAssocID="{D1EAF73E-AE29-401F-A2A4-0756E5A8DD5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7E0E084-B3A5-49CB-9473-00D9EFCB7FC4}" type="pres">
      <dgm:prSet presAssocID="{C05EC469-0796-4B79-A976-4FCAFAB63B1B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4842CE-8298-4D2F-93AC-D92F441370FA}" type="pres">
      <dgm:prSet presAssocID="{5D951C25-211C-4B70-8CA2-0BB3F1387D3F}" presName="sibTrans" presStyleCnt="0"/>
      <dgm:spPr/>
    </dgm:pt>
    <dgm:pt modelId="{5C88EF17-975D-4AD4-ABBB-8192B49FFF00}" type="pres">
      <dgm:prSet presAssocID="{D813C4B8-1C8A-4663-A9B2-C108DB696959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FD5EC3-70DA-4E6B-A7BE-907D121FC96E}" type="pres">
      <dgm:prSet presAssocID="{AD208E77-EFAE-4C94-902F-D41CE9C14A54}" presName="sibTrans" presStyleCnt="0"/>
      <dgm:spPr/>
    </dgm:pt>
    <dgm:pt modelId="{B356CF40-C838-4293-B0EA-16ECA9EFE423}" type="pres">
      <dgm:prSet presAssocID="{275BC4C5-9E2D-4AF7-8EAE-BE025A44CB0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0FC1837-D1E5-4FA6-8B5D-57100E775E52}" type="pres">
      <dgm:prSet presAssocID="{9C695CF6-8DC5-488D-853B-9CDDA96427CC}" presName="sibTrans" presStyleCnt="0"/>
      <dgm:spPr/>
    </dgm:pt>
    <dgm:pt modelId="{23A45599-DEEC-4D11-B0F0-4592BE0C6CF8}" type="pres">
      <dgm:prSet presAssocID="{714D34E7-45AF-4AAB-9B7D-C11AC6FF7CDB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F7B54A-9607-4C73-A7F5-BD90BDC60469}" type="pres">
      <dgm:prSet presAssocID="{825E91B2-B97F-4FFB-B567-1829885CAD86}" presName="sibTrans" presStyleCnt="0"/>
      <dgm:spPr/>
    </dgm:pt>
    <dgm:pt modelId="{BA1EB42C-F79C-4ECE-9991-918BAA496D28}" type="pres">
      <dgm:prSet presAssocID="{89CDD8B6-6B84-4417-94A8-75C3BA2E8A13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E0BB4CB-1DB3-4000-B505-10D5036C1582}" type="pres">
      <dgm:prSet presAssocID="{AD601B6A-E6CB-45DD-8DC6-C11DA0DA84A7}" presName="sibTrans" presStyleCnt="0"/>
      <dgm:spPr/>
    </dgm:pt>
    <dgm:pt modelId="{7CD25669-5CAA-4DB3-81E2-45B5C63698BC}" type="pres">
      <dgm:prSet presAssocID="{D092405C-A2EA-4F74-A40B-15237E43AB7C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F0CA0AA-5339-4299-B06A-0EB210CE99EF}" type="presOf" srcId="{D1EAF73E-AE29-401F-A2A4-0756E5A8DD59}" destId="{384A2FB4-29ED-40EC-95FD-8E9222AD3558}" srcOrd="0" destOrd="0" presId="urn:microsoft.com/office/officeart/2005/8/layout/default"/>
    <dgm:cxn modelId="{BADB98C1-DA90-471F-BB32-3B6258CFF455}" srcId="{D1EAF73E-AE29-401F-A2A4-0756E5A8DD59}" destId="{D813C4B8-1C8A-4663-A9B2-C108DB696959}" srcOrd="1" destOrd="0" parTransId="{EDE135FB-3BA8-4DA9-8B6F-D08AA10F7CAD}" sibTransId="{AD208E77-EFAE-4C94-902F-D41CE9C14A54}"/>
    <dgm:cxn modelId="{E6F6FB4D-929A-443B-A412-0D838EDEDD61}" type="presOf" srcId="{C05EC469-0796-4B79-A976-4FCAFAB63B1B}" destId="{E7E0E084-B3A5-49CB-9473-00D9EFCB7FC4}" srcOrd="0" destOrd="0" presId="urn:microsoft.com/office/officeart/2005/8/layout/default"/>
    <dgm:cxn modelId="{335D77C7-0CBB-46BA-BBF2-256C71AF3311}" type="presOf" srcId="{D813C4B8-1C8A-4663-A9B2-C108DB696959}" destId="{5C88EF17-975D-4AD4-ABBB-8192B49FFF00}" srcOrd="0" destOrd="0" presId="urn:microsoft.com/office/officeart/2005/8/layout/default"/>
    <dgm:cxn modelId="{F72EF86A-B9E1-4962-B62F-6CB01F065252}" srcId="{D1EAF73E-AE29-401F-A2A4-0756E5A8DD59}" destId="{C05EC469-0796-4B79-A976-4FCAFAB63B1B}" srcOrd="0" destOrd="0" parTransId="{1F8A5D22-FE55-404A-9B7A-37820868320B}" sibTransId="{5D951C25-211C-4B70-8CA2-0BB3F1387D3F}"/>
    <dgm:cxn modelId="{5059BB74-A4F7-445A-8AE4-71A3600F2F0B}" type="presOf" srcId="{275BC4C5-9E2D-4AF7-8EAE-BE025A44CB00}" destId="{B356CF40-C838-4293-B0EA-16ECA9EFE423}" srcOrd="0" destOrd="0" presId="urn:microsoft.com/office/officeart/2005/8/layout/default"/>
    <dgm:cxn modelId="{038C0867-ECD0-4886-B93E-0780449C24E9}" type="presOf" srcId="{89CDD8B6-6B84-4417-94A8-75C3BA2E8A13}" destId="{BA1EB42C-F79C-4ECE-9991-918BAA496D28}" srcOrd="0" destOrd="0" presId="urn:microsoft.com/office/officeart/2005/8/layout/default"/>
    <dgm:cxn modelId="{8C1556A4-21D5-4821-89D2-3BD2927ED0DB}" srcId="{D1EAF73E-AE29-401F-A2A4-0756E5A8DD59}" destId="{275BC4C5-9E2D-4AF7-8EAE-BE025A44CB00}" srcOrd="2" destOrd="0" parTransId="{F490C5A8-F8AB-48DD-93A1-13FD99CC0BFD}" sibTransId="{9C695CF6-8DC5-488D-853B-9CDDA96427CC}"/>
    <dgm:cxn modelId="{1E0066D9-390B-40D3-AF41-0AE8673886D5}" type="presOf" srcId="{714D34E7-45AF-4AAB-9B7D-C11AC6FF7CDB}" destId="{23A45599-DEEC-4D11-B0F0-4592BE0C6CF8}" srcOrd="0" destOrd="0" presId="urn:microsoft.com/office/officeart/2005/8/layout/default"/>
    <dgm:cxn modelId="{C0375D9E-CF9D-418C-956E-0339BDC15B32}" srcId="{D1EAF73E-AE29-401F-A2A4-0756E5A8DD59}" destId="{714D34E7-45AF-4AAB-9B7D-C11AC6FF7CDB}" srcOrd="3" destOrd="0" parTransId="{7FCAB166-3A6E-4206-8CF6-8A7C7009E087}" sibTransId="{825E91B2-B97F-4FFB-B567-1829885CAD86}"/>
    <dgm:cxn modelId="{6190A530-CAC2-4E36-8A77-F6984825E938}" srcId="{D1EAF73E-AE29-401F-A2A4-0756E5A8DD59}" destId="{D092405C-A2EA-4F74-A40B-15237E43AB7C}" srcOrd="5" destOrd="0" parTransId="{E7FE89B8-C3FD-4D95-BC02-E0F74E46EDD2}" sibTransId="{F083E620-9354-43CB-BD4C-2187455FB4C9}"/>
    <dgm:cxn modelId="{33B5268D-8A36-4FD1-BD65-35B3E4AF0FFF}" srcId="{D1EAF73E-AE29-401F-A2A4-0756E5A8DD59}" destId="{89CDD8B6-6B84-4417-94A8-75C3BA2E8A13}" srcOrd="4" destOrd="0" parTransId="{E688D8D1-8480-4D18-8074-57F0A04FACF8}" sibTransId="{AD601B6A-E6CB-45DD-8DC6-C11DA0DA84A7}"/>
    <dgm:cxn modelId="{82DAD522-FEB4-41F0-943A-DEE8DC2FF682}" type="presOf" srcId="{D092405C-A2EA-4F74-A40B-15237E43AB7C}" destId="{7CD25669-5CAA-4DB3-81E2-45B5C63698BC}" srcOrd="0" destOrd="0" presId="urn:microsoft.com/office/officeart/2005/8/layout/default"/>
    <dgm:cxn modelId="{6131A55B-DC05-4897-8EE3-95FDD539B48D}" type="presParOf" srcId="{384A2FB4-29ED-40EC-95FD-8E9222AD3558}" destId="{E7E0E084-B3A5-49CB-9473-00D9EFCB7FC4}" srcOrd="0" destOrd="0" presId="urn:microsoft.com/office/officeart/2005/8/layout/default"/>
    <dgm:cxn modelId="{1E6E25FA-B9B9-425F-8AC3-17E25551AEA8}" type="presParOf" srcId="{384A2FB4-29ED-40EC-95FD-8E9222AD3558}" destId="{344842CE-8298-4D2F-93AC-D92F441370FA}" srcOrd="1" destOrd="0" presId="urn:microsoft.com/office/officeart/2005/8/layout/default"/>
    <dgm:cxn modelId="{35661D48-18C4-4200-B9C2-60D7A32CB691}" type="presParOf" srcId="{384A2FB4-29ED-40EC-95FD-8E9222AD3558}" destId="{5C88EF17-975D-4AD4-ABBB-8192B49FFF00}" srcOrd="2" destOrd="0" presId="urn:microsoft.com/office/officeart/2005/8/layout/default"/>
    <dgm:cxn modelId="{A5C33AF7-5959-4D15-B1A3-383D70F672F2}" type="presParOf" srcId="{384A2FB4-29ED-40EC-95FD-8E9222AD3558}" destId="{1AFD5EC3-70DA-4E6B-A7BE-907D121FC96E}" srcOrd="3" destOrd="0" presId="urn:microsoft.com/office/officeart/2005/8/layout/default"/>
    <dgm:cxn modelId="{DAE4D09C-EC68-4DFF-9614-204641B927E9}" type="presParOf" srcId="{384A2FB4-29ED-40EC-95FD-8E9222AD3558}" destId="{B356CF40-C838-4293-B0EA-16ECA9EFE423}" srcOrd="4" destOrd="0" presId="urn:microsoft.com/office/officeart/2005/8/layout/default"/>
    <dgm:cxn modelId="{3FBBC460-1AB2-4B69-BC53-2CD33A4409B7}" type="presParOf" srcId="{384A2FB4-29ED-40EC-95FD-8E9222AD3558}" destId="{30FC1837-D1E5-4FA6-8B5D-57100E775E52}" srcOrd="5" destOrd="0" presId="urn:microsoft.com/office/officeart/2005/8/layout/default"/>
    <dgm:cxn modelId="{CD628451-7820-47C6-B8F4-613EE56899C5}" type="presParOf" srcId="{384A2FB4-29ED-40EC-95FD-8E9222AD3558}" destId="{23A45599-DEEC-4D11-B0F0-4592BE0C6CF8}" srcOrd="6" destOrd="0" presId="urn:microsoft.com/office/officeart/2005/8/layout/default"/>
    <dgm:cxn modelId="{FA635A7F-405E-4671-87A6-3E75C8D7F529}" type="presParOf" srcId="{384A2FB4-29ED-40EC-95FD-8E9222AD3558}" destId="{B9F7B54A-9607-4C73-A7F5-BD90BDC60469}" srcOrd="7" destOrd="0" presId="urn:microsoft.com/office/officeart/2005/8/layout/default"/>
    <dgm:cxn modelId="{4F85ADD5-623B-4A29-817F-1562E3702287}" type="presParOf" srcId="{384A2FB4-29ED-40EC-95FD-8E9222AD3558}" destId="{BA1EB42C-F79C-4ECE-9991-918BAA496D28}" srcOrd="8" destOrd="0" presId="urn:microsoft.com/office/officeart/2005/8/layout/default"/>
    <dgm:cxn modelId="{F71337A9-F4A9-4D33-AD43-13BDDB80829A}" type="presParOf" srcId="{384A2FB4-29ED-40EC-95FD-8E9222AD3558}" destId="{6E0BB4CB-1DB3-4000-B505-10D5036C1582}" srcOrd="9" destOrd="0" presId="urn:microsoft.com/office/officeart/2005/8/layout/default"/>
    <dgm:cxn modelId="{C9ADD25A-EF86-4EB9-BABF-098FA7529CE1}" type="presParOf" srcId="{384A2FB4-29ED-40EC-95FD-8E9222AD3558}" destId="{7CD25669-5CAA-4DB3-81E2-45B5C63698B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7F2670-3372-4E8D-8941-3F619D35D9D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FB3FBDA-6E4B-498E-B614-551E26CEAD7A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Повышение эффективности за счёт автоматизации рутинных операций, что освобождает время сотрудников для стратегически важных задач.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3DCC16E3-0C09-4D7C-BA5A-C7C010D137EA}" type="parTrans" cxnId="{B8C09A57-3B84-489E-B80C-A27A531CFFB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3F8B3A0-50FB-4E59-9ADB-D29CF35BB92A}" type="sibTrans" cxnId="{B8C09A57-3B84-489E-B80C-A27A531CFFB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40383AA-BD2C-4392-B100-DCCCBE9B254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Улучшение клиентского опыта - анализ больших данных помогает предлагать клиентам персонализированные услуги и улучшать обслуживание через удобные каналы.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5D6B911-C864-4861-81DA-91A67FB10038}" type="parTrans" cxnId="{86BB053A-1964-4C10-B740-2D170D01D04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18DEBE0-61AF-4415-8FB8-5CE722406262}" type="sibTrans" cxnId="{86BB053A-1964-4C10-B740-2D170D01D04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E89441-5ECA-4E97-AB34-B32AD13F1F6E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Рост конкурентоспособности - IT-инструменты позволяют быстрее реагировать на рыночные изменения и запускать инновационные продукты.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F57B62-E5E1-46CA-9033-29E83D15472B}" type="parTrans" cxnId="{DDA06D75-8DB4-413A-8DEA-4182A964295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6500348-891D-4E2E-8936-84B9F6217416}" type="sibTrans" cxnId="{DDA06D75-8DB4-413A-8DEA-4182A964295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939425A-3250-4D7B-9C28-8B2D154240B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Снижение затрат - переход на облачные платформы и автоматизирование сокращают расходы на инфраструктуру и обслуживание.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2429D12-6A49-42D8-BD58-A0D08902B198}" type="parTrans" cxnId="{17A0EC4D-71B6-4C2F-A829-F84910ECB97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98306FD-BC61-4988-9D7A-49AE74D41A4D}" type="sibTrans" cxnId="{17A0EC4D-71B6-4C2F-A829-F84910ECB97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D0871A1-4119-44C0-A42A-6B9399D808F6}" type="pres">
      <dgm:prSet presAssocID="{A37F2670-3372-4E8D-8941-3F619D35D9D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DA1D0C-948F-41B0-ACBF-976885F62437}" type="pres">
      <dgm:prSet presAssocID="{6FB3FBDA-6E4B-498E-B614-551E26CEAD7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2993B4-96F7-4AB1-A485-11B2D1130104}" type="pres">
      <dgm:prSet presAssocID="{F3F8B3A0-50FB-4E59-9ADB-D29CF35BB92A}" presName="sibTrans" presStyleCnt="0"/>
      <dgm:spPr/>
    </dgm:pt>
    <dgm:pt modelId="{B42AFF9C-8F26-4493-933C-9C9412ACA706}" type="pres">
      <dgm:prSet presAssocID="{440383AA-BD2C-4392-B100-DCCCBE9B254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876DD5-EF21-4E5E-805E-CCF89D741924}" type="pres">
      <dgm:prSet presAssocID="{C18DEBE0-61AF-4415-8FB8-5CE722406262}" presName="sibTrans" presStyleCnt="0"/>
      <dgm:spPr/>
    </dgm:pt>
    <dgm:pt modelId="{A3A2FC76-7627-4DDC-9414-38479BC4BA1C}" type="pres">
      <dgm:prSet presAssocID="{B6E89441-5ECA-4E97-AB34-B32AD13F1F6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D28AC9-8A4E-4D6A-92B9-93627C040435}" type="pres">
      <dgm:prSet presAssocID="{86500348-891D-4E2E-8936-84B9F6217416}" presName="sibTrans" presStyleCnt="0"/>
      <dgm:spPr/>
    </dgm:pt>
    <dgm:pt modelId="{12EC2732-9E9E-45FF-A738-56779A271F16}" type="pres">
      <dgm:prSet presAssocID="{E939425A-3250-4D7B-9C28-8B2D154240B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5BA014B-8318-4884-B480-5D871EFF5100}" type="presOf" srcId="{440383AA-BD2C-4392-B100-DCCCBE9B2542}" destId="{B42AFF9C-8F26-4493-933C-9C9412ACA706}" srcOrd="0" destOrd="0" presId="urn:microsoft.com/office/officeart/2005/8/layout/default"/>
    <dgm:cxn modelId="{6490687E-F75C-4AF9-8CC9-B42925DA4E8F}" type="presOf" srcId="{E939425A-3250-4D7B-9C28-8B2D154240BC}" destId="{12EC2732-9E9E-45FF-A738-56779A271F16}" srcOrd="0" destOrd="0" presId="urn:microsoft.com/office/officeart/2005/8/layout/default"/>
    <dgm:cxn modelId="{DDA06D75-8DB4-413A-8DEA-4182A9642955}" srcId="{A37F2670-3372-4E8D-8941-3F619D35D9D8}" destId="{B6E89441-5ECA-4E97-AB34-B32AD13F1F6E}" srcOrd="2" destOrd="0" parTransId="{68F57B62-E5E1-46CA-9033-29E83D15472B}" sibTransId="{86500348-891D-4E2E-8936-84B9F6217416}"/>
    <dgm:cxn modelId="{B94AB011-D329-4076-8889-065E35A8EB74}" type="presOf" srcId="{A37F2670-3372-4E8D-8941-3F619D35D9D8}" destId="{BD0871A1-4119-44C0-A42A-6B9399D808F6}" srcOrd="0" destOrd="0" presId="urn:microsoft.com/office/officeart/2005/8/layout/default"/>
    <dgm:cxn modelId="{86BB053A-1964-4C10-B740-2D170D01D048}" srcId="{A37F2670-3372-4E8D-8941-3F619D35D9D8}" destId="{440383AA-BD2C-4392-B100-DCCCBE9B2542}" srcOrd="1" destOrd="0" parTransId="{C5D6B911-C864-4861-81DA-91A67FB10038}" sibTransId="{C18DEBE0-61AF-4415-8FB8-5CE722406262}"/>
    <dgm:cxn modelId="{17A0EC4D-71B6-4C2F-A829-F84910ECB975}" srcId="{A37F2670-3372-4E8D-8941-3F619D35D9D8}" destId="{E939425A-3250-4D7B-9C28-8B2D154240BC}" srcOrd="3" destOrd="0" parTransId="{52429D12-6A49-42D8-BD58-A0D08902B198}" sibTransId="{B98306FD-BC61-4988-9D7A-49AE74D41A4D}"/>
    <dgm:cxn modelId="{EA341FCB-FEAB-4E90-BFA7-D9AD1E9DEC41}" type="presOf" srcId="{B6E89441-5ECA-4E97-AB34-B32AD13F1F6E}" destId="{A3A2FC76-7627-4DDC-9414-38479BC4BA1C}" srcOrd="0" destOrd="0" presId="urn:microsoft.com/office/officeart/2005/8/layout/default"/>
    <dgm:cxn modelId="{B8C09A57-3B84-489E-B80C-A27A531CFFB9}" srcId="{A37F2670-3372-4E8D-8941-3F619D35D9D8}" destId="{6FB3FBDA-6E4B-498E-B614-551E26CEAD7A}" srcOrd="0" destOrd="0" parTransId="{3DCC16E3-0C09-4D7C-BA5A-C7C010D137EA}" sibTransId="{F3F8B3A0-50FB-4E59-9ADB-D29CF35BB92A}"/>
    <dgm:cxn modelId="{3DD3F644-6DAB-4C75-AF82-68193C338238}" type="presOf" srcId="{6FB3FBDA-6E4B-498E-B614-551E26CEAD7A}" destId="{8ADA1D0C-948F-41B0-ACBF-976885F62437}" srcOrd="0" destOrd="0" presId="urn:microsoft.com/office/officeart/2005/8/layout/default"/>
    <dgm:cxn modelId="{C4A408BE-F1E0-48C6-A616-F09ECFA2C584}" type="presParOf" srcId="{BD0871A1-4119-44C0-A42A-6B9399D808F6}" destId="{8ADA1D0C-948F-41B0-ACBF-976885F62437}" srcOrd="0" destOrd="0" presId="urn:microsoft.com/office/officeart/2005/8/layout/default"/>
    <dgm:cxn modelId="{435547D0-1BE6-43D4-898D-13C7CF47DE35}" type="presParOf" srcId="{BD0871A1-4119-44C0-A42A-6B9399D808F6}" destId="{412993B4-96F7-4AB1-A485-11B2D1130104}" srcOrd="1" destOrd="0" presId="urn:microsoft.com/office/officeart/2005/8/layout/default"/>
    <dgm:cxn modelId="{18158BAD-1E97-408B-8AFA-2AF99AC4A8B5}" type="presParOf" srcId="{BD0871A1-4119-44C0-A42A-6B9399D808F6}" destId="{B42AFF9C-8F26-4493-933C-9C9412ACA706}" srcOrd="2" destOrd="0" presId="urn:microsoft.com/office/officeart/2005/8/layout/default"/>
    <dgm:cxn modelId="{C89D5FD7-11F1-430B-84D1-469728F3C2EB}" type="presParOf" srcId="{BD0871A1-4119-44C0-A42A-6B9399D808F6}" destId="{75876DD5-EF21-4E5E-805E-CCF89D741924}" srcOrd="3" destOrd="0" presId="urn:microsoft.com/office/officeart/2005/8/layout/default"/>
    <dgm:cxn modelId="{457C3F8E-9597-44ED-81DA-A005EF06C55F}" type="presParOf" srcId="{BD0871A1-4119-44C0-A42A-6B9399D808F6}" destId="{A3A2FC76-7627-4DDC-9414-38479BC4BA1C}" srcOrd="4" destOrd="0" presId="urn:microsoft.com/office/officeart/2005/8/layout/default"/>
    <dgm:cxn modelId="{1DD220ED-4A24-4546-A187-0D94893B402C}" type="presParOf" srcId="{BD0871A1-4119-44C0-A42A-6B9399D808F6}" destId="{FBD28AC9-8A4E-4D6A-92B9-93627C040435}" srcOrd="5" destOrd="0" presId="urn:microsoft.com/office/officeart/2005/8/layout/default"/>
    <dgm:cxn modelId="{A55630A4-AE82-4C8B-8885-A54A18518C03}" type="presParOf" srcId="{BD0871A1-4119-44C0-A42A-6B9399D808F6}" destId="{12EC2732-9E9E-45FF-A738-56779A271F1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7F2670-3372-4E8D-8941-3F619D35D9D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FB3FBDA-6E4B-498E-B614-551E26CEAD7A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Технологическая инфраструктура - системы, программное обеспечение и инструменты, необходимые для реализации трансформации (облачные решения, аналитика данных, автоматизация процессов).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3DCC16E3-0C09-4D7C-BA5A-C7C010D137EA}" type="parTrans" cxnId="{B8C09A57-3B84-489E-B80C-A27A531CFFB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3F8B3A0-50FB-4E59-9ADB-D29CF35BB92A}" type="sibTrans" cxnId="{B8C09A57-3B84-489E-B80C-A27A531CFFB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18C20FD-C986-4FDD-ADF7-EF89285E3E73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Изменение корпоративной культуры - создание среды, в которой сотрудники готовы активно принимать и использовать новые технологии (развитие цифровой грамотности, изменение управленческих подходов).</a:t>
          </a:r>
        </a:p>
      </dgm:t>
    </dgm:pt>
    <dgm:pt modelId="{C6FC7DB8-63D8-444F-A829-6F60C00F57A3}" type="parTrans" cxnId="{A9D89B4D-5DE6-479E-8AFE-548D58EF2940}">
      <dgm:prSet/>
      <dgm:spPr/>
      <dgm:t>
        <a:bodyPr/>
        <a:lstStyle/>
        <a:p>
          <a:endParaRPr lang="ru-RU" sz="2000"/>
        </a:p>
      </dgm:t>
    </dgm:pt>
    <dgm:pt modelId="{B2D91A82-3AA1-44B4-9234-CE26346F1CC8}" type="sibTrans" cxnId="{A9D89B4D-5DE6-479E-8AFE-548D58EF2940}">
      <dgm:prSet/>
      <dgm:spPr/>
      <dgm:t>
        <a:bodyPr/>
        <a:lstStyle/>
        <a:p>
          <a:endParaRPr lang="ru-RU" sz="2000"/>
        </a:p>
      </dgm:t>
    </dgm:pt>
    <dgm:pt modelId="{DCB31CE3-67C1-4AD5-9898-6CE3CA3B4F29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Аналитика данных - использование данных для принятия обоснованных бизнес-решений (например, изучение больших объёмов данных для выявления трендов и прогнозирования будущего поведения клиентов).</a:t>
          </a:r>
        </a:p>
      </dgm:t>
    </dgm:pt>
    <dgm:pt modelId="{F465AEF3-345E-4A15-8876-F2186455CE2D}" type="parTrans" cxnId="{5C0FA8E0-321A-41AE-91DA-5C2FEC1E847A}">
      <dgm:prSet/>
      <dgm:spPr/>
      <dgm:t>
        <a:bodyPr/>
        <a:lstStyle/>
        <a:p>
          <a:endParaRPr lang="ru-RU" sz="2000"/>
        </a:p>
      </dgm:t>
    </dgm:pt>
    <dgm:pt modelId="{A51513BF-B5C2-467A-90FF-5689B324E781}" type="sibTrans" cxnId="{5C0FA8E0-321A-41AE-91DA-5C2FEC1E847A}">
      <dgm:prSet/>
      <dgm:spPr/>
      <dgm:t>
        <a:bodyPr/>
        <a:lstStyle/>
        <a:p>
          <a:endParaRPr lang="ru-RU" sz="2000"/>
        </a:p>
      </dgm:t>
    </dgm:pt>
    <dgm:pt modelId="{BD0871A1-4119-44C0-A42A-6B9399D808F6}" type="pres">
      <dgm:prSet presAssocID="{A37F2670-3372-4E8D-8941-3F619D35D9D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DA1D0C-948F-41B0-ACBF-976885F62437}" type="pres">
      <dgm:prSet presAssocID="{6FB3FBDA-6E4B-498E-B614-551E26CEAD7A}" presName="node" presStyleLbl="node1" presStyleIdx="0" presStyleCnt="3" custScaleX="132922" custLinFactNeighborX="443" custLinFactNeighborY="58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2993B4-96F7-4AB1-A485-11B2D1130104}" type="pres">
      <dgm:prSet presAssocID="{F3F8B3A0-50FB-4E59-9ADB-D29CF35BB92A}" presName="sibTrans" presStyleCnt="0"/>
      <dgm:spPr/>
    </dgm:pt>
    <dgm:pt modelId="{59067FCE-EA28-4074-B548-B014A57EE396}" type="pres">
      <dgm:prSet presAssocID="{D18C20FD-C986-4FDD-ADF7-EF89285E3E73}" presName="node" presStyleLbl="node1" presStyleIdx="1" presStyleCnt="3" custScaleX="13280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8B8474-1499-49A3-9E5A-B0AF9F1AA94E}" type="pres">
      <dgm:prSet presAssocID="{B2D91A82-3AA1-44B4-9234-CE26346F1CC8}" presName="sibTrans" presStyleCnt="0"/>
      <dgm:spPr/>
    </dgm:pt>
    <dgm:pt modelId="{DD4ACD33-428C-4C68-B205-F3F2BA7E96BC}" type="pres">
      <dgm:prSet presAssocID="{DCB31CE3-67C1-4AD5-9898-6CE3CA3B4F29}" presName="node" presStyleLbl="node1" presStyleIdx="2" presStyleCnt="3" custScaleX="14539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FA6CF78-A65F-46A3-AC9A-E3E3E14F0E2C}" type="presOf" srcId="{DCB31CE3-67C1-4AD5-9898-6CE3CA3B4F29}" destId="{DD4ACD33-428C-4C68-B205-F3F2BA7E96BC}" srcOrd="0" destOrd="0" presId="urn:microsoft.com/office/officeart/2005/8/layout/default"/>
    <dgm:cxn modelId="{5C0FA8E0-321A-41AE-91DA-5C2FEC1E847A}" srcId="{A37F2670-3372-4E8D-8941-3F619D35D9D8}" destId="{DCB31CE3-67C1-4AD5-9898-6CE3CA3B4F29}" srcOrd="2" destOrd="0" parTransId="{F465AEF3-345E-4A15-8876-F2186455CE2D}" sibTransId="{A51513BF-B5C2-467A-90FF-5689B324E781}"/>
    <dgm:cxn modelId="{F8A66259-6B9E-4B5A-83CB-435EEAA353DF}" type="presOf" srcId="{A37F2670-3372-4E8D-8941-3F619D35D9D8}" destId="{BD0871A1-4119-44C0-A42A-6B9399D808F6}" srcOrd="0" destOrd="0" presId="urn:microsoft.com/office/officeart/2005/8/layout/default"/>
    <dgm:cxn modelId="{868781E2-394C-45ED-BDEF-C3BD72F4F1BF}" type="presOf" srcId="{D18C20FD-C986-4FDD-ADF7-EF89285E3E73}" destId="{59067FCE-EA28-4074-B548-B014A57EE396}" srcOrd="0" destOrd="0" presId="urn:microsoft.com/office/officeart/2005/8/layout/default"/>
    <dgm:cxn modelId="{A9D89B4D-5DE6-479E-8AFE-548D58EF2940}" srcId="{A37F2670-3372-4E8D-8941-3F619D35D9D8}" destId="{D18C20FD-C986-4FDD-ADF7-EF89285E3E73}" srcOrd="1" destOrd="0" parTransId="{C6FC7DB8-63D8-444F-A829-6F60C00F57A3}" sibTransId="{B2D91A82-3AA1-44B4-9234-CE26346F1CC8}"/>
    <dgm:cxn modelId="{131B8DA5-8F50-4979-9F96-57C76A5B9379}" type="presOf" srcId="{6FB3FBDA-6E4B-498E-B614-551E26CEAD7A}" destId="{8ADA1D0C-948F-41B0-ACBF-976885F62437}" srcOrd="0" destOrd="0" presId="urn:microsoft.com/office/officeart/2005/8/layout/default"/>
    <dgm:cxn modelId="{B8C09A57-3B84-489E-B80C-A27A531CFFB9}" srcId="{A37F2670-3372-4E8D-8941-3F619D35D9D8}" destId="{6FB3FBDA-6E4B-498E-B614-551E26CEAD7A}" srcOrd="0" destOrd="0" parTransId="{3DCC16E3-0C09-4D7C-BA5A-C7C010D137EA}" sibTransId="{F3F8B3A0-50FB-4E59-9ADB-D29CF35BB92A}"/>
    <dgm:cxn modelId="{4959CB81-010F-488A-8C8D-7EF0B6FE2BFC}" type="presParOf" srcId="{BD0871A1-4119-44C0-A42A-6B9399D808F6}" destId="{8ADA1D0C-948F-41B0-ACBF-976885F62437}" srcOrd="0" destOrd="0" presId="urn:microsoft.com/office/officeart/2005/8/layout/default"/>
    <dgm:cxn modelId="{717DC4BF-44C0-4385-A17B-EA95557F76B1}" type="presParOf" srcId="{BD0871A1-4119-44C0-A42A-6B9399D808F6}" destId="{412993B4-96F7-4AB1-A485-11B2D1130104}" srcOrd="1" destOrd="0" presId="urn:microsoft.com/office/officeart/2005/8/layout/default"/>
    <dgm:cxn modelId="{88313006-83A6-4E4D-BCA3-49CF76ED11EE}" type="presParOf" srcId="{BD0871A1-4119-44C0-A42A-6B9399D808F6}" destId="{59067FCE-EA28-4074-B548-B014A57EE396}" srcOrd="2" destOrd="0" presId="urn:microsoft.com/office/officeart/2005/8/layout/default"/>
    <dgm:cxn modelId="{F68F3349-BFC6-482D-8A5E-29B35AC537F2}" type="presParOf" srcId="{BD0871A1-4119-44C0-A42A-6B9399D808F6}" destId="{B18B8474-1499-49A3-9E5A-B0AF9F1AA94E}" srcOrd="3" destOrd="0" presId="urn:microsoft.com/office/officeart/2005/8/layout/default"/>
    <dgm:cxn modelId="{E060461F-D725-4541-82CD-BE15FC31B8BD}" type="presParOf" srcId="{BD0871A1-4119-44C0-A42A-6B9399D808F6}" destId="{DD4ACD33-428C-4C68-B205-F3F2BA7E96B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7F2670-3372-4E8D-8941-3F619D35D9D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FB3FBDA-6E4B-498E-B614-551E26CEAD7A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оценка текущей цифровой зрелости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3DCC16E3-0C09-4D7C-BA5A-C7C010D137EA}" type="parTrans" cxnId="{B8C09A57-3B84-489E-B80C-A27A531CFFB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3F8B3A0-50FB-4E59-9ADB-D29CF35BB92A}" type="sibTrans" cxnId="{B8C09A57-3B84-489E-B80C-A27A531CFFB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10ADD4C-66A2-4817-B185-325421623A5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установка чётких целей и ключевых показателей эффективности (KPI)</a:t>
          </a:r>
        </a:p>
      </dgm:t>
    </dgm:pt>
    <dgm:pt modelId="{D186DFAB-2A7C-40F5-A2FA-104231CE2A53}" type="parTrans" cxnId="{C1F29740-9904-4E58-9F60-8D6441156384}">
      <dgm:prSet/>
      <dgm:spPr/>
      <dgm:t>
        <a:bodyPr/>
        <a:lstStyle/>
        <a:p>
          <a:endParaRPr lang="ru-RU"/>
        </a:p>
      </dgm:t>
    </dgm:pt>
    <dgm:pt modelId="{4C1B2175-1F28-407F-BE37-B06765F0F6D5}" type="sibTrans" cxnId="{C1F29740-9904-4E58-9F60-8D6441156384}">
      <dgm:prSet/>
      <dgm:spPr/>
      <dgm:t>
        <a:bodyPr/>
        <a:lstStyle/>
        <a:p>
          <a:endParaRPr lang="ru-RU"/>
        </a:p>
      </dgm:t>
    </dgm:pt>
    <dgm:pt modelId="{A078D234-E9FE-4FA6-91AA-076D56B56C3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приоритизация инициатив и создание дорожной карты</a:t>
          </a:r>
        </a:p>
      </dgm:t>
    </dgm:pt>
    <dgm:pt modelId="{0F5A1528-913D-4F67-BF16-E1AEC8C74D80}" type="parTrans" cxnId="{4CE07716-BF5A-48FE-BBDB-A8EED0ED102D}">
      <dgm:prSet/>
      <dgm:spPr/>
      <dgm:t>
        <a:bodyPr/>
        <a:lstStyle/>
        <a:p>
          <a:endParaRPr lang="ru-RU"/>
        </a:p>
      </dgm:t>
    </dgm:pt>
    <dgm:pt modelId="{2BFF770B-196E-4AE2-B529-3254FB8747B3}" type="sibTrans" cxnId="{4CE07716-BF5A-48FE-BBDB-A8EED0ED102D}">
      <dgm:prSet/>
      <dgm:spPr/>
      <dgm:t>
        <a:bodyPr/>
        <a:lstStyle/>
        <a:p>
          <a:endParaRPr lang="ru-RU"/>
        </a:p>
      </dgm:t>
    </dgm:pt>
    <dgm:pt modelId="{BD0871A1-4119-44C0-A42A-6B9399D808F6}" type="pres">
      <dgm:prSet presAssocID="{A37F2670-3372-4E8D-8941-3F619D35D9D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DA1D0C-948F-41B0-ACBF-976885F62437}" type="pres">
      <dgm:prSet presAssocID="{6FB3FBDA-6E4B-498E-B614-551E26CEAD7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2993B4-96F7-4AB1-A485-11B2D1130104}" type="pres">
      <dgm:prSet presAssocID="{F3F8B3A0-50FB-4E59-9ADB-D29CF35BB92A}" presName="sibTrans" presStyleCnt="0"/>
      <dgm:spPr/>
    </dgm:pt>
    <dgm:pt modelId="{C005694A-8443-4B1B-90B3-C251B1281945}" type="pres">
      <dgm:prSet presAssocID="{610ADD4C-66A2-4817-B185-325421623A5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7585B8-7C58-494E-998D-849EBADDCA96}" type="pres">
      <dgm:prSet presAssocID="{4C1B2175-1F28-407F-BE37-B06765F0F6D5}" presName="sibTrans" presStyleCnt="0"/>
      <dgm:spPr/>
    </dgm:pt>
    <dgm:pt modelId="{D6DA4231-6175-410E-A4B8-ED4D620CE901}" type="pres">
      <dgm:prSet presAssocID="{A078D234-E9FE-4FA6-91AA-076D56B56C3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5790681-86C6-44BA-AEAB-6AF48B34398E}" type="presOf" srcId="{A37F2670-3372-4E8D-8941-3F619D35D9D8}" destId="{BD0871A1-4119-44C0-A42A-6B9399D808F6}" srcOrd="0" destOrd="0" presId="urn:microsoft.com/office/officeart/2005/8/layout/default"/>
    <dgm:cxn modelId="{2B61AE1E-E5FC-4BA2-B818-81AF60721BB9}" type="presOf" srcId="{610ADD4C-66A2-4817-B185-325421623A50}" destId="{C005694A-8443-4B1B-90B3-C251B1281945}" srcOrd="0" destOrd="0" presId="urn:microsoft.com/office/officeart/2005/8/layout/default"/>
    <dgm:cxn modelId="{043D03DB-0BD7-4543-ACA3-A4D7D68CBE68}" type="presOf" srcId="{6FB3FBDA-6E4B-498E-B614-551E26CEAD7A}" destId="{8ADA1D0C-948F-41B0-ACBF-976885F62437}" srcOrd="0" destOrd="0" presId="urn:microsoft.com/office/officeart/2005/8/layout/default"/>
    <dgm:cxn modelId="{F7C7C9D6-CEF3-4CE8-8532-E0870577B3A7}" type="presOf" srcId="{A078D234-E9FE-4FA6-91AA-076D56B56C3D}" destId="{D6DA4231-6175-410E-A4B8-ED4D620CE901}" srcOrd="0" destOrd="0" presId="urn:microsoft.com/office/officeart/2005/8/layout/default"/>
    <dgm:cxn modelId="{4CE07716-BF5A-48FE-BBDB-A8EED0ED102D}" srcId="{A37F2670-3372-4E8D-8941-3F619D35D9D8}" destId="{A078D234-E9FE-4FA6-91AA-076D56B56C3D}" srcOrd="2" destOrd="0" parTransId="{0F5A1528-913D-4F67-BF16-E1AEC8C74D80}" sibTransId="{2BFF770B-196E-4AE2-B529-3254FB8747B3}"/>
    <dgm:cxn modelId="{B8C09A57-3B84-489E-B80C-A27A531CFFB9}" srcId="{A37F2670-3372-4E8D-8941-3F619D35D9D8}" destId="{6FB3FBDA-6E4B-498E-B614-551E26CEAD7A}" srcOrd="0" destOrd="0" parTransId="{3DCC16E3-0C09-4D7C-BA5A-C7C010D137EA}" sibTransId="{F3F8B3A0-50FB-4E59-9ADB-D29CF35BB92A}"/>
    <dgm:cxn modelId="{C1F29740-9904-4E58-9F60-8D6441156384}" srcId="{A37F2670-3372-4E8D-8941-3F619D35D9D8}" destId="{610ADD4C-66A2-4817-B185-325421623A50}" srcOrd="1" destOrd="0" parTransId="{D186DFAB-2A7C-40F5-A2FA-104231CE2A53}" sibTransId="{4C1B2175-1F28-407F-BE37-B06765F0F6D5}"/>
    <dgm:cxn modelId="{515386A8-91BF-48E4-A1B5-0246EF6DC08B}" type="presParOf" srcId="{BD0871A1-4119-44C0-A42A-6B9399D808F6}" destId="{8ADA1D0C-948F-41B0-ACBF-976885F62437}" srcOrd="0" destOrd="0" presId="urn:microsoft.com/office/officeart/2005/8/layout/default"/>
    <dgm:cxn modelId="{7B4E273E-9D14-45B9-9B7D-AA9A8A88CE46}" type="presParOf" srcId="{BD0871A1-4119-44C0-A42A-6B9399D808F6}" destId="{412993B4-96F7-4AB1-A485-11B2D1130104}" srcOrd="1" destOrd="0" presId="urn:microsoft.com/office/officeart/2005/8/layout/default"/>
    <dgm:cxn modelId="{A7F5CF12-EAFD-427E-A05B-2BDDC0431DAE}" type="presParOf" srcId="{BD0871A1-4119-44C0-A42A-6B9399D808F6}" destId="{C005694A-8443-4B1B-90B3-C251B1281945}" srcOrd="2" destOrd="0" presId="urn:microsoft.com/office/officeart/2005/8/layout/default"/>
    <dgm:cxn modelId="{377464EC-63D0-4A90-8400-515ED1CFF4AC}" type="presParOf" srcId="{BD0871A1-4119-44C0-A42A-6B9399D808F6}" destId="{0C7585B8-7C58-494E-998D-849EBADDCA96}" srcOrd="3" destOrd="0" presId="urn:microsoft.com/office/officeart/2005/8/layout/default"/>
    <dgm:cxn modelId="{14874638-64CE-4CC6-A431-DF6B022234E4}" type="presParOf" srcId="{BD0871A1-4119-44C0-A42A-6B9399D808F6}" destId="{D6DA4231-6175-410E-A4B8-ED4D620CE90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37F2670-3372-4E8D-8941-3F619D35D9D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FB3FBDA-6E4B-498E-B614-551E26CEAD7A}">
      <dgm:prSet phldrT="[Текст]" custT="1"/>
      <dgm:spPr/>
      <dgm:t>
        <a:bodyPr/>
        <a:lstStyle/>
        <a:p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Netflix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 - изначально начав как сервис по прокату DVD, перешёл на модель </a:t>
          </a:r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стриминга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, используя облачные технологии и ИИ для рекомендаций контента.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3DCC16E3-0C09-4D7C-BA5A-C7C010D137EA}" type="parTrans" cxnId="{B8C09A57-3B84-489E-B80C-A27A531CFFB9}">
      <dgm:prSet/>
      <dgm:spPr/>
      <dgm:t>
        <a:bodyPr/>
        <a:lstStyle/>
        <a:p>
          <a:endParaRPr lang="ru-RU" sz="3200">
            <a:latin typeface="Times New Roman" pitchFamily="18" charset="0"/>
            <a:cs typeface="Times New Roman" pitchFamily="18" charset="0"/>
          </a:endParaRPr>
        </a:p>
      </dgm:t>
    </dgm:pt>
    <dgm:pt modelId="{F3F8B3A0-50FB-4E59-9ADB-D29CF35BB92A}" type="sibTrans" cxnId="{B8C09A57-3B84-489E-B80C-A27A531CFFB9}">
      <dgm:prSet/>
      <dgm:spPr/>
      <dgm:t>
        <a:bodyPr/>
        <a:lstStyle/>
        <a:p>
          <a:endParaRPr lang="ru-RU" sz="3200">
            <a:latin typeface="Times New Roman" pitchFamily="18" charset="0"/>
            <a:cs typeface="Times New Roman" pitchFamily="18" charset="0"/>
          </a:endParaRPr>
        </a:p>
      </dgm:t>
    </dgm:pt>
    <dgm:pt modelId="{483F8D6D-942D-4E3D-9C63-42CC16B23CCC}">
      <dgm:prSet custT="1"/>
      <dgm:spPr/>
      <dgm:t>
        <a:bodyPr/>
        <a:lstStyle/>
        <a:p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Amazon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 - использует цифровые технологии для оптимизации бизнес-процессов и улучшения клиентского опыта: применяет ИИ и машинное обучение для прогнозирования спроса, управления запасами и персонализации рекомендаций.</a:t>
          </a:r>
        </a:p>
      </dgm:t>
    </dgm:pt>
    <dgm:pt modelId="{40810556-4014-4675-BE9D-B407DCF37858}" type="parTrans" cxnId="{E7CB1924-2C0D-4DCF-93E1-7B5C823B760C}">
      <dgm:prSet/>
      <dgm:spPr/>
      <dgm:t>
        <a:bodyPr/>
        <a:lstStyle/>
        <a:p>
          <a:endParaRPr lang="ru-RU" sz="3200"/>
        </a:p>
      </dgm:t>
    </dgm:pt>
    <dgm:pt modelId="{0ADD8B46-78EC-40D8-B49B-92B49EAE2CCA}" type="sibTrans" cxnId="{E7CB1924-2C0D-4DCF-93E1-7B5C823B760C}">
      <dgm:prSet/>
      <dgm:spPr/>
      <dgm:t>
        <a:bodyPr/>
        <a:lstStyle/>
        <a:p>
          <a:endParaRPr lang="ru-RU" sz="3200"/>
        </a:p>
      </dgm:t>
    </dgm:pt>
    <dgm:pt modelId="{945FB09C-A470-454D-BCEB-2DD0CD691AEA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Domino's </a:t>
          </a:r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Pizza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 - внедрила цифровые технологии для улучшения процесса заказа и доставки пиццы: разработала мобильное приложение и онлайн-платформу, которые позволяют клиентам легко заказывать пиццу и отслеживать статус заказа в реальном времени.</a:t>
          </a:r>
        </a:p>
      </dgm:t>
    </dgm:pt>
    <dgm:pt modelId="{55D7691B-8B98-4386-B6CD-39A0C26F2C0D}" type="parTrans" cxnId="{4FEE882F-1901-4DCC-AB5A-AAC2981200F8}">
      <dgm:prSet/>
      <dgm:spPr/>
      <dgm:t>
        <a:bodyPr/>
        <a:lstStyle/>
        <a:p>
          <a:endParaRPr lang="ru-RU" sz="3200"/>
        </a:p>
      </dgm:t>
    </dgm:pt>
    <dgm:pt modelId="{3AE706CE-1DBF-4812-A749-ED9D1C6F0450}" type="sibTrans" cxnId="{4FEE882F-1901-4DCC-AB5A-AAC2981200F8}">
      <dgm:prSet/>
      <dgm:spPr/>
      <dgm:t>
        <a:bodyPr/>
        <a:lstStyle/>
        <a:p>
          <a:endParaRPr lang="ru-RU" sz="3200"/>
        </a:p>
      </dgm:t>
    </dgm:pt>
    <dgm:pt modelId="{BD0871A1-4119-44C0-A42A-6B9399D808F6}" type="pres">
      <dgm:prSet presAssocID="{A37F2670-3372-4E8D-8941-3F619D35D9D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DA1D0C-948F-41B0-ACBF-976885F62437}" type="pres">
      <dgm:prSet presAssocID="{6FB3FBDA-6E4B-498E-B614-551E26CEAD7A}" presName="node" presStyleLbl="node1" presStyleIdx="0" presStyleCnt="3" custScaleX="117732" custScaleY="128993" custLinFactNeighborX="-29" custLinFactNeighborY="-1948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2993B4-96F7-4AB1-A485-11B2D1130104}" type="pres">
      <dgm:prSet presAssocID="{F3F8B3A0-50FB-4E59-9ADB-D29CF35BB92A}" presName="sibTrans" presStyleCnt="0"/>
      <dgm:spPr/>
    </dgm:pt>
    <dgm:pt modelId="{DA28FA86-2473-4662-BE16-66D8AB5EA918}" type="pres">
      <dgm:prSet presAssocID="{483F8D6D-942D-4E3D-9C63-42CC16B23CCC}" presName="node" presStyleLbl="node1" presStyleIdx="1" presStyleCnt="3" custScaleX="129821" custScaleY="127675" custLinFactNeighborX="29" custLinFactNeighborY="-1209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77AD24-818C-4179-B9A7-46FAC60B282B}" type="pres">
      <dgm:prSet presAssocID="{0ADD8B46-78EC-40D8-B49B-92B49EAE2CCA}" presName="sibTrans" presStyleCnt="0"/>
      <dgm:spPr/>
    </dgm:pt>
    <dgm:pt modelId="{EE1EC87E-0C25-4743-85F7-0A51BB25DF8B}" type="pres">
      <dgm:prSet presAssocID="{945FB09C-A470-454D-BCEB-2DD0CD691AEA}" presName="node" presStyleLbl="node1" presStyleIdx="2" presStyleCnt="3" custScaleX="18907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0C3AB76-F26E-4A29-839E-0DC81B5A6B19}" type="presOf" srcId="{945FB09C-A470-454D-BCEB-2DD0CD691AEA}" destId="{EE1EC87E-0C25-4743-85F7-0A51BB25DF8B}" srcOrd="0" destOrd="0" presId="urn:microsoft.com/office/officeart/2005/8/layout/default"/>
    <dgm:cxn modelId="{E7CB1924-2C0D-4DCF-93E1-7B5C823B760C}" srcId="{A37F2670-3372-4E8D-8941-3F619D35D9D8}" destId="{483F8D6D-942D-4E3D-9C63-42CC16B23CCC}" srcOrd="1" destOrd="0" parTransId="{40810556-4014-4675-BE9D-B407DCF37858}" sibTransId="{0ADD8B46-78EC-40D8-B49B-92B49EAE2CCA}"/>
    <dgm:cxn modelId="{A1271065-142A-4827-B21B-E638E1FC5317}" type="presOf" srcId="{483F8D6D-942D-4E3D-9C63-42CC16B23CCC}" destId="{DA28FA86-2473-4662-BE16-66D8AB5EA918}" srcOrd="0" destOrd="0" presId="urn:microsoft.com/office/officeart/2005/8/layout/default"/>
    <dgm:cxn modelId="{17C1158D-71C2-4FC3-972C-9194F1171E08}" type="presOf" srcId="{A37F2670-3372-4E8D-8941-3F619D35D9D8}" destId="{BD0871A1-4119-44C0-A42A-6B9399D808F6}" srcOrd="0" destOrd="0" presId="urn:microsoft.com/office/officeart/2005/8/layout/default"/>
    <dgm:cxn modelId="{E25AB60E-B0CA-41E7-831C-D2BB3EC5E970}" type="presOf" srcId="{6FB3FBDA-6E4B-498E-B614-551E26CEAD7A}" destId="{8ADA1D0C-948F-41B0-ACBF-976885F62437}" srcOrd="0" destOrd="0" presId="urn:microsoft.com/office/officeart/2005/8/layout/default"/>
    <dgm:cxn modelId="{4FEE882F-1901-4DCC-AB5A-AAC2981200F8}" srcId="{A37F2670-3372-4E8D-8941-3F619D35D9D8}" destId="{945FB09C-A470-454D-BCEB-2DD0CD691AEA}" srcOrd="2" destOrd="0" parTransId="{55D7691B-8B98-4386-B6CD-39A0C26F2C0D}" sibTransId="{3AE706CE-1DBF-4812-A749-ED9D1C6F0450}"/>
    <dgm:cxn modelId="{B8C09A57-3B84-489E-B80C-A27A531CFFB9}" srcId="{A37F2670-3372-4E8D-8941-3F619D35D9D8}" destId="{6FB3FBDA-6E4B-498E-B614-551E26CEAD7A}" srcOrd="0" destOrd="0" parTransId="{3DCC16E3-0C09-4D7C-BA5A-C7C010D137EA}" sibTransId="{F3F8B3A0-50FB-4E59-9ADB-D29CF35BB92A}"/>
    <dgm:cxn modelId="{023FB1EE-841D-4429-8216-20471B8289BB}" type="presParOf" srcId="{BD0871A1-4119-44C0-A42A-6B9399D808F6}" destId="{8ADA1D0C-948F-41B0-ACBF-976885F62437}" srcOrd="0" destOrd="0" presId="urn:microsoft.com/office/officeart/2005/8/layout/default"/>
    <dgm:cxn modelId="{719A20EE-332B-47D8-8C78-19765D59D7D3}" type="presParOf" srcId="{BD0871A1-4119-44C0-A42A-6B9399D808F6}" destId="{412993B4-96F7-4AB1-A485-11B2D1130104}" srcOrd="1" destOrd="0" presId="urn:microsoft.com/office/officeart/2005/8/layout/default"/>
    <dgm:cxn modelId="{A71D1410-0FE8-4688-95E4-097363AB4EBC}" type="presParOf" srcId="{BD0871A1-4119-44C0-A42A-6B9399D808F6}" destId="{DA28FA86-2473-4662-BE16-66D8AB5EA918}" srcOrd="2" destOrd="0" presId="urn:microsoft.com/office/officeart/2005/8/layout/default"/>
    <dgm:cxn modelId="{5F55D366-7D40-4A56-A7E0-78EB71CA4AB7}" type="presParOf" srcId="{BD0871A1-4119-44C0-A42A-6B9399D808F6}" destId="{9177AD24-818C-4179-B9A7-46FAC60B282B}" srcOrd="3" destOrd="0" presId="urn:microsoft.com/office/officeart/2005/8/layout/default"/>
    <dgm:cxn modelId="{28F73A2A-4319-4818-B4D0-58B18E998761}" type="presParOf" srcId="{BD0871A1-4119-44C0-A42A-6B9399D808F6}" destId="{EE1EC87E-0C25-4743-85F7-0A51BB25DF8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53BDC2-72DE-48D3-87FC-5E0CBC2DB64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9DD3D40-06DE-4EA6-B205-6DD9E3B2C756}">
      <dgm:prSet phldrT="[Текст]" custT="1"/>
      <dgm:spPr/>
      <dgm:t>
        <a:bodyPr/>
        <a:lstStyle/>
        <a:p>
          <a:r>
            <a:rPr lang="ru-RU" sz="2000" b="1" dirty="0" smtClean="0">
              <a:latin typeface="Times New Roman" pitchFamily="18" charset="0"/>
              <a:cs typeface="Times New Roman" pitchFamily="18" charset="0"/>
            </a:rPr>
            <a:t>Повышение производительности. 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Используя сведения, предоставляемые двойником, проще оптимизировать производство, своевременно ликвидируя неисправности и не допуская простоев.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3B97AA46-A3AF-401B-B874-AFA5BA854780}" type="parTrans" cxnId="{C34D28EE-683F-404E-A64F-8B9EAACD1B49}">
      <dgm:prSet/>
      <dgm:spPr/>
      <dgm:t>
        <a:bodyPr/>
        <a:lstStyle/>
        <a:p>
          <a:endParaRPr lang="ru-RU" sz="3200">
            <a:latin typeface="Times New Roman" pitchFamily="18" charset="0"/>
            <a:cs typeface="Times New Roman" pitchFamily="18" charset="0"/>
          </a:endParaRPr>
        </a:p>
      </dgm:t>
    </dgm:pt>
    <dgm:pt modelId="{99C6C5C4-E1A2-4D32-BD36-46C90CC390CF}" type="sibTrans" cxnId="{C34D28EE-683F-404E-A64F-8B9EAACD1B49}">
      <dgm:prSet/>
      <dgm:spPr/>
      <dgm:t>
        <a:bodyPr/>
        <a:lstStyle/>
        <a:p>
          <a:endParaRPr lang="ru-RU" sz="3200">
            <a:latin typeface="Times New Roman" pitchFamily="18" charset="0"/>
            <a:cs typeface="Times New Roman" pitchFamily="18" charset="0"/>
          </a:endParaRPr>
        </a:p>
      </dgm:t>
    </dgm:pt>
    <dgm:pt modelId="{CE61207D-D3F0-4D53-B554-DEAFFDCAF7C0}">
      <dgm:prSet custT="1"/>
      <dgm:spPr/>
      <dgm:t>
        <a:bodyPr/>
        <a:lstStyle/>
        <a:p>
          <a:r>
            <a:rPr lang="ru-RU" sz="2000" b="1" dirty="0" smtClean="0">
              <a:latin typeface="Times New Roman" pitchFamily="18" charset="0"/>
              <a:cs typeface="Times New Roman" pitchFamily="18" charset="0"/>
            </a:rPr>
            <a:t>Возможность прогнозирования.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Это особенно актуально, если в производстве задействованы тысячи единиц оборудования.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Мониторя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их работу с использованием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digital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twin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, можно отслеживать работу каждой из них, своевременно заменяя выработанные детали и узлы, не доводя дело до поломки.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589EC29A-13AE-4F91-ACDA-8AB7D4D845F2}" type="parTrans" cxnId="{ABEF8C96-EA37-4FDA-AB6D-414C3B764769}">
      <dgm:prSet/>
      <dgm:spPr/>
      <dgm:t>
        <a:bodyPr/>
        <a:lstStyle/>
        <a:p>
          <a:endParaRPr lang="ru-RU" sz="3200">
            <a:latin typeface="Times New Roman" pitchFamily="18" charset="0"/>
            <a:cs typeface="Times New Roman" pitchFamily="18" charset="0"/>
          </a:endParaRPr>
        </a:p>
      </dgm:t>
    </dgm:pt>
    <dgm:pt modelId="{F8D0FB39-551D-4D03-B4A6-2DDE103105F2}" type="sibTrans" cxnId="{ABEF8C96-EA37-4FDA-AB6D-414C3B764769}">
      <dgm:prSet/>
      <dgm:spPr/>
      <dgm:t>
        <a:bodyPr/>
        <a:lstStyle/>
        <a:p>
          <a:endParaRPr lang="ru-RU" sz="3200">
            <a:latin typeface="Times New Roman" pitchFamily="18" charset="0"/>
            <a:cs typeface="Times New Roman" pitchFamily="18" charset="0"/>
          </a:endParaRPr>
        </a:p>
      </dgm:t>
    </dgm:pt>
    <dgm:pt modelId="{EC71AAD8-EA6B-4109-B833-B91ABBE77CF7}">
      <dgm:prSet custT="1"/>
      <dgm:spPr/>
      <dgm:t>
        <a:bodyPr/>
        <a:lstStyle/>
        <a:p>
          <a:r>
            <a:rPr lang="ru-RU" sz="2000" b="1" dirty="0" smtClean="0">
              <a:latin typeface="Times New Roman" pitchFamily="18" charset="0"/>
              <a:cs typeface="Times New Roman" pitchFamily="18" charset="0"/>
            </a:rPr>
            <a:t>Возможность дистанционного наблюдения.</a:t>
          </a:r>
          <a:endParaRPr lang="ru-RU" sz="2000" b="1" dirty="0">
            <a:latin typeface="Times New Roman" pitchFamily="18" charset="0"/>
            <a:cs typeface="Times New Roman" pitchFamily="18" charset="0"/>
          </a:endParaRPr>
        </a:p>
      </dgm:t>
    </dgm:pt>
    <dgm:pt modelId="{F859DE9C-3B73-4136-AC07-686B3969D79A}" type="parTrans" cxnId="{CC7AED08-E9A3-4FDC-86BF-840E2A553310}">
      <dgm:prSet/>
      <dgm:spPr/>
      <dgm:t>
        <a:bodyPr/>
        <a:lstStyle/>
        <a:p>
          <a:endParaRPr lang="ru-RU" sz="3200">
            <a:latin typeface="Times New Roman" pitchFamily="18" charset="0"/>
            <a:cs typeface="Times New Roman" pitchFamily="18" charset="0"/>
          </a:endParaRPr>
        </a:p>
      </dgm:t>
    </dgm:pt>
    <dgm:pt modelId="{0F50B04D-6896-4409-A986-7DD95EAE7251}" type="sibTrans" cxnId="{CC7AED08-E9A3-4FDC-86BF-840E2A553310}">
      <dgm:prSet/>
      <dgm:spPr/>
      <dgm:t>
        <a:bodyPr/>
        <a:lstStyle/>
        <a:p>
          <a:endParaRPr lang="ru-RU" sz="3200">
            <a:latin typeface="Times New Roman" pitchFamily="18" charset="0"/>
            <a:cs typeface="Times New Roman" pitchFamily="18" charset="0"/>
          </a:endParaRPr>
        </a:p>
      </dgm:t>
    </dgm:pt>
    <dgm:pt modelId="{F5640A21-5F1C-4315-A4F8-441CA8BBCDDD}" type="pres">
      <dgm:prSet presAssocID="{6053BDC2-72DE-48D3-87FC-5E0CBC2DB64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8D40CD3-119E-47EC-8228-9BFCA46A3FD4}" type="pres">
      <dgm:prSet presAssocID="{19DD3D40-06DE-4EA6-B205-6DD9E3B2C756}" presName="node" presStyleLbl="node1" presStyleIdx="0" presStyleCnt="3" custScaleX="113400" custScaleY="212473" custLinFactNeighborX="-10383" custLinFactNeighborY="-3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2883D1-EBDA-45EB-90B4-01280658FBD5}" type="pres">
      <dgm:prSet presAssocID="{99C6C5C4-E1A2-4D32-BD36-46C90CC390CF}" presName="sibTrans" presStyleCnt="0"/>
      <dgm:spPr/>
    </dgm:pt>
    <dgm:pt modelId="{B37370B9-93A9-4A5A-92F5-EE5400CA4E58}" type="pres">
      <dgm:prSet presAssocID="{CE61207D-D3F0-4D53-B554-DEAFFDCAF7C0}" presName="node" presStyleLbl="node1" presStyleIdx="1" presStyleCnt="3" custScaleX="139609" custScaleY="25434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6BA1C34-4755-4919-82DD-C14D6E9FF732}" type="pres">
      <dgm:prSet presAssocID="{F8D0FB39-551D-4D03-B4A6-2DDE103105F2}" presName="sibTrans" presStyleCnt="0"/>
      <dgm:spPr/>
    </dgm:pt>
    <dgm:pt modelId="{B98AC211-CE88-42E6-8F8E-7C4205EFFBAA}" type="pres">
      <dgm:prSet presAssocID="{EC71AAD8-EA6B-4109-B833-B91ABBE77CF7}" presName="node" presStyleLbl="node1" presStyleIdx="2" presStyleCnt="3" custScaleY="21247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BEF8C96-EA37-4FDA-AB6D-414C3B764769}" srcId="{6053BDC2-72DE-48D3-87FC-5E0CBC2DB64F}" destId="{CE61207D-D3F0-4D53-B554-DEAFFDCAF7C0}" srcOrd="1" destOrd="0" parTransId="{589EC29A-13AE-4F91-ACDA-8AB7D4D845F2}" sibTransId="{F8D0FB39-551D-4D03-B4A6-2DDE103105F2}"/>
    <dgm:cxn modelId="{C34D28EE-683F-404E-A64F-8B9EAACD1B49}" srcId="{6053BDC2-72DE-48D3-87FC-5E0CBC2DB64F}" destId="{19DD3D40-06DE-4EA6-B205-6DD9E3B2C756}" srcOrd="0" destOrd="0" parTransId="{3B97AA46-A3AF-401B-B874-AFA5BA854780}" sibTransId="{99C6C5C4-E1A2-4D32-BD36-46C90CC390CF}"/>
    <dgm:cxn modelId="{18DFDE4E-70F7-4AC2-9995-FC2645B82608}" type="presOf" srcId="{EC71AAD8-EA6B-4109-B833-B91ABBE77CF7}" destId="{B98AC211-CE88-42E6-8F8E-7C4205EFFBAA}" srcOrd="0" destOrd="0" presId="urn:microsoft.com/office/officeart/2005/8/layout/default"/>
    <dgm:cxn modelId="{CC7AED08-E9A3-4FDC-86BF-840E2A553310}" srcId="{6053BDC2-72DE-48D3-87FC-5E0CBC2DB64F}" destId="{EC71AAD8-EA6B-4109-B833-B91ABBE77CF7}" srcOrd="2" destOrd="0" parTransId="{F859DE9C-3B73-4136-AC07-686B3969D79A}" sibTransId="{0F50B04D-6896-4409-A986-7DD95EAE7251}"/>
    <dgm:cxn modelId="{E07C9F09-0465-40E0-A49C-59AE58E48243}" type="presOf" srcId="{19DD3D40-06DE-4EA6-B205-6DD9E3B2C756}" destId="{08D40CD3-119E-47EC-8228-9BFCA46A3FD4}" srcOrd="0" destOrd="0" presId="urn:microsoft.com/office/officeart/2005/8/layout/default"/>
    <dgm:cxn modelId="{33D2DE37-7300-4EB2-A011-D0A2500F7B79}" type="presOf" srcId="{CE61207D-D3F0-4D53-B554-DEAFFDCAF7C0}" destId="{B37370B9-93A9-4A5A-92F5-EE5400CA4E58}" srcOrd="0" destOrd="0" presId="urn:microsoft.com/office/officeart/2005/8/layout/default"/>
    <dgm:cxn modelId="{115AFA88-2E69-436F-93DB-3E933748DEF2}" type="presOf" srcId="{6053BDC2-72DE-48D3-87FC-5E0CBC2DB64F}" destId="{F5640A21-5F1C-4315-A4F8-441CA8BBCDDD}" srcOrd="0" destOrd="0" presId="urn:microsoft.com/office/officeart/2005/8/layout/default"/>
    <dgm:cxn modelId="{6EBC617A-90B3-4E85-B459-8E86E8FDB735}" type="presParOf" srcId="{F5640A21-5F1C-4315-A4F8-441CA8BBCDDD}" destId="{08D40CD3-119E-47EC-8228-9BFCA46A3FD4}" srcOrd="0" destOrd="0" presId="urn:microsoft.com/office/officeart/2005/8/layout/default"/>
    <dgm:cxn modelId="{68B782C1-5EF2-489A-9079-C99EAA4B8E96}" type="presParOf" srcId="{F5640A21-5F1C-4315-A4F8-441CA8BBCDDD}" destId="{A32883D1-EBDA-45EB-90B4-01280658FBD5}" srcOrd="1" destOrd="0" presId="urn:microsoft.com/office/officeart/2005/8/layout/default"/>
    <dgm:cxn modelId="{2A4C0493-C66A-428A-841D-381004C154DD}" type="presParOf" srcId="{F5640A21-5F1C-4315-A4F8-441CA8BBCDDD}" destId="{B37370B9-93A9-4A5A-92F5-EE5400CA4E58}" srcOrd="2" destOrd="0" presId="urn:microsoft.com/office/officeart/2005/8/layout/default"/>
    <dgm:cxn modelId="{6236D2EB-8BE7-446E-BEA4-964C3581FC99}" type="presParOf" srcId="{F5640A21-5F1C-4315-A4F8-441CA8BBCDDD}" destId="{46BA1C34-4755-4919-82DD-C14D6E9FF732}" srcOrd="3" destOrd="0" presId="urn:microsoft.com/office/officeart/2005/8/layout/default"/>
    <dgm:cxn modelId="{82F442B2-6EBA-4DEE-A132-188276313799}" type="presParOf" srcId="{F5640A21-5F1C-4315-A4F8-441CA8BBCDDD}" destId="{B98AC211-CE88-42E6-8F8E-7C4205EFFBA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AB07DE0-0C1A-4DA0-B858-E3307A29756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404B3EA-FE30-42C6-8B6B-4CAA313C98C9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интернет вещей с подключёнными к нему устройствами;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9280D937-48AC-41CA-B97D-4BE494E37648}" type="parTrans" cxnId="{D5174A7D-8035-4708-9933-A4C0967CCCD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A7C491E1-6A29-4BFB-B540-C5A642AB1F4A}" type="sibTrans" cxnId="{D5174A7D-8035-4708-9933-A4C0967CCCD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84B296C6-74D0-4B49-B538-1F8876A7B966}">
      <dgm:prSet custT="1"/>
      <dgm:spPr/>
      <dgm:t>
        <a:bodyPr/>
        <a:lstStyle/>
        <a:p>
          <a:r>
            <a:rPr lang="ru-RU" sz="2400" smtClean="0">
              <a:latin typeface="Times New Roman" pitchFamily="18" charset="0"/>
              <a:cs typeface="Times New Roman" pitchFamily="18" charset="0"/>
            </a:rPr>
            <a:t>соцсети;</a:t>
          </a:r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F617909-CF71-4930-9E79-3F4FAF9FD69D}" type="parTrans" cxnId="{72E01117-4461-419C-92DE-567740FB33E3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75CD3168-73D8-4E1C-B96D-83D16E1482F8}" type="sibTrans" cxnId="{72E01117-4461-419C-92DE-567740FB33E3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9DE62915-5715-48D9-A83A-67799ECD9303}">
      <dgm:prSet custT="1"/>
      <dgm:spPr/>
      <dgm:t>
        <a:bodyPr/>
        <a:lstStyle/>
        <a:p>
          <a:r>
            <a:rPr lang="ru-RU" sz="2400" smtClean="0">
              <a:latin typeface="Times New Roman" pitchFamily="18" charset="0"/>
              <a:cs typeface="Times New Roman" pitchFamily="18" charset="0"/>
            </a:rPr>
            <a:t>СМИ;</a:t>
          </a:r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B9C8B57-CE18-4CDE-A824-9F8F33CA7051}" type="parTrans" cxnId="{CE455889-952C-47A0-B320-8BB6891CC35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B4957D2C-B086-4462-97B9-F93434B4B84E}" type="sibTrans" cxnId="{CE455889-952C-47A0-B320-8BB6891CC35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5A4936F6-7AF5-415E-ACE2-66A3216048D1}">
      <dgm:prSet custT="1"/>
      <dgm:spPr/>
      <dgm:t>
        <a:bodyPr/>
        <a:lstStyle/>
        <a:p>
          <a:r>
            <a:rPr lang="ru-RU" sz="2400" smtClean="0">
              <a:latin typeface="Times New Roman" pitchFamily="18" charset="0"/>
              <a:cs typeface="Times New Roman" pitchFamily="18" charset="0"/>
            </a:rPr>
            <a:t>показания измерительных приборов;</a:t>
          </a:r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59B58F3-4DC1-4E6D-97D3-C6CC701C0DEB}" type="parTrans" cxnId="{D4E42AAA-8B07-4164-A8A3-4C069F73CC11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46BEA014-8788-4B82-AFAF-3D95484E76BC}" type="sibTrans" cxnId="{D4E42AAA-8B07-4164-A8A3-4C069F73CC11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8F80DC8F-64E4-41A8-BB66-BEE196B77BFA}">
      <dgm:prSet custT="1"/>
      <dgm:spPr/>
      <dgm:t>
        <a:bodyPr/>
        <a:lstStyle/>
        <a:p>
          <a:r>
            <a:rPr lang="ru-RU" sz="2400" smtClean="0">
              <a:latin typeface="Times New Roman" pitchFamily="18" charset="0"/>
              <a:cs typeface="Times New Roman" pitchFamily="18" charset="0"/>
            </a:rPr>
            <a:t>медицинские данные;</a:t>
          </a:r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264E415-33A0-4824-BC85-D2CAF908CA22}" type="parTrans" cxnId="{2D1672A5-C6B2-4096-8B9B-B56546B9CFB9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4EBDF758-D318-46FD-9585-1BB9B8B8479A}" type="sibTrans" cxnId="{2D1672A5-C6B2-4096-8B9B-B56546B9CFB9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0806AB52-8AEB-4681-9881-1593E1CBA0C4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городская и государственная статистика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636EB43F-0B13-4831-BD48-9E2A9E9A8B9E}" type="parTrans" cxnId="{565D02C6-196C-4819-854D-78A0DE949A4C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C5E590E3-2BD3-4ADD-BF25-820498D9C2C8}" type="sibTrans" cxnId="{565D02C6-196C-4819-854D-78A0DE949A4C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503601A9-633B-4B83-BE34-B5AAB39B900C}" type="pres">
      <dgm:prSet presAssocID="{BAB07DE0-0C1A-4DA0-B858-E3307A29756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F2FBE72-A072-4D0B-8F18-DA72C81AF7B4}" type="pres">
      <dgm:prSet presAssocID="{D404B3EA-FE30-42C6-8B6B-4CAA313C98C9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BB1CB5-95E7-480B-BCA9-4BCDCC19B73E}" type="pres">
      <dgm:prSet presAssocID="{A7C491E1-6A29-4BFB-B540-C5A642AB1F4A}" presName="sibTrans" presStyleCnt="0"/>
      <dgm:spPr/>
    </dgm:pt>
    <dgm:pt modelId="{C41CBDB2-23CE-461E-BE8E-C4E6B1EDBBF1}" type="pres">
      <dgm:prSet presAssocID="{84B296C6-74D0-4B49-B538-1F8876A7B966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EA7886-4F35-48E6-9829-2DEFD00E1013}" type="pres">
      <dgm:prSet presAssocID="{75CD3168-73D8-4E1C-B96D-83D16E1482F8}" presName="sibTrans" presStyleCnt="0"/>
      <dgm:spPr/>
    </dgm:pt>
    <dgm:pt modelId="{DB00AD58-A31A-4989-858F-D72ADE8D84DF}" type="pres">
      <dgm:prSet presAssocID="{9DE62915-5715-48D9-A83A-67799ECD9303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3873F28-E4EA-4B5D-ADA9-7E8E0EF36981}" type="pres">
      <dgm:prSet presAssocID="{B4957D2C-B086-4462-97B9-F93434B4B84E}" presName="sibTrans" presStyleCnt="0"/>
      <dgm:spPr/>
    </dgm:pt>
    <dgm:pt modelId="{F227E26A-6E7F-4B0F-8C39-D334A3B9249B}" type="pres">
      <dgm:prSet presAssocID="{5A4936F6-7AF5-415E-ACE2-66A3216048D1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F35BC4-BD6C-4802-977C-E4C366991A13}" type="pres">
      <dgm:prSet presAssocID="{46BEA014-8788-4B82-AFAF-3D95484E76BC}" presName="sibTrans" presStyleCnt="0"/>
      <dgm:spPr/>
    </dgm:pt>
    <dgm:pt modelId="{FAA1D66A-D12E-4F81-B565-91A303ABD309}" type="pres">
      <dgm:prSet presAssocID="{8F80DC8F-64E4-41A8-BB66-BEE196B77BF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AC5E94-0D47-46B6-AB06-04677599358D}" type="pres">
      <dgm:prSet presAssocID="{4EBDF758-D318-46FD-9585-1BB9B8B8479A}" presName="sibTrans" presStyleCnt="0"/>
      <dgm:spPr/>
    </dgm:pt>
    <dgm:pt modelId="{088FC461-4A7A-42E7-90C2-85B21DC9DDBF}" type="pres">
      <dgm:prSet presAssocID="{0806AB52-8AEB-4681-9881-1593E1CBA0C4}" presName="node" presStyleLbl="node1" presStyleIdx="5" presStyleCnt="6" custScaleX="1246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A67A984-FF76-4935-BCB5-ECA6710CD273}" type="presOf" srcId="{84B296C6-74D0-4B49-B538-1F8876A7B966}" destId="{C41CBDB2-23CE-461E-BE8E-C4E6B1EDBBF1}" srcOrd="0" destOrd="0" presId="urn:microsoft.com/office/officeart/2005/8/layout/default"/>
    <dgm:cxn modelId="{F9220ED2-FBE1-4FB3-ADB1-7313D412DE60}" type="presOf" srcId="{5A4936F6-7AF5-415E-ACE2-66A3216048D1}" destId="{F227E26A-6E7F-4B0F-8C39-D334A3B9249B}" srcOrd="0" destOrd="0" presId="urn:microsoft.com/office/officeart/2005/8/layout/default"/>
    <dgm:cxn modelId="{C70F6742-CBB7-4195-BBAE-ED53C4F018D1}" type="presOf" srcId="{8F80DC8F-64E4-41A8-BB66-BEE196B77BFA}" destId="{FAA1D66A-D12E-4F81-B565-91A303ABD309}" srcOrd="0" destOrd="0" presId="urn:microsoft.com/office/officeart/2005/8/layout/default"/>
    <dgm:cxn modelId="{565D02C6-196C-4819-854D-78A0DE949A4C}" srcId="{BAB07DE0-0C1A-4DA0-B858-E3307A297568}" destId="{0806AB52-8AEB-4681-9881-1593E1CBA0C4}" srcOrd="5" destOrd="0" parTransId="{636EB43F-0B13-4831-BD48-9E2A9E9A8B9E}" sibTransId="{C5E590E3-2BD3-4ADD-BF25-820498D9C2C8}"/>
    <dgm:cxn modelId="{CE455889-952C-47A0-B320-8BB6891CC35D}" srcId="{BAB07DE0-0C1A-4DA0-B858-E3307A297568}" destId="{9DE62915-5715-48D9-A83A-67799ECD9303}" srcOrd="2" destOrd="0" parTransId="{BB9C8B57-CE18-4CDE-A824-9F8F33CA7051}" sibTransId="{B4957D2C-B086-4462-97B9-F93434B4B84E}"/>
    <dgm:cxn modelId="{2D1672A5-C6B2-4096-8B9B-B56546B9CFB9}" srcId="{BAB07DE0-0C1A-4DA0-B858-E3307A297568}" destId="{8F80DC8F-64E4-41A8-BB66-BEE196B77BFA}" srcOrd="4" destOrd="0" parTransId="{E264E415-33A0-4824-BC85-D2CAF908CA22}" sibTransId="{4EBDF758-D318-46FD-9585-1BB9B8B8479A}"/>
    <dgm:cxn modelId="{F578FB3A-33D7-430A-9F99-6E7B76C5BD1C}" type="presOf" srcId="{BAB07DE0-0C1A-4DA0-B858-E3307A297568}" destId="{503601A9-633B-4B83-BE34-B5AAB39B900C}" srcOrd="0" destOrd="0" presId="urn:microsoft.com/office/officeart/2005/8/layout/default"/>
    <dgm:cxn modelId="{87E07F42-F2F7-4859-8331-34E09711717D}" type="presOf" srcId="{0806AB52-8AEB-4681-9881-1593E1CBA0C4}" destId="{088FC461-4A7A-42E7-90C2-85B21DC9DDBF}" srcOrd="0" destOrd="0" presId="urn:microsoft.com/office/officeart/2005/8/layout/default"/>
    <dgm:cxn modelId="{72E01117-4461-419C-92DE-567740FB33E3}" srcId="{BAB07DE0-0C1A-4DA0-B858-E3307A297568}" destId="{84B296C6-74D0-4B49-B538-1F8876A7B966}" srcOrd="1" destOrd="0" parTransId="{FF617909-CF71-4930-9E79-3F4FAF9FD69D}" sibTransId="{75CD3168-73D8-4E1C-B96D-83D16E1482F8}"/>
    <dgm:cxn modelId="{606193AF-FDE7-4FE9-8BBB-23CE3F9EA1E4}" type="presOf" srcId="{D404B3EA-FE30-42C6-8B6B-4CAA313C98C9}" destId="{8F2FBE72-A072-4D0B-8F18-DA72C81AF7B4}" srcOrd="0" destOrd="0" presId="urn:microsoft.com/office/officeart/2005/8/layout/default"/>
    <dgm:cxn modelId="{D4E42AAA-8B07-4164-A8A3-4C069F73CC11}" srcId="{BAB07DE0-0C1A-4DA0-B858-E3307A297568}" destId="{5A4936F6-7AF5-415E-ACE2-66A3216048D1}" srcOrd="3" destOrd="0" parTransId="{559B58F3-4DC1-4E6D-97D3-C6CC701C0DEB}" sibTransId="{46BEA014-8788-4B82-AFAF-3D95484E76BC}"/>
    <dgm:cxn modelId="{D5174A7D-8035-4708-9933-A4C0967CCCDD}" srcId="{BAB07DE0-0C1A-4DA0-B858-E3307A297568}" destId="{D404B3EA-FE30-42C6-8B6B-4CAA313C98C9}" srcOrd="0" destOrd="0" parTransId="{9280D937-48AC-41CA-B97D-4BE494E37648}" sibTransId="{A7C491E1-6A29-4BFB-B540-C5A642AB1F4A}"/>
    <dgm:cxn modelId="{CF13E591-758A-4173-A5E3-89E0E38A0E65}" type="presOf" srcId="{9DE62915-5715-48D9-A83A-67799ECD9303}" destId="{DB00AD58-A31A-4989-858F-D72ADE8D84DF}" srcOrd="0" destOrd="0" presId="urn:microsoft.com/office/officeart/2005/8/layout/default"/>
    <dgm:cxn modelId="{5D07013D-E88E-45A3-B3FD-A00783D9B942}" type="presParOf" srcId="{503601A9-633B-4B83-BE34-B5AAB39B900C}" destId="{8F2FBE72-A072-4D0B-8F18-DA72C81AF7B4}" srcOrd="0" destOrd="0" presId="urn:microsoft.com/office/officeart/2005/8/layout/default"/>
    <dgm:cxn modelId="{46885074-1F38-4F04-81AB-C77B0FFEE460}" type="presParOf" srcId="{503601A9-633B-4B83-BE34-B5AAB39B900C}" destId="{A9BB1CB5-95E7-480B-BCA9-4BCDCC19B73E}" srcOrd="1" destOrd="0" presId="urn:microsoft.com/office/officeart/2005/8/layout/default"/>
    <dgm:cxn modelId="{D007708E-5A28-4A71-805F-0547088320E1}" type="presParOf" srcId="{503601A9-633B-4B83-BE34-B5AAB39B900C}" destId="{C41CBDB2-23CE-461E-BE8E-C4E6B1EDBBF1}" srcOrd="2" destOrd="0" presId="urn:microsoft.com/office/officeart/2005/8/layout/default"/>
    <dgm:cxn modelId="{4DE723A1-3E1E-4B9F-99E7-E353C4706D7B}" type="presParOf" srcId="{503601A9-633B-4B83-BE34-B5AAB39B900C}" destId="{67EA7886-4F35-48E6-9829-2DEFD00E1013}" srcOrd="3" destOrd="0" presId="urn:microsoft.com/office/officeart/2005/8/layout/default"/>
    <dgm:cxn modelId="{2766A547-EF72-4931-B7CC-1442A650021A}" type="presParOf" srcId="{503601A9-633B-4B83-BE34-B5AAB39B900C}" destId="{DB00AD58-A31A-4989-858F-D72ADE8D84DF}" srcOrd="4" destOrd="0" presId="urn:microsoft.com/office/officeart/2005/8/layout/default"/>
    <dgm:cxn modelId="{AF07FB02-405C-494B-801F-3C3CBB9A1883}" type="presParOf" srcId="{503601A9-633B-4B83-BE34-B5AAB39B900C}" destId="{43873F28-E4EA-4B5D-ADA9-7E8E0EF36981}" srcOrd="5" destOrd="0" presId="urn:microsoft.com/office/officeart/2005/8/layout/default"/>
    <dgm:cxn modelId="{0B653008-FDBE-410D-8F62-CF2BABA0351C}" type="presParOf" srcId="{503601A9-633B-4B83-BE34-B5AAB39B900C}" destId="{F227E26A-6E7F-4B0F-8C39-D334A3B9249B}" srcOrd="6" destOrd="0" presId="urn:microsoft.com/office/officeart/2005/8/layout/default"/>
    <dgm:cxn modelId="{1D78EE1A-6290-43E5-A948-92A0D63FE670}" type="presParOf" srcId="{503601A9-633B-4B83-BE34-B5AAB39B900C}" destId="{7BF35BC4-BD6C-4802-977C-E4C366991A13}" srcOrd="7" destOrd="0" presId="urn:microsoft.com/office/officeart/2005/8/layout/default"/>
    <dgm:cxn modelId="{A6D857CA-5EA9-42F3-9B71-55A9C6EA34FE}" type="presParOf" srcId="{503601A9-633B-4B83-BE34-B5AAB39B900C}" destId="{FAA1D66A-D12E-4F81-B565-91A303ABD309}" srcOrd="8" destOrd="0" presId="urn:microsoft.com/office/officeart/2005/8/layout/default"/>
    <dgm:cxn modelId="{FA86503E-05DB-4F6A-89E7-4BA6F10E3C91}" type="presParOf" srcId="{503601A9-633B-4B83-BE34-B5AAB39B900C}" destId="{F9AC5E94-0D47-46B6-AB06-04677599358D}" srcOrd="9" destOrd="0" presId="urn:microsoft.com/office/officeart/2005/8/layout/default"/>
    <dgm:cxn modelId="{13B7FB02-A3D0-474D-BA0D-D445C5DD739F}" type="presParOf" srcId="{503601A9-633B-4B83-BE34-B5AAB39B900C}" destId="{088FC461-4A7A-42E7-90C2-85B21DC9DDB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AB07DE0-0C1A-4DA0-B858-E3307A29756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404B3EA-FE30-42C6-8B6B-4CAA313C98C9}">
      <dgm:prSet phldrT="[Текст]" custT="1"/>
      <dgm:spPr/>
      <dgm:t>
        <a:bodyPr/>
        <a:lstStyle/>
        <a:p>
          <a:r>
            <a:rPr lang="ru-RU" sz="2400" smtClean="0">
              <a:latin typeface="Times New Roman" pitchFamily="18" charset="0"/>
              <a:cs typeface="Times New Roman" pitchFamily="18" charset="0"/>
            </a:rPr>
            <a:t>анализа значимых факторов при принятии решений;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9280D937-48AC-41CA-B97D-4BE494E37648}" type="parTrans" cxnId="{D5174A7D-8035-4708-9933-A4C0967CCCD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A7C491E1-6A29-4BFB-B540-C5A642AB1F4A}" type="sibTrans" cxnId="{D5174A7D-8035-4708-9933-A4C0967CCCD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F8F6EAFF-17EE-4776-ADC0-E6DF1D3E24FC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построения модели-симулятора, чтобы протестировать продукт;</a:t>
          </a:r>
        </a:p>
      </dgm:t>
    </dgm:pt>
    <dgm:pt modelId="{6A821429-3AA1-434C-8795-DE37A04A493D}" type="parTrans" cxnId="{5B5571AA-BD57-4918-AC58-F9AAD0B5220E}">
      <dgm:prSet/>
      <dgm:spPr/>
      <dgm:t>
        <a:bodyPr/>
        <a:lstStyle/>
        <a:p>
          <a:endParaRPr lang="ru-RU" sz="2000"/>
        </a:p>
      </dgm:t>
    </dgm:pt>
    <dgm:pt modelId="{F3070648-AE42-4ABB-B8D8-AC3CFF0DC0F0}" type="sibTrans" cxnId="{5B5571AA-BD57-4918-AC58-F9AAD0B5220E}">
      <dgm:prSet/>
      <dgm:spPr/>
      <dgm:t>
        <a:bodyPr/>
        <a:lstStyle/>
        <a:p>
          <a:endParaRPr lang="ru-RU" sz="2000"/>
        </a:p>
      </dgm:t>
    </dgm:pt>
    <dgm:pt modelId="{442734A4-1E29-44CC-8A27-B924D25BC7EC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статистики;</a:t>
          </a:r>
        </a:p>
      </dgm:t>
    </dgm:pt>
    <dgm:pt modelId="{E6753904-379A-4C2A-88A3-00ECD1B6AD61}" type="parTrans" cxnId="{86513D6B-16B9-42CE-91C4-56FC8EE199C6}">
      <dgm:prSet/>
      <dgm:spPr/>
      <dgm:t>
        <a:bodyPr/>
        <a:lstStyle/>
        <a:p>
          <a:endParaRPr lang="ru-RU" sz="2000"/>
        </a:p>
      </dgm:t>
    </dgm:pt>
    <dgm:pt modelId="{44662D82-3771-4CDD-AC68-695231D67AFB}" type="sibTrans" cxnId="{86513D6B-16B9-42CE-91C4-56FC8EE199C6}">
      <dgm:prSet/>
      <dgm:spPr/>
      <dgm:t>
        <a:bodyPr/>
        <a:lstStyle/>
        <a:p>
          <a:endParaRPr lang="ru-RU" sz="2000"/>
        </a:p>
      </dgm:t>
    </dgm:pt>
    <dgm:pt modelId="{849A1805-3BAB-4295-B5CA-C0DE0BFF631E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прогнозирования.</a:t>
          </a:r>
        </a:p>
      </dgm:t>
    </dgm:pt>
    <dgm:pt modelId="{444807F3-BFE9-4864-A009-F0C4C45C0DC2}" type="parTrans" cxnId="{173F426C-C171-45F6-BCF1-0C2A2FF126B9}">
      <dgm:prSet/>
      <dgm:spPr/>
      <dgm:t>
        <a:bodyPr/>
        <a:lstStyle/>
        <a:p>
          <a:endParaRPr lang="ru-RU" sz="2000"/>
        </a:p>
      </dgm:t>
    </dgm:pt>
    <dgm:pt modelId="{892D5161-D68F-4FB7-AB9B-0D3D07FC42F5}" type="sibTrans" cxnId="{173F426C-C171-45F6-BCF1-0C2A2FF126B9}">
      <dgm:prSet/>
      <dgm:spPr/>
      <dgm:t>
        <a:bodyPr/>
        <a:lstStyle/>
        <a:p>
          <a:endParaRPr lang="ru-RU" sz="2000"/>
        </a:p>
      </dgm:t>
    </dgm:pt>
    <dgm:pt modelId="{503601A9-633B-4B83-BE34-B5AAB39B900C}" type="pres">
      <dgm:prSet presAssocID="{BAB07DE0-0C1A-4DA0-B858-E3307A29756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F2FBE72-A072-4D0B-8F18-DA72C81AF7B4}" type="pres">
      <dgm:prSet presAssocID="{D404B3EA-FE30-42C6-8B6B-4CAA313C98C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BB1CB5-95E7-480B-BCA9-4BCDCC19B73E}" type="pres">
      <dgm:prSet presAssocID="{A7C491E1-6A29-4BFB-B540-C5A642AB1F4A}" presName="sibTrans" presStyleCnt="0"/>
      <dgm:spPr/>
    </dgm:pt>
    <dgm:pt modelId="{7752828E-7E27-4761-8D2C-587FFFC01CE2}" type="pres">
      <dgm:prSet presAssocID="{F8F6EAFF-17EE-4776-ADC0-E6DF1D3E24F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EB53271-1D35-4EF7-80EA-F2230D5D1616}" type="pres">
      <dgm:prSet presAssocID="{F3070648-AE42-4ABB-B8D8-AC3CFF0DC0F0}" presName="sibTrans" presStyleCnt="0"/>
      <dgm:spPr/>
    </dgm:pt>
    <dgm:pt modelId="{D1F3D6C9-0322-403E-9195-348D322C76E3}" type="pres">
      <dgm:prSet presAssocID="{442734A4-1E29-44CC-8A27-B924D25BC7E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11F7DF-3D8D-4665-836D-F526E7F846D0}" type="pres">
      <dgm:prSet presAssocID="{44662D82-3771-4CDD-AC68-695231D67AFB}" presName="sibTrans" presStyleCnt="0"/>
      <dgm:spPr/>
    </dgm:pt>
    <dgm:pt modelId="{BE03C0BC-A4EA-4464-9860-71EFDB0F4B8C}" type="pres">
      <dgm:prSet presAssocID="{849A1805-3BAB-4295-B5CA-C0DE0BFF631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F99CABD-8F8F-4D40-84A9-613EA19093DD}" type="presOf" srcId="{F8F6EAFF-17EE-4776-ADC0-E6DF1D3E24FC}" destId="{7752828E-7E27-4761-8D2C-587FFFC01CE2}" srcOrd="0" destOrd="0" presId="urn:microsoft.com/office/officeart/2005/8/layout/default"/>
    <dgm:cxn modelId="{FF37E4F0-7274-4624-9393-9D5CCD4FB23D}" type="presOf" srcId="{BAB07DE0-0C1A-4DA0-B858-E3307A297568}" destId="{503601A9-633B-4B83-BE34-B5AAB39B900C}" srcOrd="0" destOrd="0" presId="urn:microsoft.com/office/officeart/2005/8/layout/default"/>
    <dgm:cxn modelId="{D5174A7D-8035-4708-9933-A4C0967CCCDD}" srcId="{BAB07DE0-0C1A-4DA0-B858-E3307A297568}" destId="{D404B3EA-FE30-42C6-8B6B-4CAA313C98C9}" srcOrd="0" destOrd="0" parTransId="{9280D937-48AC-41CA-B97D-4BE494E37648}" sibTransId="{A7C491E1-6A29-4BFB-B540-C5A642AB1F4A}"/>
    <dgm:cxn modelId="{5B5571AA-BD57-4918-AC58-F9AAD0B5220E}" srcId="{BAB07DE0-0C1A-4DA0-B858-E3307A297568}" destId="{F8F6EAFF-17EE-4776-ADC0-E6DF1D3E24FC}" srcOrd="1" destOrd="0" parTransId="{6A821429-3AA1-434C-8795-DE37A04A493D}" sibTransId="{F3070648-AE42-4ABB-B8D8-AC3CFF0DC0F0}"/>
    <dgm:cxn modelId="{86513D6B-16B9-42CE-91C4-56FC8EE199C6}" srcId="{BAB07DE0-0C1A-4DA0-B858-E3307A297568}" destId="{442734A4-1E29-44CC-8A27-B924D25BC7EC}" srcOrd="2" destOrd="0" parTransId="{E6753904-379A-4C2A-88A3-00ECD1B6AD61}" sibTransId="{44662D82-3771-4CDD-AC68-695231D67AFB}"/>
    <dgm:cxn modelId="{96A374DA-2B35-4E40-837C-7452E338AD0F}" type="presOf" srcId="{442734A4-1E29-44CC-8A27-B924D25BC7EC}" destId="{D1F3D6C9-0322-403E-9195-348D322C76E3}" srcOrd="0" destOrd="0" presId="urn:microsoft.com/office/officeart/2005/8/layout/default"/>
    <dgm:cxn modelId="{173F426C-C171-45F6-BCF1-0C2A2FF126B9}" srcId="{BAB07DE0-0C1A-4DA0-B858-E3307A297568}" destId="{849A1805-3BAB-4295-B5CA-C0DE0BFF631E}" srcOrd="3" destOrd="0" parTransId="{444807F3-BFE9-4864-A009-F0C4C45C0DC2}" sibTransId="{892D5161-D68F-4FB7-AB9B-0D3D07FC42F5}"/>
    <dgm:cxn modelId="{A6EA59A4-F900-4431-B38B-6F26F1390795}" type="presOf" srcId="{849A1805-3BAB-4295-B5CA-C0DE0BFF631E}" destId="{BE03C0BC-A4EA-4464-9860-71EFDB0F4B8C}" srcOrd="0" destOrd="0" presId="urn:microsoft.com/office/officeart/2005/8/layout/default"/>
    <dgm:cxn modelId="{91C21EE5-D111-49AF-B661-5D40D4052CB8}" type="presOf" srcId="{D404B3EA-FE30-42C6-8B6B-4CAA313C98C9}" destId="{8F2FBE72-A072-4D0B-8F18-DA72C81AF7B4}" srcOrd="0" destOrd="0" presId="urn:microsoft.com/office/officeart/2005/8/layout/default"/>
    <dgm:cxn modelId="{46FD2D17-D636-4B11-8120-EB0B4EF3D4F9}" type="presParOf" srcId="{503601A9-633B-4B83-BE34-B5AAB39B900C}" destId="{8F2FBE72-A072-4D0B-8F18-DA72C81AF7B4}" srcOrd="0" destOrd="0" presId="urn:microsoft.com/office/officeart/2005/8/layout/default"/>
    <dgm:cxn modelId="{0AEDD920-D055-4C46-9990-D67071A1D42B}" type="presParOf" srcId="{503601A9-633B-4B83-BE34-B5AAB39B900C}" destId="{A9BB1CB5-95E7-480B-BCA9-4BCDCC19B73E}" srcOrd="1" destOrd="0" presId="urn:microsoft.com/office/officeart/2005/8/layout/default"/>
    <dgm:cxn modelId="{DD773247-5036-49B6-B010-A618D8BB895B}" type="presParOf" srcId="{503601A9-633B-4B83-BE34-B5AAB39B900C}" destId="{7752828E-7E27-4761-8D2C-587FFFC01CE2}" srcOrd="2" destOrd="0" presId="urn:microsoft.com/office/officeart/2005/8/layout/default"/>
    <dgm:cxn modelId="{5C12A928-2DB9-469B-B13D-926213B1945B}" type="presParOf" srcId="{503601A9-633B-4B83-BE34-B5AAB39B900C}" destId="{AEB53271-1D35-4EF7-80EA-F2230D5D1616}" srcOrd="3" destOrd="0" presId="urn:microsoft.com/office/officeart/2005/8/layout/default"/>
    <dgm:cxn modelId="{68B62B78-C706-4789-862B-3791F812BFD0}" type="presParOf" srcId="{503601A9-633B-4B83-BE34-B5AAB39B900C}" destId="{D1F3D6C9-0322-403E-9195-348D322C76E3}" srcOrd="4" destOrd="0" presId="urn:microsoft.com/office/officeart/2005/8/layout/default"/>
    <dgm:cxn modelId="{EE59D468-CD8C-4D6A-AFCF-6327D646E45A}" type="presParOf" srcId="{503601A9-633B-4B83-BE34-B5AAB39B900C}" destId="{0911F7DF-3D8D-4665-836D-F526E7F846D0}" srcOrd="5" destOrd="0" presId="urn:microsoft.com/office/officeart/2005/8/layout/default"/>
    <dgm:cxn modelId="{0F921173-EB4E-436D-812C-8F48C630A3AE}" type="presParOf" srcId="{503601A9-633B-4B83-BE34-B5AAB39B900C}" destId="{BE03C0BC-A4EA-4464-9860-71EFDB0F4B8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E9E2BD9-0630-4B1B-B4EC-98471253EB3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C51167F-83AB-49CF-94D3-77D7AE13D743}">
      <dgm:prSet phldrT="[Текст]" custT="1"/>
      <dgm:spPr/>
      <dgm:t>
        <a:bodyPr/>
        <a:lstStyle/>
        <a:p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IaaS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Это низкоуровневый сервис, в котором пользователь сможет пользоваться серверами, сетями и хранилищем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вендора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, а средства разработки, ОС и приложения использует свои.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B92073E7-95F9-4623-93D7-8E92B05BBAC2}" type="parTrans" cxnId="{E3B894C6-3FF7-4773-B886-67903B20E32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91C99A9-BE1B-4925-A0BD-FE9C1E4A94C9}" type="sibTrans" cxnId="{E3B894C6-3FF7-4773-B886-67903B20E32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4DBF8CB-1C4A-4C48-80A3-0A25B9E40F81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PaaS.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Это настраиваемая платформа с расширенным функционалом. Управлять «железом» по-прежнему не нужно, поскольку это остается задачей вендора, но в сервисе есть встроенные инструменты для разработки, управления и тестирования ПО.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B7A58727-2D84-4085-B4E1-F15EC6C9646C}" type="parTrans" cxnId="{0CDEBB04-427B-4A56-8EF7-67E792905CA7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688CDA5-C69D-4ECC-8021-8A307912B313}" type="sibTrans" cxnId="{0CDEBB04-427B-4A56-8EF7-67E792905CA7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7D34F6A-0659-46C1-94C5-D4B555E22981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SaaS.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Это полный комплекс программного обеспечения: клиент покупает уже готовое решение, а вендор берет на себя управление, техподдержку, обновление и прочие процессы.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659196D2-BD62-492E-BF63-69E5024CB2B3}" type="parTrans" cxnId="{55606D38-B859-4BEB-BF89-353D44D25D8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93BCAB8-7AEC-4AB0-B214-12849028EADD}" type="sibTrans" cxnId="{55606D38-B859-4BEB-BF89-353D44D25D8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2F111452-8E80-4CAA-B630-A34417C9840F}" type="pres">
      <dgm:prSet presAssocID="{5E9E2BD9-0630-4B1B-B4EC-98471253EB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30264A-5AE3-44CF-A149-87DD57B11D6E}" type="pres">
      <dgm:prSet presAssocID="{DC51167F-83AB-49CF-94D3-77D7AE13D743}" presName="node" presStyleLbl="node1" presStyleIdx="0" presStyleCnt="3" custScaleY="15399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83FAE2-5E12-426C-8FE9-7400E90267D5}" type="pres">
      <dgm:prSet presAssocID="{191C99A9-BE1B-4925-A0BD-FE9C1E4A94C9}" presName="sibTrans" presStyleCnt="0"/>
      <dgm:spPr/>
    </dgm:pt>
    <dgm:pt modelId="{9CE9026F-6E7C-4899-92E6-A98412801290}" type="pres">
      <dgm:prSet presAssocID="{F4DBF8CB-1C4A-4C48-80A3-0A25B9E40F81}" presName="node" presStyleLbl="node1" presStyleIdx="1" presStyleCnt="3" custScaleY="15424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0D444-2E7A-48A7-A3E9-66B1A5267D5B}" type="pres">
      <dgm:prSet presAssocID="{E688CDA5-C69D-4ECC-8021-8A307912B313}" presName="sibTrans" presStyleCnt="0"/>
      <dgm:spPr/>
    </dgm:pt>
    <dgm:pt modelId="{14C340D6-C42D-4AE9-94FF-1A8DD99B5DA6}" type="pres">
      <dgm:prSet presAssocID="{D7D34F6A-0659-46C1-94C5-D4B555E22981}" presName="node" presStyleLbl="node1" presStyleIdx="2" presStyleCnt="3" custScaleX="116835" custScaleY="15448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05BC546-0C1F-46EC-8698-3448E1B41101}" type="presOf" srcId="{DC51167F-83AB-49CF-94D3-77D7AE13D743}" destId="{E630264A-5AE3-44CF-A149-87DD57B11D6E}" srcOrd="0" destOrd="0" presId="urn:microsoft.com/office/officeart/2005/8/layout/default"/>
    <dgm:cxn modelId="{E3B894C6-3FF7-4773-B886-67903B20E324}" srcId="{5E9E2BD9-0630-4B1B-B4EC-98471253EB30}" destId="{DC51167F-83AB-49CF-94D3-77D7AE13D743}" srcOrd="0" destOrd="0" parTransId="{B92073E7-95F9-4623-93D7-8E92B05BBAC2}" sibTransId="{191C99A9-BE1B-4925-A0BD-FE9C1E4A94C9}"/>
    <dgm:cxn modelId="{55606D38-B859-4BEB-BF89-353D44D25D86}" srcId="{5E9E2BD9-0630-4B1B-B4EC-98471253EB30}" destId="{D7D34F6A-0659-46C1-94C5-D4B555E22981}" srcOrd="2" destOrd="0" parTransId="{659196D2-BD62-492E-BF63-69E5024CB2B3}" sibTransId="{E93BCAB8-7AEC-4AB0-B214-12849028EADD}"/>
    <dgm:cxn modelId="{0CDEBB04-427B-4A56-8EF7-67E792905CA7}" srcId="{5E9E2BD9-0630-4B1B-B4EC-98471253EB30}" destId="{F4DBF8CB-1C4A-4C48-80A3-0A25B9E40F81}" srcOrd="1" destOrd="0" parTransId="{B7A58727-2D84-4085-B4E1-F15EC6C9646C}" sibTransId="{E688CDA5-C69D-4ECC-8021-8A307912B313}"/>
    <dgm:cxn modelId="{26CE2506-F021-484F-B6C5-4BA4DF2AA82E}" type="presOf" srcId="{5E9E2BD9-0630-4B1B-B4EC-98471253EB30}" destId="{2F111452-8E80-4CAA-B630-A34417C9840F}" srcOrd="0" destOrd="0" presId="urn:microsoft.com/office/officeart/2005/8/layout/default"/>
    <dgm:cxn modelId="{8852C7BF-B922-4B77-9CE0-B1D35C4D9964}" type="presOf" srcId="{F4DBF8CB-1C4A-4C48-80A3-0A25B9E40F81}" destId="{9CE9026F-6E7C-4899-92E6-A98412801290}" srcOrd="0" destOrd="0" presId="urn:microsoft.com/office/officeart/2005/8/layout/default"/>
    <dgm:cxn modelId="{F473FA4C-010F-440D-B069-5308A0FF8DE9}" type="presOf" srcId="{D7D34F6A-0659-46C1-94C5-D4B555E22981}" destId="{14C340D6-C42D-4AE9-94FF-1A8DD99B5DA6}" srcOrd="0" destOrd="0" presId="urn:microsoft.com/office/officeart/2005/8/layout/default"/>
    <dgm:cxn modelId="{B4189671-BEC3-45CC-8241-5FFF0D1CE55C}" type="presParOf" srcId="{2F111452-8E80-4CAA-B630-A34417C9840F}" destId="{E630264A-5AE3-44CF-A149-87DD57B11D6E}" srcOrd="0" destOrd="0" presId="urn:microsoft.com/office/officeart/2005/8/layout/default"/>
    <dgm:cxn modelId="{71998661-BE5A-4079-9794-F51BCC436C4F}" type="presParOf" srcId="{2F111452-8E80-4CAA-B630-A34417C9840F}" destId="{FE83FAE2-5E12-426C-8FE9-7400E90267D5}" srcOrd="1" destOrd="0" presId="urn:microsoft.com/office/officeart/2005/8/layout/default"/>
    <dgm:cxn modelId="{481F8EF9-CDF5-4821-A6D7-DC46BD049EF2}" type="presParOf" srcId="{2F111452-8E80-4CAA-B630-A34417C9840F}" destId="{9CE9026F-6E7C-4899-92E6-A98412801290}" srcOrd="2" destOrd="0" presId="urn:microsoft.com/office/officeart/2005/8/layout/default"/>
    <dgm:cxn modelId="{C9759E81-BEA1-4E3E-A6A1-347924852CF7}" type="presParOf" srcId="{2F111452-8E80-4CAA-B630-A34417C9840F}" destId="{3720D444-2E7A-48A7-A3E9-66B1A5267D5B}" srcOrd="3" destOrd="0" presId="urn:microsoft.com/office/officeart/2005/8/layout/default"/>
    <dgm:cxn modelId="{0AC0E828-88DE-4C1F-A070-AB0840913457}" type="presParOf" srcId="{2F111452-8E80-4CAA-B630-A34417C9840F}" destId="{14C340D6-C42D-4AE9-94FF-1A8DD99B5DA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C2AEB6B-274A-4599-A61B-733335B88B2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144BB07-4518-4A23-8615-4826E6628BBA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Централизованный доступ:  Удобный доступ ко всем необходимым файлам в одном месте.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F0F5B58-16A9-4055-A149-57BB8D967FC1}" type="parTrans" cxnId="{5892FA13-3142-4C74-8D49-803D188BC77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2ED0DA0-A42E-47E2-A055-B14F7511B763}" type="sibTrans" cxnId="{5892FA13-3142-4C74-8D49-803D188BC77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DCD37AB-5FA5-40D4-902F-6F6635000FA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Управление версиями:  Позволяет вендору отслеживать и управлять различными версиями продуктов и файлов.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608CD00-902F-474F-BABF-A944E92EB1B4}" type="parTrans" cxnId="{BB5844E1-E888-4457-88D4-36CDCA7A053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55921BB-0D0C-4428-8236-8796972D76BE}" type="sibTrans" cxnId="{BB5844E1-E888-4457-88D4-36CDCA7A053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3B00A62-AF42-4B04-BE4C-52A2629FADE3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Контроль доступа:  Можно настроить права доступа, чтобы разные пользователи имели доступ только к определенным файлам.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53BE467-AB3C-4808-99CF-A681FA4F9E0D}" type="parTrans" cxnId="{280578D9-42C1-413D-B553-86A0E5397FC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4C47AF0-ACE1-48F9-B97D-84B4066333DE}" type="sibTrans" cxnId="{280578D9-42C1-413D-B553-86A0E5397FC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9005CF4-D848-4786-B2CD-64C92AF4936D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Упрощение процесса установки и поддержки:  Пользователям и техническим специалистам проще найти все необходимое для установки, настройки и поддержки продуктов.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AB311FF-EC2C-4BB9-9113-DB338C82D091}" type="parTrans" cxnId="{A6B5DFA0-052F-4553-93EA-F6EC9AFF3F1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87725C5-D913-42BC-AE80-B45E64A130DC}" type="sibTrans" cxnId="{A6B5DFA0-052F-4553-93EA-F6EC9AFF3F1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FBD18B4-7801-492B-ACC8-2C930FA0664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Гарантия актуальности информации: Вендор может оперативно обновлять файлы в хранилище, предоставляя пользователям самую актуальную информацию.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E6B340F-18B9-4DCA-826D-CB5C76409ECB}" type="parTrans" cxnId="{A4AC28F4-4935-48C1-B38B-4CE04CFA40B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A024069-306D-4C71-A084-9942A971218F}" type="sibTrans" cxnId="{A4AC28F4-4935-48C1-B38B-4CE04CFA40B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E93290D-B8DA-4BC9-A3A1-DB89BF92E90B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Улучшение сотрудничества: Упрощает взаимодействие между вендором, партнерами и конечными пользователями.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AF3AA0F-E94B-4A30-907B-066F2A38E591}" type="parTrans" cxnId="{DB3F8099-9065-43AB-97DC-4310CD8454B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F99C191-0914-4CDA-B195-837091365B07}" type="sibTrans" cxnId="{DB3F8099-9065-43AB-97DC-4310CD8454B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CDC98E9-1480-445D-9EC4-9E164C82FF22}" type="pres">
      <dgm:prSet presAssocID="{CC2AEB6B-274A-4599-A61B-733335B88B2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44F067A-48CE-4F16-9981-21F928B4883C}" type="pres">
      <dgm:prSet presAssocID="{8144BB07-4518-4A23-8615-4826E6628BBA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0D5C2B-8DCF-40C9-BFA0-0C740EA12315}" type="pres">
      <dgm:prSet presAssocID="{12ED0DA0-A42E-47E2-A055-B14F7511B763}" presName="sibTrans" presStyleCnt="0"/>
      <dgm:spPr/>
    </dgm:pt>
    <dgm:pt modelId="{AB4732CF-0DD2-4073-9D64-E34EAE40B842}" type="pres">
      <dgm:prSet presAssocID="{7DCD37AB-5FA5-40D4-902F-6F6635000FA2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5A02E0-4EA4-4665-8263-13B813DE5030}" type="pres">
      <dgm:prSet presAssocID="{255921BB-0D0C-4428-8236-8796972D76BE}" presName="sibTrans" presStyleCnt="0"/>
      <dgm:spPr/>
    </dgm:pt>
    <dgm:pt modelId="{EEF5FFA2-A1C6-460C-B631-8D6BD3DE5435}" type="pres">
      <dgm:prSet presAssocID="{73B00A62-AF42-4B04-BE4C-52A2629FADE3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D8B6727-2302-4D28-AB31-6B9FE5EB8AF7}" type="pres">
      <dgm:prSet presAssocID="{64C47AF0-ACE1-48F9-B97D-84B4066333DE}" presName="sibTrans" presStyleCnt="0"/>
      <dgm:spPr/>
    </dgm:pt>
    <dgm:pt modelId="{EAEFDE9B-A958-4147-8978-DEA8DDBF1032}" type="pres">
      <dgm:prSet presAssocID="{69005CF4-D848-4786-B2CD-64C92AF4936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0D1722-403E-4043-9B22-44AF765E47D6}" type="pres">
      <dgm:prSet presAssocID="{987725C5-D913-42BC-AE80-B45E64A130DC}" presName="sibTrans" presStyleCnt="0"/>
      <dgm:spPr/>
    </dgm:pt>
    <dgm:pt modelId="{8E3C3AC3-D5FA-4259-8B70-F8D3A72BCBBF}" type="pres">
      <dgm:prSet presAssocID="{1FBD18B4-7801-492B-ACC8-2C930FA0664C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A2B2C4-4398-4D4E-84AF-3679E08ED6B9}" type="pres">
      <dgm:prSet presAssocID="{3A024069-306D-4C71-A084-9942A971218F}" presName="sibTrans" presStyleCnt="0"/>
      <dgm:spPr/>
    </dgm:pt>
    <dgm:pt modelId="{9E4315F1-5462-4DFD-8153-32700F2C2F81}" type="pres">
      <dgm:prSet presAssocID="{1E93290D-B8DA-4BC9-A3A1-DB89BF92E90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892FA13-3142-4C74-8D49-803D188BC77C}" srcId="{CC2AEB6B-274A-4599-A61B-733335B88B24}" destId="{8144BB07-4518-4A23-8615-4826E6628BBA}" srcOrd="0" destOrd="0" parTransId="{7F0F5B58-16A9-4055-A149-57BB8D967FC1}" sibTransId="{12ED0DA0-A42E-47E2-A055-B14F7511B763}"/>
    <dgm:cxn modelId="{A6B5DFA0-052F-4553-93EA-F6EC9AFF3F15}" srcId="{CC2AEB6B-274A-4599-A61B-733335B88B24}" destId="{69005CF4-D848-4786-B2CD-64C92AF4936D}" srcOrd="3" destOrd="0" parTransId="{EAB311FF-EC2C-4BB9-9113-DB338C82D091}" sibTransId="{987725C5-D913-42BC-AE80-B45E64A130DC}"/>
    <dgm:cxn modelId="{A4AC28F4-4935-48C1-B38B-4CE04CFA40BC}" srcId="{CC2AEB6B-274A-4599-A61B-733335B88B24}" destId="{1FBD18B4-7801-492B-ACC8-2C930FA0664C}" srcOrd="4" destOrd="0" parTransId="{4E6B340F-18B9-4DCA-826D-CB5C76409ECB}" sibTransId="{3A024069-306D-4C71-A084-9942A971218F}"/>
    <dgm:cxn modelId="{BB5844E1-E888-4457-88D4-36CDCA7A0537}" srcId="{CC2AEB6B-274A-4599-A61B-733335B88B24}" destId="{7DCD37AB-5FA5-40D4-902F-6F6635000FA2}" srcOrd="1" destOrd="0" parTransId="{C608CD00-902F-474F-BABF-A944E92EB1B4}" sibTransId="{255921BB-0D0C-4428-8236-8796972D76BE}"/>
    <dgm:cxn modelId="{280578D9-42C1-413D-B553-86A0E5397FCC}" srcId="{CC2AEB6B-274A-4599-A61B-733335B88B24}" destId="{73B00A62-AF42-4B04-BE4C-52A2629FADE3}" srcOrd="2" destOrd="0" parTransId="{453BE467-AB3C-4808-99CF-A681FA4F9E0D}" sibTransId="{64C47AF0-ACE1-48F9-B97D-84B4066333DE}"/>
    <dgm:cxn modelId="{D2127061-86CE-47BA-B645-A7A71E838A68}" type="presOf" srcId="{CC2AEB6B-274A-4599-A61B-733335B88B24}" destId="{CCDC98E9-1480-445D-9EC4-9E164C82FF22}" srcOrd="0" destOrd="0" presId="urn:microsoft.com/office/officeart/2005/8/layout/default"/>
    <dgm:cxn modelId="{2F351A9F-3416-4ADB-93D6-90C5E9258FC0}" type="presOf" srcId="{1FBD18B4-7801-492B-ACC8-2C930FA0664C}" destId="{8E3C3AC3-D5FA-4259-8B70-F8D3A72BCBBF}" srcOrd="0" destOrd="0" presId="urn:microsoft.com/office/officeart/2005/8/layout/default"/>
    <dgm:cxn modelId="{DB3F8099-9065-43AB-97DC-4310CD8454B8}" srcId="{CC2AEB6B-274A-4599-A61B-733335B88B24}" destId="{1E93290D-B8DA-4BC9-A3A1-DB89BF92E90B}" srcOrd="5" destOrd="0" parTransId="{3AF3AA0F-E94B-4A30-907B-066F2A38E591}" sibTransId="{4F99C191-0914-4CDA-B195-837091365B07}"/>
    <dgm:cxn modelId="{A0CC390A-63E0-49A5-9B4A-C8DB520C4275}" type="presOf" srcId="{8144BB07-4518-4A23-8615-4826E6628BBA}" destId="{C44F067A-48CE-4F16-9981-21F928B4883C}" srcOrd="0" destOrd="0" presId="urn:microsoft.com/office/officeart/2005/8/layout/default"/>
    <dgm:cxn modelId="{F643719B-DA39-4311-B519-5371E6B0884B}" type="presOf" srcId="{73B00A62-AF42-4B04-BE4C-52A2629FADE3}" destId="{EEF5FFA2-A1C6-460C-B631-8D6BD3DE5435}" srcOrd="0" destOrd="0" presId="urn:microsoft.com/office/officeart/2005/8/layout/default"/>
    <dgm:cxn modelId="{1A5C1B93-200F-4C9B-ADFE-6E8469DF231F}" type="presOf" srcId="{1E93290D-B8DA-4BC9-A3A1-DB89BF92E90B}" destId="{9E4315F1-5462-4DFD-8153-32700F2C2F81}" srcOrd="0" destOrd="0" presId="urn:microsoft.com/office/officeart/2005/8/layout/default"/>
    <dgm:cxn modelId="{62172C03-7320-4C49-877C-E65F2E432CC8}" type="presOf" srcId="{69005CF4-D848-4786-B2CD-64C92AF4936D}" destId="{EAEFDE9B-A958-4147-8978-DEA8DDBF1032}" srcOrd="0" destOrd="0" presId="urn:microsoft.com/office/officeart/2005/8/layout/default"/>
    <dgm:cxn modelId="{F9C7FEC6-C305-4E81-9BD4-61D264E0B61A}" type="presOf" srcId="{7DCD37AB-5FA5-40D4-902F-6F6635000FA2}" destId="{AB4732CF-0DD2-4073-9D64-E34EAE40B842}" srcOrd="0" destOrd="0" presId="urn:microsoft.com/office/officeart/2005/8/layout/default"/>
    <dgm:cxn modelId="{70C50457-AE7B-45A2-BEDF-3BFAAFA25C4C}" type="presParOf" srcId="{CCDC98E9-1480-445D-9EC4-9E164C82FF22}" destId="{C44F067A-48CE-4F16-9981-21F928B4883C}" srcOrd="0" destOrd="0" presId="urn:microsoft.com/office/officeart/2005/8/layout/default"/>
    <dgm:cxn modelId="{FE085BAA-0B54-4A17-AD5A-65364C3B5475}" type="presParOf" srcId="{CCDC98E9-1480-445D-9EC4-9E164C82FF22}" destId="{4B0D5C2B-8DCF-40C9-BFA0-0C740EA12315}" srcOrd="1" destOrd="0" presId="urn:microsoft.com/office/officeart/2005/8/layout/default"/>
    <dgm:cxn modelId="{3F4BB123-4C80-4103-B59B-6A2B363D243C}" type="presParOf" srcId="{CCDC98E9-1480-445D-9EC4-9E164C82FF22}" destId="{AB4732CF-0DD2-4073-9D64-E34EAE40B842}" srcOrd="2" destOrd="0" presId="urn:microsoft.com/office/officeart/2005/8/layout/default"/>
    <dgm:cxn modelId="{135CA7B4-6F98-4452-AD20-3868DD374992}" type="presParOf" srcId="{CCDC98E9-1480-445D-9EC4-9E164C82FF22}" destId="{C35A02E0-4EA4-4665-8263-13B813DE5030}" srcOrd="3" destOrd="0" presId="urn:microsoft.com/office/officeart/2005/8/layout/default"/>
    <dgm:cxn modelId="{4E2F3733-DAA3-49A6-B5C3-5E025CFB4E63}" type="presParOf" srcId="{CCDC98E9-1480-445D-9EC4-9E164C82FF22}" destId="{EEF5FFA2-A1C6-460C-B631-8D6BD3DE5435}" srcOrd="4" destOrd="0" presId="urn:microsoft.com/office/officeart/2005/8/layout/default"/>
    <dgm:cxn modelId="{D6483845-1DF0-40FE-B22E-A3A5A07FDFA9}" type="presParOf" srcId="{CCDC98E9-1480-445D-9EC4-9E164C82FF22}" destId="{1D8B6727-2302-4D28-AB31-6B9FE5EB8AF7}" srcOrd="5" destOrd="0" presId="urn:microsoft.com/office/officeart/2005/8/layout/default"/>
    <dgm:cxn modelId="{08845F31-AEF3-4DA1-AF9E-5A962DE6E6F8}" type="presParOf" srcId="{CCDC98E9-1480-445D-9EC4-9E164C82FF22}" destId="{EAEFDE9B-A958-4147-8978-DEA8DDBF1032}" srcOrd="6" destOrd="0" presId="urn:microsoft.com/office/officeart/2005/8/layout/default"/>
    <dgm:cxn modelId="{361AA9CC-2A92-432F-A3FC-CD5227622193}" type="presParOf" srcId="{CCDC98E9-1480-445D-9EC4-9E164C82FF22}" destId="{E20D1722-403E-4043-9B22-44AF765E47D6}" srcOrd="7" destOrd="0" presId="urn:microsoft.com/office/officeart/2005/8/layout/default"/>
    <dgm:cxn modelId="{DD64BD07-42D9-4FD5-BFE3-D3655DBD5B41}" type="presParOf" srcId="{CCDC98E9-1480-445D-9EC4-9E164C82FF22}" destId="{8E3C3AC3-D5FA-4259-8B70-F8D3A72BCBBF}" srcOrd="8" destOrd="0" presId="urn:microsoft.com/office/officeart/2005/8/layout/default"/>
    <dgm:cxn modelId="{2A36C454-6D3F-416A-A080-7CAC30AB6546}" type="presParOf" srcId="{CCDC98E9-1480-445D-9EC4-9E164C82FF22}" destId="{D9A2B2C4-4398-4D4E-84AF-3679E08ED6B9}" srcOrd="9" destOrd="0" presId="urn:microsoft.com/office/officeart/2005/8/layout/default"/>
    <dgm:cxn modelId="{427161AE-6B71-4F88-9926-1A2A00C047A8}" type="presParOf" srcId="{CCDC98E9-1480-445D-9EC4-9E164C82FF22}" destId="{9E4315F1-5462-4DFD-8153-32700F2C2F8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40CA58E-2BB3-46A1-994A-E4AABB136F9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6FB7A37-82A8-4D28-8195-D7715FFFDA70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проанализировать инфраструктуру компании, чтобы понять, насколько та подготовлена к изменениям;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52388FC2-26B2-42A0-A36E-C989A38AF835}" type="parTrans" cxnId="{A638B0E6-B983-4484-8BF0-81E2BBA43ABF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19E404A6-02C6-48AC-823A-4996DA1E1354}" type="sibTrans" cxnId="{A638B0E6-B983-4484-8BF0-81E2BBA43ABF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86C5DE88-EDCE-4B2D-8A24-B7E66A94C525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рассчитать, какую прибыль принесет цифровая трансформация, какие расходы на нее понадобятся;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2131EAAC-4EBF-4552-A9B6-0884543D783A}" type="parTrans" cxnId="{B4DCCCAF-DFB4-4984-8808-F27E58467C0E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40C66915-8C4B-4793-9815-294F127DB296}" type="sibTrans" cxnId="{B4DCCCAF-DFB4-4984-8808-F27E58467C0E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9B3697F4-702E-403A-BD27-CC5F2B4BC8D1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определить направления, где ЦТ будет полезнее всего;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BC220536-7072-435B-ACFC-9AFF83182802}" type="parTrans" cxnId="{E51B0E19-2A26-4E56-853B-478236A581E6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F245FF2A-9F07-4247-9AE2-3A001A8E3C6C}" type="sibTrans" cxnId="{E51B0E19-2A26-4E56-853B-478236A581E6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536C5412-7F5C-4D08-B6AF-55D93FEA9DA2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протестировать разрабатываемые решения, проверить их отказоустойчивость, безопасность, скорость работы и другие параметры;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8D3F3F3A-8DAC-45A0-807C-E119F6FED2F1}" type="parTrans" cxnId="{6DF62288-03F8-4B18-91B6-DD76C1194750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099D7AAC-D1D0-4328-A9FD-A7AE233F2CA7}" type="sibTrans" cxnId="{6DF62288-03F8-4B18-91B6-DD76C1194750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43BF445C-3379-4CC5-B0FD-3C4B2E90F5E2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ускорить автоматизацию;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DE1F126F-7823-422C-B3AA-C39F3A12D880}" type="parTrans" cxnId="{D20729B1-862D-417A-9F38-D7C55950C1A3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7F888A78-C9E5-4BA0-924E-F4A28978F97C}" type="sibTrans" cxnId="{D20729B1-862D-417A-9F38-D7C55950C1A3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934B29D8-EC78-4180-9CDE-4B9802EEF7C9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мониторить риски, своевременно сообщать о них.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7BD79DE9-ECC7-4344-A323-F2C37719C148}" type="parTrans" cxnId="{EE872689-9F6B-4805-8338-98AFC5C11AC7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32655DE2-B535-4B6E-BCAA-CB06DC455190}" type="sibTrans" cxnId="{EE872689-9F6B-4805-8338-98AFC5C11AC7}">
      <dgm:prSet/>
      <dgm:spPr/>
      <dgm:t>
        <a:bodyPr/>
        <a:lstStyle/>
        <a:p>
          <a:endParaRPr lang="ru-RU" sz="4400">
            <a:latin typeface="Times New Roman" pitchFamily="18" charset="0"/>
            <a:cs typeface="Times New Roman" pitchFamily="18" charset="0"/>
          </a:endParaRPr>
        </a:p>
      </dgm:t>
    </dgm:pt>
    <dgm:pt modelId="{11F11BD8-4B2C-4959-B530-17451F3834FC}" type="pres">
      <dgm:prSet presAssocID="{140CA58E-2BB3-46A1-994A-E4AABB136F9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9B0B317-0215-47BD-BE9F-62F32139612B}" type="pres">
      <dgm:prSet presAssocID="{C6FB7A37-82A8-4D28-8195-D7715FFFDA70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0759492-5602-454F-AC68-18914BCA2DDE}" type="pres">
      <dgm:prSet presAssocID="{19E404A6-02C6-48AC-823A-4996DA1E1354}" presName="sibTrans" presStyleCnt="0"/>
      <dgm:spPr/>
    </dgm:pt>
    <dgm:pt modelId="{2EEBD65C-89A6-4110-833D-2BD7C60CD98C}" type="pres">
      <dgm:prSet presAssocID="{86C5DE88-EDCE-4B2D-8A24-B7E66A94C525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04D9302-DBF6-4B6A-B5A8-BE4CE5561E77}" type="pres">
      <dgm:prSet presAssocID="{40C66915-8C4B-4793-9815-294F127DB296}" presName="sibTrans" presStyleCnt="0"/>
      <dgm:spPr/>
    </dgm:pt>
    <dgm:pt modelId="{89476DCB-442F-413E-A363-64021163C1F3}" type="pres">
      <dgm:prSet presAssocID="{9B3697F4-702E-403A-BD27-CC5F2B4BC8D1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1EB6E3-3C13-4356-A35C-8A8F6D218429}" type="pres">
      <dgm:prSet presAssocID="{F245FF2A-9F07-4247-9AE2-3A001A8E3C6C}" presName="sibTrans" presStyleCnt="0"/>
      <dgm:spPr/>
    </dgm:pt>
    <dgm:pt modelId="{878834C4-26C7-4E56-B39B-2C2998935F30}" type="pres">
      <dgm:prSet presAssocID="{536C5412-7F5C-4D08-B6AF-55D93FEA9DA2}" presName="node" presStyleLbl="node1" presStyleIdx="3" presStyleCnt="6" custScaleX="13167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7FC9FE-A31D-4561-8081-53EF9730DDCB}" type="pres">
      <dgm:prSet presAssocID="{099D7AAC-D1D0-4328-A9FD-A7AE233F2CA7}" presName="sibTrans" presStyleCnt="0"/>
      <dgm:spPr/>
    </dgm:pt>
    <dgm:pt modelId="{6B5DB657-7612-49E8-B752-D1F0B210882A}" type="pres">
      <dgm:prSet presAssocID="{43BF445C-3379-4CC5-B0FD-3C4B2E90F5E2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8F169F-5BA2-4863-8A3D-BF5716884CE3}" type="pres">
      <dgm:prSet presAssocID="{7F888A78-C9E5-4BA0-924E-F4A28978F97C}" presName="sibTrans" presStyleCnt="0"/>
      <dgm:spPr/>
    </dgm:pt>
    <dgm:pt modelId="{7053566C-C952-4AE8-8265-3466520CD3B8}" type="pres">
      <dgm:prSet presAssocID="{934B29D8-EC78-4180-9CDE-4B9802EEF7C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901370C-BF09-48C0-BFF4-FC0EC53AFCF5}" type="presOf" srcId="{9B3697F4-702E-403A-BD27-CC5F2B4BC8D1}" destId="{89476DCB-442F-413E-A363-64021163C1F3}" srcOrd="0" destOrd="0" presId="urn:microsoft.com/office/officeart/2005/8/layout/default"/>
    <dgm:cxn modelId="{6DF62288-03F8-4B18-91B6-DD76C1194750}" srcId="{140CA58E-2BB3-46A1-994A-E4AABB136F9C}" destId="{536C5412-7F5C-4D08-B6AF-55D93FEA9DA2}" srcOrd="3" destOrd="0" parTransId="{8D3F3F3A-8DAC-45A0-807C-E119F6FED2F1}" sibTransId="{099D7AAC-D1D0-4328-A9FD-A7AE233F2CA7}"/>
    <dgm:cxn modelId="{CF6E10BD-572A-4237-9B46-8FA5F03F7C65}" type="presOf" srcId="{934B29D8-EC78-4180-9CDE-4B9802EEF7C9}" destId="{7053566C-C952-4AE8-8265-3466520CD3B8}" srcOrd="0" destOrd="0" presId="urn:microsoft.com/office/officeart/2005/8/layout/default"/>
    <dgm:cxn modelId="{A2DD28D0-3E81-422D-B7C8-4F904D312EF1}" type="presOf" srcId="{536C5412-7F5C-4D08-B6AF-55D93FEA9DA2}" destId="{878834C4-26C7-4E56-B39B-2C2998935F30}" srcOrd="0" destOrd="0" presId="urn:microsoft.com/office/officeart/2005/8/layout/default"/>
    <dgm:cxn modelId="{A638B0E6-B983-4484-8BF0-81E2BBA43ABF}" srcId="{140CA58E-2BB3-46A1-994A-E4AABB136F9C}" destId="{C6FB7A37-82A8-4D28-8195-D7715FFFDA70}" srcOrd="0" destOrd="0" parTransId="{52388FC2-26B2-42A0-A36E-C989A38AF835}" sibTransId="{19E404A6-02C6-48AC-823A-4996DA1E1354}"/>
    <dgm:cxn modelId="{B4DCCCAF-DFB4-4984-8808-F27E58467C0E}" srcId="{140CA58E-2BB3-46A1-994A-E4AABB136F9C}" destId="{86C5DE88-EDCE-4B2D-8A24-B7E66A94C525}" srcOrd="1" destOrd="0" parTransId="{2131EAAC-4EBF-4552-A9B6-0884543D783A}" sibTransId="{40C66915-8C4B-4793-9815-294F127DB296}"/>
    <dgm:cxn modelId="{DFEBB317-5CE4-49BB-AD3B-92436E02B8F1}" type="presOf" srcId="{140CA58E-2BB3-46A1-994A-E4AABB136F9C}" destId="{11F11BD8-4B2C-4959-B530-17451F3834FC}" srcOrd="0" destOrd="0" presId="urn:microsoft.com/office/officeart/2005/8/layout/default"/>
    <dgm:cxn modelId="{491A9013-0431-4C3A-BDBD-1C9F65359213}" type="presOf" srcId="{86C5DE88-EDCE-4B2D-8A24-B7E66A94C525}" destId="{2EEBD65C-89A6-4110-833D-2BD7C60CD98C}" srcOrd="0" destOrd="0" presId="urn:microsoft.com/office/officeart/2005/8/layout/default"/>
    <dgm:cxn modelId="{5A5C745D-7F2B-4593-843B-94F7F6BBA6B5}" type="presOf" srcId="{43BF445C-3379-4CC5-B0FD-3C4B2E90F5E2}" destId="{6B5DB657-7612-49E8-B752-D1F0B210882A}" srcOrd="0" destOrd="0" presId="urn:microsoft.com/office/officeart/2005/8/layout/default"/>
    <dgm:cxn modelId="{1AC7DFBB-8F5A-4762-ABFE-33ADC1F2D702}" type="presOf" srcId="{C6FB7A37-82A8-4D28-8195-D7715FFFDA70}" destId="{79B0B317-0215-47BD-BE9F-62F32139612B}" srcOrd="0" destOrd="0" presId="urn:microsoft.com/office/officeart/2005/8/layout/default"/>
    <dgm:cxn modelId="{EE872689-9F6B-4805-8338-98AFC5C11AC7}" srcId="{140CA58E-2BB3-46A1-994A-E4AABB136F9C}" destId="{934B29D8-EC78-4180-9CDE-4B9802EEF7C9}" srcOrd="5" destOrd="0" parTransId="{7BD79DE9-ECC7-4344-A323-F2C37719C148}" sibTransId="{32655DE2-B535-4B6E-BCAA-CB06DC455190}"/>
    <dgm:cxn modelId="{D20729B1-862D-417A-9F38-D7C55950C1A3}" srcId="{140CA58E-2BB3-46A1-994A-E4AABB136F9C}" destId="{43BF445C-3379-4CC5-B0FD-3C4B2E90F5E2}" srcOrd="4" destOrd="0" parTransId="{DE1F126F-7823-422C-B3AA-C39F3A12D880}" sibTransId="{7F888A78-C9E5-4BA0-924E-F4A28978F97C}"/>
    <dgm:cxn modelId="{E51B0E19-2A26-4E56-853B-478236A581E6}" srcId="{140CA58E-2BB3-46A1-994A-E4AABB136F9C}" destId="{9B3697F4-702E-403A-BD27-CC5F2B4BC8D1}" srcOrd="2" destOrd="0" parTransId="{BC220536-7072-435B-ACFC-9AFF83182802}" sibTransId="{F245FF2A-9F07-4247-9AE2-3A001A8E3C6C}"/>
    <dgm:cxn modelId="{CF763058-5A07-488D-9F29-2570D18DF475}" type="presParOf" srcId="{11F11BD8-4B2C-4959-B530-17451F3834FC}" destId="{79B0B317-0215-47BD-BE9F-62F32139612B}" srcOrd="0" destOrd="0" presId="urn:microsoft.com/office/officeart/2005/8/layout/default"/>
    <dgm:cxn modelId="{A4DB9617-E26F-4742-A032-46EBADD402BF}" type="presParOf" srcId="{11F11BD8-4B2C-4959-B530-17451F3834FC}" destId="{00759492-5602-454F-AC68-18914BCA2DDE}" srcOrd="1" destOrd="0" presId="urn:microsoft.com/office/officeart/2005/8/layout/default"/>
    <dgm:cxn modelId="{D9C5EE29-8826-4056-8BA9-50B7A5848908}" type="presParOf" srcId="{11F11BD8-4B2C-4959-B530-17451F3834FC}" destId="{2EEBD65C-89A6-4110-833D-2BD7C60CD98C}" srcOrd="2" destOrd="0" presId="urn:microsoft.com/office/officeart/2005/8/layout/default"/>
    <dgm:cxn modelId="{288898E2-CD22-4AF4-8790-2108D44ED3CA}" type="presParOf" srcId="{11F11BD8-4B2C-4959-B530-17451F3834FC}" destId="{C04D9302-DBF6-4B6A-B5A8-BE4CE5561E77}" srcOrd="3" destOrd="0" presId="urn:microsoft.com/office/officeart/2005/8/layout/default"/>
    <dgm:cxn modelId="{F9091A0C-645B-4E6A-BFC6-3C8D1FED626A}" type="presParOf" srcId="{11F11BD8-4B2C-4959-B530-17451F3834FC}" destId="{89476DCB-442F-413E-A363-64021163C1F3}" srcOrd="4" destOrd="0" presId="urn:microsoft.com/office/officeart/2005/8/layout/default"/>
    <dgm:cxn modelId="{502CF173-42BE-4B9A-BEA2-98F46F9DFB89}" type="presParOf" srcId="{11F11BD8-4B2C-4959-B530-17451F3834FC}" destId="{2C1EB6E3-3C13-4356-A35C-8A8F6D218429}" srcOrd="5" destOrd="0" presId="urn:microsoft.com/office/officeart/2005/8/layout/default"/>
    <dgm:cxn modelId="{B2CDB6D9-F387-4848-B125-789FF888DE65}" type="presParOf" srcId="{11F11BD8-4B2C-4959-B530-17451F3834FC}" destId="{878834C4-26C7-4E56-B39B-2C2998935F30}" srcOrd="6" destOrd="0" presId="urn:microsoft.com/office/officeart/2005/8/layout/default"/>
    <dgm:cxn modelId="{696E9EE4-1A07-4AA5-8DA5-1FD2D18B291B}" type="presParOf" srcId="{11F11BD8-4B2C-4959-B530-17451F3834FC}" destId="{9C7FC9FE-A31D-4561-8081-53EF9730DDCB}" srcOrd="7" destOrd="0" presId="urn:microsoft.com/office/officeart/2005/8/layout/default"/>
    <dgm:cxn modelId="{F6FE7CF3-6110-4B57-9DC2-E4C26AB9C7B2}" type="presParOf" srcId="{11F11BD8-4B2C-4959-B530-17451F3834FC}" destId="{6B5DB657-7612-49E8-B752-D1F0B210882A}" srcOrd="8" destOrd="0" presId="urn:microsoft.com/office/officeart/2005/8/layout/default"/>
    <dgm:cxn modelId="{9EAD01D8-1548-450C-BEB9-861FDA0BA51D}" type="presParOf" srcId="{11F11BD8-4B2C-4959-B530-17451F3834FC}" destId="{708F169F-5BA2-4863-8A3D-BF5716884CE3}" srcOrd="9" destOrd="0" presId="urn:microsoft.com/office/officeart/2005/8/layout/default"/>
    <dgm:cxn modelId="{24D3E570-0979-401D-9190-21C5CE5DAF98}" type="presParOf" srcId="{11F11BD8-4B2C-4959-B530-17451F3834FC}" destId="{7053566C-C952-4AE8-8265-3466520CD3B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Глубокое обучение с подкреплением, где устройства самостоятельно принимают решения (например, регулировка температуры).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5C6126F-2223-4D6B-A852-7DB9C917CA0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Трехуровневую обработку данных (устройство → пограничные узлы → облако) для оперативного реагирования.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0B7A64E-8A32-4FF0-8C51-C6BF016215D4}" type="parTrans" cxnId="{4EED82B3-F473-43D8-9ED4-D7A77D3CAD0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5C1502F-F3F6-45DC-A495-D1ED34E7C5EA}" type="sibTrans" cxnId="{4EED82B3-F473-43D8-9ED4-D7A77D3CAD0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EBAF477-CC18-49C4-8384-F46067813F28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Применение алгоритмов ИИ (от регрессии до нейросетей) для анализа данных.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CE545B5-2FC0-4637-9A57-995909ECCFB3}" type="parTrans" cxnId="{97F07FE2-BB3C-4788-B5C4-4AE3CBF634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B14EDBB-75A4-4E81-BBEB-305B7F375350}" type="sibTrans" cxnId="{97F07FE2-BB3C-4788-B5C4-4AE3CBF6340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C8CA4D20-113D-4110-AFFE-EDEB1281A429}" type="pres">
      <dgm:prSet presAssocID="{55C6126F-2223-4D6B-A852-7DB9C917CA07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5033D9-8FEE-4800-AEF9-FADF106325DE}" type="pres">
      <dgm:prSet presAssocID="{E5C1502F-F3F6-45DC-A495-D1ED34E7C5EA}" presName="sibTrans" presStyleCnt="0"/>
      <dgm:spPr/>
    </dgm:pt>
    <dgm:pt modelId="{36F4E7CB-1E2E-43ED-9712-84F0AE0A642D}" type="pres">
      <dgm:prSet presAssocID="{6EBAF477-CC18-49C4-8384-F46067813F28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F1222BC9-A06F-4B97-9BBD-35D2C974AA71}" type="presOf" srcId="{55C6126F-2223-4D6B-A852-7DB9C917CA07}" destId="{C8CA4D20-113D-4110-AFFE-EDEB1281A429}" srcOrd="0" destOrd="0" presId="urn:microsoft.com/office/officeart/2005/8/layout/default"/>
    <dgm:cxn modelId="{0FA9D9BB-9F6A-45FE-A1D5-BA5FF2313408}" type="presOf" srcId="{6EBAF477-CC18-49C4-8384-F46067813F28}" destId="{36F4E7CB-1E2E-43ED-9712-84F0AE0A642D}" srcOrd="0" destOrd="0" presId="urn:microsoft.com/office/officeart/2005/8/layout/default"/>
    <dgm:cxn modelId="{764A6AF9-51C1-45BC-AEB6-1203D4F284E5}" type="presOf" srcId="{3442F4C3-31F6-403E-96F6-DEDBB1BAAC7B}" destId="{24FF73D7-DC77-4AF8-A57E-526780571511}" srcOrd="0" destOrd="0" presId="urn:microsoft.com/office/officeart/2005/8/layout/default"/>
    <dgm:cxn modelId="{4ECABCAF-DC3D-4996-8D2D-57230EE98ABC}" type="presOf" srcId="{4E1F68DA-71E1-471B-8A6C-63D08B89BEC3}" destId="{05AC775F-08AB-48A9-8D1F-2B86A7E41839}" srcOrd="0" destOrd="0" presId="urn:microsoft.com/office/officeart/2005/8/layout/default"/>
    <dgm:cxn modelId="{4EED82B3-F473-43D8-9ED4-D7A77D3CAD0C}" srcId="{3442F4C3-31F6-403E-96F6-DEDBB1BAAC7B}" destId="{55C6126F-2223-4D6B-A852-7DB9C917CA07}" srcOrd="1" destOrd="0" parTransId="{A0B7A64E-8A32-4FF0-8C51-C6BF016215D4}" sibTransId="{E5C1502F-F3F6-45DC-A495-D1ED34E7C5EA}"/>
    <dgm:cxn modelId="{97F07FE2-BB3C-4788-B5C4-4AE3CBF63407}" srcId="{3442F4C3-31F6-403E-96F6-DEDBB1BAAC7B}" destId="{6EBAF477-CC18-49C4-8384-F46067813F28}" srcOrd="2" destOrd="0" parTransId="{3CE545B5-2FC0-4637-9A57-995909ECCFB3}" sibTransId="{3B14EDBB-75A4-4E81-BBEB-305B7F375350}"/>
    <dgm:cxn modelId="{F02C5707-A7E8-4862-9F75-CA6F9CC6178C}" type="presParOf" srcId="{24FF73D7-DC77-4AF8-A57E-526780571511}" destId="{05AC775F-08AB-48A9-8D1F-2B86A7E41839}" srcOrd="0" destOrd="0" presId="urn:microsoft.com/office/officeart/2005/8/layout/default"/>
    <dgm:cxn modelId="{44FC90AB-7299-4C6A-AD8A-C276F1D95ED5}" type="presParOf" srcId="{24FF73D7-DC77-4AF8-A57E-526780571511}" destId="{11571BB0-0D75-4091-A8E4-1FA0FC3BB001}" srcOrd="1" destOrd="0" presId="urn:microsoft.com/office/officeart/2005/8/layout/default"/>
    <dgm:cxn modelId="{6FAFA63D-11A7-450D-84C5-BB769798F170}" type="presParOf" srcId="{24FF73D7-DC77-4AF8-A57E-526780571511}" destId="{C8CA4D20-113D-4110-AFFE-EDEB1281A429}" srcOrd="2" destOrd="0" presId="urn:microsoft.com/office/officeart/2005/8/layout/default"/>
    <dgm:cxn modelId="{30872B32-4EE6-4399-AE83-E92651E267AD}" type="presParOf" srcId="{24FF73D7-DC77-4AF8-A57E-526780571511}" destId="{0E5033D9-8FEE-4800-AEF9-FADF106325DE}" srcOrd="3" destOrd="0" presId="urn:microsoft.com/office/officeart/2005/8/layout/default"/>
    <dgm:cxn modelId="{6DBDC179-BE5A-49E0-B1CB-4A0798CABD1C}" type="presParOf" srcId="{24FF73D7-DC77-4AF8-A57E-526780571511}" destId="{36F4E7CB-1E2E-43ED-9712-84F0AE0A642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Устройства (датчики, исполнительные механизмы).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FB0C10D-04AA-4003-AD01-C42EA721060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Пограничные шлюзы (предобработка данных).</a:t>
          </a:r>
        </a:p>
      </dgm:t>
    </dgm:pt>
    <dgm:pt modelId="{ADB4A602-D731-4391-8B44-D39C9915D575}" type="parTrans" cxnId="{1E99938A-AF63-445A-9A92-D75D288BA792}">
      <dgm:prSet/>
      <dgm:spPr/>
      <dgm:t>
        <a:bodyPr/>
        <a:lstStyle/>
        <a:p>
          <a:endParaRPr lang="ru-RU"/>
        </a:p>
      </dgm:t>
    </dgm:pt>
    <dgm:pt modelId="{63FFCCF0-4E73-4CBE-B2F9-564C68692472}" type="sibTrans" cxnId="{1E99938A-AF63-445A-9A92-D75D288BA792}">
      <dgm:prSet/>
      <dgm:spPr/>
      <dgm:t>
        <a:bodyPr/>
        <a:lstStyle/>
        <a:p>
          <a:endParaRPr lang="ru-RU"/>
        </a:p>
      </dgm:t>
    </dgm:pt>
    <dgm:pt modelId="{50577C91-129C-4A31-82F3-44DB89D3EDE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Облачные платформы (хранение и комплексная аналитика).</a:t>
          </a:r>
        </a:p>
      </dgm:t>
    </dgm:pt>
    <dgm:pt modelId="{EBE7E22A-CFFA-4543-9D78-5816E3CB0E9C}" type="parTrans" cxnId="{BEFE4571-D8E2-400F-8A40-B016035E7142}">
      <dgm:prSet/>
      <dgm:spPr/>
      <dgm:t>
        <a:bodyPr/>
        <a:lstStyle/>
        <a:p>
          <a:endParaRPr lang="ru-RU"/>
        </a:p>
      </dgm:t>
    </dgm:pt>
    <dgm:pt modelId="{80C398D0-C900-444F-A104-82AC2BDECA7D}" type="sibTrans" cxnId="{BEFE4571-D8E2-400F-8A40-B016035E7142}">
      <dgm:prSet/>
      <dgm:spPr/>
      <dgm:t>
        <a:bodyPr/>
        <a:lstStyle/>
        <a:p>
          <a:endParaRPr lang="ru-RU"/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BBD9B7F8-30F3-4DA8-B772-7CFED8922617}" type="pres">
      <dgm:prSet presAssocID="{6FB0C10D-04AA-4003-AD01-C42EA721060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3306AA-196D-4F60-ADD3-06BBDA9E7340}" type="pres">
      <dgm:prSet presAssocID="{63FFCCF0-4E73-4CBE-B2F9-564C68692472}" presName="sibTrans" presStyleCnt="0"/>
      <dgm:spPr/>
    </dgm:pt>
    <dgm:pt modelId="{11848EA4-06D6-41CF-BF8F-F635330ECDD2}" type="pres">
      <dgm:prSet presAssocID="{50577C91-129C-4A31-82F3-44DB89D3EDE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1E99938A-AF63-445A-9A92-D75D288BA792}" srcId="{3442F4C3-31F6-403E-96F6-DEDBB1BAAC7B}" destId="{6FB0C10D-04AA-4003-AD01-C42EA7210600}" srcOrd="1" destOrd="0" parTransId="{ADB4A602-D731-4391-8B44-D39C9915D575}" sibTransId="{63FFCCF0-4E73-4CBE-B2F9-564C68692472}"/>
    <dgm:cxn modelId="{BEFE4571-D8E2-400F-8A40-B016035E7142}" srcId="{3442F4C3-31F6-403E-96F6-DEDBB1BAAC7B}" destId="{50577C91-129C-4A31-82F3-44DB89D3EDE0}" srcOrd="2" destOrd="0" parTransId="{EBE7E22A-CFFA-4543-9D78-5816E3CB0E9C}" sibTransId="{80C398D0-C900-444F-A104-82AC2BDECA7D}"/>
    <dgm:cxn modelId="{B4784221-7E36-4540-8BB4-094FB0CA9862}" type="presOf" srcId="{6FB0C10D-04AA-4003-AD01-C42EA7210600}" destId="{BBD9B7F8-30F3-4DA8-B772-7CFED8922617}" srcOrd="0" destOrd="0" presId="urn:microsoft.com/office/officeart/2005/8/layout/default"/>
    <dgm:cxn modelId="{B691B098-F6D5-4CF4-A044-7BA7AC31FEC4}" type="presOf" srcId="{3442F4C3-31F6-403E-96F6-DEDBB1BAAC7B}" destId="{24FF73D7-DC77-4AF8-A57E-526780571511}" srcOrd="0" destOrd="0" presId="urn:microsoft.com/office/officeart/2005/8/layout/default"/>
    <dgm:cxn modelId="{0BE73849-3193-4F93-96B5-2D2A5B64E95F}" type="presOf" srcId="{4E1F68DA-71E1-471B-8A6C-63D08B89BEC3}" destId="{05AC775F-08AB-48A9-8D1F-2B86A7E41839}" srcOrd="0" destOrd="0" presId="urn:microsoft.com/office/officeart/2005/8/layout/default"/>
    <dgm:cxn modelId="{B3A2BC00-5A1A-4C37-807E-C798E145E50D}" type="presOf" srcId="{50577C91-129C-4A31-82F3-44DB89D3EDE0}" destId="{11848EA4-06D6-41CF-BF8F-F635330ECDD2}" srcOrd="0" destOrd="0" presId="urn:microsoft.com/office/officeart/2005/8/layout/default"/>
    <dgm:cxn modelId="{BA0D9E72-35B1-4AB6-B308-0A21BA6F1F6D}" type="presParOf" srcId="{24FF73D7-DC77-4AF8-A57E-526780571511}" destId="{05AC775F-08AB-48A9-8D1F-2B86A7E41839}" srcOrd="0" destOrd="0" presId="urn:microsoft.com/office/officeart/2005/8/layout/default"/>
    <dgm:cxn modelId="{5270DCF7-DAA3-467B-864C-E8B5116C4856}" type="presParOf" srcId="{24FF73D7-DC77-4AF8-A57E-526780571511}" destId="{11571BB0-0D75-4091-A8E4-1FA0FC3BB001}" srcOrd="1" destOrd="0" presId="urn:microsoft.com/office/officeart/2005/8/layout/default"/>
    <dgm:cxn modelId="{E0574596-A798-42BD-8158-3EEDE35CDC4D}" type="presParOf" srcId="{24FF73D7-DC77-4AF8-A57E-526780571511}" destId="{BBD9B7F8-30F3-4DA8-B772-7CFED8922617}" srcOrd="2" destOrd="0" presId="urn:microsoft.com/office/officeart/2005/8/layout/default"/>
    <dgm:cxn modelId="{649F74AA-2E33-4CCB-AA75-13396637268A}" type="presParOf" srcId="{24FF73D7-DC77-4AF8-A57E-526780571511}" destId="{813306AA-196D-4F60-ADD3-06BBDA9E7340}" srcOrd="3" destOrd="0" presId="urn:microsoft.com/office/officeart/2005/8/layout/default"/>
    <dgm:cxn modelId="{299FC5CA-0AE8-40D5-9BE4-230370538B4C}" type="presParOf" srcId="{24FF73D7-DC77-4AF8-A57E-526780571511}" destId="{11848EA4-06D6-41CF-BF8F-F635330ECDD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датчиков устройств, передающих информацию (например GPS или видеокамера);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602D91C-E8FB-4A73-A760-258DF3488E2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средств подключения (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Wi-Fi, Bluetooth);</a:t>
          </a:r>
          <a:endParaRPr lang="ru-RU" dirty="0" smtClean="0">
            <a:latin typeface="Times New Roman" pitchFamily="18" charset="0"/>
            <a:cs typeface="Times New Roman" pitchFamily="18" charset="0"/>
          </a:endParaRPr>
        </a:p>
      </dgm:t>
    </dgm:pt>
    <dgm:pt modelId="{050A93E9-CA3B-4C5B-89BF-BC846AA33A0C}" type="parTrans" cxnId="{AB952250-F936-44C0-A70C-83287C0696BB}">
      <dgm:prSet/>
      <dgm:spPr/>
      <dgm:t>
        <a:bodyPr/>
        <a:lstStyle/>
        <a:p>
          <a:endParaRPr lang="ru-RU"/>
        </a:p>
      </dgm:t>
    </dgm:pt>
    <dgm:pt modelId="{73A50819-F8C2-4266-9E56-38288DF1C883}" type="sibTrans" cxnId="{AB952250-F936-44C0-A70C-83287C0696BB}">
      <dgm:prSet/>
      <dgm:spPr/>
      <dgm:t>
        <a:bodyPr/>
        <a:lstStyle/>
        <a:p>
          <a:endParaRPr lang="ru-RU"/>
        </a:p>
      </dgm:t>
    </dgm:pt>
    <dgm:pt modelId="{182011D0-9F8B-4CD5-8DBB-2C779DA0671E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инструментов обработки данных, размещённых в «облаках»;</a:t>
          </a:r>
        </a:p>
      </dgm:t>
    </dgm:pt>
    <dgm:pt modelId="{E4A8481C-77C3-4DA8-A4C9-175CA5868038}" type="parTrans" cxnId="{6A60FD32-0FDD-4E5D-8A5D-67E005B0225F}">
      <dgm:prSet/>
      <dgm:spPr/>
      <dgm:t>
        <a:bodyPr/>
        <a:lstStyle/>
        <a:p>
          <a:endParaRPr lang="ru-RU"/>
        </a:p>
      </dgm:t>
    </dgm:pt>
    <dgm:pt modelId="{A7FA6F38-3CD2-41B6-9792-EF7C4782B199}" type="sibTrans" cxnId="{6A60FD32-0FDD-4E5D-8A5D-67E005B0225F}">
      <dgm:prSet/>
      <dgm:spPr/>
      <dgm:t>
        <a:bodyPr/>
        <a:lstStyle/>
        <a:p>
          <a:endParaRPr lang="ru-RU"/>
        </a:p>
      </dgm:t>
    </dgm:pt>
    <dgm:pt modelId="{8D6002F5-2F84-4AAD-A5C3-384B15E6D954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интерфейса пользователя для ввода данных или контроля за работой системы.</a:t>
          </a:r>
        </a:p>
      </dgm:t>
    </dgm:pt>
    <dgm:pt modelId="{5F6A6CC3-5E1F-424F-AF42-0DAFCA978008}" type="parTrans" cxnId="{A642C830-0A03-468B-BDC6-C268546C3E9A}">
      <dgm:prSet/>
      <dgm:spPr/>
      <dgm:t>
        <a:bodyPr/>
        <a:lstStyle/>
        <a:p>
          <a:endParaRPr lang="ru-RU"/>
        </a:p>
      </dgm:t>
    </dgm:pt>
    <dgm:pt modelId="{88A37164-CA88-47C1-8F08-3DEE767D7369}" type="sibTrans" cxnId="{A642C830-0A03-468B-BDC6-C268546C3E9A}">
      <dgm:prSet/>
      <dgm:spPr/>
      <dgm:t>
        <a:bodyPr/>
        <a:lstStyle/>
        <a:p>
          <a:endParaRPr lang="ru-RU"/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CB8E5CC4-C2C0-45DB-BCC8-2B663BB18F08}" type="pres">
      <dgm:prSet presAssocID="{F602D91C-E8FB-4A73-A760-258DF3488E2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065C0E-F1FF-42A7-B502-62148DBC84BD}" type="pres">
      <dgm:prSet presAssocID="{73A50819-F8C2-4266-9E56-38288DF1C883}" presName="sibTrans" presStyleCnt="0"/>
      <dgm:spPr/>
    </dgm:pt>
    <dgm:pt modelId="{8D16742A-253C-416D-8B5D-4457CF5B613C}" type="pres">
      <dgm:prSet presAssocID="{182011D0-9F8B-4CD5-8DBB-2C779DA0671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507A34-E76E-4595-B53A-6BF3224BB151}" type="pres">
      <dgm:prSet presAssocID="{A7FA6F38-3CD2-41B6-9792-EF7C4782B199}" presName="sibTrans" presStyleCnt="0"/>
      <dgm:spPr/>
    </dgm:pt>
    <dgm:pt modelId="{C45E42B2-384A-4DCE-840F-33F6705F2204}" type="pres">
      <dgm:prSet presAssocID="{8D6002F5-2F84-4AAD-A5C3-384B15E6D95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2843324A-669A-4D59-BDC2-DA64A5399E4D}" type="presOf" srcId="{F602D91C-E8FB-4A73-A760-258DF3488E22}" destId="{CB8E5CC4-C2C0-45DB-BCC8-2B663BB18F08}" srcOrd="0" destOrd="0" presId="urn:microsoft.com/office/officeart/2005/8/layout/default"/>
    <dgm:cxn modelId="{AB952250-F936-44C0-A70C-83287C0696BB}" srcId="{3442F4C3-31F6-403E-96F6-DEDBB1BAAC7B}" destId="{F602D91C-E8FB-4A73-A760-258DF3488E22}" srcOrd="1" destOrd="0" parTransId="{050A93E9-CA3B-4C5B-89BF-BC846AA33A0C}" sibTransId="{73A50819-F8C2-4266-9E56-38288DF1C883}"/>
    <dgm:cxn modelId="{E4ED54B9-48A7-4469-9BA2-3B7F2AA39E94}" type="presOf" srcId="{182011D0-9F8B-4CD5-8DBB-2C779DA0671E}" destId="{8D16742A-253C-416D-8B5D-4457CF5B613C}" srcOrd="0" destOrd="0" presId="urn:microsoft.com/office/officeart/2005/8/layout/default"/>
    <dgm:cxn modelId="{A642C830-0A03-468B-BDC6-C268546C3E9A}" srcId="{3442F4C3-31F6-403E-96F6-DEDBB1BAAC7B}" destId="{8D6002F5-2F84-4AAD-A5C3-384B15E6D954}" srcOrd="3" destOrd="0" parTransId="{5F6A6CC3-5E1F-424F-AF42-0DAFCA978008}" sibTransId="{88A37164-CA88-47C1-8F08-3DEE767D7369}"/>
    <dgm:cxn modelId="{C814A3DA-19C5-4AF6-BA4C-BC3C6B6CB580}" type="presOf" srcId="{3442F4C3-31F6-403E-96F6-DEDBB1BAAC7B}" destId="{24FF73D7-DC77-4AF8-A57E-526780571511}" srcOrd="0" destOrd="0" presId="urn:microsoft.com/office/officeart/2005/8/layout/default"/>
    <dgm:cxn modelId="{FDF6E5A7-3190-44DB-9186-830DEDFBC787}" type="presOf" srcId="{4E1F68DA-71E1-471B-8A6C-63D08B89BEC3}" destId="{05AC775F-08AB-48A9-8D1F-2B86A7E41839}" srcOrd="0" destOrd="0" presId="urn:microsoft.com/office/officeart/2005/8/layout/default"/>
    <dgm:cxn modelId="{6E7ABCD2-BC83-421E-8A87-82A4A23A35BA}" type="presOf" srcId="{8D6002F5-2F84-4AAD-A5C3-384B15E6D954}" destId="{C45E42B2-384A-4DCE-840F-33F6705F2204}" srcOrd="0" destOrd="0" presId="urn:microsoft.com/office/officeart/2005/8/layout/default"/>
    <dgm:cxn modelId="{6A60FD32-0FDD-4E5D-8A5D-67E005B0225F}" srcId="{3442F4C3-31F6-403E-96F6-DEDBB1BAAC7B}" destId="{182011D0-9F8B-4CD5-8DBB-2C779DA0671E}" srcOrd="2" destOrd="0" parTransId="{E4A8481C-77C3-4DA8-A4C9-175CA5868038}" sibTransId="{A7FA6F38-3CD2-41B6-9792-EF7C4782B199}"/>
    <dgm:cxn modelId="{9C32CE91-8D7C-430B-9349-A7043CD6308B}" type="presParOf" srcId="{24FF73D7-DC77-4AF8-A57E-526780571511}" destId="{05AC775F-08AB-48A9-8D1F-2B86A7E41839}" srcOrd="0" destOrd="0" presId="urn:microsoft.com/office/officeart/2005/8/layout/default"/>
    <dgm:cxn modelId="{EE3530C3-447D-443A-87C3-D6509409C129}" type="presParOf" srcId="{24FF73D7-DC77-4AF8-A57E-526780571511}" destId="{11571BB0-0D75-4091-A8E4-1FA0FC3BB001}" srcOrd="1" destOrd="0" presId="urn:microsoft.com/office/officeart/2005/8/layout/default"/>
    <dgm:cxn modelId="{43D003CE-2661-4018-AF63-FED552287607}" type="presParOf" srcId="{24FF73D7-DC77-4AF8-A57E-526780571511}" destId="{CB8E5CC4-C2C0-45DB-BCC8-2B663BB18F08}" srcOrd="2" destOrd="0" presId="urn:microsoft.com/office/officeart/2005/8/layout/default"/>
    <dgm:cxn modelId="{909D4EB7-1820-4C28-ADA9-C8E9DF9FDCAD}" type="presParOf" srcId="{24FF73D7-DC77-4AF8-A57E-526780571511}" destId="{C8065C0E-F1FF-42A7-B502-62148DBC84BD}" srcOrd="3" destOrd="0" presId="urn:microsoft.com/office/officeart/2005/8/layout/default"/>
    <dgm:cxn modelId="{73E04903-6EE0-4AFB-807E-F6D40B2C8105}" type="presParOf" srcId="{24FF73D7-DC77-4AF8-A57E-526780571511}" destId="{8D16742A-253C-416D-8B5D-4457CF5B613C}" srcOrd="4" destOrd="0" presId="urn:microsoft.com/office/officeart/2005/8/layout/default"/>
    <dgm:cxn modelId="{010CBFD2-298C-4806-8F51-B1FFB1FD97A4}" type="presParOf" srcId="{24FF73D7-DC77-4AF8-A57E-526780571511}" destId="{FE507A34-E76E-4595-B53A-6BF3224BB151}" srcOrd="5" destOrd="0" presId="urn:microsoft.com/office/officeart/2005/8/layout/default"/>
    <dgm:cxn modelId="{98FDEBD6-D675-4392-A526-3EF6DE918142}" type="presParOf" srcId="{24FF73D7-DC77-4AF8-A57E-526780571511}" destId="{C45E42B2-384A-4DCE-840F-33F6705F220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Датчик собирает информацию, например, отслеживает температуру в квартире.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432AA20-2358-44B6-84C0-03C1E60963C3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Как только она становится выше допустимого уровня, активируется опция передачи данных и информация поступает на облачный сервер.</a:t>
          </a:r>
        </a:p>
      </dgm:t>
    </dgm:pt>
    <dgm:pt modelId="{BEEA8141-640F-4FCF-8D8A-1190FC0C6BD4}" type="parTrans" cxnId="{0927146A-F7FD-4D90-ABBB-946271F0EEC4}">
      <dgm:prSet/>
      <dgm:spPr/>
      <dgm:t>
        <a:bodyPr/>
        <a:lstStyle/>
        <a:p>
          <a:endParaRPr lang="ru-RU"/>
        </a:p>
      </dgm:t>
    </dgm:pt>
    <dgm:pt modelId="{E28AE6E1-F507-4FD3-B2F7-7012B85F9382}" type="sibTrans" cxnId="{0927146A-F7FD-4D90-ABBB-946271F0EEC4}">
      <dgm:prSet/>
      <dgm:spPr/>
      <dgm:t>
        <a:bodyPr/>
        <a:lstStyle/>
        <a:p>
          <a:endParaRPr lang="ru-RU"/>
        </a:p>
      </dgm:t>
    </dgm:pt>
    <dgm:pt modelId="{31B80F63-04AF-4D1E-B3A2-4372957F0AD4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 «облаке» информация анализируется и принимается решение о том, какие действия надо принять. Например, включить кондиционер.</a:t>
          </a:r>
        </a:p>
      </dgm:t>
    </dgm:pt>
    <dgm:pt modelId="{CF27BE59-94BC-4D42-A270-DA6BB14A0176}" type="parTrans" cxnId="{84243431-A360-47E2-AB81-C3B80B2E2FFB}">
      <dgm:prSet/>
      <dgm:spPr/>
      <dgm:t>
        <a:bodyPr/>
        <a:lstStyle/>
        <a:p>
          <a:endParaRPr lang="ru-RU"/>
        </a:p>
      </dgm:t>
    </dgm:pt>
    <dgm:pt modelId="{6EFE2C02-B28A-46C8-AC83-5262B2F26A7A}" type="sibTrans" cxnId="{84243431-A360-47E2-AB81-C3B80B2E2FFB}">
      <dgm:prSet/>
      <dgm:spPr/>
      <dgm:t>
        <a:bodyPr/>
        <a:lstStyle/>
        <a:p>
          <a:endParaRPr lang="ru-RU"/>
        </a:p>
      </dgm:t>
    </dgm:pt>
    <dgm:pt modelId="{05EFC153-1641-4ED0-8FB8-3C48F489641A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Команда на включение кондиционера передается назад и прибор включается.</a:t>
          </a:r>
        </a:p>
      </dgm:t>
    </dgm:pt>
    <dgm:pt modelId="{908527CC-CFCE-4AF3-A341-9CFC4A5E7731}" type="parTrans" cxnId="{D5D69E37-C4B8-4E52-814D-2BF642B52E95}">
      <dgm:prSet/>
      <dgm:spPr/>
      <dgm:t>
        <a:bodyPr/>
        <a:lstStyle/>
        <a:p>
          <a:endParaRPr lang="ru-RU"/>
        </a:p>
      </dgm:t>
    </dgm:pt>
    <dgm:pt modelId="{ADEF019C-1AFF-409E-BA76-54560CA15988}" type="sibTrans" cxnId="{D5D69E37-C4B8-4E52-814D-2BF642B52E95}">
      <dgm:prSet/>
      <dgm:spPr/>
      <dgm:t>
        <a:bodyPr/>
        <a:lstStyle/>
        <a:p>
          <a:endParaRPr lang="ru-RU"/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4DBFCDF0-5BB1-4B54-B62C-4AD1FF84B790}" type="pres">
      <dgm:prSet presAssocID="{5432AA20-2358-44B6-84C0-03C1E60963C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4491F7-CCB9-4647-8703-A1D40B435378}" type="pres">
      <dgm:prSet presAssocID="{E28AE6E1-F507-4FD3-B2F7-7012B85F9382}" presName="sibTrans" presStyleCnt="0"/>
      <dgm:spPr/>
    </dgm:pt>
    <dgm:pt modelId="{C0BFF7DD-84A9-4A5E-9A81-36BA1B5FD383}" type="pres">
      <dgm:prSet presAssocID="{31B80F63-04AF-4D1E-B3A2-4372957F0AD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B028740-1A61-441C-9079-E0E85C8ABBB4}" type="pres">
      <dgm:prSet presAssocID="{6EFE2C02-B28A-46C8-AC83-5262B2F26A7A}" presName="sibTrans" presStyleCnt="0"/>
      <dgm:spPr/>
    </dgm:pt>
    <dgm:pt modelId="{48885301-E75C-4ADD-9F99-D21CB74B8FDC}" type="pres">
      <dgm:prSet presAssocID="{05EFC153-1641-4ED0-8FB8-3C48F489641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0927146A-F7FD-4D90-ABBB-946271F0EEC4}" srcId="{3442F4C3-31F6-403E-96F6-DEDBB1BAAC7B}" destId="{5432AA20-2358-44B6-84C0-03C1E60963C3}" srcOrd="1" destOrd="0" parTransId="{BEEA8141-640F-4FCF-8D8A-1190FC0C6BD4}" sibTransId="{E28AE6E1-F507-4FD3-B2F7-7012B85F9382}"/>
    <dgm:cxn modelId="{D5D69E37-C4B8-4E52-814D-2BF642B52E95}" srcId="{3442F4C3-31F6-403E-96F6-DEDBB1BAAC7B}" destId="{05EFC153-1641-4ED0-8FB8-3C48F489641A}" srcOrd="3" destOrd="0" parTransId="{908527CC-CFCE-4AF3-A341-9CFC4A5E7731}" sibTransId="{ADEF019C-1AFF-409E-BA76-54560CA15988}"/>
    <dgm:cxn modelId="{AF4540E9-BD0A-4ED1-8447-130DF3D662A2}" type="presOf" srcId="{3442F4C3-31F6-403E-96F6-DEDBB1BAAC7B}" destId="{24FF73D7-DC77-4AF8-A57E-526780571511}" srcOrd="0" destOrd="0" presId="urn:microsoft.com/office/officeart/2005/8/layout/default"/>
    <dgm:cxn modelId="{D884686C-1F8A-4A70-9ED1-F0B53EE18393}" type="presOf" srcId="{05EFC153-1641-4ED0-8FB8-3C48F489641A}" destId="{48885301-E75C-4ADD-9F99-D21CB74B8FDC}" srcOrd="0" destOrd="0" presId="urn:microsoft.com/office/officeart/2005/8/layout/default"/>
    <dgm:cxn modelId="{7C745AC0-C985-47CD-8524-3780037B5712}" type="presOf" srcId="{4E1F68DA-71E1-471B-8A6C-63D08B89BEC3}" destId="{05AC775F-08AB-48A9-8D1F-2B86A7E41839}" srcOrd="0" destOrd="0" presId="urn:microsoft.com/office/officeart/2005/8/layout/default"/>
    <dgm:cxn modelId="{2F5E71E1-5453-4EA4-B925-E9D0F6A0EE30}" type="presOf" srcId="{5432AA20-2358-44B6-84C0-03C1E60963C3}" destId="{4DBFCDF0-5BB1-4B54-B62C-4AD1FF84B790}" srcOrd="0" destOrd="0" presId="urn:microsoft.com/office/officeart/2005/8/layout/default"/>
    <dgm:cxn modelId="{84243431-A360-47E2-AB81-C3B80B2E2FFB}" srcId="{3442F4C3-31F6-403E-96F6-DEDBB1BAAC7B}" destId="{31B80F63-04AF-4D1E-B3A2-4372957F0AD4}" srcOrd="2" destOrd="0" parTransId="{CF27BE59-94BC-4D42-A270-DA6BB14A0176}" sibTransId="{6EFE2C02-B28A-46C8-AC83-5262B2F26A7A}"/>
    <dgm:cxn modelId="{419C128A-6FCB-45E7-999D-C7C0ACACA9F7}" type="presOf" srcId="{31B80F63-04AF-4D1E-B3A2-4372957F0AD4}" destId="{C0BFF7DD-84A9-4A5E-9A81-36BA1B5FD383}" srcOrd="0" destOrd="0" presId="urn:microsoft.com/office/officeart/2005/8/layout/default"/>
    <dgm:cxn modelId="{BA089F41-6A12-4BA3-8A24-BB75DE25BE10}" type="presParOf" srcId="{24FF73D7-DC77-4AF8-A57E-526780571511}" destId="{05AC775F-08AB-48A9-8D1F-2B86A7E41839}" srcOrd="0" destOrd="0" presId="urn:microsoft.com/office/officeart/2005/8/layout/default"/>
    <dgm:cxn modelId="{0EB9CBBC-E15C-4551-BB70-1167A0AB8C91}" type="presParOf" srcId="{24FF73D7-DC77-4AF8-A57E-526780571511}" destId="{11571BB0-0D75-4091-A8E4-1FA0FC3BB001}" srcOrd="1" destOrd="0" presId="urn:microsoft.com/office/officeart/2005/8/layout/default"/>
    <dgm:cxn modelId="{586C6433-9D0B-419B-9CFC-EE718B6DFA2C}" type="presParOf" srcId="{24FF73D7-DC77-4AF8-A57E-526780571511}" destId="{4DBFCDF0-5BB1-4B54-B62C-4AD1FF84B790}" srcOrd="2" destOrd="0" presId="urn:microsoft.com/office/officeart/2005/8/layout/default"/>
    <dgm:cxn modelId="{AEAA07B3-FB31-46E4-8B39-B1A3C98F74E5}" type="presParOf" srcId="{24FF73D7-DC77-4AF8-A57E-526780571511}" destId="{674491F7-CCB9-4647-8703-A1D40B435378}" srcOrd="3" destOrd="0" presId="urn:microsoft.com/office/officeart/2005/8/layout/default"/>
    <dgm:cxn modelId="{0E050C44-FFA5-4571-91CD-FB5DE9AB18BE}" type="presParOf" srcId="{24FF73D7-DC77-4AF8-A57E-526780571511}" destId="{C0BFF7DD-84A9-4A5E-9A81-36BA1B5FD383}" srcOrd="4" destOrd="0" presId="urn:microsoft.com/office/officeart/2005/8/layout/default"/>
    <dgm:cxn modelId="{344D7B20-649F-4734-B3BE-2F7CA660E420}" type="presParOf" srcId="{24FF73D7-DC77-4AF8-A57E-526780571511}" destId="{BB028740-1A61-441C-9079-E0E85C8ABBB4}" srcOrd="5" destOrd="0" presId="urn:microsoft.com/office/officeart/2005/8/layout/default"/>
    <dgm:cxn modelId="{1003439C-F813-41EA-9C37-489A17B0435C}" type="presParOf" srcId="{24FF73D7-DC77-4AF8-A57E-526780571511}" destId="{48885301-E75C-4ADD-9F99-D21CB74B8FD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Идентификация объектов. </a:t>
          </a:r>
        </a:p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Для подключения физических объектов к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 используются различные технологии идентификации: RFID, штрих-коды, QR-коды и системы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геолокации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. Ключевая задача – обеспечение уникальности идентификаторов, что требует стандартизации. Сетевые устройства используют MAC-адреса и IPv6, обеспечивающий практически неограниченное количество адресов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5C1E143-AA1B-4A62-8F8F-EBE1668F368F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Сбор данных. </a:t>
          </a:r>
        </a:p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Датчики и измерительные системы преобразуют параметры окружающей среды (температуру, давление, потребление энергии) в цифровые данные. Основная сложность – автономность сенсоров, решаемая за счёт альтернативных источников питания.</a:t>
          </a:r>
        </a:p>
      </dgm:t>
    </dgm:pt>
    <dgm:pt modelId="{F25ECFEC-07A2-46DE-B4D0-5978A2EC207A}" type="parTrans" cxnId="{7111300F-96DB-4C54-8E8B-CB4CDA6BDB94}">
      <dgm:prSet/>
      <dgm:spPr/>
      <dgm:t>
        <a:bodyPr/>
        <a:lstStyle/>
        <a:p>
          <a:endParaRPr lang="ru-RU" sz="2000"/>
        </a:p>
      </dgm:t>
    </dgm:pt>
    <dgm:pt modelId="{4525B280-0DB4-4354-A2AE-8C6780CF7017}" type="sibTrans" cxnId="{7111300F-96DB-4C54-8E8B-CB4CDA6BDB94}">
      <dgm:prSet/>
      <dgm:spPr/>
      <dgm:t>
        <a:bodyPr/>
        <a:lstStyle/>
        <a:p>
          <a:endParaRPr lang="ru-RU" sz="2000"/>
        </a:p>
      </dgm:t>
    </dgm:pt>
    <dgm:pt modelId="{34F82E0D-3D9C-42F7-AAE7-13D0B2CC38DC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Передача данных. </a:t>
          </a:r>
        </a:p>
        <a:p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 использует проводные и беспроводные технологии. Среди беспроводных решений ключевыми являются стандарты IEEE 802.15.4 (ZigBee, 6LoWPAN, LPWAN), обеспечивающие энергоэффективность и самоорганизацию сетей. Проводные технологии, такие как PLC (передача данных через электросети), важны для стационарных устройств. Открытый протокол 6LoWPAN играет особую роль в развитии IoT, поддерживая IPv6.</a:t>
          </a:r>
        </a:p>
      </dgm:t>
    </dgm:pt>
    <dgm:pt modelId="{67767176-A3B3-471B-86FD-A364E14BBDC7}" type="parTrans" cxnId="{2EDF4BF4-5DEB-4245-91AF-7FC4D0603BB6}">
      <dgm:prSet/>
      <dgm:spPr/>
      <dgm:t>
        <a:bodyPr/>
        <a:lstStyle/>
        <a:p>
          <a:endParaRPr lang="ru-RU" sz="2000"/>
        </a:p>
      </dgm:t>
    </dgm:pt>
    <dgm:pt modelId="{17D0082D-770A-4913-B788-5C7830AEE50D}" type="sibTrans" cxnId="{2EDF4BF4-5DEB-4245-91AF-7FC4D0603BB6}">
      <dgm:prSet/>
      <dgm:spPr/>
      <dgm:t>
        <a:bodyPr/>
        <a:lstStyle/>
        <a:p>
          <a:endParaRPr lang="ru-RU" sz="2000"/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3" custScaleX="1265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AFFE1499-6700-4E44-AA85-E041E8840CE1}" type="pres">
      <dgm:prSet presAssocID="{15C1E143-AA1B-4A62-8F8F-EBE1668F368F}" presName="node" presStyleLbl="node1" presStyleIdx="1" presStyleCnt="3" custScaleX="12045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53F981-0E30-40AB-BF2C-C91D05BDC797}" type="pres">
      <dgm:prSet presAssocID="{4525B280-0DB4-4354-A2AE-8C6780CF7017}" presName="sibTrans" presStyleCnt="0"/>
      <dgm:spPr/>
    </dgm:pt>
    <dgm:pt modelId="{201A8E62-E16B-44AC-8388-9F0737CF4609}" type="pres">
      <dgm:prSet presAssocID="{34F82E0D-3D9C-42F7-AAE7-13D0B2CC38DC}" presName="node" presStyleLbl="node1" presStyleIdx="2" presStyleCnt="3" custScaleX="1244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EDF4BF4-5DEB-4245-91AF-7FC4D0603BB6}" srcId="{3442F4C3-31F6-403E-96F6-DEDBB1BAAC7B}" destId="{34F82E0D-3D9C-42F7-AAE7-13D0B2CC38DC}" srcOrd="2" destOrd="0" parTransId="{67767176-A3B3-471B-86FD-A364E14BBDC7}" sibTransId="{17D0082D-770A-4913-B788-5C7830AEE50D}"/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B5676739-84B5-4ECC-862C-BE1F2CA8B9D7}" type="presOf" srcId="{4E1F68DA-71E1-471B-8A6C-63D08B89BEC3}" destId="{05AC775F-08AB-48A9-8D1F-2B86A7E41839}" srcOrd="0" destOrd="0" presId="urn:microsoft.com/office/officeart/2005/8/layout/default"/>
    <dgm:cxn modelId="{3FA15633-E108-4B1B-AABC-687249EFA53F}" type="presOf" srcId="{15C1E143-AA1B-4A62-8F8F-EBE1668F368F}" destId="{AFFE1499-6700-4E44-AA85-E041E8840CE1}" srcOrd="0" destOrd="0" presId="urn:microsoft.com/office/officeart/2005/8/layout/default"/>
    <dgm:cxn modelId="{D630B3F4-C014-4EED-9E10-217AF6EA2908}" type="presOf" srcId="{3442F4C3-31F6-403E-96F6-DEDBB1BAAC7B}" destId="{24FF73D7-DC77-4AF8-A57E-526780571511}" srcOrd="0" destOrd="0" presId="urn:microsoft.com/office/officeart/2005/8/layout/default"/>
    <dgm:cxn modelId="{7111300F-96DB-4C54-8E8B-CB4CDA6BDB94}" srcId="{3442F4C3-31F6-403E-96F6-DEDBB1BAAC7B}" destId="{15C1E143-AA1B-4A62-8F8F-EBE1668F368F}" srcOrd="1" destOrd="0" parTransId="{F25ECFEC-07A2-46DE-B4D0-5978A2EC207A}" sibTransId="{4525B280-0DB4-4354-A2AE-8C6780CF7017}"/>
    <dgm:cxn modelId="{8D781D8B-F485-4AB4-838F-C3A20D46C8E2}" type="presOf" srcId="{34F82E0D-3D9C-42F7-AAE7-13D0B2CC38DC}" destId="{201A8E62-E16B-44AC-8388-9F0737CF4609}" srcOrd="0" destOrd="0" presId="urn:microsoft.com/office/officeart/2005/8/layout/default"/>
    <dgm:cxn modelId="{AC412DE6-D9E4-42B8-AA56-80E5AC81B75D}" type="presParOf" srcId="{24FF73D7-DC77-4AF8-A57E-526780571511}" destId="{05AC775F-08AB-48A9-8D1F-2B86A7E41839}" srcOrd="0" destOrd="0" presId="urn:microsoft.com/office/officeart/2005/8/layout/default"/>
    <dgm:cxn modelId="{8C6CEDC2-921B-4D76-901F-D92DE3089FC3}" type="presParOf" srcId="{24FF73D7-DC77-4AF8-A57E-526780571511}" destId="{11571BB0-0D75-4091-A8E4-1FA0FC3BB001}" srcOrd="1" destOrd="0" presId="urn:microsoft.com/office/officeart/2005/8/layout/default"/>
    <dgm:cxn modelId="{9424035C-AD2C-4F64-9DE0-097E84DC35B5}" type="presParOf" srcId="{24FF73D7-DC77-4AF8-A57E-526780571511}" destId="{AFFE1499-6700-4E44-AA85-E041E8840CE1}" srcOrd="2" destOrd="0" presId="urn:microsoft.com/office/officeart/2005/8/layout/default"/>
    <dgm:cxn modelId="{4E347740-CAFF-4264-AB89-D22F7176E5AC}" type="presParOf" srcId="{24FF73D7-DC77-4AF8-A57E-526780571511}" destId="{B453F981-0E30-40AB-BF2C-C91D05BDC797}" srcOrd="3" destOrd="0" presId="urn:microsoft.com/office/officeart/2005/8/layout/default"/>
    <dgm:cxn modelId="{9B9606D9-5D57-4491-B7CB-9F235F0106C6}" type="presParOf" srcId="{24FF73D7-DC77-4AF8-A57E-526780571511}" destId="{201A8E62-E16B-44AC-8388-9F0737CF460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Умный дом: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автоматизация освещения, климат-контроля, безопасности, мультимедиа через платформы (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Apple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HomeKit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Google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Home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).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28C2ED4-72D2-42BF-816E-7611C288287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Телемедицина: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носимые устройства для мониторинга здоровья, удалённой диагностики.</a:t>
          </a:r>
        </a:p>
      </dgm:t>
    </dgm:pt>
    <dgm:pt modelId="{046EE744-6F21-41D5-8D36-029FBAFDAD9F}" type="parTrans" cxnId="{5300B34D-B07D-4EDF-BD98-4F41552CEF37}">
      <dgm:prSet/>
      <dgm:spPr/>
      <dgm:t>
        <a:bodyPr/>
        <a:lstStyle/>
        <a:p>
          <a:endParaRPr lang="ru-RU"/>
        </a:p>
      </dgm:t>
    </dgm:pt>
    <dgm:pt modelId="{89EE97FD-EEB7-4FEC-A3E6-020A8868B2B5}" type="sibTrans" cxnId="{5300B34D-B07D-4EDF-BD98-4F41552CEF37}">
      <dgm:prSet/>
      <dgm:spPr/>
      <dgm:t>
        <a:bodyPr/>
        <a:lstStyle/>
        <a:p>
          <a:endParaRPr lang="ru-RU"/>
        </a:p>
      </dgm:t>
    </dgm:pt>
    <dgm:pt modelId="{90116E02-A5C9-4A75-9D16-BAD8B17BA73F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Транспорт: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подключённые автомобили, интеллектуальные парковки.</a:t>
          </a:r>
        </a:p>
      </dgm:t>
    </dgm:pt>
    <dgm:pt modelId="{5DA4EC1A-6C39-4223-848B-FCE0C5E1EC5B}" type="parTrans" cxnId="{E066EDB8-65B5-4A8C-99FB-8A0EE53904B6}">
      <dgm:prSet/>
      <dgm:spPr/>
      <dgm:t>
        <a:bodyPr/>
        <a:lstStyle/>
        <a:p>
          <a:endParaRPr lang="ru-RU"/>
        </a:p>
      </dgm:t>
    </dgm:pt>
    <dgm:pt modelId="{70AF0BD1-EC91-4C21-8A8A-11818D668070}" type="sibTrans" cxnId="{E066EDB8-65B5-4A8C-99FB-8A0EE53904B6}">
      <dgm:prSet/>
      <dgm:spPr/>
      <dgm:t>
        <a:bodyPr/>
        <a:lstStyle/>
        <a:p>
          <a:endParaRPr lang="ru-RU"/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90A2AD52-53B6-450A-BFC8-65BAF0F3416F}" type="pres">
      <dgm:prSet presAssocID="{728C2ED4-72D2-42BF-816E-7611C288287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3B91A5-3128-4668-8A4A-9C22C38A163E}" type="pres">
      <dgm:prSet presAssocID="{89EE97FD-EEB7-4FEC-A3E6-020A8868B2B5}" presName="sibTrans" presStyleCnt="0"/>
      <dgm:spPr/>
    </dgm:pt>
    <dgm:pt modelId="{3D66EAA3-223D-41B9-9895-D33A0CA303D8}" type="pres">
      <dgm:prSet presAssocID="{90116E02-A5C9-4A75-9D16-BAD8B17BA73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5300B34D-B07D-4EDF-BD98-4F41552CEF37}" srcId="{3442F4C3-31F6-403E-96F6-DEDBB1BAAC7B}" destId="{728C2ED4-72D2-42BF-816E-7611C288287D}" srcOrd="1" destOrd="0" parTransId="{046EE744-6F21-41D5-8D36-029FBAFDAD9F}" sibTransId="{89EE97FD-EEB7-4FEC-A3E6-020A8868B2B5}"/>
    <dgm:cxn modelId="{802138E5-E127-48C6-8048-CDA10FA2CA7B}" type="presOf" srcId="{3442F4C3-31F6-403E-96F6-DEDBB1BAAC7B}" destId="{24FF73D7-DC77-4AF8-A57E-526780571511}" srcOrd="0" destOrd="0" presId="urn:microsoft.com/office/officeart/2005/8/layout/default"/>
    <dgm:cxn modelId="{5BCD6B62-8030-4DEF-926A-D961A12C26FF}" type="presOf" srcId="{90116E02-A5C9-4A75-9D16-BAD8B17BA73F}" destId="{3D66EAA3-223D-41B9-9895-D33A0CA303D8}" srcOrd="0" destOrd="0" presId="urn:microsoft.com/office/officeart/2005/8/layout/default"/>
    <dgm:cxn modelId="{EAB296D0-0FC0-4A68-816D-19115EAE6475}" type="presOf" srcId="{728C2ED4-72D2-42BF-816E-7611C288287D}" destId="{90A2AD52-53B6-450A-BFC8-65BAF0F3416F}" srcOrd="0" destOrd="0" presId="urn:microsoft.com/office/officeart/2005/8/layout/default"/>
    <dgm:cxn modelId="{E9486166-116C-4392-814B-3C200DBAB36B}" type="presOf" srcId="{4E1F68DA-71E1-471B-8A6C-63D08B89BEC3}" destId="{05AC775F-08AB-48A9-8D1F-2B86A7E41839}" srcOrd="0" destOrd="0" presId="urn:microsoft.com/office/officeart/2005/8/layout/default"/>
    <dgm:cxn modelId="{E066EDB8-65B5-4A8C-99FB-8A0EE53904B6}" srcId="{3442F4C3-31F6-403E-96F6-DEDBB1BAAC7B}" destId="{90116E02-A5C9-4A75-9D16-BAD8B17BA73F}" srcOrd="2" destOrd="0" parTransId="{5DA4EC1A-6C39-4223-848B-FCE0C5E1EC5B}" sibTransId="{70AF0BD1-EC91-4C21-8A8A-11818D668070}"/>
    <dgm:cxn modelId="{B39F9FC3-E6A5-4CF1-8397-1A4E3E2E980E}" type="presParOf" srcId="{24FF73D7-DC77-4AF8-A57E-526780571511}" destId="{05AC775F-08AB-48A9-8D1F-2B86A7E41839}" srcOrd="0" destOrd="0" presId="urn:microsoft.com/office/officeart/2005/8/layout/default"/>
    <dgm:cxn modelId="{D1F2844E-68CD-43D9-97B5-FE937D8BE2AF}" type="presParOf" srcId="{24FF73D7-DC77-4AF8-A57E-526780571511}" destId="{11571BB0-0D75-4091-A8E4-1FA0FC3BB001}" srcOrd="1" destOrd="0" presId="urn:microsoft.com/office/officeart/2005/8/layout/default"/>
    <dgm:cxn modelId="{2AFA7341-F3A8-4430-8CDC-FDE978513251}" type="presParOf" srcId="{24FF73D7-DC77-4AF8-A57E-526780571511}" destId="{90A2AD52-53B6-450A-BFC8-65BAF0F3416F}" srcOrd="2" destOrd="0" presId="urn:microsoft.com/office/officeart/2005/8/layout/default"/>
    <dgm:cxn modelId="{2D0325ED-A02F-4BFA-9A5A-C00F60B3FEBB}" type="presParOf" srcId="{24FF73D7-DC77-4AF8-A57E-526780571511}" destId="{FC3B91A5-3128-4668-8A4A-9C22C38A163E}" srcOrd="3" destOrd="0" presId="urn:microsoft.com/office/officeart/2005/8/layout/default"/>
    <dgm:cxn modelId="{C8D9CD49-AF14-4AF5-AE79-19E65C952BD6}" type="presParOf" srcId="{24FF73D7-DC77-4AF8-A57E-526780571511}" destId="{3D66EAA3-223D-41B9-9895-D33A0CA303D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Производство: предиктивный мониторинг оборудования, оптимизация логистики, энергопотребления.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919896C-C9A6-4131-ACBE-6EE258BB5B3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Сельское хозяйство: датчики почвы, климата для точного земледелия.</a:t>
          </a:r>
        </a:p>
      </dgm:t>
    </dgm:pt>
    <dgm:pt modelId="{0CD028D9-12B9-4B5F-9A8B-89895EB61E7B}" type="parTrans" cxnId="{7B2AE6BE-6896-4C14-B4DA-F1B9138D18E3}">
      <dgm:prSet/>
      <dgm:spPr/>
      <dgm:t>
        <a:bodyPr/>
        <a:lstStyle/>
        <a:p>
          <a:endParaRPr lang="ru-RU"/>
        </a:p>
      </dgm:t>
    </dgm:pt>
    <dgm:pt modelId="{79C573A8-D9D6-478F-AD6C-5BCCF94DC807}" type="sibTrans" cxnId="{7B2AE6BE-6896-4C14-B4DA-F1B9138D18E3}">
      <dgm:prSet/>
      <dgm:spPr/>
      <dgm:t>
        <a:bodyPr/>
        <a:lstStyle/>
        <a:p>
          <a:endParaRPr lang="ru-RU"/>
        </a:p>
      </dgm:t>
    </dgm:pt>
    <dgm:pt modelId="{9E9DACDF-3E80-4570-B17D-52486FEC4B45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Пищевая отрасль: контроль цепочек поставок, сокращение отходов.</a:t>
          </a:r>
        </a:p>
      </dgm:t>
    </dgm:pt>
    <dgm:pt modelId="{D4D4360F-B4AF-4093-9345-C73856171AFB}" type="parTrans" cxnId="{EDE50FB1-792F-423F-8508-161406339BB3}">
      <dgm:prSet/>
      <dgm:spPr/>
      <dgm:t>
        <a:bodyPr/>
        <a:lstStyle/>
        <a:p>
          <a:endParaRPr lang="ru-RU"/>
        </a:p>
      </dgm:t>
    </dgm:pt>
    <dgm:pt modelId="{A4C7FF8B-C782-4756-9421-D92B927E0A1D}" type="sibTrans" cxnId="{EDE50FB1-792F-423F-8508-161406339BB3}">
      <dgm:prSet/>
      <dgm:spPr/>
      <dgm:t>
        <a:bodyPr/>
        <a:lstStyle/>
        <a:p>
          <a:endParaRPr lang="ru-RU"/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1C5C600E-5346-4979-A199-F0DC9B6EB4B9}" type="pres">
      <dgm:prSet presAssocID="{0919896C-C9A6-4131-ACBE-6EE258BB5B3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278FC98-72A8-49AD-B13D-54E70E985C2C}" type="pres">
      <dgm:prSet presAssocID="{79C573A8-D9D6-478F-AD6C-5BCCF94DC807}" presName="sibTrans" presStyleCnt="0"/>
      <dgm:spPr/>
    </dgm:pt>
    <dgm:pt modelId="{89858BFE-C3D7-4608-BBA9-82223153205E}" type="pres">
      <dgm:prSet presAssocID="{9E9DACDF-3E80-4570-B17D-52486FEC4B4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25B68EEC-E641-4789-B4B2-F9A3A26730D2}" type="presOf" srcId="{4E1F68DA-71E1-471B-8A6C-63D08B89BEC3}" destId="{05AC775F-08AB-48A9-8D1F-2B86A7E41839}" srcOrd="0" destOrd="0" presId="urn:microsoft.com/office/officeart/2005/8/layout/default"/>
    <dgm:cxn modelId="{C2FA41D2-4410-41C5-AE8D-28B609960A14}" type="presOf" srcId="{9E9DACDF-3E80-4570-B17D-52486FEC4B45}" destId="{89858BFE-C3D7-4608-BBA9-82223153205E}" srcOrd="0" destOrd="0" presId="urn:microsoft.com/office/officeart/2005/8/layout/default"/>
    <dgm:cxn modelId="{EDE50FB1-792F-423F-8508-161406339BB3}" srcId="{3442F4C3-31F6-403E-96F6-DEDBB1BAAC7B}" destId="{9E9DACDF-3E80-4570-B17D-52486FEC4B45}" srcOrd="2" destOrd="0" parTransId="{D4D4360F-B4AF-4093-9345-C73856171AFB}" sibTransId="{A4C7FF8B-C782-4756-9421-D92B927E0A1D}"/>
    <dgm:cxn modelId="{0E641E1A-EAE1-4733-9AAD-3B2291ADFF86}" type="presOf" srcId="{3442F4C3-31F6-403E-96F6-DEDBB1BAAC7B}" destId="{24FF73D7-DC77-4AF8-A57E-526780571511}" srcOrd="0" destOrd="0" presId="urn:microsoft.com/office/officeart/2005/8/layout/default"/>
    <dgm:cxn modelId="{7B2AE6BE-6896-4C14-B4DA-F1B9138D18E3}" srcId="{3442F4C3-31F6-403E-96F6-DEDBB1BAAC7B}" destId="{0919896C-C9A6-4131-ACBE-6EE258BB5B3D}" srcOrd="1" destOrd="0" parTransId="{0CD028D9-12B9-4B5F-9A8B-89895EB61E7B}" sibTransId="{79C573A8-D9D6-478F-AD6C-5BCCF94DC807}"/>
    <dgm:cxn modelId="{D893C91A-925F-479B-85B5-8052A654611B}" type="presOf" srcId="{0919896C-C9A6-4131-ACBE-6EE258BB5B3D}" destId="{1C5C600E-5346-4979-A199-F0DC9B6EB4B9}" srcOrd="0" destOrd="0" presId="urn:microsoft.com/office/officeart/2005/8/layout/default"/>
    <dgm:cxn modelId="{8115630E-A5B2-4301-8DD9-A79320598FE5}" type="presParOf" srcId="{24FF73D7-DC77-4AF8-A57E-526780571511}" destId="{05AC775F-08AB-48A9-8D1F-2B86A7E41839}" srcOrd="0" destOrd="0" presId="urn:microsoft.com/office/officeart/2005/8/layout/default"/>
    <dgm:cxn modelId="{8175E136-FF60-4EAF-A1F2-5F4780E40F74}" type="presParOf" srcId="{24FF73D7-DC77-4AF8-A57E-526780571511}" destId="{11571BB0-0D75-4091-A8E4-1FA0FC3BB001}" srcOrd="1" destOrd="0" presId="urn:microsoft.com/office/officeart/2005/8/layout/default"/>
    <dgm:cxn modelId="{272E21A0-6C73-4FB4-816E-DDF91D8E86BD}" type="presParOf" srcId="{24FF73D7-DC77-4AF8-A57E-526780571511}" destId="{1C5C600E-5346-4979-A199-F0DC9B6EB4B9}" srcOrd="2" destOrd="0" presId="urn:microsoft.com/office/officeart/2005/8/layout/default"/>
    <dgm:cxn modelId="{CC5B809C-F31C-42AC-A97B-E824A04BE325}" type="presParOf" srcId="{24FF73D7-DC77-4AF8-A57E-526780571511}" destId="{5278FC98-72A8-49AD-B13D-54E70E985C2C}" srcOrd="3" destOrd="0" presId="urn:microsoft.com/office/officeart/2005/8/layout/default"/>
    <dgm:cxn modelId="{12AFFE11-DAB9-408D-B0C8-EC9917113F46}" type="presParOf" srcId="{24FF73D7-DC77-4AF8-A57E-526780571511}" destId="{89858BFE-C3D7-4608-BBA9-82223153205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Энергоменеджмент: «умные сети» для балансировки энергопотребления.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97069BA-00DD-4449-B7D6-99B83FF84F2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Мониторинг среды: датчики качества воздуха, воды, раннего оповещения о ЧС.</a:t>
          </a:r>
        </a:p>
      </dgm:t>
    </dgm:pt>
    <dgm:pt modelId="{0120C158-C5EA-4965-8FEB-E33C9A90AF91}" type="parTrans" cxnId="{DE4FD8FD-819E-4FCE-AB0F-63407A692FE1}">
      <dgm:prSet/>
      <dgm:spPr/>
      <dgm:t>
        <a:bodyPr/>
        <a:lstStyle/>
        <a:p>
          <a:endParaRPr lang="ru-RU"/>
        </a:p>
      </dgm:t>
    </dgm:pt>
    <dgm:pt modelId="{D262F84D-8693-45E6-B809-62DBB5B3C4BE}" type="sibTrans" cxnId="{DE4FD8FD-819E-4FCE-AB0F-63407A692FE1}">
      <dgm:prSet/>
      <dgm:spPr/>
      <dgm:t>
        <a:bodyPr/>
        <a:lstStyle/>
        <a:p>
          <a:endParaRPr lang="ru-RU"/>
        </a:p>
      </dgm:t>
    </dgm:pt>
    <dgm:pt modelId="{203580B0-CE3E-4F0E-9F60-2FEBD59316D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Городские системы: управление транспортом, отходами, безопасностью инфраструктуры.</a:t>
          </a:r>
        </a:p>
      </dgm:t>
    </dgm:pt>
    <dgm:pt modelId="{5B4E5C3E-BE98-485A-A917-ECBED13C1DEE}" type="parTrans" cxnId="{7B846D76-FD18-452A-8632-61174BDF0722}">
      <dgm:prSet/>
      <dgm:spPr/>
      <dgm:t>
        <a:bodyPr/>
        <a:lstStyle/>
        <a:p>
          <a:endParaRPr lang="ru-RU"/>
        </a:p>
      </dgm:t>
    </dgm:pt>
    <dgm:pt modelId="{6892B3A8-ADA7-410A-AA1D-96D520F58337}" type="sibTrans" cxnId="{7B846D76-FD18-452A-8632-61174BDF0722}">
      <dgm:prSet/>
      <dgm:spPr/>
      <dgm:t>
        <a:bodyPr/>
        <a:lstStyle/>
        <a:p>
          <a:endParaRPr lang="ru-RU"/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5D8C4977-CE1F-452B-86C3-F94391EC99E9}" type="pres">
      <dgm:prSet presAssocID="{D97069BA-00DD-4449-B7D6-99B83FF84F2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A50ACC-650C-45C1-8C1E-22C3F2F33F03}" type="pres">
      <dgm:prSet presAssocID="{D262F84D-8693-45E6-B809-62DBB5B3C4BE}" presName="sibTrans" presStyleCnt="0"/>
      <dgm:spPr/>
    </dgm:pt>
    <dgm:pt modelId="{6B9A0454-5658-4D12-9CDD-6767D3FF2D09}" type="pres">
      <dgm:prSet presAssocID="{203580B0-CE3E-4F0E-9F60-2FEBD59316D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0F08147B-75DD-45C4-B3FC-D88C1112BC95}" type="presOf" srcId="{3442F4C3-31F6-403E-96F6-DEDBB1BAAC7B}" destId="{24FF73D7-DC77-4AF8-A57E-526780571511}" srcOrd="0" destOrd="0" presId="urn:microsoft.com/office/officeart/2005/8/layout/default"/>
    <dgm:cxn modelId="{00932D7E-E695-432C-8FB6-5BD2DF8BCDFF}" type="presOf" srcId="{203580B0-CE3E-4F0E-9F60-2FEBD59316D2}" destId="{6B9A0454-5658-4D12-9CDD-6767D3FF2D09}" srcOrd="0" destOrd="0" presId="urn:microsoft.com/office/officeart/2005/8/layout/default"/>
    <dgm:cxn modelId="{4DED1448-60CB-42F8-A2C8-2BBD42807C7B}" type="presOf" srcId="{4E1F68DA-71E1-471B-8A6C-63D08B89BEC3}" destId="{05AC775F-08AB-48A9-8D1F-2B86A7E41839}" srcOrd="0" destOrd="0" presId="urn:microsoft.com/office/officeart/2005/8/layout/default"/>
    <dgm:cxn modelId="{DE4FD8FD-819E-4FCE-AB0F-63407A692FE1}" srcId="{3442F4C3-31F6-403E-96F6-DEDBB1BAAC7B}" destId="{D97069BA-00DD-4449-B7D6-99B83FF84F22}" srcOrd="1" destOrd="0" parTransId="{0120C158-C5EA-4965-8FEB-E33C9A90AF91}" sibTransId="{D262F84D-8693-45E6-B809-62DBB5B3C4BE}"/>
    <dgm:cxn modelId="{900BAD8E-59A7-4AC0-93FB-B69964402B5F}" type="presOf" srcId="{D97069BA-00DD-4449-B7D6-99B83FF84F22}" destId="{5D8C4977-CE1F-452B-86C3-F94391EC99E9}" srcOrd="0" destOrd="0" presId="urn:microsoft.com/office/officeart/2005/8/layout/default"/>
    <dgm:cxn modelId="{7B846D76-FD18-452A-8632-61174BDF0722}" srcId="{3442F4C3-31F6-403E-96F6-DEDBB1BAAC7B}" destId="{203580B0-CE3E-4F0E-9F60-2FEBD59316D2}" srcOrd="2" destOrd="0" parTransId="{5B4E5C3E-BE98-485A-A917-ECBED13C1DEE}" sibTransId="{6892B3A8-ADA7-410A-AA1D-96D520F58337}"/>
    <dgm:cxn modelId="{C1CE6D1D-EA9D-4571-8453-2CEE6E7A0650}" type="presParOf" srcId="{24FF73D7-DC77-4AF8-A57E-526780571511}" destId="{05AC775F-08AB-48A9-8D1F-2B86A7E41839}" srcOrd="0" destOrd="0" presId="urn:microsoft.com/office/officeart/2005/8/layout/default"/>
    <dgm:cxn modelId="{C1D80475-D429-41DD-86DD-F9004ACC4335}" type="presParOf" srcId="{24FF73D7-DC77-4AF8-A57E-526780571511}" destId="{11571BB0-0D75-4091-A8E4-1FA0FC3BB001}" srcOrd="1" destOrd="0" presId="urn:microsoft.com/office/officeart/2005/8/layout/default"/>
    <dgm:cxn modelId="{6273FD50-6B69-43E1-86D1-413949114872}" type="presParOf" srcId="{24FF73D7-DC77-4AF8-A57E-526780571511}" destId="{5D8C4977-CE1F-452B-86C3-F94391EC99E9}" srcOrd="2" destOrd="0" presId="urn:microsoft.com/office/officeart/2005/8/layout/default"/>
    <dgm:cxn modelId="{C4C45085-3428-42BE-82C2-3574D48FFC63}" type="presParOf" srcId="{24FF73D7-DC77-4AF8-A57E-526780571511}" destId="{53A50ACC-650C-45C1-8C1E-22C3F2F33F03}" srcOrd="3" destOrd="0" presId="urn:microsoft.com/office/officeart/2005/8/layout/default"/>
    <dgm:cxn modelId="{66BDBC67-64F6-4089-A285-FA78E5E4D151}" type="presParOf" srcId="{24FF73D7-DC77-4AF8-A57E-526780571511}" destId="{6B9A0454-5658-4D12-9CDD-6767D3FF2D0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442F4C3-31F6-403E-96F6-DEDBB1BAAC7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1F68DA-71E1-471B-8A6C-63D08B89BEC3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Военные технологии: IoMT для разведки и управления боем, сеть датчиков для отслеживания судов, экологии.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22B115-1601-4C94-A6CB-99F5B1B0FF9C}" type="par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A931AC-46F5-48FB-A3F2-BCC7DFE1F075}" type="sibTrans" cxnId="{552367E7-F910-4AAA-ADA4-237845FF82E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36A78AA-92C0-40CA-A511-44F88A43F03B}">
      <dgm:prSet/>
      <dgm:spPr/>
      <dgm:t>
        <a:bodyPr/>
        <a:lstStyle/>
        <a:p>
          <a:r>
            <a:rPr lang="ru-RU" dirty="0" err="1" smtClean="0">
              <a:latin typeface="Times New Roman" pitchFamily="18" charset="0"/>
              <a:cs typeface="Times New Roman" pitchFamily="18" charset="0"/>
            </a:rPr>
            <a:t>Цифровая упаковка: NFC/QR-коды для прослеживаемости продукции.</a:t>
          </a:r>
        </a:p>
      </dgm:t>
    </dgm:pt>
    <dgm:pt modelId="{A15A597F-4EB4-46EF-8166-0E028642BC57}" type="parTrans" cxnId="{04E92B8C-BE18-4794-B357-5ED9697BA4A4}">
      <dgm:prSet/>
      <dgm:spPr/>
      <dgm:t>
        <a:bodyPr/>
        <a:lstStyle/>
        <a:p>
          <a:endParaRPr lang="ru-RU"/>
        </a:p>
      </dgm:t>
    </dgm:pt>
    <dgm:pt modelId="{557E9A09-A5EA-4720-8490-9C2AC7CDDCE3}" type="sibTrans" cxnId="{04E92B8C-BE18-4794-B357-5ED9697BA4A4}">
      <dgm:prSet/>
      <dgm:spPr/>
      <dgm:t>
        <a:bodyPr/>
        <a:lstStyle/>
        <a:p>
          <a:endParaRPr lang="ru-RU"/>
        </a:p>
      </dgm:t>
    </dgm:pt>
    <dgm:pt modelId="{24FF73D7-DC77-4AF8-A57E-526780571511}" type="pres">
      <dgm:prSet presAssocID="{3442F4C3-31F6-403E-96F6-DEDBB1BAAC7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AC775F-08AB-48A9-8D1F-2B86A7E41839}" type="pres">
      <dgm:prSet presAssocID="{4E1F68DA-71E1-471B-8A6C-63D08B89BEC3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571BB0-0D75-4091-A8E4-1FA0FC3BB001}" type="pres">
      <dgm:prSet presAssocID="{C3A931AC-46F5-48FB-A3F2-BCC7DFE1F075}" presName="sibTrans" presStyleCnt="0"/>
      <dgm:spPr/>
    </dgm:pt>
    <dgm:pt modelId="{8C9D9762-0038-4CEE-AAF3-52DEC3F3E820}" type="pres">
      <dgm:prSet presAssocID="{B36A78AA-92C0-40CA-A511-44F88A43F03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52367E7-F910-4AAA-ADA4-237845FF82E0}" srcId="{3442F4C3-31F6-403E-96F6-DEDBB1BAAC7B}" destId="{4E1F68DA-71E1-471B-8A6C-63D08B89BEC3}" srcOrd="0" destOrd="0" parTransId="{6822B115-1601-4C94-A6CB-99F5B1B0FF9C}" sibTransId="{C3A931AC-46F5-48FB-A3F2-BCC7DFE1F075}"/>
    <dgm:cxn modelId="{DCF190D2-CD59-4A19-87AB-FC0B865F85E1}" type="presOf" srcId="{4E1F68DA-71E1-471B-8A6C-63D08B89BEC3}" destId="{05AC775F-08AB-48A9-8D1F-2B86A7E41839}" srcOrd="0" destOrd="0" presId="urn:microsoft.com/office/officeart/2005/8/layout/default"/>
    <dgm:cxn modelId="{AE33FCA9-213E-49E4-8582-63477EE6082B}" type="presOf" srcId="{3442F4C3-31F6-403E-96F6-DEDBB1BAAC7B}" destId="{24FF73D7-DC77-4AF8-A57E-526780571511}" srcOrd="0" destOrd="0" presId="urn:microsoft.com/office/officeart/2005/8/layout/default"/>
    <dgm:cxn modelId="{04E92B8C-BE18-4794-B357-5ED9697BA4A4}" srcId="{3442F4C3-31F6-403E-96F6-DEDBB1BAAC7B}" destId="{B36A78AA-92C0-40CA-A511-44F88A43F03B}" srcOrd="1" destOrd="0" parTransId="{A15A597F-4EB4-46EF-8166-0E028642BC57}" sibTransId="{557E9A09-A5EA-4720-8490-9C2AC7CDDCE3}"/>
    <dgm:cxn modelId="{9E0CF18D-0B94-48A1-A6AF-B72EF1079C5E}" type="presOf" srcId="{B36A78AA-92C0-40CA-A511-44F88A43F03B}" destId="{8C9D9762-0038-4CEE-AAF3-52DEC3F3E820}" srcOrd="0" destOrd="0" presId="urn:microsoft.com/office/officeart/2005/8/layout/default"/>
    <dgm:cxn modelId="{60BDFDAF-3CD3-4DA2-B2B6-F87006654586}" type="presParOf" srcId="{24FF73D7-DC77-4AF8-A57E-526780571511}" destId="{05AC775F-08AB-48A9-8D1F-2B86A7E41839}" srcOrd="0" destOrd="0" presId="urn:microsoft.com/office/officeart/2005/8/layout/default"/>
    <dgm:cxn modelId="{F6D795E3-F212-4840-BFC3-9D0DBB9283EE}" type="presParOf" srcId="{24FF73D7-DC77-4AF8-A57E-526780571511}" destId="{11571BB0-0D75-4091-A8E4-1FA0FC3BB001}" srcOrd="1" destOrd="0" presId="urn:microsoft.com/office/officeart/2005/8/layout/default"/>
    <dgm:cxn modelId="{22A52A32-0EAE-43D7-8B15-898FCEB2C09F}" type="presParOf" srcId="{24FF73D7-DC77-4AF8-A57E-526780571511}" destId="{8C9D9762-0038-4CEE-AAF3-52DEC3F3E820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D282490-0F90-44CD-9735-AC1FBE20E30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1AE37DE-D876-4DA8-828F-29A829AB48EA}">
      <dgm:prSet phldrT="[Текст]" custT="1"/>
      <dgm:spPr/>
      <dgm:t>
        <a:bodyPr/>
        <a:lstStyle/>
        <a:p>
          <a:r>
            <a:rPr lang="ru-RU" sz="1600" b="0" i="0" dirty="0" err="1" smtClean="0">
              <a:latin typeface="Times New Roman" pitchFamily="18" charset="0"/>
              <a:cs typeface="Times New Roman" pitchFamily="18" charset="0"/>
            </a:rPr>
            <a:t>Analytics</a:t>
          </a:r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 (аналитика) – ключевое звено в функционировании </a:t>
          </a:r>
          <a:r>
            <a:rPr lang="ru-RU" sz="1600" b="0" i="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, которое объединяет сами устройства, данные с них и оптимизирует бизнес-процессы;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C3A47184-013F-46E1-ABC6-646E616F5A2B}" type="parTrans" cxnId="{717076CA-AED6-4052-B1C4-456D2896707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C9CB002-8393-4AFF-81F0-FEA376EDBED7}" type="sibTrans" cxnId="{717076CA-AED6-4052-B1C4-456D2896707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171AA72-F8E9-4EBB-BF03-DD3B803EEEC1}">
      <dgm:prSet custT="1"/>
      <dgm:spPr/>
      <dgm:t>
        <a:bodyPr/>
        <a:lstStyle/>
        <a:p>
          <a:r>
            <a:rPr lang="ru-RU" sz="1600" b="0" i="0" dirty="0" err="1" smtClean="0">
              <a:latin typeface="Times New Roman" pitchFamily="18" charset="0"/>
              <a:cs typeface="Times New Roman" pitchFamily="18" charset="0"/>
            </a:rPr>
            <a:t>BigData</a:t>
          </a:r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 (большие данные) – то есть информация с устройств – хранятся в облаке. Они позволяют автоматизировать существующие процессы или выстраивать новые;</a:t>
          </a:r>
          <a:endParaRPr lang="ru-RU" sz="1600" b="0" i="0" dirty="0">
            <a:latin typeface="Times New Roman" pitchFamily="18" charset="0"/>
            <a:cs typeface="Times New Roman" pitchFamily="18" charset="0"/>
          </a:endParaRPr>
        </a:p>
      </dgm:t>
    </dgm:pt>
    <dgm:pt modelId="{2E2F4154-D13D-4C89-AABF-5F4CCFD7339D}" type="parTrans" cxnId="{1CDDF9E7-DA6B-44E0-99E7-C74F205D144F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ADAC41F-0420-436C-9998-9317D5209A8E}" type="sibTrans" cxnId="{1CDDF9E7-DA6B-44E0-99E7-C74F205D144F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B7260CE-D1E9-45E1-8FC4-8F54E618E038}">
      <dgm:prSet custT="1"/>
      <dgm:spPr/>
      <dgm:t>
        <a:bodyPr/>
        <a:lstStyle/>
        <a:p>
          <a:r>
            <a:rPr lang="ru-RU" sz="1600" b="0" i="0" smtClean="0">
              <a:latin typeface="Times New Roman" pitchFamily="18" charset="0"/>
              <a:cs typeface="Times New Roman" pitchFamily="18" charset="0"/>
            </a:rPr>
            <a:t>Connection (соединение) – это каналы, по которым устройства получают и передают информацию;</a:t>
          </a:r>
          <a:endParaRPr lang="ru-RU" sz="1600" b="0" i="0">
            <a:latin typeface="Times New Roman" pitchFamily="18" charset="0"/>
            <a:cs typeface="Times New Roman" pitchFamily="18" charset="0"/>
          </a:endParaRPr>
        </a:p>
      </dgm:t>
    </dgm:pt>
    <dgm:pt modelId="{1E032077-FCFA-4A40-B3F6-59049E22DF16}" type="parTrans" cxnId="{9CF5262F-A0A6-4E6B-9E84-E301BD0918E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5BD4604-79ED-4132-BBD6-8439FB08B0FF}" type="sibTrans" cxnId="{9CF5262F-A0A6-4E6B-9E84-E301BD0918E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94EEA8D-0E7F-4844-9540-C830ED787D9B}">
      <dgm:prSet custT="1"/>
      <dgm:spPr/>
      <dgm:t>
        <a:bodyPr/>
        <a:lstStyle/>
        <a:p>
          <a:r>
            <a:rPr lang="ru-RU" sz="1600" b="0" i="0" dirty="0" err="1" smtClean="0">
              <a:latin typeface="Times New Roman" pitchFamily="18" charset="0"/>
              <a:cs typeface="Times New Roman" pitchFamily="18" charset="0"/>
            </a:rPr>
            <a:t>Devices</a:t>
          </a:r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 (устройства) – подключенные к системе девайсы, которые для корректной работы в зависимости от задач должны иметь соответствующую частоту сообщений;</a:t>
          </a:r>
          <a:endParaRPr lang="ru-RU" sz="1600" b="0" i="0" dirty="0">
            <a:latin typeface="Times New Roman" pitchFamily="18" charset="0"/>
            <a:cs typeface="Times New Roman" pitchFamily="18" charset="0"/>
          </a:endParaRPr>
        </a:p>
      </dgm:t>
    </dgm:pt>
    <dgm:pt modelId="{5599FF08-50B4-4E24-8C56-D38266C84849}" type="parTrans" cxnId="{7E3B6F40-33A4-400E-98FE-C42432E9E81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B79E7A6-077C-45B7-8435-B2EC1E8943E9}" type="sibTrans" cxnId="{7E3B6F40-33A4-400E-98FE-C42432E9E81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444E201-F851-4E8A-B363-EE0413762256}">
      <dgm:prSet custT="1"/>
      <dgm:spPr/>
      <dgm:t>
        <a:bodyPr/>
        <a:lstStyle/>
        <a:p>
          <a:r>
            <a:rPr lang="ru-RU" sz="1600" b="0" i="0" dirty="0" err="1" smtClean="0">
              <a:latin typeface="Times New Roman" pitchFamily="18" charset="0"/>
              <a:cs typeface="Times New Roman" pitchFamily="18" charset="0"/>
            </a:rPr>
            <a:t>Experience</a:t>
          </a:r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 (опыт) – работа с уже имеющимся опытом решения проблем клиента с помощью </a:t>
          </a:r>
          <a:r>
            <a:rPr lang="ru-RU" sz="1600" b="0" i="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600" b="0" i="0" dirty="0" smtClean="0">
              <a:latin typeface="Times New Roman" pitchFamily="18" charset="0"/>
              <a:cs typeface="Times New Roman" pitchFamily="18" charset="0"/>
            </a:rPr>
            <a:t>, его аналитика и переосмысление.</a:t>
          </a:r>
          <a:endParaRPr lang="ru-RU" sz="1600" b="0" i="0" dirty="0">
            <a:latin typeface="Times New Roman" pitchFamily="18" charset="0"/>
            <a:cs typeface="Times New Roman" pitchFamily="18" charset="0"/>
          </a:endParaRPr>
        </a:p>
      </dgm:t>
    </dgm:pt>
    <dgm:pt modelId="{00F977E8-025F-439B-B655-332F0B96A324}" type="parTrans" cxnId="{FCC9893E-A417-4EBC-BAEC-C9609EC9B5B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FA5EFE0-8B64-4D74-8042-F387BDBFB01F}" type="sibTrans" cxnId="{FCC9893E-A417-4EBC-BAEC-C9609EC9B5B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68266E9-3F2C-4E5E-8BF4-C188FBEFE044}" type="pres">
      <dgm:prSet presAssocID="{7D282490-0F90-44CD-9735-AC1FBE20E30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E6B6C54-EFBE-4CED-BDAB-50812DBC3473}" type="pres">
      <dgm:prSet presAssocID="{01AE37DE-D876-4DA8-828F-29A829AB48EA}" presName="node" presStyleLbl="node1" presStyleIdx="0" presStyleCnt="5" custScaleX="13107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EDC870-6B6B-491F-A2E6-4E33CE76CBEE}" type="pres">
      <dgm:prSet presAssocID="{4C9CB002-8393-4AFF-81F0-FEA376EDBED7}" presName="sibTrans" presStyleCnt="0"/>
      <dgm:spPr/>
    </dgm:pt>
    <dgm:pt modelId="{D18F4949-F634-45A0-BAF6-665F6610108C}" type="pres">
      <dgm:prSet presAssocID="{C171AA72-F8E9-4EBB-BF03-DD3B803EEEC1}" presName="node" presStyleLbl="node1" presStyleIdx="1" presStyleCnt="5" custScaleX="12167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322062D-9EEA-4293-A8C5-6AF4C0505168}" type="pres">
      <dgm:prSet presAssocID="{7ADAC41F-0420-436C-9998-9317D5209A8E}" presName="sibTrans" presStyleCnt="0"/>
      <dgm:spPr/>
    </dgm:pt>
    <dgm:pt modelId="{21BDCFA2-0DC3-4174-9DF5-D4AB79E55828}" type="pres">
      <dgm:prSet presAssocID="{3B7260CE-D1E9-45E1-8FC4-8F54E618E03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950DA5-CA1C-4A2D-9D24-542522301D92}" type="pres">
      <dgm:prSet presAssocID="{C5BD4604-79ED-4132-BBD6-8439FB08B0FF}" presName="sibTrans" presStyleCnt="0"/>
      <dgm:spPr/>
    </dgm:pt>
    <dgm:pt modelId="{3D55911C-4735-4294-9C4F-98EB4117793E}" type="pres">
      <dgm:prSet presAssocID="{B94EEA8D-0E7F-4844-9540-C830ED787D9B}" presName="node" presStyleLbl="node1" presStyleIdx="3" presStyleCnt="5" custScaleX="14481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C2AE01-080B-48B2-9D83-89DCF41C6880}" type="pres">
      <dgm:prSet presAssocID="{2B79E7A6-077C-45B7-8435-B2EC1E8943E9}" presName="sibTrans" presStyleCnt="0"/>
      <dgm:spPr/>
    </dgm:pt>
    <dgm:pt modelId="{1E9028DE-48B1-4CFA-8C1A-FDA2D5D727D7}" type="pres">
      <dgm:prSet presAssocID="{D444E201-F851-4E8A-B363-EE0413762256}" presName="node" presStyleLbl="node1" presStyleIdx="4" presStyleCnt="5" custScaleX="12378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CF5262F-A0A6-4E6B-9E84-E301BD0918E1}" srcId="{7D282490-0F90-44CD-9735-AC1FBE20E303}" destId="{3B7260CE-D1E9-45E1-8FC4-8F54E618E038}" srcOrd="2" destOrd="0" parTransId="{1E032077-FCFA-4A40-B3F6-59049E22DF16}" sibTransId="{C5BD4604-79ED-4132-BBD6-8439FB08B0FF}"/>
    <dgm:cxn modelId="{1CDDF9E7-DA6B-44E0-99E7-C74F205D144F}" srcId="{7D282490-0F90-44CD-9735-AC1FBE20E303}" destId="{C171AA72-F8E9-4EBB-BF03-DD3B803EEEC1}" srcOrd="1" destOrd="0" parTransId="{2E2F4154-D13D-4C89-AABF-5F4CCFD7339D}" sibTransId="{7ADAC41F-0420-436C-9998-9317D5209A8E}"/>
    <dgm:cxn modelId="{BAEF7F16-07A7-4EF2-9269-D0DB9104B1B1}" type="presOf" srcId="{D444E201-F851-4E8A-B363-EE0413762256}" destId="{1E9028DE-48B1-4CFA-8C1A-FDA2D5D727D7}" srcOrd="0" destOrd="0" presId="urn:microsoft.com/office/officeart/2005/8/layout/default"/>
    <dgm:cxn modelId="{573914DF-F757-4BA8-922C-15D939460F14}" type="presOf" srcId="{C171AA72-F8E9-4EBB-BF03-DD3B803EEEC1}" destId="{D18F4949-F634-45A0-BAF6-665F6610108C}" srcOrd="0" destOrd="0" presId="urn:microsoft.com/office/officeart/2005/8/layout/default"/>
    <dgm:cxn modelId="{7E3B6F40-33A4-400E-98FE-C42432E9E815}" srcId="{7D282490-0F90-44CD-9735-AC1FBE20E303}" destId="{B94EEA8D-0E7F-4844-9540-C830ED787D9B}" srcOrd="3" destOrd="0" parTransId="{5599FF08-50B4-4E24-8C56-D38266C84849}" sibTransId="{2B79E7A6-077C-45B7-8435-B2EC1E8943E9}"/>
    <dgm:cxn modelId="{DE8F21FE-360C-47FD-8B2F-BD4F61015029}" type="presOf" srcId="{7D282490-0F90-44CD-9735-AC1FBE20E303}" destId="{468266E9-3F2C-4E5E-8BF4-C188FBEFE044}" srcOrd="0" destOrd="0" presId="urn:microsoft.com/office/officeart/2005/8/layout/default"/>
    <dgm:cxn modelId="{1E64F938-A74D-4E93-9BA4-11FFB263AC06}" type="presOf" srcId="{3B7260CE-D1E9-45E1-8FC4-8F54E618E038}" destId="{21BDCFA2-0DC3-4174-9DF5-D4AB79E55828}" srcOrd="0" destOrd="0" presId="urn:microsoft.com/office/officeart/2005/8/layout/default"/>
    <dgm:cxn modelId="{B57AD2F0-3F78-4962-B2F5-2A00524A5984}" type="presOf" srcId="{01AE37DE-D876-4DA8-828F-29A829AB48EA}" destId="{2E6B6C54-EFBE-4CED-BDAB-50812DBC3473}" srcOrd="0" destOrd="0" presId="urn:microsoft.com/office/officeart/2005/8/layout/default"/>
    <dgm:cxn modelId="{717076CA-AED6-4052-B1C4-456D2896707A}" srcId="{7D282490-0F90-44CD-9735-AC1FBE20E303}" destId="{01AE37DE-D876-4DA8-828F-29A829AB48EA}" srcOrd="0" destOrd="0" parTransId="{C3A47184-013F-46E1-ABC6-646E616F5A2B}" sibTransId="{4C9CB002-8393-4AFF-81F0-FEA376EDBED7}"/>
    <dgm:cxn modelId="{FCC9893E-A417-4EBC-BAEC-C9609EC9B5BD}" srcId="{7D282490-0F90-44CD-9735-AC1FBE20E303}" destId="{D444E201-F851-4E8A-B363-EE0413762256}" srcOrd="4" destOrd="0" parTransId="{00F977E8-025F-439B-B655-332F0B96A324}" sibTransId="{EFA5EFE0-8B64-4D74-8042-F387BDBFB01F}"/>
    <dgm:cxn modelId="{5A18AF71-8C94-4A72-A625-A296B3A28A3D}" type="presOf" srcId="{B94EEA8D-0E7F-4844-9540-C830ED787D9B}" destId="{3D55911C-4735-4294-9C4F-98EB4117793E}" srcOrd="0" destOrd="0" presId="urn:microsoft.com/office/officeart/2005/8/layout/default"/>
    <dgm:cxn modelId="{EF064AE4-CBE4-40FD-937D-2EDC1420CF9D}" type="presParOf" srcId="{468266E9-3F2C-4E5E-8BF4-C188FBEFE044}" destId="{2E6B6C54-EFBE-4CED-BDAB-50812DBC3473}" srcOrd="0" destOrd="0" presId="urn:microsoft.com/office/officeart/2005/8/layout/default"/>
    <dgm:cxn modelId="{0A48B37C-9B4D-48DE-8399-4EE6B4DCFF5C}" type="presParOf" srcId="{468266E9-3F2C-4E5E-8BF4-C188FBEFE044}" destId="{95EDC870-6B6B-491F-A2E6-4E33CE76CBEE}" srcOrd="1" destOrd="0" presId="urn:microsoft.com/office/officeart/2005/8/layout/default"/>
    <dgm:cxn modelId="{DB5E1DA1-A257-4D9D-9C42-3E38EF8259CE}" type="presParOf" srcId="{468266E9-3F2C-4E5E-8BF4-C188FBEFE044}" destId="{D18F4949-F634-45A0-BAF6-665F6610108C}" srcOrd="2" destOrd="0" presId="urn:microsoft.com/office/officeart/2005/8/layout/default"/>
    <dgm:cxn modelId="{78078610-4238-4F11-936B-4FFC8E964604}" type="presParOf" srcId="{468266E9-3F2C-4E5E-8BF4-C188FBEFE044}" destId="{2322062D-9EEA-4293-A8C5-6AF4C0505168}" srcOrd="3" destOrd="0" presId="urn:microsoft.com/office/officeart/2005/8/layout/default"/>
    <dgm:cxn modelId="{723F99DF-04F3-4CF7-AEA9-FD4B24471A20}" type="presParOf" srcId="{468266E9-3F2C-4E5E-8BF4-C188FBEFE044}" destId="{21BDCFA2-0DC3-4174-9DF5-D4AB79E55828}" srcOrd="4" destOrd="0" presId="urn:microsoft.com/office/officeart/2005/8/layout/default"/>
    <dgm:cxn modelId="{4E48343D-C892-405D-B3D7-F7A6F6E82DDA}" type="presParOf" srcId="{468266E9-3F2C-4E5E-8BF4-C188FBEFE044}" destId="{74950DA5-CA1C-4A2D-9D24-542522301D92}" srcOrd="5" destOrd="0" presId="urn:microsoft.com/office/officeart/2005/8/layout/default"/>
    <dgm:cxn modelId="{3F2BB7ED-BF9B-470D-860F-D09B939BD92B}" type="presParOf" srcId="{468266E9-3F2C-4E5E-8BF4-C188FBEFE044}" destId="{3D55911C-4735-4294-9C4F-98EB4117793E}" srcOrd="6" destOrd="0" presId="urn:microsoft.com/office/officeart/2005/8/layout/default"/>
    <dgm:cxn modelId="{796C9534-AC2B-42E4-9C80-B736D214B305}" type="presParOf" srcId="{468266E9-3F2C-4E5E-8BF4-C188FBEFE044}" destId="{A8C2AE01-080B-48B2-9D83-89DCF41C6880}" srcOrd="7" destOrd="0" presId="urn:microsoft.com/office/officeart/2005/8/layout/default"/>
    <dgm:cxn modelId="{6A628D30-6BCB-4642-B71A-96810C903446}" type="presParOf" srcId="{468266E9-3F2C-4E5E-8BF4-C188FBEFE044}" destId="{1E9028DE-48B1-4CFA-8C1A-FDA2D5D727D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201600B-2034-48E3-95D5-56A4F3CD0CE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4A7B3AA-E10B-4CEA-93C2-9BDB8D1FF4B0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Аналитику больших данных и ИИ – обработку информации в реальном времени и автоматизацию решений в различных сферах, от компьютерного зрения до клиентских сервисов.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A249A2EA-BE02-40D2-B311-FFD40B5C7717}" type="parTrans" cxnId="{9CB90ED9-3B4A-4CD6-BB62-7E156187E78C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19A171B6-DEE8-44B8-AFE9-49522F7A329F}" type="sibTrans" cxnId="{9CB90ED9-3B4A-4CD6-BB62-7E156187E78C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0108DDA5-757A-41A5-A132-B702081A4D1E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Автономные системы – робототехнику, беспилотный транспорт,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, повышающие эффективность производства, логистики, управления ресурсами.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6DD5CDBA-A10E-4A9E-B52A-BCB8C62F2708}" type="parTrans" cxnId="{7763611A-A349-4627-B576-B8AD6AB03771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5EE35732-20A4-46BE-9F5C-005631802278}" type="sibTrans" cxnId="{7763611A-A349-4627-B576-B8AD6AB03771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5250EC8D-27D7-41CD-ACF9-365B8BE3ABE1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Передовые вычисления, цифровые платформы – облачные и квантовые технологии, блокчейн, дополненная и виртуальная реальность, 3D-печать, нейротехнологии, трансформирующие проектирование, производство, коммуникации.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A332560-9761-45E1-AB38-433CAC25B5BB}" type="parTrans" cxnId="{C5821010-E961-4F69-BFAE-613B377DE6A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AAC870D3-65AA-4933-B415-7FE29B0AB276}" type="sibTrans" cxnId="{C5821010-E961-4F69-BFAE-613B377DE6AD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B98F68EC-6D09-4605-857A-AD51CF7502BC}" type="pres">
      <dgm:prSet presAssocID="{8201600B-2034-48E3-95D5-56A4F3CD0CE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99B7C71-107E-41B5-AF25-AD0718A10884}" type="pres">
      <dgm:prSet presAssocID="{E4A7B3AA-E10B-4CEA-93C2-9BDB8D1FF4B0}" presName="node" presStyleLbl="node1" presStyleIdx="0" presStyleCnt="3" custScaleX="1229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3B1559-D827-4331-8BF9-58E5287AFA60}" type="pres">
      <dgm:prSet presAssocID="{19A171B6-DEE8-44B8-AFE9-49522F7A329F}" presName="sibTrans" presStyleCnt="0"/>
      <dgm:spPr/>
    </dgm:pt>
    <dgm:pt modelId="{E4B28E27-05DD-40B6-A72F-FB40619728FA}" type="pres">
      <dgm:prSet presAssocID="{0108DDA5-757A-41A5-A132-B702081A4D1E}" presName="node" presStyleLbl="node1" presStyleIdx="1" presStyleCnt="3" custScaleX="1241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F64810-BFCC-4ABC-9787-24DC43C5D315}" type="pres">
      <dgm:prSet presAssocID="{5EE35732-20A4-46BE-9F5C-005631802278}" presName="sibTrans" presStyleCnt="0"/>
      <dgm:spPr/>
    </dgm:pt>
    <dgm:pt modelId="{CBCB34CC-A514-469F-8FB6-26777411FE95}" type="pres">
      <dgm:prSet presAssocID="{5250EC8D-27D7-41CD-ACF9-365B8BE3ABE1}" presName="node" presStyleLbl="node1" presStyleIdx="2" presStyleCnt="3" custScaleX="1715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446CA9D-7451-4D17-A10F-189AB3052E4C}" type="presOf" srcId="{8201600B-2034-48E3-95D5-56A4F3CD0CEE}" destId="{B98F68EC-6D09-4605-857A-AD51CF7502BC}" srcOrd="0" destOrd="0" presId="urn:microsoft.com/office/officeart/2005/8/layout/default"/>
    <dgm:cxn modelId="{9CB90ED9-3B4A-4CD6-BB62-7E156187E78C}" srcId="{8201600B-2034-48E3-95D5-56A4F3CD0CEE}" destId="{E4A7B3AA-E10B-4CEA-93C2-9BDB8D1FF4B0}" srcOrd="0" destOrd="0" parTransId="{A249A2EA-BE02-40D2-B311-FFD40B5C7717}" sibTransId="{19A171B6-DEE8-44B8-AFE9-49522F7A329F}"/>
    <dgm:cxn modelId="{34191999-9FBD-4A39-801E-69AE01A9D9A3}" type="presOf" srcId="{E4A7B3AA-E10B-4CEA-93C2-9BDB8D1FF4B0}" destId="{999B7C71-107E-41B5-AF25-AD0718A10884}" srcOrd="0" destOrd="0" presId="urn:microsoft.com/office/officeart/2005/8/layout/default"/>
    <dgm:cxn modelId="{7763611A-A349-4627-B576-B8AD6AB03771}" srcId="{8201600B-2034-48E3-95D5-56A4F3CD0CEE}" destId="{0108DDA5-757A-41A5-A132-B702081A4D1E}" srcOrd="1" destOrd="0" parTransId="{6DD5CDBA-A10E-4A9E-B52A-BCB8C62F2708}" sibTransId="{5EE35732-20A4-46BE-9F5C-005631802278}"/>
    <dgm:cxn modelId="{8EDE979B-8E57-4959-8559-C74251EE3971}" type="presOf" srcId="{5250EC8D-27D7-41CD-ACF9-365B8BE3ABE1}" destId="{CBCB34CC-A514-469F-8FB6-26777411FE95}" srcOrd="0" destOrd="0" presId="urn:microsoft.com/office/officeart/2005/8/layout/default"/>
    <dgm:cxn modelId="{C5821010-E961-4F69-BFAE-613B377DE6AD}" srcId="{8201600B-2034-48E3-95D5-56A4F3CD0CEE}" destId="{5250EC8D-27D7-41CD-ACF9-365B8BE3ABE1}" srcOrd="2" destOrd="0" parTransId="{8A332560-9761-45E1-AB38-433CAC25B5BB}" sibTransId="{AAC870D3-65AA-4933-B415-7FE29B0AB276}"/>
    <dgm:cxn modelId="{6E5FC19E-9E96-4E75-A6C9-FDD5B5B8DCF4}" type="presOf" srcId="{0108DDA5-757A-41A5-A132-B702081A4D1E}" destId="{E4B28E27-05DD-40B6-A72F-FB40619728FA}" srcOrd="0" destOrd="0" presId="urn:microsoft.com/office/officeart/2005/8/layout/default"/>
    <dgm:cxn modelId="{8567489F-8EEA-4DAB-A57A-7AE0B33348E0}" type="presParOf" srcId="{B98F68EC-6D09-4605-857A-AD51CF7502BC}" destId="{999B7C71-107E-41B5-AF25-AD0718A10884}" srcOrd="0" destOrd="0" presId="urn:microsoft.com/office/officeart/2005/8/layout/default"/>
    <dgm:cxn modelId="{7027D26D-7966-44D2-BC19-F00A149964DF}" type="presParOf" srcId="{B98F68EC-6D09-4605-857A-AD51CF7502BC}" destId="{953B1559-D827-4331-8BF9-58E5287AFA60}" srcOrd="1" destOrd="0" presId="urn:microsoft.com/office/officeart/2005/8/layout/default"/>
    <dgm:cxn modelId="{CD62CEAB-20DD-4AD4-83BD-E157DE04D01D}" type="presParOf" srcId="{B98F68EC-6D09-4605-857A-AD51CF7502BC}" destId="{E4B28E27-05DD-40B6-A72F-FB40619728FA}" srcOrd="2" destOrd="0" presId="urn:microsoft.com/office/officeart/2005/8/layout/default"/>
    <dgm:cxn modelId="{1A25257D-E96F-4D60-A8E5-33DB46128357}" type="presParOf" srcId="{B98F68EC-6D09-4605-857A-AD51CF7502BC}" destId="{7CF64810-BFCC-4ABC-9787-24DC43C5D315}" srcOrd="3" destOrd="0" presId="urn:microsoft.com/office/officeart/2005/8/layout/default"/>
    <dgm:cxn modelId="{5546CFF1-0F18-4B33-A7EE-5787E3D6C0EF}" type="presParOf" srcId="{B98F68EC-6D09-4605-857A-AD51CF7502BC}" destId="{CBCB34CC-A514-469F-8FB6-26777411FE9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4DA7917-36AB-4438-8970-F2B3AC33488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6A83B4E-C88C-44DE-8649-318BD9A64338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ошибки, допускаемые операторами из-за усталости или невнимательности;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096E4EB-0CFB-4AAB-81E1-0538351B240E}" type="parTrans" cxnId="{BD1DA939-A981-40F2-A9DE-DF1F1DFD2F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59CB756-8EE9-4D42-B2F8-C7F7B52EBEEF}" type="sibTrans" cxnId="{BD1DA939-A981-40F2-A9DE-DF1F1DFD2F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2023931-E24A-4B85-AC3D-DCBD38D66D6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медленная обработка данных и запросов; 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D89D6FA-F5D6-4878-928C-CF2306551732}" type="parTrans" cxnId="{3ACD37B6-5223-42EE-BEEE-0078607534F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AFD5F49-41AA-42DD-BEDE-874774CF868B}" type="sibTrans" cxnId="{3ACD37B6-5223-42EE-BEEE-0078607534F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1118F06-A991-4F7B-9DE4-A2B3948B1BB8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потребность в большем числе сотрудников. 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3AB26A4-DDC9-4CA1-B953-04A3A1C74177}" type="parTrans" cxnId="{4BF197C8-283B-4AE3-B159-EE2CD5E647E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93BDF92-4332-49C9-B767-2E98B35280F2}" type="sibTrans" cxnId="{4BF197C8-283B-4AE3-B159-EE2CD5E647E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379C470-44A7-4C8A-8ED3-C0C2684B061C}" type="pres">
      <dgm:prSet presAssocID="{64DA7917-36AB-4438-8970-F2B3AC33488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C4C67F7-E09F-4B78-8084-487FF24245C5}" type="pres">
      <dgm:prSet presAssocID="{C6A83B4E-C88C-44DE-8649-318BD9A6433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B9159B-5BDA-4DA7-8983-B8CAFDC80545}" type="pres">
      <dgm:prSet presAssocID="{159CB756-8EE9-4D42-B2F8-C7F7B52EBEEF}" presName="sibTrans" presStyleCnt="0"/>
      <dgm:spPr/>
    </dgm:pt>
    <dgm:pt modelId="{25CEB592-E1CB-4B3B-8ED8-9614C1DD6157}" type="pres">
      <dgm:prSet presAssocID="{72023931-E24A-4B85-AC3D-DCBD38D66D6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6A133A-12FF-4EBE-BCCD-A246A3B576FC}" type="pres">
      <dgm:prSet presAssocID="{6AFD5F49-41AA-42DD-BEDE-874774CF868B}" presName="sibTrans" presStyleCnt="0"/>
      <dgm:spPr/>
    </dgm:pt>
    <dgm:pt modelId="{1B9CAFEA-92C9-4590-A7E9-1F2FDBB05F2F}" type="pres">
      <dgm:prSet presAssocID="{01118F06-A991-4F7B-9DE4-A2B3948B1BB8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D1DA939-A981-40F2-A9DE-DF1F1DFD2F26}" srcId="{64DA7917-36AB-4438-8970-F2B3AC334882}" destId="{C6A83B4E-C88C-44DE-8649-318BD9A64338}" srcOrd="0" destOrd="0" parTransId="{7096E4EB-0CFB-4AAB-81E1-0538351B240E}" sibTransId="{159CB756-8EE9-4D42-B2F8-C7F7B52EBEEF}"/>
    <dgm:cxn modelId="{2342E1C9-0BC0-4511-90D5-E87BD91CA829}" type="presOf" srcId="{C6A83B4E-C88C-44DE-8649-318BD9A64338}" destId="{3C4C67F7-E09F-4B78-8084-487FF24245C5}" srcOrd="0" destOrd="0" presId="urn:microsoft.com/office/officeart/2005/8/layout/default"/>
    <dgm:cxn modelId="{2E5D2F80-62AA-453C-8722-EADF612CA653}" type="presOf" srcId="{64DA7917-36AB-4438-8970-F2B3AC334882}" destId="{2379C470-44A7-4C8A-8ED3-C0C2684B061C}" srcOrd="0" destOrd="0" presId="urn:microsoft.com/office/officeart/2005/8/layout/default"/>
    <dgm:cxn modelId="{4BF197C8-283B-4AE3-B159-EE2CD5E647E7}" srcId="{64DA7917-36AB-4438-8970-F2B3AC334882}" destId="{01118F06-A991-4F7B-9DE4-A2B3948B1BB8}" srcOrd="2" destOrd="0" parTransId="{33AB26A4-DDC9-4CA1-B953-04A3A1C74177}" sibTransId="{793BDF92-4332-49C9-B767-2E98B35280F2}"/>
    <dgm:cxn modelId="{75201827-F1F8-4C0F-B021-48749A1266F0}" type="presOf" srcId="{72023931-E24A-4B85-AC3D-DCBD38D66D69}" destId="{25CEB592-E1CB-4B3B-8ED8-9614C1DD6157}" srcOrd="0" destOrd="0" presId="urn:microsoft.com/office/officeart/2005/8/layout/default"/>
    <dgm:cxn modelId="{C691A871-A9D5-4DFB-B1C8-593250856DA0}" type="presOf" srcId="{01118F06-A991-4F7B-9DE4-A2B3948B1BB8}" destId="{1B9CAFEA-92C9-4590-A7E9-1F2FDBB05F2F}" srcOrd="0" destOrd="0" presId="urn:microsoft.com/office/officeart/2005/8/layout/default"/>
    <dgm:cxn modelId="{3ACD37B6-5223-42EE-BEEE-0078607534F8}" srcId="{64DA7917-36AB-4438-8970-F2B3AC334882}" destId="{72023931-E24A-4B85-AC3D-DCBD38D66D69}" srcOrd="1" destOrd="0" parTransId="{AD89D6FA-F5D6-4878-928C-CF2306551732}" sibTransId="{6AFD5F49-41AA-42DD-BEDE-874774CF868B}"/>
    <dgm:cxn modelId="{BEA317D6-6EF7-409F-97DA-9EA40E7F9DD9}" type="presParOf" srcId="{2379C470-44A7-4C8A-8ED3-C0C2684B061C}" destId="{3C4C67F7-E09F-4B78-8084-487FF24245C5}" srcOrd="0" destOrd="0" presId="urn:microsoft.com/office/officeart/2005/8/layout/default"/>
    <dgm:cxn modelId="{60941983-AE99-4C16-8136-D891296A6B22}" type="presParOf" srcId="{2379C470-44A7-4C8A-8ED3-C0C2684B061C}" destId="{D3B9159B-5BDA-4DA7-8983-B8CAFDC80545}" srcOrd="1" destOrd="0" presId="urn:microsoft.com/office/officeart/2005/8/layout/default"/>
    <dgm:cxn modelId="{6039D35A-C9C4-4565-BCC8-261F3726E564}" type="presParOf" srcId="{2379C470-44A7-4C8A-8ED3-C0C2684B061C}" destId="{25CEB592-E1CB-4B3B-8ED8-9614C1DD6157}" srcOrd="2" destOrd="0" presId="urn:microsoft.com/office/officeart/2005/8/layout/default"/>
    <dgm:cxn modelId="{E0E6662F-A3D2-4220-8100-B18EFF95E1FD}" type="presParOf" srcId="{2379C470-44A7-4C8A-8ED3-C0C2684B061C}" destId="{A36A133A-12FF-4EBE-BCCD-A246A3B576FC}" srcOrd="3" destOrd="0" presId="urn:microsoft.com/office/officeart/2005/8/layout/default"/>
    <dgm:cxn modelId="{EB047565-0D72-42CC-98C2-F885FC442FC2}" type="presParOf" srcId="{2379C470-44A7-4C8A-8ED3-C0C2684B061C}" destId="{1B9CAFEA-92C9-4590-A7E9-1F2FDBB05F2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F4161AD-8544-45A2-8E15-E8B73E54CBD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DF3C126-D58F-4DBD-A1D1-96C516A5D6E1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Развитие систем сбора информации с применением высокочувствительных датчиков, квантовых сенсоров для промышленности, связи, медицины.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966D0E74-EBCD-4372-B196-26603E5DEB5E}" type="parTrans" cxnId="{8C7AD77C-024A-48C1-A00B-53C8455F811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1F23796-9D7D-4353-8FE9-C79F62419728}" type="sibTrans" cxnId="{8C7AD77C-024A-48C1-A00B-53C8455F811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2FB882F-B252-477D-BE22-E4BD9DFBB41D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Улучшение передачи сведений в реальном времени для работы робототехники, беспилотного транспорта, «умных городов».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6529E3DC-3C65-47CF-92BC-D0D9F2725225}" type="parTrans" cxnId="{763BDA09-8903-405F-A329-D2619D75160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FFCF66A-DF1E-483E-A201-0838A296DEF4}" type="sibTrans" cxnId="{763BDA09-8903-405F-A329-D2619D75160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4ABAC75-D26D-4782-8F63-EBF540E0C6D5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Создание российских систем хранения информации – от облачных платформ,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ЦОДов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до вычислительных мощностей на квантовых и фотонных технологиях.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9C70570F-CDD3-43BF-92B9-0956E326F708}" type="parTrans" cxnId="{EE29EDD2-1EED-484A-B949-92AF013778B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14E5071-E677-431B-A4BA-AC9D09337771}" type="sibTrans" cxnId="{EE29EDD2-1EED-484A-B949-92AF013778BD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34CAAC9-6B68-4CC3-957D-FCE111687EEE}">
      <dgm:prSet custT="1"/>
      <dgm:spPr/>
      <dgm:t>
        <a:bodyPr/>
        <a:lstStyle/>
        <a:p>
          <a:r>
            <a:rPr lang="ru-RU" sz="1800" smtClean="0">
              <a:latin typeface="Times New Roman" pitchFamily="18" charset="0"/>
              <a:cs typeface="Times New Roman" pitchFamily="18" charset="0"/>
            </a:rPr>
            <a:t>Обеспечение безопасности данных через развитие квантовых коммуникаций, криптографии для защиты от кибератак.</a:t>
          </a:r>
          <a:endParaRPr lang="ru-RU" sz="1800">
            <a:latin typeface="Times New Roman" pitchFamily="18" charset="0"/>
            <a:cs typeface="Times New Roman" pitchFamily="18" charset="0"/>
          </a:endParaRPr>
        </a:p>
      </dgm:t>
    </dgm:pt>
    <dgm:pt modelId="{7AC699D1-C268-4686-9976-B2B00879A79C}" type="parTrans" cxnId="{7F060297-DDA6-46D9-B69B-119696D8B98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2C2AAF1-4A1A-4A07-B74B-35439797C83E}" type="sibTrans" cxnId="{7F060297-DDA6-46D9-B69B-119696D8B98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BD4D2D2-D88E-4408-94D3-180753C7701E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Формирование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нацстандартов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и регламентов обработки данных, включая механизмы защиты персональных сведений.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95971409-222D-479D-AF87-82CBEAD39EB0}" type="parTrans" cxnId="{44BDD2EA-6A85-4783-9735-93C8F29EF25F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A49F38B-F4BE-4ADA-8511-24C0AB1C27D9}" type="sibTrans" cxnId="{44BDD2EA-6A85-4783-9735-93C8F29EF25F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C519CC8-8BEA-4501-91A8-30C54FD86D7D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Разработку алгоритмов анализа данных на основе российского ПО с параллельным созданием локальных платформ для совместной работы IT-специалистов.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0388D5C9-D8B8-41F8-A56C-0B3E14987833}" type="parTrans" cxnId="{BDCF8384-5B38-4015-8378-9C58413BA77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6A5D7AB-709E-4D00-A0EF-E64C4F09F2CF}" type="sibTrans" cxnId="{BDCF8384-5B38-4015-8378-9C58413BA77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3A05B4A-3DD6-46F9-BE61-C86A8298112D}" type="pres">
      <dgm:prSet presAssocID="{0F4161AD-8544-45A2-8E15-E8B73E54CBD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C222911-3665-48BF-9CEE-0AAE92E370D4}" type="pres">
      <dgm:prSet presAssocID="{BDF3C126-D58F-4DBD-A1D1-96C516A5D6E1}" presName="node" presStyleLbl="node1" presStyleIdx="0" presStyleCnt="6" custScaleY="14661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DCA2BB-F302-4D88-9A10-D6A93B89AA73}" type="pres">
      <dgm:prSet presAssocID="{41F23796-9D7D-4353-8FE9-C79F62419728}" presName="sibTrans" presStyleCnt="0"/>
      <dgm:spPr/>
    </dgm:pt>
    <dgm:pt modelId="{CBFAA3CE-3F04-45D5-933D-98D593F0DFAE}" type="pres">
      <dgm:prSet presAssocID="{A2FB882F-B252-477D-BE22-E4BD9DFBB41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AFD5DD-01B3-4EAE-8C0C-4DD70005625E}" type="pres">
      <dgm:prSet presAssocID="{6FFCF66A-DF1E-483E-A201-0838A296DEF4}" presName="sibTrans" presStyleCnt="0"/>
      <dgm:spPr/>
    </dgm:pt>
    <dgm:pt modelId="{93B94336-4562-4B77-8E02-06C50CA722EA}" type="pres">
      <dgm:prSet presAssocID="{C4ABAC75-D26D-4782-8F63-EBF540E0C6D5}" presName="node" presStyleLbl="node1" presStyleIdx="2" presStyleCnt="6" custScaleY="13812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2A4416-FEE9-46A5-9980-E124AC61CC08}" type="pres">
      <dgm:prSet presAssocID="{D14E5071-E677-431B-A4BA-AC9D09337771}" presName="sibTrans" presStyleCnt="0"/>
      <dgm:spPr/>
    </dgm:pt>
    <dgm:pt modelId="{F794BC89-7B36-4A05-B4DE-1E7710AB50A2}" type="pres">
      <dgm:prSet presAssocID="{634CAAC9-6B68-4CC3-957D-FCE111687EE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8C28F5-37B2-4AFC-9F8C-0C915B37A14F}" type="pres">
      <dgm:prSet presAssocID="{C2C2AAF1-4A1A-4A07-B74B-35439797C83E}" presName="sibTrans" presStyleCnt="0"/>
      <dgm:spPr/>
    </dgm:pt>
    <dgm:pt modelId="{92EF359D-4A90-4EA6-B084-AB253FED4FD6}" type="pres">
      <dgm:prSet presAssocID="{9BD4D2D2-D88E-4408-94D3-180753C7701E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F9EB38-B604-4EB3-819C-9AE25468E721}" type="pres">
      <dgm:prSet presAssocID="{8A49F38B-F4BE-4ADA-8511-24C0AB1C27D9}" presName="sibTrans" presStyleCnt="0"/>
      <dgm:spPr/>
    </dgm:pt>
    <dgm:pt modelId="{6AFDF65F-F5CC-48E8-9857-F3ED8C8A5EE9}" type="pres">
      <dgm:prSet presAssocID="{FC519CC8-8BEA-4501-91A8-30C54FD86D7D}" presName="node" presStyleLbl="node1" presStyleIdx="5" presStyleCnt="6" custScaleY="11215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DCF8384-5B38-4015-8378-9C58413BA778}" srcId="{0F4161AD-8544-45A2-8E15-E8B73E54CBDE}" destId="{FC519CC8-8BEA-4501-91A8-30C54FD86D7D}" srcOrd="5" destOrd="0" parTransId="{0388D5C9-D8B8-41F8-A56C-0B3E14987833}" sibTransId="{66A5D7AB-709E-4D00-A0EF-E64C4F09F2CF}"/>
    <dgm:cxn modelId="{13B6FE42-DE72-4782-AA06-875EDD25FA7E}" type="presOf" srcId="{C4ABAC75-D26D-4782-8F63-EBF540E0C6D5}" destId="{93B94336-4562-4B77-8E02-06C50CA722EA}" srcOrd="0" destOrd="0" presId="urn:microsoft.com/office/officeart/2005/8/layout/default"/>
    <dgm:cxn modelId="{8C7AD77C-024A-48C1-A00B-53C8455F8118}" srcId="{0F4161AD-8544-45A2-8E15-E8B73E54CBDE}" destId="{BDF3C126-D58F-4DBD-A1D1-96C516A5D6E1}" srcOrd="0" destOrd="0" parTransId="{966D0E74-EBCD-4372-B196-26603E5DEB5E}" sibTransId="{41F23796-9D7D-4353-8FE9-C79F62419728}"/>
    <dgm:cxn modelId="{8005CCDF-578E-4397-8810-3E67FEBC0431}" type="presOf" srcId="{634CAAC9-6B68-4CC3-957D-FCE111687EEE}" destId="{F794BC89-7B36-4A05-B4DE-1E7710AB50A2}" srcOrd="0" destOrd="0" presId="urn:microsoft.com/office/officeart/2005/8/layout/default"/>
    <dgm:cxn modelId="{7F060297-DDA6-46D9-B69B-119696D8B982}" srcId="{0F4161AD-8544-45A2-8E15-E8B73E54CBDE}" destId="{634CAAC9-6B68-4CC3-957D-FCE111687EEE}" srcOrd="3" destOrd="0" parTransId="{7AC699D1-C268-4686-9976-B2B00879A79C}" sibTransId="{C2C2AAF1-4A1A-4A07-B74B-35439797C83E}"/>
    <dgm:cxn modelId="{3307F775-24BF-4064-9BD4-DA484FD322F4}" type="presOf" srcId="{9BD4D2D2-D88E-4408-94D3-180753C7701E}" destId="{92EF359D-4A90-4EA6-B084-AB253FED4FD6}" srcOrd="0" destOrd="0" presId="urn:microsoft.com/office/officeart/2005/8/layout/default"/>
    <dgm:cxn modelId="{EE29EDD2-1EED-484A-B949-92AF013778BD}" srcId="{0F4161AD-8544-45A2-8E15-E8B73E54CBDE}" destId="{C4ABAC75-D26D-4782-8F63-EBF540E0C6D5}" srcOrd="2" destOrd="0" parTransId="{9C70570F-CDD3-43BF-92B9-0956E326F708}" sibTransId="{D14E5071-E677-431B-A4BA-AC9D09337771}"/>
    <dgm:cxn modelId="{44BDD2EA-6A85-4783-9735-93C8F29EF25F}" srcId="{0F4161AD-8544-45A2-8E15-E8B73E54CBDE}" destId="{9BD4D2D2-D88E-4408-94D3-180753C7701E}" srcOrd="4" destOrd="0" parTransId="{95971409-222D-479D-AF87-82CBEAD39EB0}" sibTransId="{8A49F38B-F4BE-4ADA-8511-24C0AB1C27D9}"/>
    <dgm:cxn modelId="{763BDA09-8903-405F-A329-D2619D751609}" srcId="{0F4161AD-8544-45A2-8E15-E8B73E54CBDE}" destId="{A2FB882F-B252-477D-BE22-E4BD9DFBB41D}" srcOrd="1" destOrd="0" parTransId="{6529E3DC-3C65-47CF-92BC-D0D9F2725225}" sibTransId="{6FFCF66A-DF1E-483E-A201-0838A296DEF4}"/>
    <dgm:cxn modelId="{F3E47DC4-B3BF-4749-A93E-1F81D1273FC0}" type="presOf" srcId="{0F4161AD-8544-45A2-8E15-E8B73E54CBDE}" destId="{A3A05B4A-3DD6-46F9-BE61-C86A8298112D}" srcOrd="0" destOrd="0" presId="urn:microsoft.com/office/officeart/2005/8/layout/default"/>
    <dgm:cxn modelId="{0D53836F-24A7-499B-A8B0-185A158E32A8}" type="presOf" srcId="{FC519CC8-8BEA-4501-91A8-30C54FD86D7D}" destId="{6AFDF65F-F5CC-48E8-9857-F3ED8C8A5EE9}" srcOrd="0" destOrd="0" presId="urn:microsoft.com/office/officeart/2005/8/layout/default"/>
    <dgm:cxn modelId="{C2ABD09D-EC16-4FC8-8C8B-D793D2801FD4}" type="presOf" srcId="{BDF3C126-D58F-4DBD-A1D1-96C516A5D6E1}" destId="{CC222911-3665-48BF-9CEE-0AAE92E370D4}" srcOrd="0" destOrd="0" presId="urn:microsoft.com/office/officeart/2005/8/layout/default"/>
    <dgm:cxn modelId="{A48D0848-F0B3-4A67-A66F-A50F5FDC4252}" type="presOf" srcId="{A2FB882F-B252-477D-BE22-E4BD9DFBB41D}" destId="{CBFAA3CE-3F04-45D5-933D-98D593F0DFAE}" srcOrd="0" destOrd="0" presId="urn:microsoft.com/office/officeart/2005/8/layout/default"/>
    <dgm:cxn modelId="{0AF28FFD-0B67-4D9C-B361-FFF11D681A6D}" type="presParOf" srcId="{A3A05B4A-3DD6-46F9-BE61-C86A8298112D}" destId="{CC222911-3665-48BF-9CEE-0AAE92E370D4}" srcOrd="0" destOrd="0" presId="urn:microsoft.com/office/officeart/2005/8/layout/default"/>
    <dgm:cxn modelId="{1A3BD187-058B-40C6-B265-ED91D913057F}" type="presParOf" srcId="{A3A05B4A-3DD6-46F9-BE61-C86A8298112D}" destId="{8EDCA2BB-F302-4D88-9A10-D6A93B89AA73}" srcOrd="1" destOrd="0" presId="urn:microsoft.com/office/officeart/2005/8/layout/default"/>
    <dgm:cxn modelId="{3CCD4585-04B6-44C8-A7FF-645EC5446E39}" type="presParOf" srcId="{A3A05B4A-3DD6-46F9-BE61-C86A8298112D}" destId="{CBFAA3CE-3F04-45D5-933D-98D593F0DFAE}" srcOrd="2" destOrd="0" presId="urn:microsoft.com/office/officeart/2005/8/layout/default"/>
    <dgm:cxn modelId="{9B1E4A3C-3E52-44B8-B974-F84468B4346F}" type="presParOf" srcId="{A3A05B4A-3DD6-46F9-BE61-C86A8298112D}" destId="{8DAFD5DD-01B3-4EAE-8C0C-4DD70005625E}" srcOrd="3" destOrd="0" presId="urn:microsoft.com/office/officeart/2005/8/layout/default"/>
    <dgm:cxn modelId="{52A6B15C-B4EE-4E84-B3F3-2FF7596DD2FA}" type="presParOf" srcId="{A3A05B4A-3DD6-46F9-BE61-C86A8298112D}" destId="{93B94336-4562-4B77-8E02-06C50CA722EA}" srcOrd="4" destOrd="0" presId="urn:microsoft.com/office/officeart/2005/8/layout/default"/>
    <dgm:cxn modelId="{04CDB50F-3922-4FD9-914A-79B2169617A9}" type="presParOf" srcId="{A3A05B4A-3DD6-46F9-BE61-C86A8298112D}" destId="{F02A4416-FEE9-46A5-9980-E124AC61CC08}" srcOrd="5" destOrd="0" presId="urn:microsoft.com/office/officeart/2005/8/layout/default"/>
    <dgm:cxn modelId="{860E80A1-041B-496E-9F5E-4A38AEA3ACE5}" type="presParOf" srcId="{A3A05B4A-3DD6-46F9-BE61-C86A8298112D}" destId="{F794BC89-7B36-4A05-B4DE-1E7710AB50A2}" srcOrd="6" destOrd="0" presId="urn:microsoft.com/office/officeart/2005/8/layout/default"/>
    <dgm:cxn modelId="{6CB738A0-EBFD-4845-9295-2789D907A099}" type="presParOf" srcId="{A3A05B4A-3DD6-46F9-BE61-C86A8298112D}" destId="{ED8C28F5-37B2-4AFC-9F8C-0C915B37A14F}" srcOrd="7" destOrd="0" presId="urn:microsoft.com/office/officeart/2005/8/layout/default"/>
    <dgm:cxn modelId="{920F352D-A54B-4BAA-BC9D-EFA8EEA8CF7B}" type="presParOf" srcId="{A3A05B4A-3DD6-46F9-BE61-C86A8298112D}" destId="{92EF359D-4A90-4EA6-B084-AB253FED4FD6}" srcOrd="8" destOrd="0" presId="urn:microsoft.com/office/officeart/2005/8/layout/default"/>
    <dgm:cxn modelId="{9706741A-54FD-441F-9572-EEA55DC1C3EA}" type="presParOf" srcId="{A3A05B4A-3DD6-46F9-BE61-C86A8298112D}" destId="{54F9EB38-B604-4EB3-819C-9AE25468E721}" srcOrd="9" destOrd="0" presId="urn:microsoft.com/office/officeart/2005/8/layout/default"/>
    <dgm:cxn modelId="{10B3BDC8-5436-47E7-BA47-24BA647B4AD7}" type="presParOf" srcId="{A3A05B4A-3DD6-46F9-BE61-C86A8298112D}" destId="{6AFDF65F-F5CC-48E8-9857-F3ED8C8A5EE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5C901CD-3902-445E-81BF-21AB6E1ACB0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8FDDB67-EFE6-4DF6-A351-CB0C3218509A}">
      <dgm:prSet phldrT="[Текст]"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Развитие сенсорных технологий:  Современные беспилотные системы оснащены высокоточными сенсорами (камеры,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лидары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, радары, ультразвуковые датчики), которые позволяют им ориентироваться в пространстве, распознавать объекты и принимать решения.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9B54576D-4681-4686-9D64-B5237F47555E}" type="parTrans" cxnId="{A6ED3B84-46F5-4084-971B-6EE9278C34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E3C57C7-415D-4378-A287-F0CC684867AE}" type="sibTrans" cxnId="{A6ED3B84-46F5-4084-971B-6EE9278C34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2848665D-8B89-463F-B211-B8C58826B870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Прогресс в области искусственного интеллекта (ИИ) и машинного обучения:  ИИ и машинное обучение играют ключевую роль в управлении беспилотными системами. Они позволяют им анализировать огромные объемы данных, принимать решения в реальном времени, обучаться на основе опыта и адаптироваться к изменяющимся условиям.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A58339AB-9F94-4B25-9E72-AD0D5521E486}" type="parTrans" cxnId="{1D61D66F-D046-43A7-AE30-C855470BD6A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8E0E23A-FD4A-4E36-8623-CD1218AAC520}" type="sibTrans" cxnId="{1D61D66F-D046-43A7-AE30-C855470BD6A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221F8F9-0DA8-4C88-BD01-43A9F6DA63C5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Улучшение технологий связи и передачи данных:  Надежная связь и быстрая передача данных необходимы для эффективной работы беспилотных систем, особенно в условиях сложной производственной среды.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A8507FF0-ECE3-40B5-A8E8-480E7CCE3D05}" type="parTrans" cxnId="{412C06B6-9E8F-4602-903F-0A34E5EED1FF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32276B48-3D1E-4AE3-B449-4DCB11597910}" type="sibTrans" cxnId="{412C06B6-9E8F-4602-903F-0A34E5EED1FF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368EF691-BD74-4A0A-B72A-F5227A69F255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Развитие аккумуляторов и электродвигателей: Повышение емкости аккумуляторов и эффективности электродвигателей позволяет беспилотным системам работать дольше и выполнять более сложные задачи.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CEA875DC-B80F-4213-808E-5C5D10BF2B95}" type="parTrans" cxnId="{17BB009C-67A0-48E5-AAAC-8A886D7F53CF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BF959E8-5B09-4D10-9D5C-84C0FB045902}" type="sibTrans" cxnId="{17BB009C-67A0-48E5-AAAC-8A886D7F53CF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A49C407-1959-4781-BA63-107DADA4B05C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Снижение стоимости беспилотных технологий:  Массовое производство и конкуренция между производителями беспилотных систем привели к снижению их стоимости, что делает их более доступными для широкого круга предприятий.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704CC0F6-5393-4B20-8C8E-1507E0D8BFBC}" type="parTrans" cxnId="{C8B0F93D-BEBA-4062-A8E8-CCF8C55E6FE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012FDA7C-2003-4139-A826-438C21EA3656}" type="sibTrans" cxnId="{C8B0F93D-BEBA-4062-A8E8-CCF8C55E6FE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690850DF-325A-445D-992E-85702BF66772}" type="pres">
      <dgm:prSet presAssocID="{B5C901CD-3902-445E-81BF-21AB6E1ACB0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0A4A32A-F741-4F64-B66C-69170D242668}" type="pres">
      <dgm:prSet presAssocID="{D8FDDB67-EFE6-4DF6-A351-CB0C3218509A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6A63BE-51C1-4F98-9029-1D3289DA1A66}" type="pres">
      <dgm:prSet presAssocID="{8E3C57C7-415D-4378-A287-F0CC684867AE}" presName="sibTrans" presStyleCnt="0"/>
      <dgm:spPr/>
    </dgm:pt>
    <dgm:pt modelId="{11A78607-6B4A-4F22-B516-8BC859E04F25}" type="pres">
      <dgm:prSet presAssocID="{2848665D-8B89-463F-B211-B8C58826B870}" presName="node" presStyleLbl="node1" presStyleIdx="1" presStyleCnt="5" custScaleY="16123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A8400CE-8698-49A7-BD0F-34DD5D5C3D5F}" type="pres">
      <dgm:prSet presAssocID="{E8E0E23A-FD4A-4E36-8623-CD1218AAC520}" presName="sibTrans" presStyleCnt="0"/>
      <dgm:spPr/>
    </dgm:pt>
    <dgm:pt modelId="{99BD5B7E-776D-4457-982E-04C99B571112}" type="pres">
      <dgm:prSet presAssocID="{1221F8F9-0DA8-4C88-BD01-43A9F6DA63C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86FFF8-4A3D-4343-AF4E-2378D015A2D2}" type="pres">
      <dgm:prSet presAssocID="{32276B48-3D1E-4AE3-B449-4DCB11597910}" presName="sibTrans" presStyleCnt="0"/>
      <dgm:spPr/>
    </dgm:pt>
    <dgm:pt modelId="{86563A44-354C-47E8-8AF3-3C3CA0B99B9B}" type="pres">
      <dgm:prSet presAssocID="{368EF691-BD74-4A0A-B72A-F5227A69F25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FB20C35-525F-4BBF-BFE7-065363A32302}" type="pres">
      <dgm:prSet presAssocID="{1BF959E8-5B09-4D10-9D5C-84C0FB045902}" presName="sibTrans" presStyleCnt="0"/>
      <dgm:spPr/>
    </dgm:pt>
    <dgm:pt modelId="{9112EB9F-CDF5-4787-A834-2B37AEE5BB53}" type="pres">
      <dgm:prSet presAssocID="{7A49C407-1959-4781-BA63-107DADA4B05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12C06B6-9E8F-4602-903F-0A34E5EED1FF}" srcId="{B5C901CD-3902-445E-81BF-21AB6E1ACB00}" destId="{1221F8F9-0DA8-4C88-BD01-43A9F6DA63C5}" srcOrd="2" destOrd="0" parTransId="{A8507FF0-ECE3-40B5-A8E8-480E7CCE3D05}" sibTransId="{32276B48-3D1E-4AE3-B449-4DCB11597910}"/>
    <dgm:cxn modelId="{A6ED3B84-46F5-4084-971B-6EE9278C34EB}" srcId="{B5C901CD-3902-445E-81BF-21AB6E1ACB00}" destId="{D8FDDB67-EFE6-4DF6-A351-CB0C3218509A}" srcOrd="0" destOrd="0" parTransId="{9B54576D-4681-4686-9D64-B5237F47555E}" sibTransId="{8E3C57C7-415D-4378-A287-F0CC684867AE}"/>
    <dgm:cxn modelId="{89F2D965-0833-4A28-9A36-26F5DBA87509}" type="presOf" srcId="{2848665D-8B89-463F-B211-B8C58826B870}" destId="{11A78607-6B4A-4F22-B516-8BC859E04F25}" srcOrd="0" destOrd="0" presId="urn:microsoft.com/office/officeart/2005/8/layout/default"/>
    <dgm:cxn modelId="{172EA12F-1E04-49D6-95A6-7FB0FBBBD7D8}" type="presOf" srcId="{B5C901CD-3902-445E-81BF-21AB6E1ACB00}" destId="{690850DF-325A-445D-992E-85702BF66772}" srcOrd="0" destOrd="0" presId="urn:microsoft.com/office/officeart/2005/8/layout/default"/>
    <dgm:cxn modelId="{17BB009C-67A0-48E5-AAAC-8A886D7F53CF}" srcId="{B5C901CD-3902-445E-81BF-21AB6E1ACB00}" destId="{368EF691-BD74-4A0A-B72A-F5227A69F255}" srcOrd="3" destOrd="0" parTransId="{CEA875DC-B80F-4213-808E-5C5D10BF2B95}" sibTransId="{1BF959E8-5B09-4D10-9D5C-84C0FB045902}"/>
    <dgm:cxn modelId="{B617CD47-ABB5-4B0E-8598-7DFF288385A9}" type="presOf" srcId="{D8FDDB67-EFE6-4DF6-A351-CB0C3218509A}" destId="{F0A4A32A-F741-4F64-B66C-69170D242668}" srcOrd="0" destOrd="0" presId="urn:microsoft.com/office/officeart/2005/8/layout/default"/>
    <dgm:cxn modelId="{313818BD-23B2-4930-96F9-05CEFBBE342E}" type="presOf" srcId="{7A49C407-1959-4781-BA63-107DADA4B05C}" destId="{9112EB9F-CDF5-4787-A834-2B37AEE5BB53}" srcOrd="0" destOrd="0" presId="urn:microsoft.com/office/officeart/2005/8/layout/default"/>
    <dgm:cxn modelId="{1D61D66F-D046-43A7-AE30-C855470BD6A4}" srcId="{B5C901CD-3902-445E-81BF-21AB6E1ACB00}" destId="{2848665D-8B89-463F-B211-B8C58826B870}" srcOrd="1" destOrd="0" parTransId="{A58339AB-9F94-4B25-9E72-AD0D5521E486}" sibTransId="{E8E0E23A-FD4A-4E36-8623-CD1218AAC520}"/>
    <dgm:cxn modelId="{7BAD5DFA-DA82-444E-A775-83994C06E08E}" type="presOf" srcId="{1221F8F9-0DA8-4C88-BD01-43A9F6DA63C5}" destId="{99BD5B7E-776D-4457-982E-04C99B571112}" srcOrd="0" destOrd="0" presId="urn:microsoft.com/office/officeart/2005/8/layout/default"/>
    <dgm:cxn modelId="{51FD385E-6789-4529-96DE-E5876FC03A15}" type="presOf" srcId="{368EF691-BD74-4A0A-B72A-F5227A69F255}" destId="{86563A44-354C-47E8-8AF3-3C3CA0B99B9B}" srcOrd="0" destOrd="0" presId="urn:microsoft.com/office/officeart/2005/8/layout/default"/>
    <dgm:cxn modelId="{C8B0F93D-BEBA-4062-A8E8-CCF8C55E6FE4}" srcId="{B5C901CD-3902-445E-81BF-21AB6E1ACB00}" destId="{7A49C407-1959-4781-BA63-107DADA4B05C}" srcOrd="4" destOrd="0" parTransId="{704CC0F6-5393-4B20-8C8E-1507E0D8BFBC}" sibTransId="{012FDA7C-2003-4139-A826-438C21EA3656}"/>
    <dgm:cxn modelId="{6D1C4D08-62A8-44A4-ABB9-C58DFFB5B814}" type="presParOf" srcId="{690850DF-325A-445D-992E-85702BF66772}" destId="{F0A4A32A-F741-4F64-B66C-69170D242668}" srcOrd="0" destOrd="0" presId="urn:microsoft.com/office/officeart/2005/8/layout/default"/>
    <dgm:cxn modelId="{D656ECF7-1016-4A24-A4A9-23647AB77C26}" type="presParOf" srcId="{690850DF-325A-445D-992E-85702BF66772}" destId="{426A63BE-51C1-4F98-9029-1D3289DA1A66}" srcOrd="1" destOrd="0" presId="urn:microsoft.com/office/officeart/2005/8/layout/default"/>
    <dgm:cxn modelId="{0E76DD00-57D7-4B4D-A08C-48A6B7FBEFCF}" type="presParOf" srcId="{690850DF-325A-445D-992E-85702BF66772}" destId="{11A78607-6B4A-4F22-B516-8BC859E04F25}" srcOrd="2" destOrd="0" presId="urn:microsoft.com/office/officeart/2005/8/layout/default"/>
    <dgm:cxn modelId="{3D029611-4D28-4C68-8B5A-604887F686F5}" type="presParOf" srcId="{690850DF-325A-445D-992E-85702BF66772}" destId="{0A8400CE-8698-49A7-BD0F-34DD5D5C3D5F}" srcOrd="3" destOrd="0" presId="urn:microsoft.com/office/officeart/2005/8/layout/default"/>
    <dgm:cxn modelId="{279E8AD0-556B-4779-AFAF-F3D1427A0F70}" type="presParOf" srcId="{690850DF-325A-445D-992E-85702BF66772}" destId="{99BD5B7E-776D-4457-982E-04C99B571112}" srcOrd="4" destOrd="0" presId="urn:microsoft.com/office/officeart/2005/8/layout/default"/>
    <dgm:cxn modelId="{50CAA81D-00E7-4393-89E1-6EDAEDF40A41}" type="presParOf" srcId="{690850DF-325A-445D-992E-85702BF66772}" destId="{2E86FFF8-4A3D-4343-AF4E-2378D015A2D2}" srcOrd="5" destOrd="0" presId="urn:microsoft.com/office/officeart/2005/8/layout/default"/>
    <dgm:cxn modelId="{80A89A01-AF55-48F1-8B71-AD83FAE9E5AB}" type="presParOf" srcId="{690850DF-325A-445D-992E-85702BF66772}" destId="{86563A44-354C-47E8-8AF3-3C3CA0B99B9B}" srcOrd="6" destOrd="0" presId="urn:microsoft.com/office/officeart/2005/8/layout/default"/>
    <dgm:cxn modelId="{E80F19BE-2812-4754-9CA6-956E30594F95}" type="presParOf" srcId="{690850DF-325A-445D-992E-85702BF66772}" destId="{6FB20C35-525F-4BBF-BFE7-065363A32302}" srcOrd="7" destOrd="0" presId="urn:microsoft.com/office/officeart/2005/8/layout/default"/>
    <dgm:cxn modelId="{4435DE64-61E8-4433-90E1-954F654F6CC8}" type="presParOf" srcId="{690850DF-325A-445D-992E-85702BF66772}" destId="{9112EB9F-CDF5-4787-A834-2B37AEE5BB5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B5C901CD-3902-445E-81BF-21AB6E1ACB0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8FDDB67-EFE6-4DF6-A351-CB0C3218509A}">
      <dgm:prSet phldrT="[Текст]"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AGV (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Automated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Guided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Vehicles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):  Автоматически управляемые транспортные средства, которые перемещаются по заданному маршруту с помощью магнитной ленты, проводов, лазеров или других способов навигации. AGV хорошо подходят для перемещения больших объемов грузов по фиксированным маршрутам.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9B54576D-4681-4686-9D64-B5237F47555E}" type="parTrans" cxnId="{A6ED3B84-46F5-4084-971B-6EE9278C34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E3C57C7-415D-4378-A287-F0CC684867AE}" type="sibTrans" cxnId="{A6ED3B84-46F5-4084-971B-6EE9278C34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A33844E8-07B4-4EA1-B1F1-E9AE4F22F8CB}">
      <dgm:prSet phldrT="[Текст]"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AMR (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Autonomous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Mobile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Robots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): Автономные мобильные роботы, которые могут самостоятельно ориентироваться в пространстве, обходить препятствия и выбирать оптимальный маршрут. AMR более гибкие и адаптивные, чем AGV, и могут работать в динамичной среде.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4AD0ED70-CB2E-4ECA-9270-166B68D16B93}" type="parTrans" cxnId="{69BB7ABC-5803-4A65-B76B-D7C104A4514E}">
      <dgm:prSet/>
      <dgm:spPr/>
      <dgm:t>
        <a:bodyPr/>
        <a:lstStyle/>
        <a:p>
          <a:endParaRPr lang="ru-RU"/>
        </a:p>
      </dgm:t>
    </dgm:pt>
    <dgm:pt modelId="{1E69BA65-1460-4A59-AF96-B03ED1471027}" type="sibTrans" cxnId="{69BB7ABC-5803-4A65-B76B-D7C104A4514E}">
      <dgm:prSet/>
      <dgm:spPr/>
      <dgm:t>
        <a:bodyPr/>
        <a:lstStyle/>
        <a:p>
          <a:endParaRPr lang="ru-RU"/>
        </a:p>
      </dgm:t>
    </dgm:pt>
    <dgm:pt modelId="{690850DF-325A-445D-992E-85702BF66772}" type="pres">
      <dgm:prSet presAssocID="{B5C901CD-3902-445E-81BF-21AB6E1ACB0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0A4A32A-F741-4F64-B66C-69170D242668}" type="pres">
      <dgm:prSet presAssocID="{D8FDDB67-EFE6-4DF6-A351-CB0C3218509A}" presName="node" presStyleLbl="node1" presStyleIdx="0" presStyleCnt="2" custScaleX="180302" custLinFactNeighborX="-38033" custLinFactNeighborY="96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6A63BE-51C1-4F98-9029-1D3289DA1A66}" type="pres">
      <dgm:prSet presAssocID="{8E3C57C7-415D-4378-A287-F0CC684867AE}" presName="sibTrans" presStyleCnt="0"/>
      <dgm:spPr/>
    </dgm:pt>
    <dgm:pt modelId="{1B9626E1-9CCF-4CD3-A22B-211D84AF0047}" type="pres">
      <dgm:prSet presAssocID="{A33844E8-07B4-4EA1-B1F1-E9AE4F22F8CB}" presName="node" presStyleLbl="node1" presStyleIdx="1" presStyleCnt="2" custScaleX="17144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9BB7ABC-5803-4A65-B76B-D7C104A4514E}" srcId="{B5C901CD-3902-445E-81BF-21AB6E1ACB00}" destId="{A33844E8-07B4-4EA1-B1F1-E9AE4F22F8CB}" srcOrd="1" destOrd="0" parTransId="{4AD0ED70-CB2E-4ECA-9270-166B68D16B93}" sibTransId="{1E69BA65-1460-4A59-AF96-B03ED1471027}"/>
    <dgm:cxn modelId="{A6ED3B84-46F5-4084-971B-6EE9278C34EB}" srcId="{B5C901CD-3902-445E-81BF-21AB6E1ACB00}" destId="{D8FDDB67-EFE6-4DF6-A351-CB0C3218509A}" srcOrd="0" destOrd="0" parTransId="{9B54576D-4681-4686-9D64-B5237F47555E}" sibTransId="{8E3C57C7-415D-4378-A287-F0CC684867AE}"/>
    <dgm:cxn modelId="{004945E9-6FE1-41D1-B96F-337379D5B7E9}" type="presOf" srcId="{A33844E8-07B4-4EA1-B1F1-E9AE4F22F8CB}" destId="{1B9626E1-9CCF-4CD3-A22B-211D84AF0047}" srcOrd="0" destOrd="0" presId="urn:microsoft.com/office/officeart/2005/8/layout/default"/>
    <dgm:cxn modelId="{CCBF9DE9-0CC9-40ED-973C-93CD33F81C14}" type="presOf" srcId="{D8FDDB67-EFE6-4DF6-A351-CB0C3218509A}" destId="{F0A4A32A-F741-4F64-B66C-69170D242668}" srcOrd="0" destOrd="0" presId="urn:microsoft.com/office/officeart/2005/8/layout/default"/>
    <dgm:cxn modelId="{EDD280A7-BCA0-4427-AD31-DAE911A5510F}" type="presOf" srcId="{B5C901CD-3902-445E-81BF-21AB6E1ACB00}" destId="{690850DF-325A-445D-992E-85702BF66772}" srcOrd="0" destOrd="0" presId="urn:microsoft.com/office/officeart/2005/8/layout/default"/>
    <dgm:cxn modelId="{8FD91FBD-E2F1-4783-8B87-ECE2BA81CCCD}" type="presParOf" srcId="{690850DF-325A-445D-992E-85702BF66772}" destId="{F0A4A32A-F741-4F64-B66C-69170D242668}" srcOrd="0" destOrd="0" presId="urn:microsoft.com/office/officeart/2005/8/layout/default"/>
    <dgm:cxn modelId="{37F081AE-EF66-490A-A412-4B57C876B824}" type="presParOf" srcId="{690850DF-325A-445D-992E-85702BF66772}" destId="{426A63BE-51C1-4F98-9029-1D3289DA1A66}" srcOrd="1" destOrd="0" presId="urn:microsoft.com/office/officeart/2005/8/layout/default"/>
    <dgm:cxn modelId="{6713F48D-6A67-4681-9721-012864AD6CDB}" type="presParOf" srcId="{690850DF-325A-445D-992E-85702BF66772}" destId="{1B9626E1-9CCF-4CD3-A22B-211D84AF004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7F759A65-AA79-4416-A057-4BE76A32B46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F0746E5-1D1B-4313-B8E3-B0E0926EF64A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Повышение производительности:  AGV/AMR могут работать круглосуточно, без перерывов и выходных, что позволяет значительно увеличить скорость обработки заказов.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FBCB3735-447E-4235-A1F1-0530E069CC5E}" type="parTrans" cxnId="{11CD50B3-7880-45F6-ABAF-CC49CE6541B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E5FD4FA-B567-4408-81F1-C34D74B0F431}" type="sibTrans" cxnId="{11CD50B3-7880-45F6-ABAF-CC49CE6541B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70F9D47-C263-4B4A-94D6-068548E9C56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Снижение затрат на оплату труда:  Автоматизация перемещения материалов позволяет сократить количество персонала, занятого на рутинных операциях.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1D37237-098D-48EF-BA73-70F7071B6017}" type="parTrans" cxnId="{02A46C47-1617-404F-B301-3AD3273D229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DB2FD91-AFD6-4C89-ACBF-A13BFBF70963}" type="sibTrans" cxnId="{02A46C47-1617-404F-B301-3AD3273D229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DB2F473-E7CA-4D3E-A456-EE159332D422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Улучшение логистики:  AGV/AMR могут оптимизировать маршруты перемещения, сократить время доставки грузов и уменьшить количество ошибок.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5B70F08-C27D-4CEC-9C6B-3631571DFD05}" type="parTrans" cxnId="{938368B1-D78C-4578-BCF9-C034EFC6E91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14DA73E-2044-4272-A126-6023667EF004}" type="sibTrans" cxnId="{938368B1-D78C-4578-BCF9-C034EFC6E91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1FEDCDA-BAEF-48C6-81CB-081D35AF2445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Повышение безопасности труда: Автоматизация опасных и монотонных операций снижает риск травм на рабочем месте.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C047E07-0172-47AA-90E4-2BE78A0E8D4A}" type="parTrans" cxnId="{DD610E88-BC49-4E13-9729-06F6A4A28D9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19F5E67-DAE2-4016-AAE2-848D32D18C2C}" type="sibTrans" cxnId="{DD610E88-BC49-4E13-9729-06F6A4A28D9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9E9B8D0-C4F8-4872-B5F8-9E033FCA2368}" type="pres">
      <dgm:prSet presAssocID="{7F759A65-AA79-4416-A057-4BE76A32B46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AC5E05C-B26E-446D-BFC4-AA4C68CFDC31}" type="pres">
      <dgm:prSet presAssocID="{7F0746E5-1D1B-4313-B8E3-B0E0926EF64A}" presName="node" presStyleLbl="node1" presStyleIdx="0" presStyleCnt="4" custScaleX="13894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17D480-12B6-488E-9078-6A0FA5965A29}" type="pres">
      <dgm:prSet presAssocID="{1E5FD4FA-B567-4408-81F1-C34D74B0F431}" presName="sibTrans" presStyleCnt="0"/>
      <dgm:spPr/>
    </dgm:pt>
    <dgm:pt modelId="{69E99309-FD0D-4080-AB5F-497CED0ED593}" type="pres">
      <dgm:prSet presAssocID="{070F9D47-C263-4B4A-94D6-068548E9C568}" presName="node" presStyleLbl="node1" presStyleIdx="1" presStyleCnt="4" custScaleX="12806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F25222-0AB7-419C-8881-6CB919E0DCBA}" type="pres">
      <dgm:prSet presAssocID="{8DB2FD91-AFD6-4C89-ACBF-A13BFBF70963}" presName="sibTrans" presStyleCnt="0"/>
      <dgm:spPr/>
    </dgm:pt>
    <dgm:pt modelId="{26C3EFFF-8D7D-4C45-BA68-C4C99CDD286C}" type="pres">
      <dgm:prSet presAssocID="{5DB2F473-E7CA-4D3E-A456-EE159332D422}" presName="node" presStyleLbl="node1" presStyleIdx="2" presStyleCnt="4" custScaleX="138056" custLinFactNeighborX="1929" custLinFactNeighborY="-1446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3854D9C-DC4C-4CE4-9E47-539485C128BA}" type="pres">
      <dgm:prSet presAssocID="{814DA73E-2044-4272-A126-6023667EF004}" presName="sibTrans" presStyleCnt="0"/>
      <dgm:spPr/>
    </dgm:pt>
    <dgm:pt modelId="{ECFFF6C7-C883-4962-B0C0-98338CDB387F}" type="pres">
      <dgm:prSet presAssocID="{91FEDCDA-BAEF-48C6-81CB-081D35AF2445}" presName="node" presStyleLbl="node1" presStyleIdx="3" presStyleCnt="4" custScaleX="126312" custLinFactNeighborX="-2662" custLinFactNeighborY="-1446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AA22636-6CF1-41C4-9B5F-2F46C3208E0F}" type="presOf" srcId="{070F9D47-C263-4B4A-94D6-068548E9C568}" destId="{69E99309-FD0D-4080-AB5F-497CED0ED593}" srcOrd="0" destOrd="0" presId="urn:microsoft.com/office/officeart/2005/8/layout/default"/>
    <dgm:cxn modelId="{BE9481DE-8092-4BD0-8DB4-CD433B027F8F}" type="presOf" srcId="{5DB2F473-E7CA-4D3E-A456-EE159332D422}" destId="{26C3EFFF-8D7D-4C45-BA68-C4C99CDD286C}" srcOrd="0" destOrd="0" presId="urn:microsoft.com/office/officeart/2005/8/layout/default"/>
    <dgm:cxn modelId="{DD610E88-BC49-4E13-9729-06F6A4A28D9C}" srcId="{7F759A65-AA79-4416-A057-4BE76A32B46B}" destId="{91FEDCDA-BAEF-48C6-81CB-081D35AF2445}" srcOrd="3" destOrd="0" parTransId="{AC047E07-0172-47AA-90E4-2BE78A0E8D4A}" sibTransId="{619F5E67-DAE2-4016-AAE2-848D32D18C2C}"/>
    <dgm:cxn modelId="{C04A04AA-6477-4EBA-B7F5-B778FDAC1923}" type="presOf" srcId="{91FEDCDA-BAEF-48C6-81CB-081D35AF2445}" destId="{ECFFF6C7-C883-4962-B0C0-98338CDB387F}" srcOrd="0" destOrd="0" presId="urn:microsoft.com/office/officeart/2005/8/layout/default"/>
    <dgm:cxn modelId="{938368B1-D78C-4578-BCF9-C034EFC6E917}" srcId="{7F759A65-AA79-4416-A057-4BE76A32B46B}" destId="{5DB2F473-E7CA-4D3E-A456-EE159332D422}" srcOrd="2" destOrd="0" parTransId="{55B70F08-C27D-4CEC-9C6B-3631571DFD05}" sibTransId="{814DA73E-2044-4272-A126-6023667EF004}"/>
    <dgm:cxn modelId="{52A5FE84-D485-456B-84F3-5202979F6A91}" type="presOf" srcId="{7F0746E5-1D1B-4313-B8E3-B0E0926EF64A}" destId="{BAC5E05C-B26E-446D-BFC4-AA4C68CFDC31}" srcOrd="0" destOrd="0" presId="urn:microsoft.com/office/officeart/2005/8/layout/default"/>
    <dgm:cxn modelId="{02A46C47-1617-404F-B301-3AD3273D229F}" srcId="{7F759A65-AA79-4416-A057-4BE76A32B46B}" destId="{070F9D47-C263-4B4A-94D6-068548E9C568}" srcOrd="1" destOrd="0" parTransId="{D1D37237-098D-48EF-BA73-70F7071B6017}" sibTransId="{8DB2FD91-AFD6-4C89-ACBF-A13BFBF70963}"/>
    <dgm:cxn modelId="{11CD50B3-7880-45F6-ABAF-CC49CE6541BD}" srcId="{7F759A65-AA79-4416-A057-4BE76A32B46B}" destId="{7F0746E5-1D1B-4313-B8E3-B0E0926EF64A}" srcOrd="0" destOrd="0" parTransId="{FBCB3735-447E-4235-A1F1-0530E069CC5E}" sibTransId="{1E5FD4FA-B567-4408-81F1-C34D74B0F431}"/>
    <dgm:cxn modelId="{F5E87C60-B920-4C72-A014-A2404BB6E058}" type="presOf" srcId="{7F759A65-AA79-4416-A057-4BE76A32B46B}" destId="{C9E9B8D0-C4F8-4872-B5F8-9E033FCA2368}" srcOrd="0" destOrd="0" presId="urn:microsoft.com/office/officeart/2005/8/layout/default"/>
    <dgm:cxn modelId="{BCFFC291-B2CB-4020-9FE8-BD7F210BCCC2}" type="presParOf" srcId="{C9E9B8D0-C4F8-4872-B5F8-9E033FCA2368}" destId="{BAC5E05C-B26E-446D-BFC4-AA4C68CFDC31}" srcOrd="0" destOrd="0" presId="urn:microsoft.com/office/officeart/2005/8/layout/default"/>
    <dgm:cxn modelId="{27528336-2805-494C-9709-EC4528CD72AA}" type="presParOf" srcId="{C9E9B8D0-C4F8-4872-B5F8-9E033FCA2368}" destId="{EB17D480-12B6-488E-9078-6A0FA5965A29}" srcOrd="1" destOrd="0" presId="urn:microsoft.com/office/officeart/2005/8/layout/default"/>
    <dgm:cxn modelId="{CE2E9979-509A-4AAC-B425-6F61B41CD5F6}" type="presParOf" srcId="{C9E9B8D0-C4F8-4872-B5F8-9E033FCA2368}" destId="{69E99309-FD0D-4080-AB5F-497CED0ED593}" srcOrd="2" destOrd="0" presId="urn:microsoft.com/office/officeart/2005/8/layout/default"/>
    <dgm:cxn modelId="{6B9383BE-1115-4FA8-9EBC-DD7B1CB6A5AD}" type="presParOf" srcId="{C9E9B8D0-C4F8-4872-B5F8-9E033FCA2368}" destId="{79F25222-0AB7-419C-8881-6CB919E0DCBA}" srcOrd="3" destOrd="0" presId="urn:microsoft.com/office/officeart/2005/8/layout/default"/>
    <dgm:cxn modelId="{DA83902F-41C4-4FCC-9C3C-0FC5F44DC929}" type="presParOf" srcId="{C9E9B8D0-C4F8-4872-B5F8-9E033FCA2368}" destId="{26C3EFFF-8D7D-4C45-BA68-C4C99CDD286C}" srcOrd="4" destOrd="0" presId="urn:microsoft.com/office/officeart/2005/8/layout/default"/>
    <dgm:cxn modelId="{22F96CD8-3E48-467C-8CD1-0ACC22B16324}" type="presParOf" srcId="{C9E9B8D0-C4F8-4872-B5F8-9E033FCA2368}" destId="{03854D9C-DC4C-4CE4-9E47-539485C128BA}" srcOrd="5" destOrd="0" presId="urn:microsoft.com/office/officeart/2005/8/layout/default"/>
    <dgm:cxn modelId="{B5685754-7BC6-4EB3-BC2E-9C77D9D4CE13}" type="presParOf" srcId="{C9E9B8D0-C4F8-4872-B5F8-9E033FCA2368}" destId="{ECFFF6C7-C883-4962-B0C0-98338CDB387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B5C901CD-3902-445E-81BF-21AB6E1ACB0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8FDDB67-EFE6-4DF6-A351-CB0C3218509A}">
      <dgm:prSet phldrT="[Текст]"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Опыт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Amazon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:  </a:t>
          </a:r>
          <a:r>
            <a:rPr lang="ru-RU" sz="1400" dirty="0" err="1" smtClean="0">
              <a:latin typeface="Times New Roman" pitchFamily="18" charset="0"/>
              <a:cs typeface="Times New Roman" pitchFamily="18" charset="0"/>
            </a:rPr>
            <a:t>Amazon</a:t>
          </a:r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 активно использует AGV/AMR на своих складах для перемещения товаров от стеллажей к сортировочным станциям. Это позволяет значительно ускорить процесс комплектации заказов и сократить время доставки.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9B54576D-4681-4686-9D64-B5237F47555E}" type="parTrans" cxnId="{A6ED3B84-46F5-4084-971B-6EE9278C34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E3C57C7-415D-4378-A287-F0CC684867AE}" type="sibTrans" cxnId="{A6ED3B84-46F5-4084-971B-6EE9278C34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0EB4120-970D-462C-9A3C-92F506A7C1BA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Опыт Ocado:  Ocado – британская компания, специализирующаяся на онлайн-торговле продуктами питания. Компания использует роботизированную систему на своих складах, где тысячи роботов перемещаются по сетке над контейнерами с продуктами, комплектуя заказы в автоматическом режиме.</a:t>
          </a:r>
        </a:p>
      </dgm:t>
    </dgm:pt>
    <dgm:pt modelId="{628FC875-104C-448D-9507-BAFD15A14092}" type="parTrans" cxnId="{334A612D-0168-4965-B8F7-D71331225766}">
      <dgm:prSet/>
      <dgm:spPr/>
      <dgm:t>
        <a:bodyPr/>
        <a:lstStyle/>
        <a:p>
          <a:endParaRPr lang="ru-RU"/>
        </a:p>
      </dgm:t>
    </dgm:pt>
    <dgm:pt modelId="{4BC1DE11-5AEE-4812-9894-46A39B576D9D}" type="sibTrans" cxnId="{334A612D-0168-4965-B8F7-D71331225766}">
      <dgm:prSet/>
      <dgm:spPr/>
      <dgm:t>
        <a:bodyPr/>
        <a:lstStyle/>
        <a:p>
          <a:endParaRPr lang="ru-RU"/>
        </a:p>
      </dgm:t>
    </dgm:pt>
    <dgm:pt modelId="{690850DF-325A-445D-992E-85702BF66772}" type="pres">
      <dgm:prSet presAssocID="{B5C901CD-3902-445E-81BF-21AB6E1ACB0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0A4A32A-F741-4F64-B66C-69170D242668}" type="pres">
      <dgm:prSet presAssocID="{D8FDDB67-EFE6-4DF6-A351-CB0C3218509A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6A63BE-51C1-4F98-9029-1D3289DA1A66}" type="pres">
      <dgm:prSet presAssocID="{8E3C57C7-415D-4378-A287-F0CC684867AE}" presName="sibTrans" presStyleCnt="0"/>
      <dgm:spPr/>
    </dgm:pt>
    <dgm:pt modelId="{41ECAD33-5E03-4A8B-BB27-C47278C06F15}" type="pres">
      <dgm:prSet presAssocID="{E0EB4120-970D-462C-9A3C-92F506A7C1BA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6ED3B84-46F5-4084-971B-6EE9278C34EB}" srcId="{B5C901CD-3902-445E-81BF-21AB6E1ACB00}" destId="{D8FDDB67-EFE6-4DF6-A351-CB0C3218509A}" srcOrd="0" destOrd="0" parTransId="{9B54576D-4681-4686-9D64-B5237F47555E}" sibTransId="{8E3C57C7-415D-4378-A287-F0CC684867AE}"/>
    <dgm:cxn modelId="{8AD9434D-1717-4202-B646-FF84AAF4A621}" type="presOf" srcId="{E0EB4120-970D-462C-9A3C-92F506A7C1BA}" destId="{41ECAD33-5E03-4A8B-BB27-C47278C06F15}" srcOrd="0" destOrd="0" presId="urn:microsoft.com/office/officeart/2005/8/layout/default"/>
    <dgm:cxn modelId="{334A612D-0168-4965-B8F7-D71331225766}" srcId="{B5C901CD-3902-445E-81BF-21AB6E1ACB00}" destId="{E0EB4120-970D-462C-9A3C-92F506A7C1BA}" srcOrd="1" destOrd="0" parTransId="{628FC875-104C-448D-9507-BAFD15A14092}" sibTransId="{4BC1DE11-5AEE-4812-9894-46A39B576D9D}"/>
    <dgm:cxn modelId="{26564E14-FFF0-45BD-93FB-ABC29C30D00F}" type="presOf" srcId="{B5C901CD-3902-445E-81BF-21AB6E1ACB00}" destId="{690850DF-325A-445D-992E-85702BF66772}" srcOrd="0" destOrd="0" presId="urn:microsoft.com/office/officeart/2005/8/layout/default"/>
    <dgm:cxn modelId="{D2136637-B590-4672-BDE9-B9A8698DF43F}" type="presOf" srcId="{D8FDDB67-EFE6-4DF6-A351-CB0C3218509A}" destId="{F0A4A32A-F741-4F64-B66C-69170D242668}" srcOrd="0" destOrd="0" presId="urn:microsoft.com/office/officeart/2005/8/layout/default"/>
    <dgm:cxn modelId="{8840C075-2482-4713-BDAD-60AFA2C6CD08}" type="presParOf" srcId="{690850DF-325A-445D-992E-85702BF66772}" destId="{F0A4A32A-F741-4F64-B66C-69170D242668}" srcOrd="0" destOrd="0" presId="urn:microsoft.com/office/officeart/2005/8/layout/default"/>
    <dgm:cxn modelId="{50115C64-35A4-4364-95D6-D945BF029129}" type="presParOf" srcId="{690850DF-325A-445D-992E-85702BF66772}" destId="{426A63BE-51C1-4F98-9029-1D3289DA1A66}" srcOrd="1" destOrd="0" presId="urn:microsoft.com/office/officeart/2005/8/layout/default"/>
    <dgm:cxn modelId="{CC6C8FEE-E679-4BB2-9F33-25224B0328C2}" type="presParOf" srcId="{690850DF-325A-445D-992E-85702BF66772}" destId="{41ECAD33-5E03-4A8B-BB27-C47278C06F1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B5C901CD-3902-445E-81BF-21AB6E1ACB0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8FDDB67-EFE6-4DF6-A351-CB0C3218509A}">
      <dgm:prSet phldrT="[Текст]"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Высокая скорость и точность:  Дроны могут быстро и точно сканировать штрих-коды и RFID-метки на товарах, что позволяет проводить инвентаризацию в несколько раз быстрее, чем традиционными способами.</a:t>
          </a:r>
          <a:endParaRPr lang="ru-RU" sz="1400" dirty="0">
            <a:latin typeface="Times New Roman" pitchFamily="18" charset="0"/>
            <a:cs typeface="Times New Roman" pitchFamily="18" charset="0"/>
          </a:endParaRPr>
        </a:p>
      </dgm:t>
    </dgm:pt>
    <dgm:pt modelId="{9B54576D-4681-4686-9D64-B5237F47555E}" type="parTrans" cxnId="{A6ED3B84-46F5-4084-971B-6EE9278C34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E3C57C7-415D-4378-A287-F0CC684867AE}" type="sibTrans" cxnId="{A6ED3B84-46F5-4084-971B-6EE9278C34E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A3DF1B3-D49C-4DC9-87E7-D516F569A391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Охват больших площадей: Дроны могут легко перемещаться между стеллажами и сканировать товары на большой высоте, что позволяет проводить инвентаризацию даже на самых больших складах.</a:t>
          </a:r>
        </a:p>
      </dgm:t>
    </dgm:pt>
    <dgm:pt modelId="{ED64877C-8C06-4D27-B530-9F5C611D762F}" type="parTrans" cxnId="{FBC93370-F714-4EE8-8DA9-024A9E322BD2}">
      <dgm:prSet/>
      <dgm:spPr/>
      <dgm:t>
        <a:bodyPr/>
        <a:lstStyle/>
        <a:p>
          <a:endParaRPr lang="ru-RU"/>
        </a:p>
      </dgm:t>
    </dgm:pt>
    <dgm:pt modelId="{A9435BDA-84B1-45C4-95D2-F8D7A38F1653}" type="sibTrans" cxnId="{FBC93370-F714-4EE8-8DA9-024A9E322BD2}">
      <dgm:prSet/>
      <dgm:spPr/>
      <dgm:t>
        <a:bodyPr/>
        <a:lstStyle/>
        <a:p>
          <a:endParaRPr lang="ru-RU"/>
        </a:p>
      </dgm:t>
    </dgm:pt>
    <dgm:pt modelId="{DBAD515F-193C-4671-8DBD-19A993E9DA11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Снижение затрат на оплату труда:  Автоматизация инвентаризации позволяет сократить количество персонала, занятого на этой рутинной операции.</a:t>
          </a:r>
        </a:p>
      </dgm:t>
    </dgm:pt>
    <dgm:pt modelId="{9272B4BF-9723-4E5B-A4BF-77CB00600D7D}" type="parTrans" cxnId="{24860552-2CE4-4897-A0E4-5D45F46307FF}">
      <dgm:prSet/>
      <dgm:spPr/>
      <dgm:t>
        <a:bodyPr/>
        <a:lstStyle/>
        <a:p>
          <a:endParaRPr lang="ru-RU"/>
        </a:p>
      </dgm:t>
    </dgm:pt>
    <dgm:pt modelId="{6D9E3A7A-346E-405C-8549-DF0BD40030F0}" type="sibTrans" cxnId="{24860552-2CE4-4897-A0E4-5D45F46307FF}">
      <dgm:prSet/>
      <dgm:spPr/>
      <dgm:t>
        <a:bodyPr/>
        <a:lstStyle/>
        <a:p>
          <a:endParaRPr lang="ru-RU"/>
        </a:p>
      </dgm:t>
    </dgm:pt>
    <dgm:pt modelId="{B2FAE41B-2CA2-44DA-8E0B-B59C210C03DD}">
      <dgm:prSet custT="1"/>
      <dgm:spPr/>
      <dgm:t>
        <a:bodyPr/>
        <a:lstStyle/>
        <a:p>
          <a:r>
            <a:rPr lang="ru-RU" sz="1400" dirty="0" smtClean="0">
              <a:latin typeface="Times New Roman" pitchFamily="18" charset="0"/>
              <a:cs typeface="Times New Roman" pitchFamily="18" charset="0"/>
            </a:rPr>
            <a:t>Повышение точности учета:  Использование дронов позволяет снизить количество ошибок, связанных с ручным вводом данных.</a:t>
          </a:r>
        </a:p>
      </dgm:t>
    </dgm:pt>
    <dgm:pt modelId="{9DA97438-4893-4CEA-A9DE-9E21FA29E65E}" type="parTrans" cxnId="{C2635430-9B05-4A67-97E7-C934C1BFE3E1}">
      <dgm:prSet/>
      <dgm:spPr/>
      <dgm:t>
        <a:bodyPr/>
        <a:lstStyle/>
        <a:p>
          <a:endParaRPr lang="ru-RU"/>
        </a:p>
      </dgm:t>
    </dgm:pt>
    <dgm:pt modelId="{089654E9-6F44-446D-98FC-3E4946789D46}" type="sibTrans" cxnId="{C2635430-9B05-4A67-97E7-C934C1BFE3E1}">
      <dgm:prSet/>
      <dgm:spPr/>
      <dgm:t>
        <a:bodyPr/>
        <a:lstStyle/>
        <a:p>
          <a:endParaRPr lang="ru-RU"/>
        </a:p>
      </dgm:t>
    </dgm:pt>
    <dgm:pt modelId="{690850DF-325A-445D-992E-85702BF66772}" type="pres">
      <dgm:prSet presAssocID="{B5C901CD-3902-445E-81BF-21AB6E1ACB0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0A4A32A-F741-4F64-B66C-69170D242668}" type="pres">
      <dgm:prSet presAssocID="{D8FDDB67-EFE6-4DF6-A351-CB0C3218509A}" presName="node" presStyleLbl="node1" presStyleIdx="0" presStyleCnt="4" custLinFactNeighborX="54265" custLinFactNeighborY="-1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6A63BE-51C1-4F98-9029-1D3289DA1A66}" type="pres">
      <dgm:prSet presAssocID="{8E3C57C7-415D-4378-A287-F0CC684867AE}" presName="sibTrans" presStyleCnt="0"/>
      <dgm:spPr/>
    </dgm:pt>
    <dgm:pt modelId="{758A704E-EA89-40BF-AD18-FBC12800AAF8}" type="pres">
      <dgm:prSet presAssocID="{EA3DF1B3-D49C-4DC9-87E7-D516F569A391}" presName="node" presStyleLbl="node1" presStyleIdx="1" presStyleCnt="4" custLinFactNeighborX="69770" custLinFactNeighborY="-1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06C1F6-F7BA-4236-B5F5-CD78517FF9CD}" type="pres">
      <dgm:prSet presAssocID="{A9435BDA-84B1-45C4-95D2-F8D7A38F1653}" presName="sibTrans" presStyleCnt="0"/>
      <dgm:spPr/>
    </dgm:pt>
    <dgm:pt modelId="{F2BAFEA4-DDD5-453F-89C2-DE410E618908}" type="pres">
      <dgm:prSet presAssocID="{DBAD515F-193C-4671-8DBD-19A993E9DA11}" presName="node" presStyleLbl="node1" presStyleIdx="2" presStyleCnt="4" custLinFactX="-66039" custLinFactY="6131" custLinFactNeighborX="-100000" custLinFactNeighborY="1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D2AC78-ECFC-4EB5-A573-C71BD83D62D9}" type="pres">
      <dgm:prSet presAssocID="{6D9E3A7A-346E-405C-8549-DF0BD40030F0}" presName="sibTrans" presStyleCnt="0"/>
      <dgm:spPr/>
    </dgm:pt>
    <dgm:pt modelId="{D7DD135E-91B1-46D3-98FE-3612C72A220A}" type="pres">
      <dgm:prSet presAssocID="{B2FAE41B-2CA2-44DA-8E0B-B59C210C03DD}" presName="node" presStyleLbl="node1" presStyleIdx="3" presStyleCnt="4" custLinFactNeighborX="69216" custLinFactNeighborY="-101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4902DF2-CE16-4503-8FE1-04BDADC53AEE}" type="presOf" srcId="{EA3DF1B3-D49C-4DC9-87E7-D516F569A391}" destId="{758A704E-EA89-40BF-AD18-FBC12800AAF8}" srcOrd="0" destOrd="0" presId="urn:microsoft.com/office/officeart/2005/8/layout/default"/>
    <dgm:cxn modelId="{A6ED3B84-46F5-4084-971B-6EE9278C34EB}" srcId="{B5C901CD-3902-445E-81BF-21AB6E1ACB00}" destId="{D8FDDB67-EFE6-4DF6-A351-CB0C3218509A}" srcOrd="0" destOrd="0" parTransId="{9B54576D-4681-4686-9D64-B5237F47555E}" sibTransId="{8E3C57C7-415D-4378-A287-F0CC684867AE}"/>
    <dgm:cxn modelId="{24860552-2CE4-4897-A0E4-5D45F46307FF}" srcId="{B5C901CD-3902-445E-81BF-21AB6E1ACB00}" destId="{DBAD515F-193C-4671-8DBD-19A993E9DA11}" srcOrd="2" destOrd="0" parTransId="{9272B4BF-9723-4E5B-A4BF-77CB00600D7D}" sibTransId="{6D9E3A7A-346E-405C-8549-DF0BD40030F0}"/>
    <dgm:cxn modelId="{6E42D7C0-BA0D-4B24-BDA5-1478C1195D09}" type="presOf" srcId="{B2FAE41B-2CA2-44DA-8E0B-B59C210C03DD}" destId="{D7DD135E-91B1-46D3-98FE-3612C72A220A}" srcOrd="0" destOrd="0" presId="urn:microsoft.com/office/officeart/2005/8/layout/default"/>
    <dgm:cxn modelId="{C2635430-9B05-4A67-97E7-C934C1BFE3E1}" srcId="{B5C901CD-3902-445E-81BF-21AB6E1ACB00}" destId="{B2FAE41B-2CA2-44DA-8E0B-B59C210C03DD}" srcOrd="3" destOrd="0" parTransId="{9DA97438-4893-4CEA-A9DE-9E21FA29E65E}" sibTransId="{089654E9-6F44-446D-98FC-3E4946789D46}"/>
    <dgm:cxn modelId="{FBC93370-F714-4EE8-8DA9-024A9E322BD2}" srcId="{B5C901CD-3902-445E-81BF-21AB6E1ACB00}" destId="{EA3DF1B3-D49C-4DC9-87E7-D516F569A391}" srcOrd="1" destOrd="0" parTransId="{ED64877C-8C06-4D27-B530-9F5C611D762F}" sibTransId="{A9435BDA-84B1-45C4-95D2-F8D7A38F1653}"/>
    <dgm:cxn modelId="{D3DB92A5-4462-4A4D-A05E-BF12F7AF111F}" type="presOf" srcId="{DBAD515F-193C-4671-8DBD-19A993E9DA11}" destId="{F2BAFEA4-DDD5-453F-89C2-DE410E618908}" srcOrd="0" destOrd="0" presId="urn:microsoft.com/office/officeart/2005/8/layout/default"/>
    <dgm:cxn modelId="{2623512C-C597-4486-8754-3C79A49F33D4}" type="presOf" srcId="{D8FDDB67-EFE6-4DF6-A351-CB0C3218509A}" destId="{F0A4A32A-F741-4F64-B66C-69170D242668}" srcOrd="0" destOrd="0" presId="urn:microsoft.com/office/officeart/2005/8/layout/default"/>
    <dgm:cxn modelId="{7CBDE931-25B7-4E0A-96DF-160EDF3E81ED}" type="presOf" srcId="{B5C901CD-3902-445E-81BF-21AB6E1ACB00}" destId="{690850DF-325A-445D-992E-85702BF66772}" srcOrd="0" destOrd="0" presId="urn:microsoft.com/office/officeart/2005/8/layout/default"/>
    <dgm:cxn modelId="{1BB80066-EB4C-4CCE-ABD7-97D37882A52A}" type="presParOf" srcId="{690850DF-325A-445D-992E-85702BF66772}" destId="{F0A4A32A-F741-4F64-B66C-69170D242668}" srcOrd="0" destOrd="0" presId="urn:microsoft.com/office/officeart/2005/8/layout/default"/>
    <dgm:cxn modelId="{DE09824A-BD2C-42FE-87EA-6C0B10D45715}" type="presParOf" srcId="{690850DF-325A-445D-992E-85702BF66772}" destId="{426A63BE-51C1-4F98-9029-1D3289DA1A66}" srcOrd="1" destOrd="0" presId="urn:microsoft.com/office/officeart/2005/8/layout/default"/>
    <dgm:cxn modelId="{F6A8792B-D2EF-48C4-B3CE-0C1655AFD5B7}" type="presParOf" srcId="{690850DF-325A-445D-992E-85702BF66772}" destId="{758A704E-EA89-40BF-AD18-FBC12800AAF8}" srcOrd="2" destOrd="0" presId="urn:microsoft.com/office/officeart/2005/8/layout/default"/>
    <dgm:cxn modelId="{17B836CA-2195-4096-938B-3D6EFDCE15A8}" type="presParOf" srcId="{690850DF-325A-445D-992E-85702BF66772}" destId="{9C06C1F6-F7BA-4236-B5F5-CD78517FF9CD}" srcOrd="3" destOrd="0" presId="urn:microsoft.com/office/officeart/2005/8/layout/default"/>
    <dgm:cxn modelId="{EBD75B6A-C8AC-425C-8B20-EB969F771401}" type="presParOf" srcId="{690850DF-325A-445D-992E-85702BF66772}" destId="{F2BAFEA4-DDD5-453F-89C2-DE410E618908}" srcOrd="4" destOrd="0" presId="urn:microsoft.com/office/officeart/2005/8/layout/default"/>
    <dgm:cxn modelId="{C95C4C9B-FE26-4EB6-84C9-BEFF9AA94081}" type="presParOf" srcId="{690850DF-325A-445D-992E-85702BF66772}" destId="{FCD2AC78-ECFC-4EB5-A573-C71BD83D62D9}" srcOrd="5" destOrd="0" presId="urn:microsoft.com/office/officeart/2005/8/layout/default"/>
    <dgm:cxn modelId="{BAE812EA-F89D-4665-84CC-7FA727F895E9}" type="presParOf" srcId="{690850DF-325A-445D-992E-85702BF66772}" destId="{D7DD135E-91B1-46D3-98FE-3612C72A220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3263812-C788-4735-903E-3DF537A9562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0158680-2A7C-4C75-BAF3-FAFC70B9F5CC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Опыт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Walmart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: 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Walmart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использует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дронов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для инвентаризации на своих складах с 2016 года. По данным компании,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дроны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позволяют сократить время инвентаризации на 50% и повысить точность учета.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6536F7F5-37F3-4191-95C7-61A8749683CD}" type="parTrans" cxnId="{1DCF7684-8DC9-4C06-8F34-9507803468F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1E1C59B-6380-4272-A4C5-3207CB01F6D0}" type="sibTrans" cxnId="{1DCF7684-8DC9-4C06-8F34-9507803468F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B736F7F-BADA-472F-9DBE-142DAE187119}" type="pres">
      <dgm:prSet presAssocID="{13263812-C788-4735-903E-3DF537A9562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F8EDF6F-27C7-4B28-9A2F-CABC489393D9}" type="pres">
      <dgm:prSet presAssocID="{50158680-2A7C-4C75-BAF3-FAFC70B9F5CC}" presName="node" presStyleLbl="node1" presStyleIdx="0" presStyleCnt="1" custScaleX="172637" custScaleY="36792" custLinFactNeighborX="22" custLinFactNeighborY="-201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00A9A6E-8300-4307-A5C4-2BAEF45C6936}" type="presOf" srcId="{50158680-2A7C-4C75-BAF3-FAFC70B9F5CC}" destId="{AF8EDF6F-27C7-4B28-9A2F-CABC489393D9}" srcOrd="0" destOrd="0" presId="urn:microsoft.com/office/officeart/2005/8/layout/default"/>
    <dgm:cxn modelId="{971037C7-08F4-4C22-B1BA-18291714131A}" type="presOf" srcId="{13263812-C788-4735-903E-3DF537A9562E}" destId="{CB736F7F-BADA-472F-9DBE-142DAE187119}" srcOrd="0" destOrd="0" presId="urn:microsoft.com/office/officeart/2005/8/layout/default"/>
    <dgm:cxn modelId="{1DCF7684-8DC9-4C06-8F34-9507803468F3}" srcId="{13263812-C788-4735-903E-3DF537A9562E}" destId="{50158680-2A7C-4C75-BAF3-FAFC70B9F5CC}" srcOrd="0" destOrd="0" parTransId="{6536F7F5-37F3-4191-95C7-61A8749683CD}" sibTransId="{B1E1C59B-6380-4272-A4C5-3207CB01F6D0}"/>
    <dgm:cxn modelId="{DE09E421-7BBD-488C-9650-1A006FFD6F67}" type="presParOf" srcId="{CB736F7F-BADA-472F-9DBE-142DAE187119}" destId="{AF8EDF6F-27C7-4B28-9A2F-CABC489393D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4E82A2C4-08B8-42F8-9E42-69963C6DD14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767A389-77DD-457C-B146-545885D5270F}">
      <dgm:prSet phldrT="[Текст]"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ИНДУСТРИЯ 1.0</a:t>
          </a:r>
        </a:p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 Первое использование машин в производстве</a:t>
          </a:r>
          <a:endParaRPr lang="ru-RU" b="1" dirty="0">
            <a:latin typeface="Times New Roman" pitchFamily="18" charset="0"/>
            <a:cs typeface="Times New Roman" pitchFamily="18" charset="0"/>
          </a:endParaRPr>
        </a:p>
      </dgm:t>
    </dgm:pt>
    <dgm:pt modelId="{21C4E8D2-5DA6-48FE-A3BE-EFF496CDA67F}" type="parTrans" cxnId="{C0E09321-AF4D-4EEA-8D88-DE05CE2DFCD6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3A60850D-97E1-470A-B0D6-C96A06F7CCDB}" type="sibTrans" cxnId="{C0E09321-AF4D-4EEA-8D88-DE05CE2DFCD6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4F1B1307-C523-4135-BBDF-1482C9F7552A}">
      <dgm:prSet phldrT="[Текст]"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ИНДУСТРИЯ 2.0</a:t>
          </a:r>
        </a:p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 Массовое производство</a:t>
          </a:r>
          <a:endParaRPr lang="ru-RU" b="1" dirty="0">
            <a:latin typeface="Times New Roman" pitchFamily="18" charset="0"/>
            <a:cs typeface="Times New Roman" pitchFamily="18" charset="0"/>
          </a:endParaRPr>
        </a:p>
      </dgm:t>
    </dgm:pt>
    <dgm:pt modelId="{A4D93921-A747-49E2-8BC3-CA559C5B5FCF}" type="parTrans" cxnId="{BCB114A1-6B52-4E0A-8084-08D180B96538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00A7192C-8F8D-457C-892F-4552BDA66833}" type="sibTrans" cxnId="{BCB114A1-6B52-4E0A-8084-08D180B96538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CB69ABB5-E2FD-4EBE-9251-C83FE6D064E0}">
      <dgm:prSet phldrT="[Текст]"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ИНДУСТРИЯ 3.0 </a:t>
          </a:r>
        </a:p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Вычисления и автоматизация для дополнения человека</a:t>
          </a:r>
          <a:endParaRPr lang="ru-RU" b="1" dirty="0">
            <a:latin typeface="Times New Roman" pitchFamily="18" charset="0"/>
            <a:cs typeface="Times New Roman" pitchFamily="18" charset="0"/>
          </a:endParaRPr>
        </a:p>
      </dgm:t>
    </dgm:pt>
    <dgm:pt modelId="{B7CD0AB3-13AA-4255-A714-E04E7C317455}" type="parTrans" cxnId="{6864E186-040C-4F4C-A33B-637D751790E3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6FD3E990-9DF2-4ED8-AECC-B24B85FA698F}" type="sibTrans" cxnId="{6864E186-040C-4F4C-A33B-637D751790E3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89729FC7-25E7-4644-AD0C-5F6D039AC338}">
      <dgm:prSet phldrT="[Текст]"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ИНДУСТРИЯ 4.0 </a:t>
          </a:r>
        </a:p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Замещение человека, Роботизация, ИИ</a:t>
          </a:r>
          <a:endParaRPr lang="ru-RU" b="1" dirty="0">
            <a:latin typeface="Times New Roman" pitchFamily="18" charset="0"/>
            <a:cs typeface="Times New Roman" pitchFamily="18" charset="0"/>
          </a:endParaRPr>
        </a:p>
      </dgm:t>
    </dgm:pt>
    <dgm:pt modelId="{ED3CA3BB-C620-42C6-B1E4-C7DA9298C23E}" type="parTrans" cxnId="{E93BBAAD-591B-4166-A417-E15D0C0D7279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7CB71A11-7705-4386-BC61-F6B690E02A29}" type="sibTrans" cxnId="{E93BBAAD-591B-4166-A417-E15D0C0D7279}">
      <dgm:prSet/>
      <dgm:spPr/>
      <dgm:t>
        <a:bodyPr/>
        <a:lstStyle/>
        <a:p>
          <a:endParaRPr lang="ru-RU" b="1">
            <a:latin typeface="Times New Roman" pitchFamily="18" charset="0"/>
            <a:cs typeface="Times New Roman" pitchFamily="18" charset="0"/>
          </a:endParaRPr>
        </a:p>
      </dgm:t>
    </dgm:pt>
    <dgm:pt modelId="{07328854-EDFC-40FD-A5A6-EBA7856008C2}" type="pres">
      <dgm:prSet presAssocID="{4E82A2C4-08B8-42F8-9E42-69963C6DD14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6924F6F-1218-4B3A-8E87-D698C897E46A}" type="pres">
      <dgm:prSet presAssocID="{4767A389-77DD-457C-B146-545885D5270F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3A5F6B-48D5-4188-A02E-3F5160D36272}" type="pres">
      <dgm:prSet presAssocID="{3A60850D-97E1-470A-B0D6-C96A06F7CCDB}" presName="sibTrans" presStyleCnt="0"/>
      <dgm:spPr/>
    </dgm:pt>
    <dgm:pt modelId="{A408A617-F69C-4713-A4EF-D503556D9B0B}" type="pres">
      <dgm:prSet presAssocID="{4F1B1307-C523-4135-BBDF-1482C9F7552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AF7548-CEBD-4AE3-AC41-6D7F5B2A17B4}" type="pres">
      <dgm:prSet presAssocID="{00A7192C-8F8D-457C-892F-4552BDA66833}" presName="sibTrans" presStyleCnt="0"/>
      <dgm:spPr/>
    </dgm:pt>
    <dgm:pt modelId="{956E1366-B2FC-45C7-B558-E0155A0BE282}" type="pres">
      <dgm:prSet presAssocID="{CB69ABB5-E2FD-4EBE-9251-C83FE6D064E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F32E47-10D6-400C-B34A-52C1E672F0F4}" type="pres">
      <dgm:prSet presAssocID="{6FD3E990-9DF2-4ED8-AECC-B24B85FA698F}" presName="sibTrans" presStyleCnt="0"/>
      <dgm:spPr/>
    </dgm:pt>
    <dgm:pt modelId="{26830688-7CF3-41B8-9354-94E801329172}" type="pres">
      <dgm:prSet presAssocID="{89729FC7-25E7-4644-AD0C-5F6D039AC33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0E09321-AF4D-4EEA-8D88-DE05CE2DFCD6}" srcId="{4E82A2C4-08B8-42F8-9E42-69963C6DD14F}" destId="{4767A389-77DD-457C-B146-545885D5270F}" srcOrd="0" destOrd="0" parTransId="{21C4E8D2-5DA6-48FE-A3BE-EFF496CDA67F}" sibTransId="{3A60850D-97E1-470A-B0D6-C96A06F7CCDB}"/>
    <dgm:cxn modelId="{BCB114A1-6B52-4E0A-8084-08D180B96538}" srcId="{4E82A2C4-08B8-42F8-9E42-69963C6DD14F}" destId="{4F1B1307-C523-4135-BBDF-1482C9F7552A}" srcOrd="1" destOrd="0" parTransId="{A4D93921-A747-49E2-8BC3-CA559C5B5FCF}" sibTransId="{00A7192C-8F8D-457C-892F-4552BDA66833}"/>
    <dgm:cxn modelId="{5A88207D-177E-4334-BC42-0D97F814D045}" type="presOf" srcId="{4E82A2C4-08B8-42F8-9E42-69963C6DD14F}" destId="{07328854-EDFC-40FD-A5A6-EBA7856008C2}" srcOrd="0" destOrd="0" presId="urn:microsoft.com/office/officeart/2005/8/layout/default"/>
    <dgm:cxn modelId="{6DCE14E9-2214-47B2-85FE-CA21274549B7}" type="presOf" srcId="{4F1B1307-C523-4135-BBDF-1482C9F7552A}" destId="{A408A617-F69C-4713-A4EF-D503556D9B0B}" srcOrd="0" destOrd="0" presId="urn:microsoft.com/office/officeart/2005/8/layout/default"/>
    <dgm:cxn modelId="{E93BBAAD-591B-4166-A417-E15D0C0D7279}" srcId="{4E82A2C4-08B8-42F8-9E42-69963C6DD14F}" destId="{89729FC7-25E7-4644-AD0C-5F6D039AC338}" srcOrd="3" destOrd="0" parTransId="{ED3CA3BB-C620-42C6-B1E4-C7DA9298C23E}" sibTransId="{7CB71A11-7705-4386-BC61-F6B690E02A29}"/>
    <dgm:cxn modelId="{6864E186-040C-4F4C-A33B-637D751790E3}" srcId="{4E82A2C4-08B8-42F8-9E42-69963C6DD14F}" destId="{CB69ABB5-E2FD-4EBE-9251-C83FE6D064E0}" srcOrd="2" destOrd="0" parTransId="{B7CD0AB3-13AA-4255-A714-E04E7C317455}" sibTransId="{6FD3E990-9DF2-4ED8-AECC-B24B85FA698F}"/>
    <dgm:cxn modelId="{1BFF7942-A98E-4D39-AE21-E11B1030A51F}" type="presOf" srcId="{89729FC7-25E7-4644-AD0C-5F6D039AC338}" destId="{26830688-7CF3-41B8-9354-94E801329172}" srcOrd="0" destOrd="0" presId="urn:microsoft.com/office/officeart/2005/8/layout/default"/>
    <dgm:cxn modelId="{2D6CEBD3-B42B-4DC7-8D69-634D0F782C10}" type="presOf" srcId="{4767A389-77DD-457C-B146-545885D5270F}" destId="{16924F6F-1218-4B3A-8E87-D698C897E46A}" srcOrd="0" destOrd="0" presId="urn:microsoft.com/office/officeart/2005/8/layout/default"/>
    <dgm:cxn modelId="{86B1BD5A-3D5A-422A-99B1-0C723EDE9624}" type="presOf" srcId="{CB69ABB5-E2FD-4EBE-9251-C83FE6D064E0}" destId="{956E1366-B2FC-45C7-B558-E0155A0BE282}" srcOrd="0" destOrd="0" presId="urn:microsoft.com/office/officeart/2005/8/layout/default"/>
    <dgm:cxn modelId="{DDE961EC-A329-498C-8BF6-59BCE496BE17}" type="presParOf" srcId="{07328854-EDFC-40FD-A5A6-EBA7856008C2}" destId="{16924F6F-1218-4B3A-8E87-D698C897E46A}" srcOrd="0" destOrd="0" presId="urn:microsoft.com/office/officeart/2005/8/layout/default"/>
    <dgm:cxn modelId="{3FD2D66F-16B2-4D1F-BE71-5352548DF9CC}" type="presParOf" srcId="{07328854-EDFC-40FD-A5A6-EBA7856008C2}" destId="{C13A5F6B-48D5-4188-A02E-3F5160D36272}" srcOrd="1" destOrd="0" presId="urn:microsoft.com/office/officeart/2005/8/layout/default"/>
    <dgm:cxn modelId="{70F4F6B1-152F-4826-98D3-9B8CF52857AF}" type="presParOf" srcId="{07328854-EDFC-40FD-A5A6-EBA7856008C2}" destId="{A408A617-F69C-4713-A4EF-D503556D9B0B}" srcOrd="2" destOrd="0" presId="urn:microsoft.com/office/officeart/2005/8/layout/default"/>
    <dgm:cxn modelId="{F7288489-95AC-439D-8492-0488A703C561}" type="presParOf" srcId="{07328854-EDFC-40FD-A5A6-EBA7856008C2}" destId="{DEAF7548-CEBD-4AE3-AC41-6D7F5B2A17B4}" srcOrd="3" destOrd="0" presId="urn:microsoft.com/office/officeart/2005/8/layout/default"/>
    <dgm:cxn modelId="{F97C7C7C-7C5A-4B53-9B22-797905051839}" type="presParOf" srcId="{07328854-EDFC-40FD-A5A6-EBA7856008C2}" destId="{956E1366-B2FC-45C7-B558-E0155A0BE282}" srcOrd="4" destOrd="0" presId="urn:microsoft.com/office/officeart/2005/8/layout/default"/>
    <dgm:cxn modelId="{D3BB0AA5-B783-4CEA-A050-5D0842022733}" type="presParOf" srcId="{07328854-EDFC-40FD-A5A6-EBA7856008C2}" destId="{08F32E47-10D6-400C-B34A-52C1E672F0F4}" srcOrd="5" destOrd="0" presId="urn:microsoft.com/office/officeart/2005/8/layout/default"/>
    <dgm:cxn modelId="{CC24D92B-B15F-4255-91E6-9BCADC7D705C}" type="presParOf" srcId="{07328854-EDFC-40FD-A5A6-EBA7856008C2}" destId="{26830688-7CF3-41B8-9354-94E80132917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C156D35-AC66-4FD5-B4A3-127DE791048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5F06B00-58FA-4F24-9E10-6CE4C7D1DA36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Большие Данные, вычислительная мощь, связность (</a:t>
          </a:r>
          <a:r>
            <a:rPr lang="en-US" dirty="0" smtClean="0">
              <a:latin typeface="Times New Roman" pitchFamily="18" charset="0"/>
              <a:cs typeface="Times New Roman" pitchFamily="18" charset="0"/>
            </a:rPr>
            <a:t>connectivity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)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90961AC-57B5-494D-9F88-BBE29639998C}" type="parTrans" cxnId="{C6BB0A32-959D-4D4A-AB46-416C7C25729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A6EDA3D-A11F-46EA-BBB2-FE40770360B6}" type="sibTrans" cxnId="{C6BB0A32-959D-4D4A-AB46-416C7C25729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BA0238A-5F89-4138-B2EA-C89761189160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Искусственный Интеллект и продвинутая аналитика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38BC279-4163-4085-922C-31B7E00AE080}" type="parTrans" cxnId="{4BD4B097-54D0-4400-8C84-2166B4A55D3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C3FB32B-483C-4B59-8157-23054420E446}" type="sibTrans" cxnId="{4BD4B097-54D0-4400-8C84-2166B4A55D3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4E65471-FF44-444A-AE27-D40F4877B18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Изменение способа взаимодействия между человеком и компьютером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80217D2-D39C-4434-B520-6DE2B23BC5AA}" type="parTrans" cxnId="{EB7FE75B-F574-4209-8F52-376620DECDD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46001A9-D22F-4B12-9975-13F81DC45610}" type="sibTrans" cxnId="{EB7FE75B-F574-4209-8F52-376620DECDD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43E08A3-653C-4D2C-8932-5544385EAA0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Роботизация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F72D899-DB1C-4542-A7E9-E3CC2AF1713D}" type="parTrans" cxnId="{6DE6763B-35EA-43B0-A10A-840850FA37E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3382762-1C1B-4EEB-A0B3-D77A3FF72712}" type="sibTrans" cxnId="{6DE6763B-35EA-43B0-A10A-840850FA37E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6DBFBDD-83CE-4168-BC46-A790201EC7EC}" type="pres">
      <dgm:prSet presAssocID="{EC156D35-AC66-4FD5-B4A3-127DE791048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1A60594-1CE9-4681-8E11-D25D945400F5}" type="pres">
      <dgm:prSet presAssocID="{E5F06B00-58FA-4F24-9E10-6CE4C7D1DA36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9250569-8A4B-4461-8213-CFD6289514C9}" type="pres">
      <dgm:prSet presAssocID="{8A6EDA3D-A11F-46EA-BBB2-FE40770360B6}" presName="sibTrans" presStyleCnt="0"/>
      <dgm:spPr/>
    </dgm:pt>
    <dgm:pt modelId="{FA8F0240-7E4C-4CB5-A083-41F39A9E76C9}" type="pres">
      <dgm:prSet presAssocID="{2BA0238A-5F89-4138-B2EA-C89761189160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4F0926-AEDF-4F9E-A4CC-90CFBE935698}" type="pres">
      <dgm:prSet presAssocID="{FC3FB32B-483C-4B59-8157-23054420E446}" presName="sibTrans" presStyleCnt="0"/>
      <dgm:spPr/>
    </dgm:pt>
    <dgm:pt modelId="{7F86EB02-52A5-4476-A8F6-C9132CD74D47}" type="pres">
      <dgm:prSet presAssocID="{64E65471-FF44-444A-AE27-D40F4877B18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E1720B-FC2D-4359-A981-16BA6E01C2F8}" type="pres">
      <dgm:prSet presAssocID="{A46001A9-D22F-4B12-9975-13F81DC45610}" presName="sibTrans" presStyleCnt="0"/>
      <dgm:spPr/>
    </dgm:pt>
    <dgm:pt modelId="{598416E6-0BBC-4EC0-BBE9-AF58A2B0C272}" type="pres">
      <dgm:prSet presAssocID="{B43E08A3-653C-4D2C-8932-5544385EAA0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2E5EA3C-B75D-4091-97E1-7B7A094BC365}" type="presOf" srcId="{2BA0238A-5F89-4138-B2EA-C89761189160}" destId="{FA8F0240-7E4C-4CB5-A083-41F39A9E76C9}" srcOrd="0" destOrd="0" presId="urn:microsoft.com/office/officeart/2005/8/layout/default"/>
    <dgm:cxn modelId="{6DE6763B-35EA-43B0-A10A-840850FA37EB}" srcId="{EC156D35-AC66-4FD5-B4A3-127DE7910487}" destId="{B43E08A3-653C-4D2C-8932-5544385EAA05}" srcOrd="3" destOrd="0" parTransId="{5F72D899-DB1C-4542-A7E9-E3CC2AF1713D}" sibTransId="{93382762-1C1B-4EEB-A0B3-D77A3FF72712}"/>
    <dgm:cxn modelId="{AF90C28D-5540-4B0D-8015-EC5D327DF216}" type="presOf" srcId="{EC156D35-AC66-4FD5-B4A3-127DE7910487}" destId="{D6DBFBDD-83CE-4168-BC46-A790201EC7EC}" srcOrd="0" destOrd="0" presId="urn:microsoft.com/office/officeart/2005/8/layout/default"/>
    <dgm:cxn modelId="{4BD4B097-54D0-4400-8C84-2166B4A55D34}" srcId="{EC156D35-AC66-4FD5-B4A3-127DE7910487}" destId="{2BA0238A-5F89-4138-B2EA-C89761189160}" srcOrd="1" destOrd="0" parTransId="{038BC279-4163-4085-922C-31B7E00AE080}" sibTransId="{FC3FB32B-483C-4B59-8157-23054420E446}"/>
    <dgm:cxn modelId="{3C6263A3-B677-4DA7-A754-8230DED4A49F}" type="presOf" srcId="{B43E08A3-653C-4D2C-8932-5544385EAA05}" destId="{598416E6-0BBC-4EC0-BBE9-AF58A2B0C272}" srcOrd="0" destOrd="0" presId="urn:microsoft.com/office/officeart/2005/8/layout/default"/>
    <dgm:cxn modelId="{8BB251D1-8D9F-4825-B1C8-5F1A9F3307A8}" type="presOf" srcId="{64E65471-FF44-444A-AE27-D40F4877B18F}" destId="{7F86EB02-52A5-4476-A8F6-C9132CD74D47}" srcOrd="0" destOrd="0" presId="urn:microsoft.com/office/officeart/2005/8/layout/default"/>
    <dgm:cxn modelId="{C6BB0A32-959D-4D4A-AB46-416C7C257298}" srcId="{EC156D35-AC66-4FD5-B4A3-127DE7910487}" destId="{E5F06B00-58FA-4F24-9E10-6CE4C7D1DA36}" srcOrd="0" destOrd="0" parTransId="{990961AC-57B5-494D-9F88-BBE29639998C}" sibTransId="{8A6EDA3D-A11F-46EA-BBB2-FE40770360B6}"/>
    <dgm:cxn modelId="{EB7FE75B-F574-4209-8F52-376620DECDDC}" srcId="{EC156D35-AC66-4FD5-B4A3-127DE7910487}" destId="{64E65471-FF44-444A-AE27-D40F4877B18F}" srcOrd="2" destOrd="0" parTransId="{680217D2-D39C-4434-B520-6DE2B23BC5AA}" sibTransId="{A46001A9-D22F-4B12-9975-13F81DC45610}"/>
    <dgm:cxn modelId="{071426F4-9F1A-400A-BBFC-A6F7F002D2A7}" type="presOf" srcId="{E5F06B00-58FA-4F24-9E10-6CE4C7D1DA36}" destId="{21A60594-1CE9-4681-8E11-D25D945400F5}" srcOrd="0" destOrd="0" presId="urn:microsoft.com/office/officeart/2005/8/layout/default"/>
    <dgm:cxn modelId="{4DDDF6FF-07A6-4C7C-A70F-67AC51C1D795}" type="presParOf" srcId="{D6DBFBDD-83CE-4168-BC46-A790201EC7EC}" destId="{21A60594-1CE9-4681-8E11-D25D945400F5}" srcOrd="0" destOrd="0" presId="urn:microsoft.com/office/officeart/2005/8/layout/default"/>
    <dgm:cxn modelId="{AF144993-AB50-4C60-9E38-3BEF5E1B3B1F}" type="presParOf" srcId="{D6DBFBDD-83CE-4168-BC46-A790201EC7EC}" destId="{69250569-8A4B-4461-8213-CFD6289514C9}" srcOrd="1" destOrd="0" presId="urn:microsoft.com/office/officeart/2005/8/layout/default"/>
    <dgm:cxn modelId="{7617783C-3E19-47EC-A3D7-B185DDACF51E}" type="presParOf" srcId="{D6DBFBDD-83CE-4168-BC46-A790201EC7EC}" destId="{FA8F0240-7E4C-4CB5-A083-41F39A9E76C9}" srcOrd="2" destOrd="0" presId="urn:microsoft.com/office/officeart/2005/8/layout/default"/>
    <dgm:cxn modelId="{5C0D84F9-9A98-40AB-BB1A-7A6CF34D47F3}" type="presParOf" srcId="{D6DBFBDD-83CE-4168-BC46-A790201EC7EC}" destId="{084F0926-AEDF-4F9E-A4CC-90CFBE935698}" srcOrd="3" destOrd="0" presId="urn:microsoft.com/office/officeart/2005/8/layout/default"/>
    <dgm:cxn modelId="{B6519C18-E2BA-4DAC-88E9-89FE37446B86}" type="presParOf" srcId="{D6DBFBDD-83CE-4168-BC46-A790201EC7EC}" destId="{7F86EB02-52A5-4476-A8F6-C9132CD74D47}" srcOrd="4" destOrd="0" presId="urn:microsoft.com/office/officeart/2005/8/layout/default"/>
    <dgm:cxn modelId="{9DF3F1AE-7ABD-4931-ADA3-B1EDCFA1E623}" type="presParOf" srcId="{D6DBFBDD-83CE-4168-BC46-A790201EC7EC}" destId="{1EE1720B-FC2D-4359-A981-16BA6E01C2F8}" srcOrd="5" destOrd="0" presId="urn:microsoft.com/office/officeart/2005/8/layout/default"/>
    <dgm:cxn modelId="{3DE431AA-8FB6-4D6A-A1D1-7DD2141BB30A}" type="presParOf" srcId="{D6DBFBDD-83CE-4168-BC46-A790201EC7EC}" destId="{598416E6-0BBC-4EC0-BBE9-AF58A2B0C27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4E71138-6ECF-4177-BE6E-A5AEABCCE812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0957C98-542A-4606-846A-BBA4EC771732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Подключение техники к промышленному интернету вещей</a:t>
          </a:r>
          <a:endParaRPr lang="ru-RU" sz="2000" dirty="0"/>
        </a:p>
      </dgm:t>
    </dgm:pt>
    <dgm:pt modelId="{0CA8FBBF-A4A7-4429-BC45-6763774D1087}" type="parTrans" cxnId="{2ED6E1C7-C8BB-4D7F-9331-44A7ED736974}">
      <dgm:prSet/>
      <dgm:spPr/>
      <dgm:t>
        <a:bodyPr/>
        <a:lstStyle/>
        <a:p>
          <a:endParaRPr lang="ru-RU"/>
        </a:p>
      </dgm:t>
    </dgm:pt>
    <dgm:pt modelId="{ED23C38A-F6BE-44BB-8B33-B40F966A5357}" type="sibTrans" cxnId="{2ED6E1C7-C8BB-4D7F-9331-44A7ED736974}">
      <dgm:prSet/>
      <dgm:spPr/>
      <dgm:t>
        <a:bodyPr/>
        <a:lstStyle/>
        <a:p>
          <a:endParaRPr lang="ru-RU"/>
        </a:p>
      </dgm:t>
    </dgm:pt>
    <dgm:pt modelId="{9FF4F7F6-1707-4722-9DE3-788C8847EEB8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сразу получаем поток информации реальных данных в режиме реального времени</a:t>
          </a:r>
          <a:endParaRPr lang="ru-RU"/>
        </a:p>
      </dgm:t>
    </dgm:pt>
    <dgm:pt modelId="{8BFFBDD8-3493-4027-B6B7-01B7E5535634}" type="parTrans" cxnId="{77AC1A69-8CF2-471D-ABB9-4E93919CB466}">
      <dgm:prSet/>
      <dgm:spPr/>
      <dgm:t>
        <a:bodyPr/>
        <a:lstStyle/>
        <a:p>
          <a:endParaRPr lang="ru-RU"/>
        </a:p>
      </dgm:t>
    </dgm:pt>
    <dgm:pt modelId="{6C303CFB-D498-48BE-B416-3EB9E1863F3D}" type="sibTrans" cxnId="{77AC1A69-8CF2-471D-ABB9-4E93919CB466}">
      <dgm:prSet/>
      <dgm:spPr/>
      <dgm:t>
        <a:bodyPr/>
        <a:lstStyle/>
        <a:p>
          <a:endParaRPr lang="ru-RU"/>
        </a:p>
      </dgm:t>
    </dgm:pt>
    <dgm:pt modelId="{291D8C78-5F08-4BAC-9368-6647E01EAD1D}" type="pres">
      <dgm:prSet presAssocID="{E4E71138-6ECF-4177-BE6E-A5AEABCCE812}" presName="Name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B665A015-C2C1-429A-A9E4-326C5682E293}" type="pres">
      <dgm:prSet presAssocID="{80957C98-542A-4606-846A-BBA4EC771732}" presName="chaos" presStyleCnt="0"/>
      <dgm:spPr/>
    </dgm:pt>
    <dgm:pt modelId="{C0EC146D-3526-4845-BEE5-1CCA5C2171BC}" type="pres">
      <dgm:prSet presAssocID="{80957C98-542A-4606-846A-BBA4EC771732}" presName="parTx1" presStyleLbl="revTx" presStyleIdx="0" presStyleCnt="1"/>
      <dgm:spPr/>
      <dgm:t>
        <a:bodyPr/>
        <a:lstStyle/>
        <a:p>
          <a:endParaRPr lang="ru-RU"/>
        </a:p>
      </dgm:t>
    </dgm:pt>
    <dgm:pt modelId="{93D02D36-23B4-419E-B0E4-678DA36E573D}" type="pres">
      <dgm:prSet presAssocID="{80957C98-542A-4606-846A-BBA4EC771732}" presName="c1" presStyleLbl="node1" presStyleIdx="0" presStyleCnt="19"/>
      <dgm:spPr/>
    </dgm:pt>
    <dgm:pt modelId="{D3A14956-4447-407D-B26C-D52D586470D9}" type="pres">
      <dgm:prSet presAssocID="{80957C98-542A-4606-846A-BBA4EC771732}" presName="c2" presStyleLbl="node1" presStyleIdx="1" presStyleCnt="19"/>
      <dgm:spPr/>
    </dgm:pt>
    <dgm:pt modelId="{E11049BE-1568-4558-B68E-CAF138708748}" type="pres">
      <dgm:prSet presAssocID="{80957C98-542A-4606-846A-BBA4EC771732}" presName="c3" presStyleLbl="node1" presStyleIdx="2" presStyleCnt="19"/>
      <dgm:spPr/>
    </dgm:pt>
    <dgm:pt modelId="{EDC37EC8-C1F6-43D1-865A-D3F6720AA99F}" type="pres">
      <dgm:prSet presAssocID="{80957C98-542A-4606-846A-BBA4EC771732}" presName="c4" presStyleLbl="node1" presStyleIdx="3" presStyleCnt="19"/>
      <dgm:spPr/>
    </dgm:pt>
    <dgm:pt modelId="{64850996-E798-47A9-B85A-6804EA9B505C}" type="pres">
      <dgm:prSet presAssocID="{80957C98-542A-4606-846A-BBA4EC771732}" presName="c5" presStyleLbl="node1" presStyleIdx="4" presStyleCnt="19"/>
      <dgm:spPr/>
    </dgm:pt>
    <dgm:pt modelId="{1299AF14-0465-4D92-9A6D-1583EBE899BC}" type="pres">
      <dgm:prSet presAssocID="{80957C98-542A-4606-846A-BBA4EC771732}" presName="c6" presStyleLbl="node1" presStyleIdx="5" presStyleCnt="19"/>
      <dgm:spPr/>
    </dgm:pt>
    <dgm:pt modelId="{9038B77D-F955-458E-85A7-C62836FBC888}" type="pres">
      <dgm:prSet presAssocID="{80957C98-542A-4606-846A-BBA4EC771732}" presName="c7" presStyleLbl="node1" presStyleIdx="6" presStyleCnt="19"/>
      <dgm:spPr/>
    </dgm:pt>
    <dgm:pt modelId="{41485DD3-961E-43C4-94DC-B04AE90A364F}" type="pres">
      <dgm:prSet presAssocID="{80957C98-542A-4606-846A-BBA4EC771732}" presName="c8" presStyleLbl="node1" presStyleIdx="7" presStyleCnt="19"/>
      <dgm:spPr/>
    </dgm:pt>
    <dgm:pt modelId="{C428D7CB-E43A-4D54-91B8-526A10E922CA}" type="pres">
      <dgm:prSet presAssocID="{80957C98-542A-4606-846A-BBA4EC771732}" presName="c9" presStyleLbl="node1" presStyleIdx="8" presStyleCnt="19"/>
      <dgm:spPr/>
    </dgm:pt>
    <dgm:pt modelId="{D164D75F-C387-4E79-86B2-11B9EF006FA2}" type="pres">
      <dgm:prSet presAssocID="{80957C98-542A-4606-846A-BBA4EC771732}" presName="c10" presStyleLbl="node1" presStyleIdx="9" presStyleCnt="19"/>
      <dgm:spPr/>
    </dgm:pt>
    <dgm:pt modelId="{8B1219B5-C05C-4D89-8678-84466468D6EA}" type="pres">
      <dgm:prSet presAssocID="{80957C98-542A-4606-846A-BBA4EC771732}" presName="c11" presStyleLbl="node1" presStyleIdx="10" presStyleCnt="19"/>
      <dgm:spPr/>
    </dgm:pt>
    <dgm:pt modelId="{EAA50CF0-14FD-4FDF-8DB2-AE1D56D1B28E}" type="pres">
      <dgm:prSet presAssocID="{80957C98-542A-4606-846A-BBA4EC771732}" presName="c12" presStyleLbl="node1" presStyleIdx="11" presStyleCnt="19"/>
      <dgm:spPr/>
    </dgm:pt>
    <dgm:pt modelId="{B36F2339-B484-4507-B235-23904C152E27}" type="pres">
      <dgm:prSet presAssocID="{80957C98-542A-4606-846A-BBA4EC771732}" presName="c13" presStyleLbl="node1" presStyleIdx="12" presStyleCnt="19"/>
      <dgm:spPr/>
    </dgm:pt>
    <dgm:pt modelId="{01E2029E-F148-428E-811D-03C5213009E2}" type="pres">
      <dgm:prSet presAssocID="{80957C98-542A-4606-846A-BBA4EC771732}" presName="c14" presStyleLbl="node1" presStyleIdx="13" presStyleCnt="19"/>
      <dgm:spPr/>
    </dgm:pt>
    <dgm:pt modelId="{4F0ACA31-FABF-4A45-8E7E-E5F3D8EBE79A}" type="pres">
      <dgm:prSet presAssocID="{80957C98-542A-4606-846A-BBA4EC771732}" presName="c15" presStyleLbl="node1" presStyleIdx="14" presStyleCnt="19"/>
      <dgm:spPr/>
    </dgm:pt>
    <dgm:pt modelId="{AA12B325-C1AD-4348-935E-D188E4189128}" type="pres">
      <dgm:prSet presAssocID="{80957C98-542A-4606-846A-BBA4EC771732}" presName="c16" presStyleLbl="node1" presStyleIdx="15" presStyleCnt="19"/>
      <dgm:spPr/>
    </dgm:pt>
    <dgm:pt modelId="{6C6033EE-9AEF-45CD-BC5E-19BA870BD48A}" type="pres">
      <dgm:prSet presAssocID="{80957C98-542A-4606-846A-BBA4EC771732}" presName="c17" presStyleLbl="node1" presStyleIdx="16" presStyleCnt="19"/>
      <dgm:spPr/>
    </dgm:pt>
    <dgm:pt modelId="{8A2BC4D2-7786-4FAE-8FE9-A27C3DD6BCEB}" type="pres">
      <dgm:prSet presAssocID="{80957C98-542A-4606-846A-BBA4EC771732}" presName="c18" presStyleLbl="node1" presStyleIdx="17" presStyleCnt="19"/>
      <dgm:spPr/>
    </dgm:pt>
    <dgm:pt modelId="{A1249825-C2DF-4612-882D-7BB1AD710D54}" type="pres">
      <dgm:prSet presAssocID="{ED23C38A-F6BE-44BB-8B33-B40F966A5357}" presName="chevronComposite1" presStyleCnt="0"/>
      <dgm:spPr/>
    </dgm:pt>
    <dgm:pt modelId="{73E89AE6-2C99-4BD8-BCA4-FA51BDA545B7}" type="pres">
      <dgm:prSet presAssocID="{ED23C38A-F6BE-44BB-8B33-B40F966A5357}" presName="chevron1" presStyleLbl="sibTrans2D1" presStyleIdx="0" presStyleCnt="2"/>
      <dgm:spPr/>
    </dgm:pt>
    <dgm:pt modelId="{F5D2FD19-7D6C-4A66-9670-2095F008BC58}" type="pres">
      <dgm:prSet presAssocID="{ED23C38A-F6BE-44BB-8B33-B40F966A5357}" presName="spChevron1" presStyleCnt="0"/>
      <dgm:spPr/>
    </dgm:pt>
    <dgm:pt modelId="{8A2DFF81-94DA-4F47-90EB-1DB3821258CF}" type="pres">
      <dgm:prSet presAssocID="{ED23C38A-F6BE-44BB-8B33-B40F966A5357}" presName="overlap" presStyleCnt="0"/>
      <dgm:spPr/>
    </dgm:pt>
    <dgm:pt modelId="{E4CB01F2-2737-4509-B737-1D9272362C1F}" type="pres">
      <dgm:prSet presAssocID="{ED23C38A-F6BE-44BB-8B33-B40F966A5357}" presName="chevronComposite2" presStyleCnt="0"/>
      <dgm:spPr/>
    </dgm:pt>
    <dgm:pt modelId="{574842B1-6BCC-4B7F-B9DC-2A91AF7C9458}" type="pres">
      <dgm:prSet presAssocID="{ED23C38A-F6BE-44BB-8B33-B40F966A5357}" presName="chevron2" presStyleLbl="sibTrans2D1" presStyleIdx="1" presStyleCnt="2"/>
      <dgm:spPr/>
    </dgm:pt>
    <dgm:pt modelId="{B9C0BBD2-959C-4FAF-A3F0-901C9B5183BC}" type="pres">
      <dgm:prSet presAssocID="{ED23C38A-F6BE-44BB-8B33-B40F966A5357}" presName="spChevron2" presStyleCnt="0"/>
      <dgm:spPr/>
    </dgm:pt>
    <dgm:pt modelId="{CC4D65FF-9E83-4AC3-9103-C5651DF9B0A4}" type="pres">
      <dgm:prSet presAssocID="{9FF4F7F6-1707-4722-9DE3-788C8847EEB8}" presName="last" presStyleCnt="0"/>
      <dgm:spPr/>
    </dgm:pt>
    <dgm:pt modelId="{5352DF3F-25FD-4346-8A0D-CFFA33F793F4}" type="pres">
      <dgm:prSet presAssocID="{9FF4F7F6-1707-4722-9DE3-788C8847EEB8}" presName="circleTx" presStyleLbl="node1" presStyleIdx="18" presStyleCnt="19"/>
      <dgm:spPr/>
      <dgm:t>
        <a:bodyPr/>
        <a:lstStyle/>
        <a:p>
          <a:endParaRPr lang="ru-RU"/>
        </a:p>
      </dgm:t>
    </dgm:pt>
    <dgm:pt modelId="{688B595F-66F6-40BC-8927-8513F7ADCDE0}" type="pres">
      <dgm:prSet presAssocID="{9FF4F7F6-1707-4722-9DE3-788C8847EEB8}" presName="spN" presStyleCnt="0"/>
      <dgm:spPr/>
    </dgm:pt>
  </dgm:ptLst>
  <dgm:cxnLst>
    <dgm:cxn modelId="{2ADAB720-42AC-4486-AAAE-B6439781FF95}" type="presOf" srcId="{E4E71138-6ECF-4177-BE6E-A5AEABCCE812}" destId="{291D8C78-5F08-4BAC-9368-6647E01EAD1D}" srcOrd="0" destOrd="0" presId="urn:microsoft.com/office/officeart/2009/3/layout/RandomtoResultProcess"/>
    <dgm:cxn modelId="{4F6BB180-212B-453F-B925-367DE7B7ED70}" type="presOf" srcId="{9FF4F7F6-1707-4722-9DE3-788C8847EEB8}" destId="{5352DF3F-25FD-4346-8A0D-CFFA33F793F4}" srcOrd="0" destOrd="0" presId="urn:microsoft.com/office/officeart/2009/3/layout/RandomtoResultProcess"/>
    <dgm:cxn modelId="{77AC1A69-8CF2-471D-ABB9-4E93919CB466}" srcId="{E4E71138-6ECF-4177-BE6E-A5AEABCCE812}" destId="{9FF4F7F6-1707-4722-9DE3-788C8847EEB8}" srcOrd="1" destOrd="0" parTransId="{8BFFBDD8-3493-4027-B6B7-01B7E5535634}" sibTransId="{6C303CFB-D498-48BE-B416-3EB9E1863F3D}"/>
    <dgm:cxn modelId="{2ED6E1C7-C8BB-4D7F-9331-44A7ED736974}" srcId="{E4E71138-6ECF-4177-BE6E-A5AEABCCE812}" destId="{80957C98-542A-4606-846A-BBA4EC771732}" srcOrd="0" destOrd="0" parTransId="{0CA8FBBF-A4A7-4429-BC45-6763774D1087}" sibTransId="{ED23C38A-F6BE-44BB-8B33-B40F966A5357}"/>
    <dgm:cxn modelId="{9B39A0D0-28B4-4CFF-8279-6BA4041C33CA}" type="presOf" srcId="{80957C98-542A-4606-846A-BBA4EC771732}" destId="{C0EC146D-3526-4845-BEE5-1CCA5C2171BC}" srcOrd="0" destOrd="0" presId="urn:microsoft.com/office/officeart/2009/3/layout/RandomtoResultProcess"/>
    <dgm:cxn modelId="{1BA1B943-F38C-477A-BEF0-7A052B931CB1}" type="presParOf" srcId="{291D8C78-5F08-4BAC-9368-6647E01EAD1D}" destId="{B665A015-C2C1-429A-A9E4-326C5682E293}" srcOrd="0" destOrd="0" presId="urn:microsoft.com/office/officeart/2009/3/layout/RandomtoResultProcess"/>
    <dgm:cxn modelId="{2631AC52-AC1A-4D62-81C4-8AAD5BD5508F}" type="presParOf" srcId="{B665A015-C2C1-429A-A9E4-326C5682E293}" destId="{C0EC146D-3526-4845-BEE5-1CCA5C2171BC}" srcOrd="0" destOrd="0" presId="urn:microsoft.com/office/officeart/2009/3/layout/RandomtoResultProcess"/>
    <dgm:cxn modelId="{7E126835-48BF-40D7-B625-40A8987D8620}" type="presParOf" srcId="{B665A015-C2C1-429A-A9E4-326C5682E293}" destId="{93D02D36-23B4-419E-B0E4-678DA36E573D}" srcOrd="1" destOrd="0" presId="urn:microsoft.com/office/officeart/2009/3/layout/RandomtoResultProcess"/>
    <dgm:cxn modelId="{D9124819-E377-49C1-81B1-3838228355A0}" type="presParOf" srcId="{B665A015-C2C1-429A-A9E4-326C5682E293}" destId="{D3A14956-4447-407D-B26C-D52D586470D9}" srcOrd="2" destOrd="0" presId="urn:microsoft.com/office/officeart/2009/3/layout/RandomtoResultProcess"/>
    <dgm:cxn modelId="{8F3AD0A1-6873-4D12-A2AF-05B0745D18A2}" type="presParOf" srcId="{B665A015-C2C1-429A-A9E4-326C5682E293}" destId="{E11049BE-1568-4558-B68E-CAF138708748}" srcOrd="3" destOrd="0" presId="urn:microsoft.com/office/officeart/2009/3/layout/RandomtoResultProcess"/>
    <dgm:cxn modelId="{07D526BA-704F-4557-AF09-757C9D785BB8}" type="presParOf" srcId="{B665A015-C2C1-429A-A9E4-326C5682E293}" destId="{EDC37EC8-C1F6-43D1-865A-D3F6720AA99F}" srcOrd="4" destOrd="0" presId="urn:microsoft.com/office/officeart/2009/3/layout/RandomtoResultProcess"/>
    <dgm:cxn modelId="{002D8775-8529-485A-99B8-4657B6A40627}" type="presParOf" srcId="{B665A015-C2C1-429A-A9E4-326C5682E293}" destId="{64850996-E798-47A9-B85A-6804EA9B505C}" srcOrd="5" destOrd="0" presId="urn:microsoft.com/office/officeart/2009/3/layout/RandomtoResultProcess"/>
    <dgm:cxn modelId="{9AE795B1-2707-4A85-877B-B7F22A67C8B0}" type="presParOf" srcId="{B665A015-C2C1-429A-A9E4-326C5682E293}" destId="{1299AF14-0465-4D92-9A6D-1583EBE899BC}" srcOrd="6" destOrd="0" presId="urn:microsoft.com/office/officeart/2009/3/layout/RandomtoResultProcess"/>
    <dgm:cxn modelId="{D3B15380-E733-471A-9624-E055A33E1E2C}" type="presParOf" srcId="{B665A015-C2C1-429A-A9E4-326C5682E293}" destId="{9038B77D-F955-458E-85A7-C62836FBC888}" srcOrd="7" destOrd="0" presId="urn:microsoft.com/office/officeart/2009/3/layout/RandomtoResultProcess"/>
    <dgm:cxn modelId="{08554ED6-A2B7-4EE3-A759-66B289A9DF40}" type="presParOf" srcId="{B665A015-C2C1-429A-A9E4-326C5682E293}" destId="{41485DD3-961E-43C4-94DC-B04AE90A364F}" srcOrd="8" destOrd="0" presId="urn:microsoft.com/office/officeart/2009/3/layout/RandomtoResultProcess"/>
    <dgm:cxn modelId="{35EA6D0E-39FC-4C3A-A6B7-53229EBA175C}" type="presParOf" srcId="{B665A015-C2C1-429A-A9E4-326C5682E293}" destId="{C428D7CB-E43A-4D54-91B8-526A10E922CA}" srcOrd="9" destOrd="0" presId="urn:microsoft.com/office/officeart/2009/3/layout/RandomtoResultProcess"/>
    <dgm:cxn modelId="{31351121-4D73-4AC5-9BCF-3366FE00A34F}" type="presParOf" srcId="{B665A015-C2C1-429A-A9E4-326C5682E293}" destId="{D164D75F-C387-4E79-86B2-11B9EF006FA2}" srcOrd="10" destOrd="0" presId="urn:microsoft.com/office/officeart/2009/3/layout/RandomtoResultProcess"/>
    <dgm:cxn modelId="{D7465F01-F4CC-4D94-86EF-2354D7F588FF}" type="presParOf" srcId="{B665A015-C2C1-429A-A9E4-326C5682E293}" destId="{8B1219B5-C05C-4D89-8678-84466468D6EA}" srcOrd="11" destOrd="0" presId="urn:microsoft.com/office/officeart/2009/3/layout/RandomtoResultProcess"/>
    <dgm:cxn modelId="{D2A3FF3B-5EB2-4FE8-8F4E-7935A4FE57CB}" type="presParOf" srcId="{B665A015-C2C1-429A-A9E4-326C5682E293}" destId="{EAA50CF0-14FD-4FDF-8DB2-AE1D56D1B28E}" srcOrd="12" destOrd="0" presId="urn:microsoft.com/office/officeart/2009/3/layout/RandomtoResultProcess"/>
    <dgm:cxn modelId="{8281DEBF-5FC6-4D11-82B5-03504D643425}" type="presParOf" srcId="{B665A015-C2C1-429A-A9E4-326C5682E293}" destId="{B36F2339-B484-4507-B235-23904C152E27}" srcOrd="13" destOrd="0" presId="urn:microsoft.com/office/officeart/2009/3/layout/RandomtoResultProcess"/>
    <dgm:cxn modelId="{3577DD4D-5BEB-4B9D-AB4D-643C2D4253F4}" type="presParOf" srcId="{B665A015-C2C1-429A-A9E4-326C5682E293}" destId="{01E2029E-F148-428E-811D-03C5213009E2}" srcOrd="14" destOrd="0" presId="urn:microsoft.com/office/officeart/2009/3/layout/RandomtoResultProcess"/>
    <dgm:cxn modelId="{982B8490-D603-4F7F-93AB-FD2F6BA13B5D}" type="presParOf" srcId="{B665A015-C2C1-429A-A9E4-326C5682E293}" destId="{4F0ACA31-FABF-4A45-8E7E-E5F3D8EBE79A}" srcOrd="15" destOrd="0" presId="urn:microsoft.com/office/officeart/2009/3/layout/RandomtoResultProcess"/>
    <dgm:cxn modelId="{A3015FC5-FA94-49B4-9413-3DE4CB9C2215}" type="presParOf" srcId="{B665A015-C2C1-429A-A9E4-326C5682E293}" destId="{AA12B325-C1AD-4348-935E-D188E4189128}" srcOrd="16" destOrd="0" presId="urn:microsoft.com/office/officeart/2009/3/layout/RandomtoResultProcess"/>
    <dgm:cxn modelId="{895D9023-2FE6-42E5-A44B-1BAE91C06158}" type="presParOf" srcId="{B665A015-C2C1-429A-A9E4-326C5682E293}" destId="{6C6033EE-9AEF-45CD-BC5E-19BA870BD48A}" srcOrd="17" destOrd="0" presId="urn:microsoft.com/office/officeart/2009/3/layout/RandomtoResultProcess"/>
    <dgm:cxn modelId="{950A5C77-2F35-4C22-9192-A34BA806204C}" type="presParOf" srcId="{B665A015-C2C1-429A-A9E4-326C5682E293}" destId="{8A2BC4D2-7786-4FAE-8FE9-A27C3DD6BCEB}" srcOrd="18" destOrd="0" presId="urn:microsoft.com/office/officeart/2009/3/layout/RandomtoResultProcess"/>
    <dgm:cxn modelId="{89C66CB1-2B85-4399-B0CE-3F972353B6EE}" type="presParOf" srcId="{291D8C78-5F08-4BAC-9368-6647E01EAD1D}" destId="{A1249825-C2DF-4612-882D-7BB1AD710D54}" srcOrd="1" destOrd="0" presId="urn:microsoft.com/office/officeart/2009/3/layout/RandomtoResultProcess"/>
    <dgm:cxn modelId="{DF7C2D72-643F-4227-A104-EBE40456C3D6}" type="presParOf" srcId="{A1249825-C2DF-4612-882D-7BB1AD710D54}" destId="{73E89AE6-2C99-4BD8-BCA4-FA51BDA545B7}" srcOrd="0" destOrd="0" presId="urn:microsoft.com/office/officeart/2009/3/layout/RandomtoResultProcess"/>
    <dgm:cxn modelId="{6051EB3F-F2C2-4904-ACED-05F4B80DE111}" type="presParOf" srcId="{A1249825-C2DF-4612-882D-7BB1AD710D54}" destId="{F5D2FD19-7D6C-4A66-9670-2095F008BC58}" srcOrd="1" destOrd="0" presId="urn:microsoft.com/office/officeart/2009/3/layout/RandomtoResultProcess"/>
    <dgm:cxn modelId="{71D11DAE-15C7-4947-B097-C71F6B6B3C91}" type="presParOf" srcId="{291D8C78-5F08-4BAC-9368-6647E01EAD1D}" destId="{8A2DFF81-94DA-4F47-90EB-1DB3821258CF}" srcOrd="2" destOrd="0" presId="urn:microsoft.com/office/officeart/2009/3/layout/RandomtoResultProcess"/>
    <dgm:cxn modelId="{F52BDD37-0962-4B75-81AE-0CB39A90DD37}" type="presParOf" srcId="{291D8C78-5F08-4BAC-9368-6647E01EAD1D}" destId="{E4CB01F2-2737-4509-B737-1D9272362C1F}" srcOrd="3" destOrd="0" presId="urn:microsoft.com/office/officeart/2009/3/layout/RandomtoResultProcess"/>
    <dgm:cxn modelId="{D72AB29C-90C0-4156-9537-AEF1644B59A4}" type="presParOf" srcId="{E4CB01F2-2737-4509-B737-1D9272362C1F}" destId="{574842B1-6BCC-4B7F-B9DC-2A91AF7C9458}" srcOrd="0" destOrd="0" presId="urn:microsoft.com/office/officeart/2009/3/layout/RandomtoResultProcess"/>
    <dgm:cxn modelId="{33EA7F49-BD5E-49B3-A6C8-8EC4B8A9FA46}" type="presParOf" srcId="{E4CB01F2-2737-4509-B737-1D9272362C1F}" destId="{B9C0BBD2-959C-4FAF-A3F0-901C9B5183BC}" srcOrd="1" destOrd="0" presId="urn:microsoft.com/office/officeart/2009/3/layout/RandomtoResultProcess"/>
    <dgm:cxn modelId="{E6428549-EB8F-493E-9F38-3EBE97E6DAB8}" type="presParOf" srcId="{291D8C78-5F08-4BAC-9368-6647E01EAD1D}" destId="{CC4D65FF-9E83-4AC3-9103-C5651DF9B0A4}" srcOrd="4" destOrd="0" presId="urn:microsoft.com/office/officeart/2009/3/layout/RandomtoResultProcess"/>
    <dgm:cxn modelId="{F43715AB-B864-452E-A575-B0B377A4AE60}" type="presParOf" srcId="{CC4D65FF-9E83-4AC3-9103-C5651DF9B0A4}" destId="{5352DF3F-25FD-4346-8A0D-CFFA33F793F4}" srcOrd="0" destOrd="0" presId="urn:microsoft.com/office/officeart/2009/3/layout/RandomtoResultProcess"/>
    <dgm:cxn modelId="{F4353B45-6982-40A5-A84A-3A7489097515}" type="presParOf" srcId="{CC4D65FF-9E83-4AC3-9103-C5651DF9B0A4}" destId="{688B595F-66F6-40BC-8927-8513F7ADCDE0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E4E71138-6ECF-4177-BE6E-A5AEABCCE812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0957C98-542A-4606-846A-BBA4EC771732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Оснащение техники системой контроля загрузки, навигационными блоками, различными датчиками и сенсорами</a:t>
          </a:r>
          <a:endParaRPr lang="ru-RU" sz="1600" dirty="0"/>
        </a:p>
      </dgm:t>
    </dgm:pt>
    <dgm:pt modelId="{0CA8FBBF-A4A7-4429-BC45-6763774D1087}" type="parTrans" cxnId="{2ED6E1C7-C8BB-4D7F-9331-44A7ED736974}">
      <dgm:prSet/>
      <dgm:spPr/>
      <dgm:t>
        <a:bodyPr/>
        <a:lstStyle/>
        <a:p>
          <a:endParaRPr lang="ru-RU"/>
        </a:p>
      </dgm:t>
    </dgm:pt>
    <dgm:pt modelId="{ED23C38A-F6BE-44BB-8B33-B40F966A5357}" type="sibTrans" cxnId="{2ED6E1C7-C8BB-4D7F-9331-44A7ED736974}">
      <dgm:prSet/>
      <dgm:spPr/>
      <dgm:t>
        <a:bodyPr/>
        <a:lstStyle/>
        <a:p>
          <a:endParaRPr lang="ru-RU"/>
        </a:p>
      </dgm:t>
    </dgm:pt>
    <dgm:pt modelId="{9FF4F7F6-1707-4722-9DE3-788C8847EEB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мы знаем сколько груза везет водитель и по какой дороге, надолго хватит топлива, как скоро потребуется подкачивать шины) </a:t>
          </a:r>
          <a:endParaRPr lang="ru-RU" dirty="0"/>
        </a:p>
      </dgm:t>
    </dgm:pt>
    <dgm:pt modelId="{8BFFBDD8-3493-4027-B6B7-01B7E5535634}" type="parTrans" cxnId="{77AC1A69-8CF2-471D-ABB9-4E93919CB466}">
      <dgm:prSet/>
      <dgm:spPr/>
      <dgm:t>
        <a:bodyPr/>
        <a:lstStyle/>
        <a:p>
          <a:endParaRPr lang="ru-RU"/>
        </a:p>
      </dgm:t>
    </dgm:pt>
    <dgm:pt modelId="{6C303CFB-D498-48BE-B416-3EB9E1863F3D}" type="sibTrans" cxnId="{77AC1A69-8CF2-471D-ABB9-4E93919CB466}">
      <dgm:prSet/>
      <dgm:spPr/>
      <dgm:t>
        <a:bodyPr/>
        <a:lstStyle/>
        <a:p>
          <a:endParaRPr lang="ru-RU"/>
        </a:p>
      </dgm:t>
    </dgm:pt>
    <dgm:pt modelId="{291D8C78-5F08-4BAC-9368-6647E01EAD1D}" type="pres">
      <dgm:prSet presAssocID="{E4E71138-6ECF-4177-BE6E-A5AEABCCE812}" presName="Name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B665A015-C2C1-429A-A9E4-326C5682E293}" type="pres">
      <dgm:prSet presAssocID="{80957C98-542A-4606-846A-BBA4EC771732}" presName="chaos" presStyleCnt="0"/>
      <dgm:spPr/>
    </dgm:pt>
    <dgm:pt modelId="{C0EC146D-3526-4845-BEE5-1CCA5C2171BC}" type="pres">
      <dgm:prSet presAssocID="{80957C98-542A-4606-846A-BBA4EC771732}" presName="parTx1" presStyleLbl="revTx" presStyleIdx="0" presStyleCnt="1" custScaleY="125323"/>
      <dgm:spPr/>
      <dgm:t>
        <a:bodyPr/>
        <a:lstStyle/>
        <a:p>
          <a:endParaRPr lang="ru-RU"/>
        </a:p>
      </dgm:t>
    </dgm:pt>
    <dgm:pt modelId="{93D02D36-23B4-419E-B0E4-678DA36E573D}" type="pres">
      <dgm:prSet presAssocID="{80957C98-542A-4606-846A-BBA4EC771732}" presName="c1" presStyleLbl="node1" presStyleIdx="0" presStyleCnt="19"/>
      <dgm:spPr/>
    </dgm:pt>
    <dgm:pt modelId="{D3A14956-4447-407D-B26C-D52D586470D9}" type="pres">
      <dgm:prSet presAssocID="{80957C98-542A-4606-846A-BBA4EC771732}" presName="c2" presStyleLbl="node1" presStyleIdx="1" presStyleCnt="19"/>
      <dgm:spPr/>
    </dgm:pt>
    <dgm:pt modelId="{E11049BE-1568-4558-B68E-CAF138708748}" type="pres">
      <dgm:prSet presAssocID="{80957C98-542A-4606-846A-BBA4EC771732}" presName="c3" presStyleLbl="node1" presStyleIdx="2" presStyleCnt="19"/>
      <dgm:spPr/>
    </dgm:pt>
    <dgm:pt modelId="{EDC37EC8-C1F6-43D1-865A-D3F6720AA99F}" type="pres">
      <dgm:prSet presAssocID="{80957C98-542A-4606-846A-BBA4EC771732}" presName="c4" presStyleLbl="node1" presStyleIdx="3" presStyleCnt="19"/>
      <dgm:spPr/>
    </dgm:pt>
    <dgm:pt modelId="{64850996-E798-47A9-B85A-6804EA9B505C}" type="pres">
      <dgm:prSet presAssocID="{80957C98-542A-4606-846A-BBA4EC771732}" presName="c5" presStyleLbl="node1" presStyleIdx="4" presStyleCnt="19"/>
      <dgm:spPr/>
    </dgm:pt>
    <dgm:pt modelId="{1299AF14-0465-4D92-9A6D-1583EBE899BC}" type="pres">
      <dgm:prSet presAssocID="{80957C98-542A-4606-846A-BBA4EC771732}" presName="c6" presStyleLbl="node1" presStyleIdx="5" presStyleCnt="19"/>
      <dgm:spPr/>
    </dgm:pt>
    <dgm:pt modelId="{9038B77D-F955-458E-85A7-C62836FBC888}" type="pres">
      <dgm:prSet presAssocID="{80957C98-542A-4606-846A-BBA4EC771732}" presName="c7" presStyleLbl="node1" presStyleIdx="6" presStyleCnt="19"/>
      <dgm:spPr/>
    </dgm:pt>
    <dgm:pt modelId="{41485DD3-961E-43C4-94DC-B04AE90A364F}" type="pres">
      <dgm:prSet presAssocID="{80957C98-542A-4606-846A-BBA4EC771732}" presName="c8" presStyleLbl="node1" presStyleIdx="7" presStyleCnt="19"/>
      <dgm:spPr/>
    </dgm:pt>
    <dgm:pt modelId="{C428D7CB-E43A-4D54-91B8-526A10E922CA}" type="pres">
      <dgm:prSet presAssocID="{80957C98-542A-4606-846A-BBA4EC771732}" presName="c9" presStyleLbl="node1" presStyleIdx="8" presStyleCnt="19"/>
      <dgm:spPr/>
    </dgm:pt>
    <dgm:pt modelId="{D164D75F-C387-4E79-86B2-11B9EF006FA2}" type="pres">
      <dgm:prSet presAssocID="{80957C98-542A-4606-846A-BBA4EC771732}" presName="c10" presStyleLbl="node1" presStyleIdx="9" presStyleCnt="19"/>
      <dgm:spPr/>
    </dgm:pt>
    <dgm:pt modelId="{8B1219B5-C05C-4D89-8678-84466468D6EA}" type="pres">
      <dgm:prSet presAssocID="{80957C98-542A-4606-846A-BBA4EC771732}" presName="c11" presStyleLbl="node1" presStyleIdx="10" presStyleCnt="19"/>
      <dgm:spPr/>
    </dgm:pt>
    <dgm:pt modelId="{EAA50CF0-14FD-4FDF-8DB2-AE1D56D1B28E}" type="pres">
      <dgm:prSet presAssocID="{80957C98-542A-4606-846A-BBA4EC771732}" presName="c12" presStyleLbl="node1" presStyleIdx="11" presStyleCnt="19"/>
      <dgm:spPr/>
    </dgm:pt>
    <dgm:pt modelId="{B36F2339-B484-4507-B235-23904C152E27}" type="pres">
      <dgm:prSet presAssocID="{80957C98-542A-4606-846A-BBA4EC771732}" presName="c13" presStyleLbl="node1" presStyleIdx="12" presStyleCnt="19"/>
      <dgm:spPr/>
    </dgm:pt>
    <dgm:pt modelId="{01E2029E-F148-428E-811D-03C5213009E2}" type="pres">
      <dgm:prSet presAssocID="{80957C98-542A-4606-846A-BBA4EC771732}" presName="c14" presStyleLbl="node1" presStyleIdx="13" presStyleCnt="19"/>
      <dgm:spPr/>
    </dgm:pt>
    <dgm:pt modelId="{4F0ACA31-FABF-4A45-8E7E-E5F3D8EBE79A}" type="pres">
      <dgm:prSet presAssocID="{80957C98-542A-4606-846A-BBA4EC771732}" presName="c15" presStyleLbl="node1" presStyleIdx="14" presStyleCnt="19"/>
      <dgm:spPr/>
    </dgm:pt>
    <dgm:pt modelId="{AA12B325-C1AD-4348-935E-D188E4189128}" type="pres">
      <dgm:prSet presAssocID="{80957C98-542A-4606-846A-BBA4EC771732}" presName="c16" presStyleLbl="node1" presStyleIdx="15" presStyleCnt="19"/>
      <dgm:spPr/>
    </dgm:pt>
    <dgm:pt modelId="{6C6033EE-9AEF-45CD-BC5E-19BA870BD48A}" type="pres">
      <dgm:prSet presAssocID="{80957C98-542A-4606-846A-BBA4EC771732}" presName="c17" presStyleLbl="node1" presStyleIdx="16" presStyleCnt="19"/>
      <dgm:spPr/>
    </dgm:pt>
    <dgm:pt modelId="{8A2BC4D2-7786-4FAE-8FE9-A27C3DD6BCEB}" type="pres">
      <dgm:prSet presAssocID="{80957C98-542A-4606-846A-BBA4EC771732}" presName="c18" presStyleLbl="node1" presStyleIdx="17" presStyleCnt="19"/>
      <dgm:spPr/>
    </dgm:pt>
    <dgm:pt modelId="{A1249825-C2DF-4612-882D-7BB1AD710D54}" type="pres">
      <dgm:prSet presAssocID="{ED23C38A-F6BE-44BB-8B33-B40F966A5357}" presName="chevronComposite1" presStyleCnt="0"/>
      <dgm:spPr/>
    </dgm:pt>
    <dgm:pt modelId="{73E89AE6-2C99-4BD8-BCA4-FA51BDA545B7}" type="pres">
      <dgm:prSet presAssocID="{ED23C38A-F6BE-44BB-8B33-B40F966A5357}" presName="chevron1" presStyleLbl="sibTrans2D1" presStyleIdx="0" presStyleCnt="2"/>
      <dgm:spPr/>
    </dgm:pt>
    <dgm:pt modelId="{F5D2FD19-7D6C-4A66-9670-2095F008BC58}" type="pres">
      <dgm:prSet presAssocID="{ED23C38A-F6BE-44BB-8B33-B40F966A5357}" presName="spChevron1" presStyleCnt="0"/>
      <dgm:spPr/>
    </dgm:pt>
    <dgm:pt modelId="{8A2DFF81-94DA-4F47-90EB-1DB3821258CF}" type="pres">
      <dgm:prSet presAssocID="{ED23C38A-F6BE-44BB-8B33-B40F966A5357}" presName="overlap" presStyleCnt="0"/>
      <dgm:spPr/>
    </dgm:pt>
    <dgm:pt modelId="{E4CB01F2-2737-4509-B737-1D9272362C1F}" type="pres">
      <dgm:prSet presAssocID="{ED23C38A-F6BE-44BB-8B33-B40F966A5357}" presName="chevronComposite2" presStyleCnt="0"/>
      <dgm:spPr/>
    </dgm:pt>
    <dgm:pt modelId="{574842B1-6BCC-4B7F-B9DC-2A91AF7C9458}" type="pres">
      <dgm:prSet presAssocID="{ED23C38A-F6BE-44BB-8B33-B40F966A5357}" presName="chevron2" presStyleLbl="sibTrans2D1" presStyleIdx="1" presStyleCnt="2"/>
      <dgm:spPr/>
    </dgm:pt>
    <dgm:pt modelId="{B9C0BBD2-959C-4FAF-A3F0-901C9B5183BC}" type="pres">
      <dgm:prSet presAssocID="{ED23C38A-F6BE-44BB-8B33-B40F966A5357}" presName="spChevron2" presStyleCnt="0"/>
      <dgm:spPr/>
    </dgm:pt>
    <dgm:pt modelId="{CC4D65FF-9E83-4AC3-9103-C5651DF9B0A4}" type="pres">
      <dgm:prSet presAssocID="{9FF4F7F6-1707-4722-9DE3-788C8847EEB8}" presName="last" presStyleCnt="0"/>
      <dgm:spPr/>
    </dgm:pt>
    <dgm:pt modelId="{5352DF3F-25FD-4346-8A0D-CFFA33F793F4}" type="pres">
      <dgm:prSet presAssocID="{9FF4F7F6-1707-4722-9DE3-788C8847EEB8}" presName="circleTx" presStyleLbl="node1" presStyleIdx="18" presStyleCnt="19"/>
      <dgm:spPr/>
      <dgm:t>
        <a:bodyPr/>
        <a:lstStyle/>
        <a:p>
          <a:endParaRPr lang="ru-RU"/>
        </a:p>
      </dgm:t>
    </dgm:pt>
    <dgm:pt modelId="{688B595F-66F6-40BC-8927-8513F7ADCDE0}" type="pres">
      <dgm:prSet presAssocID="{9FF4F7F6-1707-4722-9DE3-788C8847EEB8}" presName="spN" presStyleCnt="0"/>
      <dgm:spPr/>
    </dgm:pt>
  </dgm:ptLst>
  <dgm:cxnLst>
    <dgm:cxn modelId="{77AC1A69-8CF2-471D-ABB9-4E93919CB466}" srcId="{E4E71138-6ECF-4177-BE6E-A5AEABCCE812}" destId="{9FF4F7F6-1707-4722-9DE3-788C8847EEB8}" srcOrd="1" destOrd="0" parTransId="{8BFFBDD8-3493-4027-B6B7-01B7E5535634}" sibTransId="{6C303CFB-D498-48BE-B416-3EB9E1863F3D}"/>
    <dgm:cxn modelId="{8C47F1D7-3C8F-4F8D-AB87-E86C417A1F7E}" type="presOf" srcId="{E4E71138-6ECF-4177-BE6E-A5AEABCCE812}" destId="{291D8C78-5F08-4BAC-9368-6647E01EAD1D}" srcOrd="0" destOrd="0" presId="urn:microsoft.com/office/officeart/2009/3/layout/RandomtoResultProcess"/>
    <dgm:cxn modelId="{C33D873B-A504-4823-97A9-5C1132799D1D}" type="presOf" srcId="{80957C98-542A-4606-846A-BBA4EC771732}" destId="{C0EC146D-3526-4845-BEE5-1CCA5C2171BC}" srcOrd="0" destOrd="0" presId="urn:microsoft.com/office/officeart/2009/3/layout/RandomtoResultProcess"/>
    <dgm:cxn modelId="{2ED6E1C7-C8BB-4D7F-9331-44A7ED736974}" srcId="{E4E71138-6ECF-4177-BE6E-A5AEABCCE812}" destId="{80957C98-542A-4606-846A-BBA4EC771732}" srcOrd="0" destOrd="0" parTransId="{0CA8FBBF-A4A7-4429-BC45-6763774D1087}" sibTransId="{ED23C38A-F6BE-44BB-8B33-B40F966A5357}"/>
    <dgm:cxn modelId="{E209D97D-2458-4017-AE8C-78033BB3342A}" type="presOf" srcId="{9FF4F7F6-1707-4722-9DE3-788C8847EEB8}" destId="{5352DF3F-25FD-4346-8A0D-CFFA33F793F4}" srcOrd="0" destOrd="0" presId="urn:microsoft.com/office/officeart/2009/3/layout/RandomtoResultProcess"/>
    <dgm:cxn modelId="{97B6EDF0-95C1-401C-B6F9-A29DDFE32475}" type="presParOf" srcId="{291D8C78-5F08-4BAC-9368-6647E01EAD1D}" destId="{B665A015-C2C1-429A-A9E4-326C5682E293}" srcOrd="0" destOrd="0" presId="urn:microsoft.com/office/officeart/2009/3/layout/RandomtoResultProcess"/>
    <dgm:cxn modelId="{47FFFC67-1C3F-4A94-A6B4-6A748DA07623}" type="presParOf" srcId="{B665A015-C2C1-429A-A9E4-326C5682E293}" destId="{C0EC146D-3526-4845-BEE5-1CCA5C2171BC}" srcOrd="0" destOrd="0" presId="urn:microsoft.com/office/officeart/2009/3/layout/RandomtoResultProcess"/>
    <dgm:cxn modelId="{7FBCADAD-5848-4545-B1E5-6FCF526D6616}" type="presParOf" srcId="{B665A015-C2C1-429A-A9E4-326C5682E293}" destId="{93D02D36-23B4-419E-B0E4-678DA36E573D}" srcOrd="1" destOrd="0" presId="urn:microsoft.com/office/officeart/2009/3/layout/RandomtoResultProcess"/>
    <dgm:cxn modelId="{F2E52A5F-3B3E-4DF2-A82F-E4F2189B0288}" type="presParOf" srcId="{B665A015-C2C1-429A-A9E4-326C5682E293}" destId="{D3A14956-4447-407D-B26C-D52D586470D9}" srcOrd="2" destOrd="0" presId="urn:microsoft.com/office/officeart/2009/3/layout/RandomtoResultProcess"/>
    <dgm:cxn modelId="{24CEBDF4-E88E-40D2-BE60-2AE3894B2921}" type="presParOf" srcId="{B665A015-C2C1-429A-A9E4-326C5682E293}" destId="{E11049BE-1568-4558-B68E-CAF138708748}" srcOrd="3" destOrd="0" presId="urn:microsoft.com/office/officeart/2009/3/layout/RandomtoResultProcess"/>
    <dgm:cxn modelId="{6AC27691-48CD-43C7-A485-90F287E54E89}" type="presParOf" srcId="{B665A015-C2C1-429A-A9E4-326C5682E293}" destId="{EDC37EC8-C1F6-43D1-865A-D3F6720AA99F}" srcOrd="4" destOrd="0" presId="urn:microsoft.com/office/officeart/2009/3/layout/RandomtoResultProcess"/>
    <dgm:cxn modelId="{4549F2E7-3CEC-4D01-9714-0864DDFE587C}" type="presParOf" srcId="{B665A015-C2C1-429A-A9E4-326C5682E293}" destId="{64850996-E798-47A9-B85A-6804EA9B505C}" srcOrd="5" destOrd="0" presId="urn:microsoft.com/office/officeart/2009/3/layout/RandomtoResultProcess"/>
    <dgm:cxn modelId="{603E1375-FD41-49CA-B013-49179CE34030}" type="presParOf" srcId="{B665A015-C2C1-429A-A9E4-326C5682E293}" destId="{1299AF14-0465-4D92-9A6D-1583EBE899BC}" srcOrd="6" destOrd="0" presId="urn:microsoft.com/office/officeart/2009/3/layout/RandomtoResultProcess"/>
    <dgm:cxn modelId="{40B26EFA-E292-4F54-936D-A5F7BC5C1EA1}" type="presParOf" srcId="{B665A015-C2C1-429A-A9E4-326C5682E293}" destId="{9038B77D-F955-458E-85A7-C62836FBC888}" srcOrd="7" destOrd="0" presId="urn:microsoft.com/office/officeart/2009/3/layout/RandomtoResultProcess"/>
    <dgm:cxn modelId="{2872B67C-DB2B-4979-A297-562F537031C2}" type="presParOf" srcId="{B665A015-C2C1-429A-A9E4-326C5682E293}" destId="{41485DD3-961E-43C4-94DC-B04AE90A364F}" srcOrd="8" destOrd="0" presId="urn:microsoft.com/office/officeart/2009/3/layout/RandomtoResultProcess"/>
    <dgm:cxn modelId="{88B11A7D-CE3F-4463-915F-88B2397EE8F3}" type="presParOf" srcId="{B665A015-C2C1-429A-A9E4-326C5682E293}" destId="{C428D7CB-E43A-4D54-91B8-526A10E922CA}" srcOrd="9" destOrd="0" presId="urn:microsoft.com/office/officeart/2009/3/layout/RandomtoResultProcess"/>
    <dgm:cxn modelId="{A95111E5-3727-48B7-861B-F438014B9499}" type="presParOf" srcId="{B665A015-C2C1-429A-A9E4-326C5682E293}" destId="{D164D75F-C387-4E79-86B2-11B9EF006FA2}" srcOrd="10" destOrd="0" presId="urn:microsoft.com/office/officeart/2009/3/layout/RandomtoResultProcess"/>
    <dgm:cxn modelId="{35B1B3EB-7BB4-414A-8104-976EAEB1FC77}" type="presParOf" srcId="{B665A015-C2C1-429A-A9E4-326C5682E293}" destId="{8B1219B5-C05C-4D89-8678-84466468D6EA}" srcOrd="11" destOrd="0" presId="urn:microsoft.com/office/officeart/2009/3/layout/RandomtoResultProcess"/>
    <dgm:cxn modelId="{65541DB3-2028-4EF9-B8E0-6FCB4C4F6E93}" type="presParOf" srcId="{B665A015-C2C1-429A-A9E4-326C5682E293}" destId="{EAA50CF0-14FD-4FDF-8DB2-AE1D56D1B28E}" srcOrd="12" destOrd="0" presId="urn:microsoft.com/office/officeart/2009/3/layout/RandomtoResultProcess"/>
    <dgm:cxn modelId="{F5D2E3B1-F3F4-4DEC-AA5A-67C1E44DD07B}" type="presParOf" srcId="{B665A015-C2C1-429A-A9E4-326C5682E293}" destId="{B36F2339-B484-4507-B235-23904C152E27}" srcOrd="13" destOrd="0" presId="urn:microsoft.com/office/officeart/2009/3/layout/RandomtoResultProcess"/>
    <dgm:cxn modelId="{F2D1DB1C-373D-4190-9DF1-1EFFA7DE98B0}" type="presParOf" srcId="{B665A015-C2C1-429A-A9E4-326C5682E293}" destId="{01E2029E-F148-428E-811D-03C5213009E2}" srcOrd="14" destOrd="0" presId="urn:microsoft.com/office/officeart/2009/3/layout/RandomtoResultProcess"/>
    <dgm:cxn modelId="{E3E232A5-C810-40C0-BD6B-5688DB2676E9}" type="presParOf" srcId="{B665A015-C2C1-429A-A9E4-326C5682E293}" destId="{4F0ACA31-FABF-4A45-8E7E-E5F3D8EBE79A}" srcOrd="15" destOrd="0" presId="urn:microsoft.com/office/officeart/2009/3/layout/RandomtoResultProcess"/>
    <dgm:cxn modelId="{49BBC0E7-E332-4CA0-8CF1-E9B07167142E}" type="presParOf" srcId="{B665A015-C2C1-429A-A9E4-326C5682E293}" destId="{AA12B325-C1AD-4348-935E-D188E4189128}" srcOrd="16" destOrd="0" presId="urn:microsoft.com/office/officeart/2009/3/layout/RandomtoResultProcess"/>
    <dgm:cxn modelId="{09FE3649-D1C6-4167-95B5-1ECB73C07070}" type="presParOf" srcId="{B665A015-C2C1-429A-A9E4-326C5682E293}" destId="{6C6033EE-9AEF-45CD-BC5E-19BA870BD48A}" srcOrd="17" destOrd="0" presId="urn:microsoft.com/office/officeart/2009/3/layout/RandomtoResultProcess"/>
    <dgm:cxn modelId="{2295412A-7A5F-4409-90D0-228AEBB6554C}" type="presParOf" srcId="{B665A015-C2C1-429A-A9E4-326C5682E293}" destId="{8A2BC4D2-7786-4FAE-8FE9-A27C3DD6BCEB}" srcOrd="18" destOrd="0" presId="urn:microsoft.com/office/officeart/2009/3/layout/RandomtoResultProcess"/>
    <dgm:cxn modelId="{DCF6AA9F-10D1-47AB-801B-FDD43D39EFFE}" type="presParOf" srcId="{291D8C78-5F08-4BAC-9368-6647E01EAD1D}" destId="{A1249825-C2DF-4612-882D-7BB1AD710D54}" srcOrd="1" destOrd="0" presId="urn:microsoft.com/office/officeart/2009/3/layout/RandomtoResultProcess"/>
    <dgm:cxn modelId="{18D46196-CE3E-4F92-8CF8-86A9B1B45D2B}" type="presParOf" srcId="{A1249825-C2DF-4612-882D-7BB1AD710D54}" destId="{73E89AE6-2C99-4BD8-BCA4-FA51BDA545B7}" srcOrd="0" destOrd="0" presId="urn:microsoft.com/office/officeart/2009/3/layout/RandomtoResultProcess"/>
    <dgm:cxn modelId="{2CD07F8D-4E84-41C2-8F23-CC55B10E2CC2}" type="presParOf" srcId="{A1249825-C2DF-4612-882D-7BB1AD710D54}" destId="{F5D2FD19-7D6C-4A66-9670-2095F008BC58}" srcOrd="1" destOrd="0" presId="urn:microsoft.com/office/officeart/2009/3/layout/RandomtoResultProcess"/>
    <dgm:cxn modelId="{3DA8DDAF-822F-483E-A975-7F3F839715BF}" type="presParOf" srcId="{291D8C78-5F08-4BAC-9368-6647E01EAD1D}" destId="{8A2DFF81-94DA-4F47-90EB-1DB3821258CF}" srcOrd="2" destOrd="0" presId="urn:microsoft.com/office/officeart/2009/3/layout/RandomtoResultProcess"/>
    <dgm:cxn modelId="{5AB6D194-2554-4777-8848-4C687F378061}" type="presParOf" srcId="{291D8C78-5F08-4BAC-9368-6647E01EAD1D}" destId="{E4CB01F2-2737-4509-B737-1D9272362C1F}" srcOrd="3" destOrd="0" presId="urn:microsoft.com/office/officeart/2009/3/layout/RandomtoResultProcess"/>
    <dgm:cxn modelId="{21E61955-F0ED-4DE1-95D4-F6D5F5707B4A}" type="presParOf" srcId="{E4CB01F2-2737-4509-B737-1D9272362C1F}" destId="{574842B1-6BCC-4B7F-B9DC-2A91AF7C9458}" srcOrd="0" destOrd="0" presId="urn:microsoft.com/office/officeart/2009/3/layout/RandomtoResultProcess"/>
    <dgm:cxn modelId="{605B62C2-A0C4-4B79-9FC5-25BD3AE409D6}" type="presParOf" srcId="{E4CB01F2-2737-4509-B737-1D9272362C1F}" destId="{B9C0BBD2-959C-4FAF-A3F0-901C9B5183BC}" srcOrd="1" destOrd="0" presId="urn:microsoft.com/office/officeart/2009/3/layout/RandomtoResultProcess"/>
    <dgm:cxn modelId="{B06B9F73-5471-4A32-810A-A3E1E1EA80EA}" type="presParOf" srcId="{291D8C78-5F08-4BAC-9368-6647E01EAD1D}" destId="{CC4D65FF-9E83-4AC3-9103-C5651DF9B0A4}" srcOrd="4" destOrd="0" presId="urn:microsoft.com/office/officeart/2009/3/layout/RandomtoResultProcess"/>
    <dgm:cxn modelId="{09B3A1D1-FA71-4D94-82DA-E7E9D1DA9E3C}" type="presParOf" srcId="{CC4D65FF-9E83-4AC3-9103-C5651DF9B0A4}" destId="{5352DF3F-25FD-4346-8A0D-CFFA33F793F4}" srcOrd="0" destOrd="0" presId="urn:microsoft.com/office/officeart/2009/3/layout/RandomtoResultProcess"/>
    <dgm:cxn modelId="{A9FE0FFE-4236-46CA-9F14-FF4BDB8FD3E0}" type="presParOf" srcId="{CC4D65FF-9E83-4AC3-9103-C5651DF9B0A4}" destId="{688B595F-66F6-40BC-8927-8513F7ADCDE0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BFB28464-313A-47CB-8783-2AFFAA72F22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406263F-0603-4331-8166-4091AA37C1E0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Когда мы научили нашу технику отдавать данные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7BAA397-5BD4-4A16-9754-A9E2585FC24D}" type="parTrans" cxnId="{6F03EE13-5684-4014-80FB-DD6BE43CB89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6CEC03D-9752-4F7B-A250-C2355823FD28}" type="sibTrans" cxnId="{6F03EE13-5684-4014-80FB-DD6BE43CB89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28CBD30-17EE-41A7-B2AA-C740301535E8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сами их собираем и храним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A0E448B-148F-46F3-B099-9CBF07730E25}" type="parTrans" cxnId="{C8FD9DE7-1095-4943-957C-4DFA55E304F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93FE53-FABF-49D9-8FF6-A965F1728DDF}" type="sibTrans" cxnId="{C8FD9DE7-1095-4943-957C-4DFA55E304F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A47AAAA-3EF3-4DC3-954C-6E6360569204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то стоит использовать эту информацию для получения новых эффектов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ED05C4F-0861-40FA-A53A-8B09E005B9F1}" type="parTrans" cxnId="{F6679F05-C297-4E66-9656-5129EFFE2B4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F2AEC17-3ED7-4E02-A469-EC26BDD1D5F8}" type="sibTrans" cxnId="{F6679F05-C297-4E66-9656-5129EFFE2B4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BC711FA-3578-4964-A8E5-074ECB61E436}" type="pres">
      <dgm:prSet presAssocID="{BFB28464-313A-47CB-8783-2AFFAA72F225}" presName="Name0" presStyleCnt="0">
        <dgm:presLayoutVars>
          <dgm:dir/>
          <dgm:animLvl val="lvl"/>
          <dgm:resizeHandles val="exact"/>
        </dgm:presLayoutVars>
      </dgm:prSet>
      <dgm:spPr/>
    </dgm:pt>
    <dgm:pt modelId="{51A864F1-7417-4E4B-A74A-227F727BC78F}" type="pres">
      <dgm:prSet presAssocID="{E406263F-0603-4331-8166-4091AA37C1E0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56C18B-9E13-4DB3-9DE4-5F8A65C957BE}" type="pres">
      <dgm:prSet presAssocID="{66CEC03D-9752-4F7B-A250-C2355823FD28}" presName="parTxOnlySpace" presStyleCnt="0"/>
      <dgm:spPr/>
    </dgm:pt>
    <dgm:pt modelId="{C8B76012-D605-42A2-8C66-7C38076BF55D}" type="pres">
      <dgm:prSet presAssocID="{928CBD30-17EE-41A7-B2AA-C740301535E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338349-DAAD-4AA4-B2C7-6B8B7C92E61F}" type="pres">
      <dgm:prSet presAssocID="{B693FE53-FABF-49D9-8FF6-A965F1728DDF}" presName="parTxOnlySpace" presStyleCnt="0"/>
      <dgm:spPr/>
    </dgm:pt>
    <dgm:pt modelId="{FFD63833-0B7C-4631-8A6B-970AF4B6FD03}" type="pres">
      <dgm:prSet presAssocID="{EA47AAAA-3EF3-4DC3-954C-6E6360569204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FF3C4AF-9AE8-402B-9956-6C5DF634F48B}" type="presOf" srcId="{BFB28464-313A-47CB-8783-2AFFAA72F225}" destId="{EBC711FA-3578-4964-A8E5-074ECB61E436}" srcOrd="0" destOrd="0" presId="urn:microsoft.com/office/officeart/2005/8/layout/chevron1"/>
    <dgm:cxn modelId="{F6679F05-C297-4E66-9656-5129EFFE2B49}" srcId="{BFB28464-313A-47CB-8783-2AFFAA72F225}" destId="{EA47AAAA-3EF3-4DC3-954C-6E6360569204}" srcOrd="2" destOrd="0" parTransId="{9ED05C4F-0861-40FA-A53A-8B09E005B9F1}" sibTransId="{DF2AEC17-3ED7-4E02-A469-EC26BDD1D5F8}"/>
    <dgm:cxn modelId="{C16EF97A-DEC8-4C1D-86B1-1E23F21380C6}" type="presOf" srcId="{E406263F-0603-4331-8166-4091AA37C1E0}" destId="{51A864F1-7417-4E4B-A74A-227F727BC78F}" srcOrd="0" destOrd="0" presId="urn:microsoft.com/office/officeart/2005/8/layout/chevron1"/>
    <dgm:cxn modelId="{3403ACF6-7D77-4769-BE95-01073B95B6A6}" type="presOf" srcId="{EA47AAAA-3EF3-4DC3-954C-6E6360569204}" destId="{FFD63833-0B7C-4631-8A6B-970AF4B6FD03}" srcOrd="0" destOrd="0" presId="urn:microsoft.com/office/officeart/2005/8/layout/chevron1"/>
    <dgm:cxn modelId="{3AEF8788-8916-4786-B097-F568B7FB00C6}" type="presOf" srcId="{928CBD30-17EE-41A7-B2AA-C740301535E8}" destId="{C8B76012-D605-42A2-8C66-7C38076BF55D}" srcOrd="0" destOrd="0" presId="urn:microsoft.com/office/officeart/2005/8/layout/chevron1"/>
    <dgm:cxn modelId="{6F03EE13-5684-4014-80FB-DD6BE43CB893}" srcId="{BFB28464-313A-47CB-8783-2AFFAA72F225}" destId="{E406263F-0603-4331-8166-4091AA37C1E0}" srcOrd="0" destOrd="0" parTransId="{07BAA397-5BD4-4A16-9754-A9E2585FC24D}" sibTransId="{66CEC03D-9752-4F7B-A250-C2355823FD28}"/>
    <dgm:cxn modelId="{C8FD9DE7-1095-4943-957C-4DFA55E304FD}" srcId="{BFB28464-313A-47CB-8783-2AFFAA72F225}" destId="{928CBD30-17EE-41A7-B2AA-C740301535E8}" srcOrd="1" destOrd="0" parTransId="{7A0E448B-148F-46F3-B099-9CBF07730E25}" sibTransId="{B693FE53-FABF-49D9-8FF6-A965F1728DDF}"/>
    <dgm:cxn modelId="{5DF881A6-24B0-4E64-B70F-75ED1E10CF82}" type="presParOf" srcId="{EBC711FA-3578-4964-A8E5-074ECB61E436}" destId="{51A864F1-7417-4E4B-A74A-227F727BC78F}" srcOrd="0" destOrd="0" presId="urn:microsoft.com/office/officeart/2005/8/layout/chevron1"/>
    <dgm:cxn modelId="{62E91904-C10C-4BB0-8541-A7F1B0EF7EEF}" type="presParOf" srcId="{EBC711FA-3578-4964-A8E5-074ECB61E436}" destId="{B956C18B-9E13-4DB3-9DE4-5F8A65C957BE}" srcOrd="1" destOrd="0" presId="urn:microsoft.com/office/officeart/2005/8/layout/chevron1"/>
    <dgm:cxn modelId="{7CEB49C1-1764-4402-A325-E0DD41CDA5A0}" type="presParOf" srcId="{EBC711FA-3578-4964-A8E5-074ECB61E436}" destId="{C8B76012-D605-42A2-8C66-7C38076BF55D}" srcOrd="2" destOrd="0" presId="urn:microsoft.com/office/officeart/2005/8/layout/chevron1"/>
    <dgm:cxn modelId="{3704214A-410B-4519-9289-0F02EA4E5987}" type="presParOf" srcId="{EBC711FA-3578-4964-A8E5-074ECB61E436}" destId="{C1338349-DAAD-4AA4-B2C7-6B8B7C92E61F}" srcOrd="3" destOrd="0" presId="urn:microsoft.com/office/officeart/2005/8/layout/chevron1"/>
    <dgm:cxn modelId="{D6AAAAA0-F6AB-4B71-8AD2-7D4DC62C2FF7}" type="presParOf" srcId="{EBC711FA-3578-4964-A8E5-074ECB61E436}" destId="{FFD63833-0B7C-4631-8A6B-970AF4B6FD03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D6E5C04-A0EE-433E-97B9-11F11CBFA8E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6F7BC58-A843-41D8-ABDE-59BE38C314CB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Уровень цифровой готовности (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Digital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Readliness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Level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)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63318C6B-C64A-43C8-98A6-FE9C271C0DFF}" type="parTrans" cxnId="{416373AB-DA19-4498-BD76-D177E8C9A041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BC5AB86E-E728-4B3D-894B-D3B1A946829F}" type="sibTrans" cxnId="{416373AB-DA19-4498-BD76-D177E8C9A041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FF99AE6C-86F7-4D38-8A97-60D49794E62B}">
      <dgm:prSet phldrT="[Текст]"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▪ Покрытие основных процессов информационными системами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▪ Наличие и глубину интеграции между системами, в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т.ч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. возможность построения цифровой модели компании на базе существующих систем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▪ Уровень понимания долгосрочных цифровых технологических трендов, их корреляцию со стратегией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▪ Подходы к формированию портфеля цифровых инициатив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241F03DF-C901-477D-83DF-BB0066D00EBC}" type="parTrans" cxnId="{DC47E01E-EB2E-4588-93AA-8C8DE0A080E2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4FC0BE4C-03CA-473F-A03D-38CA50711C37}" type="sibTrans" cxnId="{DC47E01E-EB2E-4588-93AA-8C8DE0A080E2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C76895C5-0764-43A2-A5DD-802130547DCF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Степень готовности и зрелости цифровой экосистемы на отраслевом уровне (в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т.ч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. законодательной и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нормативноправовой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базы)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04DE2CD0-BC8F-4077-A8AB-C4D7BDAF7F33}" type="parTrans" cxnId="{8B187713-B2EA-42A9-880E-24B13866DC31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AE27B28F-DF6F-490D-900B-9A8F2C056693}" type="sibTrans" cxnId="{8B187713-B2EA-42A9-880E-24B13866DC31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02F561E7-5904-4618-8927-2F39CA255784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Уровень проникновения цифровых решений в основные процессы компании (AI, VR&amp;AR,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Blockchain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и др.)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48ABE6FD-9D32-4BEF-B79D-2F28C16DE275}" type="parTrans" cxnId="{1DA1AA46-4663-4730-8DC5-FEFF628C3EC9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500C552D-0CA2-45AE-A4E5-7996D9D20DA7}" type="sibTrans" cxnId="{1DA1AA46-4663-4730-8DC5-FEFF628C3EC9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D76D0057-7B33-428E-B7B3-EA924DB17DA3}" type="pres">
      <dgm:prSet presAssocID="{FD6E5C04-A0EE-433E-97B9-11F11CBFA8E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7C733C7F-633A-444C-BCC0-B1EDDD765014}" type="pres">
      <dgm:prSet presAssocID="{F6F7BC58-A843-41D8-ABDE-59BE38C314CB}" presName="hierRoot1" presStyleCnt="0">
        <dgm:presLayoutVars>
          <dgm:hierBranch val="init"/>
        </dgm:presLayoutVars>
      </dgm:prSet>
      <dgm:spPr/>
    </dgm:pt>
    <dgm:pt modelId="{B73EF713-F773-43BF-9C2A-842E65083134}" type="pres">
      <dgm:prSet presAssocID="{F6F7BC58-A843-41D8-ABDE-59BE38C314CB}" presName="rootComposite1" presStyleCnt="0"/>
      <dgm:spPr/>
    </dgm:pt>
    <dgm:pt modelId="{CF1CAAC9-F0C2-4E0E-AD7A-AAF8263B9FC4}" type="pres">
      <dgm:prSet presAssocID="{F6F7BC58-A843-41D8-ABDE-59BE38C314CB}" presName="rootText1" presStyleLbl="node0" presStyleIdx="0" presStyleCnt="1" custScaleX="416896" custScaleY="56996" custLinFactNeighborX="-265" custLinFactNeighborY="1968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8C5772E-C603-44C2-A3D6-2EE916E3A4A6}" type="pres">
      <dgm:prSet presAssocID="{F6F7BC58-A843-41D8-ABDE-59BE38C314CB}" presName="rootConnector1" presStyleLbl="node1" presStyleIdx="0" presStyleCnt="0"/>
      <dgm:spPr/>
      <dgm:t>
        <a:bodyPr/>
        <a:lstStyle/>
        <a:p>
          <a:endParaRPr lang="ru-RU"/>
        </a:p>
      </dgm:t>
    </dgm:pt>
    <dgm:pt modelId="{5954C1A0-67AF-4509-91A9-8DD2CD03A95A}" type="pres">
      <dgm:prSet presAssocID="{F6F7BC58-A843-41D8-ABDE-59BE38C314CB}" presName="hierChild2" presStyleCnt="0"/>
      <dgm:spPr/>
    </dgm:pt>
    <dgm:pt modelId="{720E09A4-ED1E-4E7A-8C44-9E7B8358CD68}" type="pres">
      <dgm:prSet presAssocID="{241F03DF-C901-477D-83DF-BB0066D00EBC}" presName="Name37" presStyleLbl="parChTrans1D2" presStyleIdx="0" presStyleCnt="3"/>
      <dgm:spPr/>
      <dgm:t>
        <a:bodyPr/>
        <a:lstStyle/>
        <a:p>
          <a:endParaRPr lang="ru-RU"/>
        </a:p>
      </dgm:t>
    </dgm:pt>
    <dgm:pt modelId="{FC3A3F3B-B131-4B1A-9883-D376BAC8F3C3}" type="pres">
      <dgm:prSet presAssocID="{FF99AE6C-86F7-4D38-8A97-60D49794E62B}" presName="hierRoot2" presStyleCnt="0">
        <dgm:presLayoutVars>
          <dgm:hierBranch val="init"/>
        </dgm:presLayoutVars>
      </dgm:prSet>
      <dgm:spPr/>
    </dgm:pt>
    <dgm:pt modelId="{EDB5C6B7-B31D-48CD-A227-3B67851FF110}" type="pres">
      <dgm:prSet presAssocID="{FF99AE6C-86F7-4D38-8A97-60D49794E62B}" presName="rootComposite" presStyleCnt="0"/>
      <dgm:spPr/>
    </dgm:pt>
    <dgm:pt modelId="{320E893F-3A2B-4B1B-9C1B-CE7ADEB0048A}" type="pres">
      <dgm:prSet presAssocID="{FF99AE6C-86F7-4D38-8A97-60D49794E62B}" presName="rootText" presStyleLbl="node2" presStyleIdx="0" presStyleCnt="3" custScaleX="141175" custScaleY="36916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A1D933F-6555-4296-8A46-CDB3E43AAA06}" type="pres">
      <dgm:prSet presAssocID="{FF99AE6C-86F7-4D38-8A97-60D49794E62B}" presName="rootConnector" presStyleLbl="node2" presStyleIdx="0" presStyleCnt="3"/>
      <dgm:spPr/>
      <dgm:t>
        <a:bodyPr/>
        <a:lstStyle/>
        <a:p>
          <a:endParaRPr lang="ru-RU"/>
        </a:p>
      </dgm:t>
    </dgm:pt>
    <dgm:pt modelId="{55430BE0-E4AA-4AE0-B0E3-E0E61466F97E}" type="pres">
      <dgm:prSet presAssocID="{FF99AE6C-86F7-4D38-8A97-60D49794E62B}" presName="hierChild4" presStyleCnt="0"/>
      <dgm:spPr/>
    </dgm:pt>
    <dgm:pt modelId="{1DB38811-78A3-4081-8F90-6D456370A9DB}" type="pres">
      <dgm:prSet presAssocID="{FF99AE6C-86F7-4D38-8A97-60D49794E62B}" presName="hierChild5" presStyleCnt="0"/>
      <dgm:spPr/>
    </dgm:pt>
    <dgm:pt modelId="{54B3EAF2-9DA1-4989-A102-F3B8F28A0CF0}" type="pres">
      <dgm:prSet presAssocID="{04DE2CD0-BC8F-4077-A8AB-C4D7BDAF7F33}" presName="Name37" presStyleLbl="parChTrans1D2" presStyleIdx="1" presStyleCnt="3"/>
      <dgm:spPr/>
      <dgm:t>
        <a:bodyPr/>
        <a:lstStyle/>
        <a:p>
          <a:endParaRPr lang="ru-RU"/>
        </a:p>
      </dgm:t>
    </dgm:pt>
    <dgm:pt modelId="{C7C95081-032D-498A-9F3F-83B0EDA9F47F}" type="pres">
      <dgm:prSet presAssocID="{C76895C5-0764-43A2-A5DD-802130547DCF}" presName="hierRoot2" presStyleCnt="0">
        <dgm:presLayoutVars>
          <dgm:hierBranch val="init"/>
        </dgm:presLayoutVars>
      </dgm:prSet>
      <dgm:spPr/>
    </dgm:pt>
    <dgm:pt modelId="{9D4DB662-C1D4-4B86-B43F-F1DE76DF68BC}" type="pres">
      <dgm:prSet presAssocID="{C76895C5-0764-43A2-A5DD-802130547DCF}" presName="rootComposite" presStyleCnt="0"/>
      <dgm:spPr/>
    </dgm:pt>
    <dgm:pt modelId="{D8B46A23-C198-437C-ACFC-8D4E4A15EB9B}" type="pres">
      <dgm:prSet presAssocID="{C76895C5-0764-43A2-A5DD-802130547DCF}" presName="rootText" presStyleLbl="node2" presStyleIdx="1" presStyleCnt="3" custScaleY="34989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D0BAC7D-37B7-41AF-AC1A-B2AA52F8B46F}" type="pres">
      <dgm:prSet presAssocID="{C76895C5-0764-43A2-A5DD-802130547DCF}" presName="rootConnector" presStyleLbl="node2" presStyleIdx="1" presStyleCnt="3"/>
      <dgm:spPr/>
      <dgm:t>
        <a:bodyPr/>
        <a:lstStyle/>
        <a:p>
          <a:endParaRPr lang="ru-RU"/>
        </a:p>
      </dgm:t>
    </dgm:pt>
    <dgm:pt modelId="{69D839BB-A557-4B6E-BF38-3439B422CD7D}" type="pres">
      <dgm:prSet presAssocID="{C76895C5-0764-43A2-A5DD-802130547DCF}" presName="hierChild4" presStyleCnt="0"/>
      <dgm:spPr/>
    </dgm:pt>
    <dgm:pt modelId="{55C889FF-5EA4-4B97-9AA2-FFF907127EC9}" type="pres">
      <dgm:prSet presAssocID="{C76895C5-0764-43A2-A5DD-802130547DCF}" presName="hierChild5" presStyleCnt="0"/>
      <dgm:spPr/>
    </dgm:pt>
    <dgm:pt modelId="{2E7DC671-C32C-4B50-B1CD-52B10A370D49}" type="pres">
      <dgm:prSet presAssocID="{48ABE6FD-9D32-4BEF-B79D-2F28C16DE275}" presName="Name37" presStyleLbl="parChTrans1D2" presStyleIdx="2" presStyleCnt="3"/>
      <dgm:spPr/>
      <dgm:t>
        <a:bodyPr/>
        <a:lstStyle/>
        <a:p>
          <a:endParaRPr lang="ru-RU"/>
        </a:p>
      </dgm:t>
    </dgm:pt>
    <dgm:pt modelId="{9FE6D6F6-2613-43E1-AA3B-12265197369A}" type="pres">
      <dgm:prSet presAssocID="{02F561E7-5904-4618-8927-2F39CA255784}" presName="hierRoot2" presStyleCnt="0">
        <dgm:presLayoutVars>
          <dgm:hierBranch val="init"/>
        </dgm:presLayoutVars>
      </dgm:prSet>
      <dgm:spPr/>
    </dgm:pt>
    <dgm:pt modelId="{467A14FC-D71F-4C21-9833-1600F56DD897}" type="pres">
      <dgm:prSet presAssocID="{02F561E7-5904-4618-8927-2F39CA255784}" presName="rootComposite" presStyleCnt="0"/>
      <dgm:spPr/>
    </dgm:pt>
    <dgm:pt modelId="{708ED6CF-B315-4FC1-92F2-35EA8A853C86}" type="pres">
      <dgm:prSet presAssocID="{02F561E7-5904-4618-8927-2F39CA255784}" presName="rootText" presStyleLbl="node2" presStyleIdx="2" presStyleCnt="3" custScaleY="3530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84323C9-169F-4B40-B5F9-73DAFF23F3B7}" type="pres">
      <dgm:prSet presAssocID="{02F561E7-5904-4618-8927-2F39CA255784}" presName="rootConnector" presStyleLbl="node2" presStyleIdx="2" presStyleCnt="3"/>
      <dgm:spPr/>
      <dgm:t>
        <a:bodyPr/>
        <a:lstStyle/>
        <a:p>
          <a:endParaRPr lang="ru-RU"/>
        </a:p>
      </dgm:t>
    </dgm:pt>
    <dgm:pt modelId="{20260077-7502-4951-85D5-79B2B7CD5D72}" type="pres">
      <dgm:prSet presAssocID="{02F561E7-5904-4618-8927-2F39CA255784}" presName="hierChild4" presStyleCnt="0"/>
      <dgm:spPr/>
    </dgm:pt>
    <dgm:pt modelId="{E4776169-23A4-43AC-AE3B-CFA34534512B}" type="pres">
      <dgm:prSet presAssocID="{02F561E7-5904-4618-8927-2F39CA255784}" presName="hierChild5" presStyleCnt="0"/>
      <dgm:spPr/>
    </dgm:pt>
    <dgm:pt modelId="{B55B4C73-F252-41E3-82CD-3A7D51BAB6F4}" type="pres">
      <dgm:prSet presAssocID="{F6F7BC58-A843-41D8-ABDE-59BE38C314CB}" presName="hierChild3" presStyleCnt="0"/>
      <dgm:spPr/>
    </dgm:pt>
  </dgm:ptLst>
  <dgm:cxnLst>
    <dgm:cxn modelId="{BFB71FD6-F1CA-42CA-8CC5-089A5D87BF2D}" type="presOf" srcId="{F6F7BC58-A843-41D8-ABDE-59BE38C314CB}" destId="{CF1CAAC9-F0C2-4E0E-AD7A-AAF8263B9FC4}" srcOrd="0" destOrd="0" presId="urn:microsoft.com/office/officeart/2005/8/layout/orgChart1"/>
    <dgm:cxn modelId="{2E15F0D5-9605-4EE1-BB1F-2B08A8D0D266}" type="presOf" srcId="{FF99AE6C-86F7-4D38-8A97-60D49794E62B}" destId="{320E893F-3A2B-4B1B-9C1B-CE7ADEB0048A}" srcOrd="0" destOrd="0" presId="urn:microsoft.com/office/officeart/2005/8/layout/orgChart1"/>
    <dgm:cxn modelId="{D5386565-23B3-4F51-8F9F-C0BB7267ED41}" type="presOf" srcId="{04DE2CD0-BC8F-4077-A8AB-C4D7BDAF7F33}" destId="{54B3EAF2-9DA1-4989-A102-F3B8F28A0CF0}" srcOrd="0" destOrd="0" presId="urn:microsoft.com/office/officeart/2005/8/layout/orgChart1"/>
    <dgm:cxn modelId="{3697F572-CF10-49EA-84B6-EC81D171FF5B}" type="presOf" srcId="{48ABE6FD-9D32-4BEF-B79D-2F28C16DE275}" destId="{2E7DC671-C32C-4B50-B1CD-52B10A370D49}" srcOrd="0" destOrd="0" presId="urn:microsoft.com/office/officeart/2005/8/layout/orgChart1"/>
    <dgm:cxn modelId="{77F613BD-7EFE-41A7-8D38-D19B0049C3BC}" type="presOf" srcId="{FD6E5C04-A0EE-433E-97B9-11F11CBFA8E7}" destId="{D76D0057-7B33-428E-B7B3-EA924DB17DA3}" srcOrd="0" destOrd="0" presId="urn:microsoft.com/office/officeart/2005/8/layout/orgChart1"/>
    <dgm:cxn modelId="{8B187713-B2EA-42A9-880E-24B13866DC31}" srcId="{F6F7BC58-A843-41D8-ABDE-59BE38C314CB}" destId="{C76895C5-0764-43A2-A5DD-802130547DCF}" srcOrd="1" destOrd="0" parTransId="{04DE2CD0-BC8F-4077-A8AB-C4D7BDAF7F33}" sibTransId="{AE27B28F-DF6F-490D-900B-9A8F2C056693}"/>
    <dgm:cxn modelId="{1DA1AA46-4663-4730-8DC5-FEFF628C3EC9}" srcId="{F6F7BC58-A843-41D8-ABDE-59BE38C314CB}" destId="{02F561E7-5904-4618-8927-2F39CA255784}" srcOrd="2" destOrd="0" parTransId="{48ABE6FD-9D32-4BEF-B79D-2F28C16DE275}" sibTransId="{500C552D-0CA2-45AE-A4E5-7996D9D20DA7}"/>
    <dgm:cxn modelId="{57448C23-4CDF-4F62-A610-21F9311A12B6}" type="presOf" srcId="{02F561E7-5904-4618-8927-2F39CA255784}" destId="{708ED6CF-B315-4FC1-92F2-35EA8A853C86}" srcOrd="0" destOrd="0" presId="urn:microsoft.com/office/officeart/2005/8/layout/orgChart1"/>
    <dgm:cxn modelId="{A2A760C3-05C5-4238-920A-3A3BDB3D78A8}" type="presOf" srcId="{FF99AE6C-86F7-4D38-8A97-60D49794E62B}" destId="{EA1D933F-6555-4296-8A46-CDB3E43AAA06}" srcOrd="1" destOrd="0" presId="urn:microsoft.com/office/officeart/2005/8/layout/orgChart1"/>
    <dgm:cxn modelId="{416373AB-DA19-4498-BD76-D177E8C9A041}" srcId="{FD6E5C04-A0EE-433E-97B9-11F11CBFA8E7}" destId="{F6F7BC58-A843-41D8-ABDE-59BE38C314CB}" srcOrd="0" destOrd="0" parTransId="{63318C6B-C64A-43C8-98A6-FE9C271C0DFF}" sibTransId="{BC5AB86E-E728-4B3D-894B-D3B1A946829F}"/>
    <dgm:cxn modelId="{1762F3E0-30DF-4C54-8334-FE63692DAB73}" type="presOf" srcId="{C76895C5-0764-43A2-A5DD-802130547DCF}" destId="{9D0BAC7D-37B7-41AF-AC1A-B2AA52F8B46F}" srcOrd="1" destOrd="0" presId="urn:microsoft.com/office/officeart/2005/8/layout/orgChart1"/>
    <dgm:cxn modelId="{DA8EF266-B2E1-4FBE-A6DD-4E5F4DE836EA}" type="presOf" srcId="{241F03DF-C901-477D-83DF-BB0066D00EBC}" destId="{720E09A4-ED1E-4E7A-8C44-9E7B8358CD68}" srcOrd="0" destOrd="0" presId="urn:microsoft.com/office/officeart/2005/8/layout/orgChart1"/>
    <dgm:cxn modelId="{FE15CD73-3648-4F54-A3CE-51B28C3D3956}" type="presOf" srcId="{C76895C5-0764-43A2-A5DD-802130547DCF}" destId="{D8B46A23-C198-437C-ACFC-8D4E4A15EB9B}" srcOrd="0" destOrd="0" presId="urn:microsoft.com/office/officeart/2005/8/layout/orgChart1"/>
    <dgm:cxn modelId="{7D0D8D40-D281-4AAD-BCC3-E7A301A95468}" type="presOf" srcId="{02F561E7-5904-4618-8927-2F39CA255784}" destId="{984323C9-169F-4B40-B5F9-73DAFF23F3B7}" srcOrd="1" destOrd="0" presId="urn:microsoft.com/office/officeart/2005/8/layout/orgChart1"/>
    <dgm:cxn modelId="{DC47E01E-EB2E-4588-93AA-8C8DE0A080E2}" srcId="{F6F7BC58-A843-41D8-ABDE-59BE38C314CB}" destId="{FF99AE6C-86F7-4D38-8A97-60D49794E62B}" srcOrd="0" destOrd="0" parTransId="{241F03DF-C901-477D-83DF-BB0066D00EBC}" sibTransId="{4FC0BE4C-03CA-473F-A03D-38CA50711C37}"/>
    <dgm:cxn modelId="{E8576BD7-4E35-4FA6-BF92-9B5ACF09688B}" type="presOf" srcId="{F6F7BC58-A843-41D8-ABDE-59BE38C314CB}" destId="{D8C5772E-C603-44C2-A3D6-2EE916E3A4A6}" srcOrd="1" destOrd="0" presId="urn:microsoft.com/office/officeart/2005/8/layout/orgChart1"/>
    <dgm:cxn modelId="{A6D4D547-BDE3-4A0D-9B5D-82409B059158}" type="presParOf" srcId="{D76D0057-7B33-428E-B7B3-EA924DB17DA3}" destId="{7C733C7F-633A-444C-BCC0-B1EDDD765014}" srcOrd="0" destOrd="0" presId="urn:microsoft.com/office/officeart/2005/8/layout/orgChart1"/>
    <dgm:cxn modelId="{A4026509-6201-4762-BAEB-668B042AA5CE}" type="presParOf" srcId="{7C733C7F-633A-444C-BCC0-B1EDDD765014}" destId="{B73EF713-F773-43BF-9C2A-842E65083134}" srcOrd="0" destOrd="0" presId="urn:microsoft.com/office/officeart/2005/8/layout/orgChart1"/>
    <dgm:cxn modelId="{EB47711E-A050-4B94-82F7-4C8947A0911D}" type="presParOf" srcId="{B73EF713-F773-43BF-9C2A-842E65083134}" destId="{CF1CAAC9-F0C2-4E0E-AD7A-AAF8263B9FC4}" srcOrd="0" destOrd="0" presId="urn:microsoft.com/office/officeart/2005/8/layout/orgChart1"/>
    <dgm:cxn modelId="{C7E23ADE-DBDB-43A8-9A53-17D0FEB5BE69}" type="presParOf" srcId="{B73EF713-F773-43BF-9C2A-842E65083134}" destId="{D8C5772E-C603-44C2-A3D6-2EE916E3A4A6}" srcOrd="1" destOrd="0" presId="urn:microsoft.com/office/officeart/2005/8/layout/orgChart1"/>
    <dgm:cxn modelId="{8EDEDA30-154A-4B11-8E28-B9B1868F5F41}" type="presParOf" srcId="{7C733C7F-633A-444C-BCC0-B1EDDD765014}" destId="{5954C1A0-67AF-4509-91A9-8DD2CD03A95A}" srcOrd="1" destOrd="0" presId="urn:microsoft.com/office/officeart/2005/8/layout/orgChart1"/>
    <dgm:cxn modelId="{AE8E3714-3BAC-4929-B6AC-E23E280242F3}" type="presParOf" srcId="{5954C1A0-67AF-4509-91A9-8DD2CD03A95A}" destId="{720E09A4-ED1E-4E7A-8C44-9E7B8358CD68}" srcOrd="0" destOrd="0" presId="urn:microsoft.com/office/officeart/2005/8/layout/orgChart1"/>
    <dgm:cxn modelId="{585933A3-8BC6-47A4-B836-2EE46325C635}" type="presParOf" srcId="{5954C1A0-67AF-4509-91A9-8DD2CD03A95A}" destId="{FC3A3F3B-B131-4B1A-9883-D376BAC8F3C3}" srcOrd="1" destOrd="0" presId="urn:microsoft.com/office/officeart/2005/8/layout/orgChart1"/>
    <dgm:cxn modelId="{97D40909-DE25-4DF0-BFE4-F54052AFBAF1}" type="presParOf" srcId="{FC3A3F3B-B131-4B1A-9883-D376BAC8F3C3}" destId="{EDB5C6B7-B31D-48CD-A227-3B67851FF110}" srcOrd="0" destOrd="0" presId="urn:microsoft.com/office/officeart/2005/8/layout/orgChart1"/>
    <dgm:cxn modelId="{E668BF57-6B1F-41C2-9E50-0BD87DCE57FA}" type="presParOf" srcId="{EDB5C6B7-B31D-48CD-A227-3B67851FF110}" destId="{320E893F-3A2B-4B1B-9C1B-CE7ADEB0048A}" srcOrd="0" destOrd="0" presId="urn:microsoft.com/office/officeart/2005/8/layout/orgChart1"/>
    <dgm:cxn modelId="{4B569E7C-AD7A-4BE1-A3CF-189EA260D8D2}" type="presParOf" srcId="{EDB5C6B7-B31D-48CD-A227-3B67851FF110}" destId="{EA1D933F-6555-4296-8A46-CDB3E43AAA06}" srcOrd="1" destOrd="0" presId="urn:microsoft.com/office/officeart/2005/8/layout/orgChart1"/>
    <dgm:cxn modelId="{B7891248-887D-44A8-8751-C3D3347E8EFA}" type="presParOf" srcId="{FC3A3F3B-B131-4B1A-9883-D376BAC8F3C3}" destId="{55430BE0-E4AA-4AE0-B0E3-E0E61466F97E}" srcOrd="1" destOrd="0" presId="urn:microsoft.com/office/officeart/2005/8/layout/orgChart1"/>
    <dgm:cxn modelId="{4F51477B-7B79-4C80-B18B-7ADECD21E2B3}" type="presParOf" srcId="{FC3A3F3B-B131-4B1A-9883-D376BAC8F3C3}" destId="{1DB38811-78A3-4081-8F90-6D456370A9DB}" srcOrd="2" destOrd="0" presId="urn:microsoft.com/office/officeart/2005/8/layout/orgChart1"/>
    <dgm:cxn modelId="{7054451E-784E-43E7-AFF5-9DCBA0F5937E}" type="presParOf" srcId="{5954C1A0-67AF-4509-91A9-8DD2CD03A95A}" destId="{54B3EAF2-9DA1-4989-A102-F3B8F28A0CF0}" srcOrd="2" destOrd="0" presId="urn:microsoft.com/office/officeart/2005/8/layout/orgChart1"/>
    <dgm:cxn modelId="{0FE80484-C0F1-4B97-959D-5F5D1AECD3A8}" type="presParOf" srcId="{5954C1A0-67AF-4509-91A9-8DD2CD03A95A}" destId="{C7C95081-032D-498A-9F3F-83B0EDA9F47F}" srcOrd="3" destOrd="0" presId="urn:microsoft.com/office/officeart/2005/8/layout/orgChart1"/>
    <dgm:cxn modelId="{A2D05E6C-5F53-4F78-84B7-96230A86D59A}" type="presParOf" srcId="{C7C95081-032D-498A-9F3F-83B0EDA9F47F}" destId="{9D4DB662-C1D4-4B86-B43F-F1DE76DF68BC}" srcOrd="0" destOrd="0" presId="urn:microsoft.com/office/officeart/2005/8/layout/orgChart1"/>
    <dgm:cxn modelId="{25920A9F-4E98-48C6-AE37-2ECB80AD544F}" type="presParOf" srcId="{9D4DB662-C1D4-4B86-B43F-F1DE76DF68BC}" destId="{D8B46A23-C198-437C-ACFC-8D4E4A15EB9B}" srcOrd="0" destOrd="0" presId="urn:microsoft.com/office/officeart/2005/8/layout/orgChart1"/>
    <dgm:cxn modelId="{5CC70D71-5369-444D-8ADC-211F2E4A56AD}" type="presParOf" srcId="{9D4DB662-C1D4-4B86-B43F-F1DE76DF68BC}" destId="{9D0BAC7D-37B7-41AF-AC1A-B2AA52F8B46F}" srcOrd="1" destOrd="0" presId="urn:microsoft.com/office/officeart/2005/8/layout/orgChart1"/>
    <dgm:cxn modelId="{FFAC7C39-1F1D-456F-B58A-7C1CE9C0F766}" type="presParOf" srcId="{C7C95081-032D-498A-9F3F-83B0EDA9F47F}" destId="{69D839BB-A557-4B6E-BF38-3439B422CD7D}" srcOrd="1" destOrd="0" presId="urn:microsoft.com/office/officeart/2005/8/layout/orgChart1"/>
    <dgm:cxn modelId="{06A5341D-1CA0-408A-B4F0-29F29C76D3EC}" type="presParOf" srcId="{C7C95081-032D-498A-9F3F-83B0EDA9F47F}" destId="{55C889FF-5EA4-4B97-9AA2-FFF907127EC9}" srcOrd="2" destOrd="0" presId="urn:microsoft.com/office/officeart/2005/8/layout/orgChart1"/>
    <dgm:cxn modelId="{1DDB07EA-3988-49FC-97B6-6E1D09B14A4C}" type="presParOf" srcId="{5954C1A0-67AF-4509-91A9-8DD2CD03A95A}" destId="{2E7DC671-C32C-4B50-B1CD-52B10A370D49}" srcOrd="4" destOrd="0" presId="urn:microsoft.com/office/officeart/2005/8/layout/orgChart1"/>
    <dgm:cxn modelId="{0ABE3293-09FC-45F4-B182-E526FD55E77E}" type="presParOf" srcId="{5954C1A0-67AF-4509-91A9-8DD2CD03A95A}" destId="{9FE6D6F6-2613-43E1-AA3B-12265197369A}" srcOrd="5" destOrd="0" presId="urn:microsoft.com/office/officeart/2005/8/layout/orgChart1"/>
    <dgm:cxn modelId="{FD3EB10B-7A3B-4AF4-BBFB-3DA0A8CDCD19}" type="presParOf" srcId="{9FE6D6F6-2613-43E1-AA3B-12265197369A}" destId="{467A14FC-D71F-4C21-9833-1600F56DD897}" srcOrd="0" destOrd="0" presId="urn:microsoft.com/office/officeart/2005/8/layout/orgChart1"/>
    <dgm:cxn modelId="{A0675A2A-33A9-4623-ADE0-B4A2E89DB78F}" type="presParOf" srcId="{467A14FC-D71F-4C21-9833-1600F56DD897}" destId="{708ED6CF-B315-4FC1-92F2-35EA8A853C86}" srcOrd="0" destOrd="0" presId="urn:microsoft.com/office/officeart/2005/8/layout/orgChart1"/>
    <dgm:cxn modelId="{234708FC-AA6A-4491-9F55-D24FB0989239}" type="presParOf" srcId="{467A14FC-D71F-4C21-9833-1600F56DD897}" destId="{984323C9-169F-4B40-B5F9-73DAFF23F3B7}" srcOrd="1" destOrd="0" presId="urn:microsoft.com/office/officeart/2005/8/layout/orgChart1"/>
    <dgm:cxn modelId="{09418132-EB4D-4DFE-A7F5-71F674868FE9}" type="presParOf" srcId="{9FE6D6F6-2613-43E1-AA3B-12265197369A}" destId="{20260077-7502-4951-85D5-79B2B7CD5D72}" srcOrd="1" destOrd="0" presId="urn:microsoft.com/office/officeart/2005/8/layout/orgChart1"/>
    <dgm:cxn modelId="{1FF86180-EA67-4644-BA88-A29D6F58922E}" type="presParOf" srcId="{9FE6D6F6-2613-43E1-AA3B-12265197369A}" destId="{E4776169-23A4-43AC-AE3B-CFA34534512B}" srcOrd="2" destOrd="0" presId="urn:microsoft.com/office/officeart/2005/8/layout/orgChart1"/>
    <dgm:cxn modelId="{E8F98683-042D-4EB8-A91C-3D4FD769E1AB}" type="presParOf" srcId="{7C733C7F-633A-444C-BCC0-B1EDDD765014}" destId="{B55B4C73-F252-41E3-82CD-3A7D51BAB6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D6E5C04-A0EE-433E-97B9-11F11CBFA8E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6F7BC58-A843-41D8-ABDE-59BE38C314CB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Уровень цифровой готовности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(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Digital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Readliness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Level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)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63318C6B-C64A-43C8-98A6-FE9C271C0DFF}" type="parTrans" cxnId="{416373AB-DA19-4498-BD76-D177E8C9A041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BC5AB86E-E728-4B3D-894B-D3B1A946829F}" type="sibTrans" cxnId="{416373AB-DA19-4498-BD76-D177E8C9A041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FF99AE6C-86F7-4D38-8A97-60D49794E62B}">
      <dgm:prSet phldrT="[Текст]" custT="1"/>
      <dgm:spPr/>
      <dgm:t>
        <a:bodyPr/>
        <a:lstStyle/>
        <a:p>
          <a:r>
            <a:rPr lang="ru-RU" sz="1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Цифровая ДНК</a:t>
          </a:r>
        </a:p>
        <a:p>
          <a:r>
            <a:rPr lang="ru-RU" sz="1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▪ Покрытие основных процессов информационными системами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▪ Наличие и глубину интеграции между системами, в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т.ч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. возможность построения цифровой модели компании на базе существующих систем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▪ Уровень понимания долгосрочных цифровых технологических трендов, их корреляцию со стратегией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▪ Подходы к формированию портфеля цифровых инициатив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241F03DF-C901-477D-83DF-BB0066D00EBC}" type="parTrans" cxnId="{DC47E01E-EB2E-4588-93AA-8C8DE0A080E2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4FC0BE4C-03CA-473F-A03D-38CA50711C37}" type="sibTrans" cxnId="{DC47E01E-EB2E-4588-93AA-8C8DE0A080E2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C76895C5-0764-43A2-A5DD-802130547DCF}">
      <dgm:prSet custT="1"/>
      <dgm:spPr/>
      <dgm:t>
        <a:bodyPr/>
        <a:lstStyle/>
        <a:p>
          <a:r>
            <a:rPr lang="ru-RU" sz="1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Готовность институциональной среды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Степень готовности и зрелости цифровой экосистемы на отраслевом уровне (в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т.ч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. законодательной и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нормативноправовой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базы)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04DE2CD0-BC8F-4077-A8AB-C4D7BDAF7F33}" type="parTrans" cxnId="{8B187713-B2EA-42A9-880E-24B13866DC31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AE27B28F-DF6F-490D-900B-9A8F2C056693}" type="sibTrans" cxnId="{8B187713-B2EA-42A9-880E-24B13866DC31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02F561E7-5904-4618-8927-2F39CA255784}">
      <dgm:prSet custT="1"/>
      <dgm:spPr/>
      <dgm:t>
        <a:bodyPr/>
        <a:lstStyle/>
        <a:p>
          <a:r>
            <a:rPr lang="ru-RU" sz="1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Степень проникновения цифровых решений  </a:t>
          </a:r>
        </a:p>
        <a:p>
          <a:r>
            <a:rPr lang="ru-RU" sz="1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Уровень проникновения цифровых решений в основные процессы компании (AI, VR&amp;AR,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Blockchain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и др.)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48ABE6FD-9D32-4BEF-B79D-2F28C16DE275}" type="parTrans" cxnId="{1DA1AA46-4663-4730-8DC5-FEFF628C3EC9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500C552D-0CA2-45AE-A4E5-7996D9D20DA7}" type="sibTrans" cxnId="{1DA1AA46-4663-4730-8DC5-FEFF628C3EC9}">
      <dgm:prSet/>
      <dgm:spPr/>
      <dgm:t>
        <a:bodyPr/>
        <a:lstStyle/>
        <a:p>
          <a:endParaRPr lang="ru-RU" sz="4000">
            <a:latin typeface="Times New Roman" pitchFamily="18" charset="0"/>
            <a:cs typeface="Times New Roman" pitchFamily="18" charset="0"/>
          </a:endParaRPr>
        </a:p>
      </dgm:t>
    </dgm:pt>
    <dgm:pt modelId="{D76D0057-7B33-428E-B7B3-EA924DB17DA3}" type="pres">
      <dgm:prSet presAssocID="{FD6E5C04-A0EE-433E-97B9-11F11CBFA8E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7C733C7F-633A-444C-BCC0-B1EDDD765014}" type="pres">
      <dgm:prSet presAssocID="{F6F7BC58-A843-41D8-ABDE-59BE38C314CB}" presName="hierRoot1" presStyleCnt="0">
        <dgm:presLayoutVars>
          <dgm:hierBranch val="init"/>
        </dgm:presLayoutVars>
      </dgm:prSet>
      <dgm:spPr/>
    </dgm:pt>
    <dgm:pt modelId="{B73EF713-F773-43BF-9C2A-842E65083134}" type="pres">
      <dgm:prSet presAssocID="{F6F7BC58-A843-41D8-ABDE-59BE38C314CB}" presName="rootComposite1" presStyleCnt="0"/>
      <dgm:spPr/>
    </dgm:pt>
    <dgm:pt modelId="{CF1CAAC9-F0C2-4E0E-AD7A-AAF8263B9FC4}" type="pres">
      <dgm:prSet presAssocID="{F6F7BC58-A843-41D8-ABDE-59BE38C314CB}" presName="rootText1" presStyleLbl="node0" presStyleIdx="0" presStyleCnt="1" custScaleX="263031" custLinFactY="-3634" custLinFactNeighborX="611" custLinFactNeighborY="-1000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8C5772E-C603-44C2-A3D6-2EE916E3A4A6}" type="pres">
      <dgm:prSet presAssocID="{F6F7BC58-A843-41D8-ABDE-59BE38C314CB}" presName="rootConnector1" presStyleLbl="node1" presStyleIdx="0" presStyleCnt="0"/>
      <dgm:spPr/>
      <dgm:t>
        <a:bodyPr/>
        <a:lstStyle/>
        <a:p>
          <a:endParaRPr lang="ru-RU"/>
        </a:p>
      </dgm:t>
    </dgm:pt>
    <dgm:pt modelId="{5954C1A0-67AF-4509-91A9-8DD2CD03A95A}" type="pres">
      <dgm:prSet presAssocID="{F6F7BC58-A843-41D8-ABDE-59BE38C314CB}" presName="hierChild2" presStyleCnt="0"/>
      <dgm:spPr/>
    </dgm:pt>
    <dgm:pt modelId="{720E09A4-ED1E-4E7A-8C44-9E7B8358CD68}" type="pres">
      <dgm:prSet presAssocID="{241F03DF-C901-477D-83DF-BB0066D00EBC}" presName="Name37" presStyleLbl="parChTrans1D2" presStyleIdx="0" presStyleCnt="3"/>
      <dgm:spPr/>
      <dgm:t>
        <a:bodyPr/>
        <a:lstStyle/>
        <a:p>
          <a:endParaRPr lang="ru-RU"/>
        </a:p>
      </dgm:t>
    </dgm:pt>
    <dgm:pt modelId="{FC3A3F3B-B131-4B1A-9883-D376BAC8F3C3}" type="pres">
      <dgm:prSet presAssocID="{FF99AE6C-86F7-4D38-8A97-60D49794E62B}" presName="hierRoot2" presStyleCnt="0">
        <dgm:presLayoutVars>
          <dgm:hierBranch val="init"/>
        </dgm:presLayoutVars>
      </dgm:prSet>
      <dgm:spPr/>
    </dgm:pt>
    <dgm:pt modelId="{EDB5C6B7-B31D-48CD-A227-3B67851FF110}" type="pres">
      <dgm:prSet presAssocID="{FF99AE6C-86F7-4D38-8A97-60D49794E62B}" presName="rootComposite" presStyleCnt="0"/>
      <dgm:spPr/>
    </dgm:pt>
    <dgm:pt modelId="{320E893F-3A2B-4B1B-9C1B-CE7ADEB0048A}" type="pres">
      <dgm:prSet presAssocID="{FF99AE6C-86F7-4D38-8A97-60D49794E62B}" presName="rootText" presStyleLbl="node2" presStyleIdx="0" presStyleCnt="3" custScaleX="141175" custScaleY="36916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A1D933F-6555-4296-8A46-CDB3E43AAA06}" type="pres">
      <dgm:prSet presAssocID="{FF99AE6C-86F7-4D38-8A97-60D49794E62B}" presName="rootConnector" presStyleLbl="node2" presStyleIdx="0" presStyleCnt="3"/>
      <dgm:spPr/>
      <dgm:t>
        <a:bodyPr/>
        <a:lstStyle/>
        <a:p>
          <a:endParaRPr lang="ru-RU"/>
        </a:p>
      </dgm:t>
    </dgm:pt>
    <dgm:pt modelId="{55430BE0-E4AA-4AE0-B0E3-E0E61466F97E}" type="pres">
      <dgm:prSet presAssocID="{FF99AE6C-86F7-4D38-8A97-60D49794E62B}" presName="hierChild4" presStyleCnt="0"/>
      <dgm:spPr/>
    </dgm:pt>
    <dgm:pt modelId="{1DB38811-78A3-4081-8F90-6D456370A9DB}" type="pres">
      <dgm:prSet presAssocID="{FF99AE6C-86F7-4D38-8A97-60D49794E62B}" presName="hierChild5" presStyleCnt="0"/>
      <dgm:spPr/>
    </dgm:pt>
    <dgm:pt modelId="{54B3EAF2-9DA1-4989-A102-F3B8F28A0CF0}" type="pres">
      <dgm:prSet presAssocID="{04DE2CD0-BC8F-4077-A8AB-C4D7BDAF7F33}" presName="Name37" presStyleLbl="parChTrans1D2" presStyleIdx="1" presStyleCnt="3"/>
      <dgm:spPr/>
      <dgm:t>
        <a:bodyPr/>
        <a:lstStyle/>
        <a:p>
          <a:endParaRPr lang="ru-RU"/>
        </a:p>
      </dgm:t>
    </dgm:pt>
    <dgm:pt modelId="{C7C95081-032D-498A-9F3F-83B0EDA9F47F}" type="pres">
      <dgm:prSet presAssocID="{C76895C5-0764-43A2-A5DD-802130547DCF}" presName="hierRoot2" presStyleCnt="0">
        <dgm:presLayoutVars>
          <dgm:hierBranch val="init"/>
        </dgm:presLayoutVars>
      </dgm:prSet>
      <dgm:spPr/>
    </dgm:pt>
    <dgm:pt modelId="{9D4DB662-C1D4-4B86-B43F-F1DE76DF68BC}" type="pres">
      <dgm:prSet presAssocID="{C76895C5-0764-43A2-A5DD-802130547DCF}" presName="rootComposite" presStyleCnt="0"/>
      <dgm:spPr/>
    </dgm:pt>
    <dgm:pt modelId="{D8B46A23-C198-437C-ACFC-8D4E4A15EB9B}" type="pres">
      <dgm:prSet presAssocID="{C76895C5-0764-43A2-A5DD-802130547DCF}" presName="rootText" presStyleLbl="node2" presStyleIdx="1" presStyleCnt="3" custScaleY="34989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D0BAC7D-37B7-41AF-AC1A-B2AA52F8B46F}" type="pres">
      <dgm:prSet presAssocID="{C76895C5-0764-43A2-A5DD-802130547DCF}" presName="rootConnector" presStyleLbl="node2" presStyleIdx="1" presStyleCnt="3"/>
      <dgm:spPr/>
      <dgm:t>
        <a:bodyPr/>
        <a:lstStyle/>
        <a:p>
          <a:endParaRPr lang="ru-RU"/>
        </a:p>
      </dgm:t>
    </dgm:pt>
    <dgm:pt modelId="{69D839BB-A557-4B6E-BF38-3439B422CD7D}" type="pres">
      <dgm:prSet presAssocID="{C76895C5-0764-43A2-A5DD-802130547DCF}" presName="hierChild4" presStyleCnt="0"/>
      <dgm:spPr/>
    </dgm:pt>
    <dgm:pt modelId="{55C889FF-5EA4-4B97-9AA2-FFF907127EC9}" type="pres">
      <dgm:prSet presAssocID="{C76895C5-0764-43A2-A5DD-802130547DCF}" presName="hierChild5" presStyleCnt="0"/>
      <dgm:spPr/>
    </dgm:pt>
    <dgm:pt modelId="{2E7DC671-C32C-4B50-B1CD-52B10A370D49}" type="pres">
      <dgm:prSet presAssocID="{48ABE6FD-9D32-4BEF-B79D-2F28C16DE275}" presName="Name37" presStyleLbl="parChTrans1D2" presStyleIdx="2" presStyleCnt="3"/>
      <dgm:spPr/>
      <dgm:t>
        <a:bodyPr/>
        <a:lstStyle/>
        <a:p>
          <a:endParaRPr lang="ru-RU"/>
        </a:p>
      </dgm:t>
    </dgm:pt>
    <dgm:pt modelId="{9FE6D6F6-2613-43E1-AA3B-12265197369A}" type="pres">
      <dgm:prSet presAssocID="{02F561E7-5904-4618-8927-2F39CA255784}" presName="hierRoot2" presStyleCnt="0">
        <dgm:presLayoutVars>
          <dgm:hierBranch val="init"/>
        </dgm:presLayoutVars>
      </dgm:prSet>
      <dgm:spPr/>
    </dgm:pt>
    <dgm:pt modelId="{467A14FC-D71F-4C21-9833-1600F56DD897}" type="pres">
      <dgm:prSet presAssocID="{02F561E7-5904-4618-8927-2F39CA255784}" presName="rootComposite" presStyleCnt="0"/>
      <dgm:spPr/>
    </dgm:pt>
    <dgm:pt modelId="{708ED6CF-B315-4FC1-92F2-35EA8A853C86}" type="pres">
      <dgm:prSet presAssocID="{02F561E7-5904-4618-8927-2F39CA255784}" presName="rootText" presStyleLbl="node2" presStyleIdx="2" presStyleCnt="3" custScaleY="3530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84323C9-169F-4B40-B5F9-73DAFF23F3B7}" type="pres">
      <dgm:prSet presAssocID="{02F561E7-5904-4618-8927-2F39CA255784}" presName="rootConnector" presStyleLbl="node2" presStyleIdx="2" presStyleCnt="3"/>
      <dgm:spPr/>
      <dgm:t>
        <a:bodyPr/>
        <a:lstStyle/>
        <a:p>
          <a:endParaRPr lang="ru-RU"/>
        </a:p>
      </dgm:t>
    </dgm:pt>
    <dgm:pt modelId="{20260077-7502-4951-85D5-79B2B7CD5D72}" type="pres">
      <dgm:prSet presAssocID="{02F561E7-5904-4618-8927-2F39CA255784}" presName="hierChild4" presStyleCnt="0"/>
      <dgm:spPr/>
    </dgm:pt>
    <dgm:pt modelId="{E4776169-23A4-43AC-AE3B-CFA34534512B}" type="pres">
      <dgm:prSet presAssocID="{02F561E7-5904-4618-8927-2F39CA255784}" presName="hierChild5" presStyleCnt="0"/>
      <dgm:spPr/>
    </dgm:pt>
    <dgm:pt modelId="{B55B4C73-F252-41E3-82CD-3A7D51BAB6F4}" type="pres">
      <dgm:prSet presAssocID="{F6F7BC58-A843-41D8-ABDE-59BE38C314CB}" presName="hierChild3" presStyleCnt="0"/>
      <dgm:spPr/>
    </dgm:pt>
  </dgm:ptLst>
  <dgm:cxnLst>
    <dgm:cxn modelId="{C34796FB-B27A-4FDD-9AB1-A5F8E56037D4}" type="presOf" srcId="{C76895C5-0764-43A2-A5DD-802130547DCF}" destId="{D8B46A23-C198-437C-ACFC-8D4E4A15EB9B}" srcOrd="0" destOrd="0" presId="urn:microsoft.com/office/officeart/2005/8/layout/orgChart1"/>
    <dgm:cxn modelId="{216BAD76-1409-4E5A-91FB-60CB05BFF4EE}" type="presOf" srcId="{F6F7BC58-A843-41D8-ABDE-59BE38C314CB}" destId="{CF1CAAC9-F0C2-4E0E-AD7A-AAF8263B9FC4}" srcOrd="0" destOrd="0" presId="urn:microsoft.com/office/officeart/2005/8/layout/orgChart1"/>
    <dgm:cxn modelId="{7623513D-5657-4703-8F36-B7DE709966F4}" type="presOf" srcId="{F6F7BC58-A843-41D8-ABDE-59BE38C314CB}" destId="{D8C5772E-C603-44C2-A3D6-2EE916E3A4A6}" srcOrd="1" destOrd="0" presId="urn:microsoft.com/office/officeart/2005/8/layout/orgChart1"/>
    <dgm:cxn modelId="{1DA1AA46-4663-4730-8DC5-FEFF628C3EC9}" srcId="{F6F7BC58-A843-41D8-ABDE-59BE38C314CB}" destId="{02F561E7-5904-4618-8927-2F39CA255784}" srcOrd="2" destOrd="0" parTransId="{48ABE6FD-9D32-4BEF-B79D-2F28C16DE275}" sibTransId="{500C552D-0CA2-45AE-A4E5-7996D9D20DA7}"/>
    <dgm:cxn modelId="{A5220695-4927-427E-97FF-D44FE897A463}" type="presOf" srcId="{FF99AE6C-86F7-4D38-8A97-60D49794E62B}" destId="{320E893F-3A2B-4B1B-9C1B-CE7ADEB0048A}" srcOrd="0" destOrd="0" presId="urn:microsoft.com/office/officeart/2005/8/layout/orgChart1"/>
    <dgm:cxn modelId="{1AA01685-F206-4AE6-B357-6871EDCE5D88}" type="presOf" srcId="{C76895C5-0764-43A2-A5DD-802130547DCF}" destId="{9D0BAC7D-37B7-41AF-AC1A-B2AA52F8B46F}" srcOrd="1" destOrd="0" presId="urn:microsoft.com/office/officeart/2005/8/layout/orgChart1"/>
    <dgm:cxn modelId="{5EA73163-289D-409E-948F-BE86EBBC3FCC}" type="presOf" srcId="{02F561E7-5904-4618-8927-2F39CA255784}" destId="{708ED6CF-B315-4FC1-92F2-35EA8A853C86}" srcOrd="0" destOrd="0" presId="urn:microsoft.com/office/officeart/2005/8/layout/orgChart1"/>
    <dgm:cxn modelId="{C3A5991A-69F8-4BC9-A842-2DA2A3EA8811}" type="presOf" srcId="{02F561E7-5904-4618-8927-2F39CA255784}" destId="{984323C9-169F-4B40-B5F9-73DAFF23F3B7}" srcOrd="1" destOrd="0" presId="urn:microsoft.com/office/officeart/2005/8/layout/orgChart1"/>
    <dgm:cxn modelId="{505CE1FF-E0D3-4B2B-BE57-B868B7428D39}" type="presOf" srcId="{48ABE6FD-9D32-4BEF-B79D-2F28C16DE275}" destId="{2E7DC671-C32C-4B50-B1CD-52B10A370D49}" srcOrd="0" destOrd="0" presId="urn:microsoft.com/office/officeart/2005/8/layout/orgChart1"/>
    <dgm:cxn modelId="{0031B1FC-57FD-441D-BBD1-87B2E91E138D}" type="presOf" srcId="{241F03DF-C901-477D-83DF-BB0066D00EBC}" destId="{720E09A4-ED1E-4E7A-8C44-9E7B8358CD68}" srcOrd="0" destOrd="0" presId="urn:microsoft.com/office/officeart/2005/8/layout/orgChart1"/>
    <dgm:cxn modelId="{416373AB-DA19-4498-BD76-D177E8C9A041}" srcId="{FD6E5C04-A0EE-433E-97B9-11F11CBFA8E7}" destId="{F6F7BC58-A843-41D8-ABDE-59BE38C314CB}" srcOrd="0" destOrd="0" parTransId="{63318C6B-C64A-43C8-98A6-FE9C271C0DFF}" sibTransId="{BC5AB86E-E728-4B3D-894B-D3B1A946829F}"/>
    <dgm:cxn modelId="{DC47E01E-EB2E-4588-93AA-8C8DE0A080E2}" srcId="{F6F7BC58-A843-41D8-ABDE-59BE38C314CB}" destId="{FF99AE6C-86F7-4D38-8A97-60D49794E62B}" srcOrd="0" destOrd="0" parTransId="{241F03DF-C901-477D-83DF-BB0066D00EBC}" sibTransId="{4FC0BE4C-03CA-473F-A03D-38CA50711C37}"/>
    <dgm:cxn modelId="{19073E66-6E62-4CD6-8CAC-059AF0649771}" type="presOf" srcId="{FF99AE6C-86F7-4D38-8A97-60D49794E62B}" destId="{EA1D933F-6555-4296-8A46-CDB3E43AAA06}" srcOrd="1" destOrd="0" presId="urn:microsoft.com/office/officeart/2005/8/layout/orgChart1"/>
    <dgm:cxn modelId="{6736882B-63CB-41DD-AE31-29CA3C0D6CC0}" type="presOf" srcId="{04DE2CD0-BC8F-4077-A8AB-C4D7BDAF7F33}" destId="{54B3EAF2-9DA1-4989-A102-F3B8F28A0CF0}" srcOrd="0" destOrd="0" presId="urn:microsoft.com/office/officeart/2005/8/layout/orgChart1"/>
    <dgm:cxn modelId="{C0E7C18F-7D7F-4780-B1EA-D546ED0E3964}" type="presOf" srcId="{FD6E5C04-A0EE-433E-97B9-11F11CBFA8E7}" destId="{D76D0057-7B33-428E-B7B3-EA924DB17DA3}" srcOrd="0" destOrd="0" presId="urn:microsoft.com/office/officeart/2005/8/layout/orgChart1"/>
    <dgm:cxn modelId="{8B187713-B2EA-42A9-880E-24B13866DC31}" srcId="{F6F7BC58-A843-41D8-ABDE-59BE38C314CB}" destId="{C76895C5-0764-43A2-A5DD-802130547DCF}" srcOrd="1" destOrd="0" parTransId="{04DE2CD0-BC8F-4077-A8AB-C4D7BDAF7F33}" sibTransId="{AE27B28F-DF6F-490D-900B-9A8F2C056693}"/>
    <dgm:cxn modelId="{32B7FCE2-9C48-4325-A457-896D7836EBC9}" type="presParOf" srcId="{D76D0057-7B33-428E-B7B3-EA924DB17DA3}" destId="{7C733C7F-633A-444C-BCC0-B1EDDD765014}" srcOrd="0" destOrd="0" presId="urn:microsoft.com/office/officeart/2005/8/layout/orgChart1"/>
    <dgm:cxn modelId="{B1E751FF-6CAA-4C7A-8D7E-153E74BBCE98}" type="presParOf" srcId="{7C733C7F-633A-444C-BCC0-B1EDDD765014}" destId="{B73EF713-F773-43BF-9C2A-842E65083134}" srcOrd="0" destOrd="0" presId="urn:microsoft.com/office/officeart/2005/8/layout/orgChart1"/>
    <dgm:cxn modelId="{52F1C4A2-FA03-4547-82D8-86F451BB7DBD}" type="presParOf" srcId="{B73EF713-F773-43BF-9C2A-842E65083134}" destId="{CF1CAAC9-F0C2-4E0E-AD7A-AAF8263B9FC4}" srcOrd="0" destOrd="0" presId="urn:microsoft.com/office/officeart/2005/8/layout/orgChart1"/>
    <dgm:cxn modelId="{8BB7AA2C-A123-4616-BD44-A1561E103F2B}" type="presParOf" srcId="{B73EF713-F773-43BF-9C2A-842E65083134}" destId="{D8C5772E-C603-44C2-A3D6-2EE916E3A4A6}" srcOrd="1" destOrd="0" presId="urn:microsoft.com/office/officeart/2005/8/layout/orgChart1"/>
    <dgm:cxn modelId="{A55C2913-E51A-4755-9BA2-8A6ABE72D0BA}" type="presParOf" srcId="{7C733C7F-633A-444C-BCC0-B1EDDD765014}" destId="{5954C1A0-67AF-4509-91A9-8DD2CD03A95A}" srcOrd="1" destOrd="0" presId="urn:microsoft.com/office/officeart/2005/8/layout/orgChart1"/>
    <dgm:cxn modelId="{EFAAD8B1-29A0-4E16-A334-6F4EFE7B72E2}" type="presParOf" srcId="{5954C1A0-67AF-4509-91A9-8DD2CD03A95A}" destId="{720E09A4-ED1E-4E7A-8C44-9E7B8358CD68}" srcOrd="0" destOrd="0" presId="urn:microsoft.com/office/officeart/2005/8/layout/orgChart1"/>
    <dgm:cxn modelId="{A481E7CC-1425-4F10-BCBD-45E82A1D9FA8}" type="presParOf" srcId="{5954C1A0-67AF-4509-91A9-8DD2CD03A95A}" destId="{FC3A3F3B-B131-4B1A-9883-D376BAC8F3C3}" srcOrd="1" destOrd="0" presId="urn:microsoft.com/office/officeart/2005/8/layout/orgChart1"/>
    <dgm:cxn modelId="{452AC52F-82D7-4C01-8591-E490FD72C803}" type="presParOf" srcId="{FC3A3F3B-B131-4B1A-9883-D376BAC8F3C3}" destId="{EDB5C6B7-B31D-48CD-A227-3B67851FF110}" srcOrd="0" destOrd="0" presId="urn:microsoft.com/office/officeart/2005/8/layout/orgChart1"/>
    <dgm:cxn modelId="{78B0FA0F-BE13-4A29-8094-78DC18E79066}" type="presParOf" srcId="{EDB5C6B7-B31D-48CD-A227-3B67851FF110}" destId="{320E893F-3A2B-4B1B-9C1B-CE7ADEB0048A}" srcOrd="0" destOrd="0" presId="urn:microsoft.com/office/officeart/2005/8/layout/orgChart1"/>
    <dgm:cxn modelId="{3BFAD6B4-3D13-4C37-9088-634FF1A64CA3}" type="presParOf" srcId="{EDB5C6B7-B31D-48CD-A227-3B67851FF110}" destId="{EA1D933F-6555-4296-8A46-CDB3E43AAA06}" srcOrd="1" destOrd="0" presId="urn:microsoft.com/office/officeart/2005/8/layout/orgChart1"/>
    <dgm:cxn modelId="{593CAEE2-5EAF-4133-861D-2D9EC88D8D92}" type="presParOf" srcId="{FC3A3F3B-B131-4B1A-9883-D376BAC8F3C3}" destId="{55430BE0-E4AA-4AE0-B0E3-E0E61466F97E}" srcOrd="1" destOrd="0" presId="urn:microsoft.com/office/officeart/2005/8/layout/orgChart1"/>
    <dgm:cxn modelId="{AA414E5B-2BCC-4B61-99C6-F045BE58B2AF}" type="presParOf" srcId="{FC3A3F3B-B131-4B1A-9883-D376BAC8F3C3}" destId="{1DB38811-78A3-4081-8F90-6D456370A9DB}" srcOrd="2" destOrd="0" presId="urn:microsoft.com/office/officeart/2005/8/layout/orgChart1"/>
    <dgm:cxn modelId="{DDF38316-339A-4966-9480-CE792BC06279}" type="presParOf" srcId="{5954C1A0-67AF-4509-91A9-8DD2CD03A95A}" destId="{54B3EAF2-9DA1-4989-A102-F3B8F28A0CF0}" srcOrd="2" destOrd="0" presId="urn:microsoft.com/office/officeart/2005/8/layout/orgChart1"/>
    <dgm:cxn modelId="{CF579217-B90D-49DC-A957-A031E64822EA}" type="presParOf" srcId="{5954C1A0-67AF-4509-91A9-8DD2CD03A95A}" destId="{C7C95081-032D-498A-9F3F-83B0EDA9F47F}" srcOrd="3" destOrd="0" presId="urn:microsoft.com/office/officeart/2005/8/layout/orgChart1"/>
    <dgm:cxn modelId="{821734F7-017B-4FAF-A3F3-623E49B7597F}" type="presParOf" srcId="{C7C95081-032D-498A-9F3F-83B0EDA9F47F}" destId="{9D4DB662-C1D4-4B86-B43F-F1DE76DF68BC}" srcOrd="0" destOrd="0" presId="urn:microsoft.com/office/officeart/2005/8/layout/orgChart1"/>
    <dgm:cxn modelId="{D3231922-8C8B-4129-907B-5ACCB15D3738}" type="presParOf" srcId="{9D4DB662-C1D4-4B86-B43F-F1DE76DF68BC}" destId="{D8B46A23-C198-437C-ACFC-8D4E4A15EB9B}" srcOrd="0" destOrd="0" presId="urn:microsoft.com/office/officeart/2005/8/layout/orgChart1"/>
    <dgm:cxn modelId="{72F3EDBD-6942-4263-BAC4-C792116CE9B3}" type="presParOf" srcId="{9D4DB662-C1D4-4B86-B43F-F1DE76DF68BC}" destId="{9D0BAC7D-37B7-41AF-AC1A-B2AA52F8B46F}" srcOrd="1" destOrd="0" presId="urn:microsoft.com/office/officeart/2005/8/layout/orgChart1"/>
    <dgm:cxn modelId="{2C1C6B5D-2370-4F48-9F55-872267C6B8B2}" type="presParOf" srcId="{C7C95081-032D-498A-9F3F-83B0EDA9F47F}" destId="{69D839BB-A557-4B6E-BF38-3439B422CD7D}" srcOrd="1" destOrd="0" presId="urn:microsoft.com/office/officeart/2005/8/layout/orgChart1"/>
    <dgm:cxn modelId="{E615A630-2D1D-4CA9-B8D3-8FCAE18F23EC}" type="presParOf" srcId="{C7C95081-032D-498A-9F3F-83B0EDA9F47F}" destId="{55C889FF-5EA4-4B97-9AA2-FFF907127EC9}" srcOrd="2" destOrd="0" presId="urn:microsoft.com/office/officeart/2005/8/layout/orgChart1"/>
    <dgm:cxn modelId="{656544D2-70B9-45EE-AE0D-D5E0F91834AA}" type="presParOf" srcId="{5954C1A0-67AF-4509-91A9-8DD2CD03A95A}" destId="{2E7DC671-C32C-4B50-B1CD-52B10A370D49}" srcOrd="4" destOrd="0" presId="urn:microsoft.com/office/officeart/2005/8/layout/orgChart1"/>
    <dgm:cxn modelId="{7CC4C72E-60C8-4A02-99B3-FA24283209F6}" type="presParOf" srcId="{5954C1A0-67AF-4509-91A9-8DD2CD03A95A}" destId="{9FE6D6F6-2613-43E1-AA3B-12265197369A}" srcOrd="5" destOrd="0" presId="urn:microsoft.com/office/officeart/2005/8/layout/orgChart1"/>
    <dgm:cxn modelId="{5BACBB34-3B10-4E4B-BBBB-D92CCD6FD2F1}" type="presParOf" srcId="{9FE6D6F6-2613-43E1-AA3B-12265197369A}" destId="{467A14FC-D71F-4C21-9833-1600F56DD897}" srcOrd="0" destOrd="0" presId="urn:microsoft.com/office/officeart/2005/8/layout/orgChart1"/>
    <dgm:cxn modelId="{CE1793FF-847E-4839-AAFE-A5387AACF25C}" type="presParOf" srcId="{467A14FC-D71F-4C21-9833-1600F56DD897}" destId="{708ED6CF-B315-4FC1-92F2-35EA8A853C86}" srcOrd="0" destOrd="0" presId="urn:microsoft.com/office/officeart/2005/8/layout/orgChart1"/>
    <dgm:cxn modelId="{314351F4-FF87-410C-AA1A-A8884239B043}" type="presParOf" srcId="{467A14FC-D71F-4C21-9833-1600F56DD897}" destId="{984323C9-169F-4B40-B5F9-73DAFF23F3B7}" srcOrd="1" destOrd="0" presId="urn:microsoft.com/office/officeart/2005/8/layout/orgChart1"/>
    <dgm:cxn modelId="{66ECEA31-5513-4AC2-B29A-82EF9837D12E}" type="presParOf" srcId="{9FE6D6F6-2613-43E1-AA3B-12265197369A}" destId="{20260077-7502-4951-85D5-79B2B7CD5D72}" srcOrd="1" destOrd="0" presId="urn:microsoft.com/office/officeart/2005/8/layout/orgChart1"/>
    <dgm:cxn modelId="{4C366E21-47B9-4032-AE02-EC2D148E4C32}" type="presParOf" srcId="{9FE6D6F6-2613-43E1-AA3B-12265197369A}" destId="{E4776169-23A4-43AC-AE3B-CFA34534512B}" srcOrd="2" destOrd="0" presId="urn:microsoft.com/office/officeart/2005/8/layout/orgChart1"/>
    <dgm:cxn modelId="{691D9F06-9DCD-4406-B033-BE45D5F1CD50}" type="presParOf" srcId="{7C733C7F-633A-444C-BCC0-B1EDDD765014}" destId="{B55B4C73-F252-41E3-82CD-3A7D51BAB6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93836DF7-7F2C-4480-A3C2-CCE2AF815AB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363D80C-9C3B-49AB-BCB7-D1C92077D40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финансовый учёт и отчётность;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1DD8532-7981-43FF-8CA4-513F6E4FE17A}" type="parTrans" cxnId="{643C076E-DD98-462C-A2FC-804F97DCC15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BB34F4E-7DA2-4E11-82B2-8D3A1E0272F7}" type="sibTrans" cxnId="{643C076E-DD98-462C-A2FC-804F97DCC15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8555066-8A7C-492C-8731-0AFD936CA776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управление запасами и логистика;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A38CE0D-EAA4-4CAB-B4E1-3E1B2650A9B7}" type="parTrans" cxnId="{2A9A3E87-FDDD-4094-AD26-10B2518048C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1265947-B2BA-4EE9-A657-4496509C5415}" type="sibTrans" cxnId="{2A9A3E87-FDDD-4094-AD26-10B2518048C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FF1F8D0-4C51-4712-B42B-B6FFD03953B8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производственные операции и планирование (формирование заказов, расчёт себестоимости, планирование загрузки оборудования);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15651F9-30E4-4B0C-B02A-F4CD108E85AB}" type="parTrans" cxnId="{50D3079E-BF4F-47E9-ACA1-536E4F502F6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B5C1718-57A5-4193-9651-84DFB83DD2A8}" type="sibTrans" cxnId="{50D3079E-BF4F-47E9-ACA1-536E4F502F6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9FA8ABE-832C-4E7A-8D14-D29A39844FF5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закупки и снабжение (управление цепочками поставок, автоматизация заявок на закупку);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8FEE154-2D00-4B98-9F9D-3484E6E4B5F4}" type="parTrans" cxnId="{97B5265B-944C-49FF-8103-5F9229B88FB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045007A-2439-486F-928B-9596916F3AA1}" type="sibTrans" cxnId="{97B5265B-944C-49FF-8103-5F9229B88FB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DA08B75-6BFF-49C0-9859-BED116D4D09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кадровый учёт и расчёт зарплат.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3FA43A7-136F-438B-B5A5-7AA478B4C958}" type="parTrans" cxnId="{A59F15CA-F140-415D-A1F3-EAED40AFA8F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3109B9C-87E6-4A79-8BCD-4A6814C4828E}" type="sibTrans" cxnId="{A59F15CA-F140-415D-A1F3-EAED40AFA8F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221EC3D-6357-416A-B5DC-4F0223BC1667}" type="pres">
      <dgm:prSet presAssocID="{93836DF7-7F2C-4480-A3C2-CCE2AF815AB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880A957-B917-4CB0-9250-3F5BE8449678}" type="pres">
      <dgm:prSet presAssocID="{E363D80C-9C3B-49AB-BCB7-D1C92077D405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94D14CC-4F82-4F3B-96B3-1A3B32ABCC71}" type="pres">
      <dgm:prSet presAssocID="{0BB34F4E-7DA2-4E11-82B2-8D3A1E0272F7}" presName="sibTrans" presStyleCnt="0"/>
      <dgm:spPr/>
    </dgm:pt>
    <dgm:pt modelId="{90F16F02-C7A2-4F71-A77D-64B8186682DD}" type="pres">
      <dgm:prSet presAssocID="{B8555066-8A7C-492C-8731-0AFD936CA77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4A5815-CA97-4C27-84EE-99E5428CCC40}" type="pres">
      <dgm:prSet presAssocID="{21265947-B2BA-4EE9-A657-4496509C5415}" presName="sibTrans" presStyleCnt="0"/>
      <dgm:spPr/>
    </dgm:pt>
    <dgm:pt modelId="{E2D83934-F0E0-4AC0-A3E2-0D1AE80BD3D1}" type="pres">
      <dgm:prSet presAssocID="{5FF1F8D0-4C51-4712-B42B-B6FFD03953B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BB128D-86EC-4B28-9C4B-B1CA9939F74D}" type="pres">
      <dgm:prSet presAssocID="{6B5C1718-57A5-4193-9651-84DFB83DD2A8}" presName="sibTrans" presStyleCnt="0"/>
      <dgm:spPr/>
    </dgm:pt>
    <dgm:pt modelId="{58A0396E-8B8A-4820-9A4F-C7B551D7014D}" type="pres">
      <dgm:prSet presAssocID="{C9FA8ABE-832C-4E7A-8D14-D29A39844FF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F0539D-2867-4A20-A29F-42272EE4E162}" type="pres">
      <dgm:prSet presAssocID="{C045007A-2439-486F-928B-9596916F3AA1}" presName="sibTrans" presStyleCnt="0"/>
      <dgm:spPr/>
    </dgm:pt>
    <dgm:pt modelId="{DD7E1847-A40A-4C6C-B17A-7C57BC744FF6}" type="pres">
      <dgm:prSet presAssocID="{2DA08B75-6BFF-49C0-9859-BED116D4D094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ACA8406-A730-4CDB-ABB7-44CE533361C6}" type="presOf" srcId="{93836DF7-7F2C-4480-A3C2-CCE2AF815ABA}" destId="{E221EC3D-6357-416A-B5DC-4F0223BC1667}" srcOrd="0" destOrd="0" presId="urn:microsoft.com/office/officeart/2005/8/layout/default"/>
    <dgm:cxn modelId="{50D3079E-BF4F-47E9-ACA1-536E4F502F6E}" srcId="{93836DF7-7F2C-4480-A3C2-CCE2AF815ABA}" destId="{5FF1F8D0-4C51-4712-B42B-B6FFD03953B8}" srcOrd="2" destOrd="0" parTransId="{915651F9-30E4-4B0C-B02A-F4CD108E85AB}" sibTransId="{6B5C1718-57A5-4193-9651-84DFB83DD2A8}"/>
    <dgm:cxn modelId="{97B5265B-944C-49FF-8103-5F9229B88FB4}" srcId="{93836DF7-7F2C-4480-A3C2-CCE2AF815ABA}" destId="{C9FA8ABE-832C-4E7A-8D14-D29A39844FF5}" srcOrd="3" destOrd="0" parTransId="{B8FEE154-2D00-4B98-9F9D-3484E6E4B5F4}" sibTransId="{C045007A-2439-486F-928B-9596916F3AA1}"/>
    <dgm:cxn modelId="{643C076E-DD98-462C-A2FC-804F97DCC151}" srcId="{93836DF7-7F2C-4480-A3C2-CCE2AF815ABA}" destId="{E363D80C-9C3B-49AB-BCB7-D1C92077D405}" srcOrd="0" destOrd="0" parTransId="{71DD8532-7981-43FF-8CA4-513F6E4FE17A}" sibTransId="{0BB34F4E-7DA2-4E11-82B2-8D3A1E0272F7}"/>
    <dgm:cxn modelId="{87BF6853-A46E-46B6-8641-AD6AB9FC8A30}" type="presOf" srcId="{C9FA8ABE-832C-4E7A-8D14-D29A39844FF5}" destId="{58A0396E-8B8A-4820-9A4F-C7B551D7014D}" srcOrd="0" destOrd="0" presId="urn:microsoft.com/office/officeart/2005/8/layout/default"/>
    <dgm:cxn modelId="{2A9A3E87-FDDD-4094-AD26-10B2518048C9}" srcId="{93836DF7-7F2C-4480-A3C2-CCE2AF815ABA}" destId="{B8555066-8A7C-492C-8731-0AFD936CA776}" srcOrd="1" destOrd="0" parTransId="{EA38CE0D-EAA4-4CAB-B4E1-3E1B2650A9B7}" sibTransId="{21265947-B2BA-4EE9-A657-4496509C5415}"/>
    <dgm:cxn modelId="{A59F15CA-F140-415D-A1F3-EAED40AFA8F1}" srcId="{93836DF7-7F2C-4480-A3C2-CCE2AF815ABA}" destId="{2DA08B75-6BFF-49C0-9859-BED116D4D094}" srcOrd="4" destOrd="0" parTransId="{63FA43A7-136F-438B-B5A5-7AA478B4C958}" sibTransId="{83109B9C-87E6-4A79-8BCD-4A6814C4828E}"/>
    <dgm:cxn modelId="{0D30B535-3EFF-4741-B521-FAAE487AD5DB}" type="presOf" srcId="{E363D80C-9C3B-49AB-BCB7-D1C92077D405}" destId="{F880A957-B917-4CB0-9250-3F5BE8449678}" srcOrd="0" destOrd="0" presId="urn:microsoft.com/office/officeart/2005/8/layout/default"/>
    <dgm:cxn modelId="{A0813D97-97B4-47D2-9EC3-8C17C390443D}" type="presOf" srcId="{5FF1F8D0-4C51-4712-B42B-B6FFD03953B8}" destId="{E2D83934-F0E0-4AC0-A3E2-0D1AE80BD3D1}" srcOrd="0" destOrd="0" presId="urn:microsoft.com/office/officeart/2005/8/layout/default"/>
    <dgm:cxn modelId="{CBFDD0A6-46CE-42E2-BC92-FB410D0B042B}" type="presOf" srcId="{2DA08B75-6BFF-49C0-9859-BED116D4D094}" destId="{DD7E1847-A40A-4C6C-B17A-7C57BC744FF6}" srcOrd="0" destOrd="0" presId="urn:microsoft.com/office/officeart/2005/8/layout/default"/>
    <dgm:cxn modelId="{FCB9D00E-F5C2-43C8-9D90-6EC5C92025AA}" type="presOf" srcId="{B8555066-8A7C-492C-8731-0AFD936CA776}" destId="{90F16F02-C7A2-4F71-A77D-64B8186682DD}" srcOrd="0" destOrd="0" presId="urn:microsoft.com/office/officeart/2005/8/layout/default"/>
    <dgm:cxn modelId="{A9C6644A-263E-4E0A-A70A-5BE08A7A4359}" type="presParOf" srcId="{E221EC3D-6357-416A-B5DC-4F0223BC1667}" destId="{F880A957-B917-4CB0-9250-3F5BE8449678}" srcOrd="0" destOrd="0" presId="urn:microsoft.com/office/officeart/2005/8/layout/default"/>
    <dgm:cxn modelId="{1DC8A1CB-216E-4618-ADBC-A2F65B00CC9E}" type="presParOf" srcId="{E221EC3D-6357-416A-B5DC-4F0223BC1667}" destId="{894D14CC-4F82-4F3B-96B3-1A3B32ABCC71}" srcOrd="1" destOrd="0" presId="urn:microsoft.com/office/officeart/2005/8/layout/default"/>
    <dgm:cxn modelId="{8413F155-6361-4633-BAE7-2F040DFFC880}" type="presParOf" srcId="{E221EC3D-6357-416A-B5DC-4F0223BC1667}" destId="{90F16F02-C7A2-4F71-A77D-64B8186682DD}" srcOrd="2" destOrd="0" presId="urn:microsoft.com/office/officeart/2005/8/layout/default"/>
    <dgm:cxn modelId="{BEDC9871-41F0-4A40-98DB-01452BE4C179}" type="presParOf" srcId="{E221EC3D-6357-416A-B5DC-4F0223BC1667}" destId="{C24A5815-CA97-4C27-84EE-99E5428CCC40}" srcOrd="3" destOrd="0" presId="urn:microsoft.com/office/officeart/2005/8/layout/default"/>
    <dgm:cxn modelId="{EFC7EEC1-15AC-4959-A7C5-DDB14E884AB4}" type="presParOf" srcId="{E221EC3D-6357-416A-B5DC-4F0223BC1667}" destId="{E2D83934-F0E0-4AC0-A3E2-0D1AE80BD3D1}" srcOrd="4" destOrd="0" presId="urn:microsoft.com/office/officeart/2005/8/layout/default"/>
    <dgm:cxn modelId="{4F258CC9-664D-4065-A1BC-B63E5FD52443}" type="presParOf" srcId="{E221EC3D-6357-416A-B5DC-4F0223BC1667}" destId="{70BB128D-86EC-4B28-9C4B-B1CA9939F74D}" srcOrd="5" destOrd="0" presId="urn:microsoft.com/office/officeart/2005/8/layout/default"/>
    <dgm:cxn modelId="{D37C1E63-1A2E-435B-9EDF-AF1F2D557B2B}" type="presParOf" srcId="{E221EC3D-6357-416A-B5DC-4F0223BC1667}" destId="{58A0396E-8B8A-4820-9A4F-C7B551D7014D}" srcOrd="6" destOrd="0" presId="urn:microsoft.com/office/officeart/2005/8/layout/default"/>
    <dgm:cxn modelId="{96AF1099-CFB0-4E06-91EE-0649132F92A8}" type="presParOf" srcId="{E221EC3D-6357-416A-B5DC-4F0223BC1667}" destId="{BCF0539D-2867-4A20-A29F-42272EE4E162}" srcOrd="7" destOrd="0" presId="urn:microsoft.com/office/officeart/2005/8/layout/default"/>
    <dgm:cxn modelId="{E272AD81-46A0-4100-8F5E-647261B46787}" type="presParOf" srcId="{E221EC3D-6357-416A-B5DC-4F0223BC1667}" destId="{DD7E1847-A40A-4C6C-B17A-7C57BC744FF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93836DF7-7F2C-4480-A3C2-CCE2AF815AB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8D729EB-367E-4186-9B88-860C7201498A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контроль производственных операций (в режиме реального времени следить за выполнением заданий, отслеживать отклонения от плана);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5662D5D4-8B83-4125-A611-94F8C9487EA9}" type="parTrans" cxnId="{6FA56527-DC66-49EF-A05D-12F9FD32C81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AE0B3B5-D3DF-4051-AA1D-E3A9A9F708D9}" type="sibTrans" cxnId="{6FA56527-DC66-49EF-A05D-12F9FD32C81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C91F106-1966-4F17-802B-FEA3D2D2A710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сбор и обработка данных (системы фиксируют ключевые параметры: от производительности оборудования до объёмов продукции и расхода ресурсов);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F3B7F8BE-26AB-40DA-A36B-A9D16993CD97}" type="parTrans" cxnId="{5DE4DCD5-3B2C-4C7D-8D4A-8207A8E305E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ED04D10-D228-464F-B6F4-F26A59ECDAB0}" type="sibTrans" cxnId="{5DE4DCD5-3B2C-4C7D-8D4A-8207A8E305E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4D13B7F-F96C-481C-9140-113B1C14B148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контроль качества (MES интегрируют инструменты проверки качества, позволяя оперативно выявлять и устранять дефекты);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BEB25FF7-09AB-4495-9097-87AD6EE38CE7}" type="parTrans" cxnId="{7141B6BA-B0BC-4104-8F1F-BAC7A979243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FCE57EA-82BB-4BBE-8543-86D3A408D586}" type="sibTrans" cxnId="{7141B6BA-B0BC-4104-8F1F-BAC7A979243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6551BFAA-7921-4C01-9841-C621737742FC}">
      <dgm:prSet custT="1"/>
      <dgm:spPr/>
      <dgm:t>
        <a:bodyPr/>
        <a:lstStyle/>
        <a:p>
          <a:r>
            <a:rPr lang="ru-RU" sz="1400" smtClean="0">
              <a:latin typeface="Times New Roman" pitchFamily="18" charset="0"/>
              <a:cs typeface="Times New Roman" pitchFamily="18" charset="0"/>
            </a:rPr>
            <a:t>прослеживаемость производства (системы хранят полную историю создания продукции: от использованных материалов до этапов сборки).</a:t>
          </a:r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E7DE8117-10CE-4DDC-95EF-E11ACCD00656}" type="parTrans" cxnId="{9B6FE9A0-9686-49FB-92A3-A2637ECB0C23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10703D2-324F-4FBF-938F-F63F85B6FE37}" type="sibTrans" cxnId="{9B6FE9A0-9686-49FB-92A3-A2637ECB0C23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221EC3D-6357-416A-B5DC-4F0223BC1667}" type="pres">
      <dgm:prSet presAssocID="{93836DF7-7F2C-4480-A3C2-CCE2AF815AB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6629CE0-B13E-4AB4-896B-5D47D9C96AB5}" type="pres">
      <dgm:prSet presAssocID="{18D729EB-367E-4186-9B88-860C7201498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081FCC-F123-4FA3-95BC-98A7C9E3FC4F}" type="pres">
      <dgm:prSet presAssocID="{EAE0B3B5-D3DF-4051-AA1D-E3A9A9F708D9}" presName="sibTrans" presStyleCnt="0"/>
      <dgm:spPr/>
    </dgm:pt>
    <dgm:pt modelId="{0EFD8A5F-671F-4231-8B9E-DDEBC59218BF}" type="pres">
      <dgm:prSet presAssocID="{4C91F106-1966-4F17-802B-FEA3D2D2A710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347A2D-317F-4165-AB42-6850F453FFF2}" type="pres">
      <dgm:prSet presAssocID="{1ED04D10-D228-464F-B6F4-F26A59ECDAB0}" presName="sibTrans" presStyleCnt="0"/>
      <dgm:spPr/>
    </dgm:pt>
    <dgm:pt modelId="{1CC39416-4E38-433A-8487-449B93CF756C}" type="pres">
      <dgm:prSet presAssocID="{14D13B7F-F96C-481C-9140-113B1C14B14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5558FB-615E-4241-B5C8-68468C521836}" type="pres">
      <dgm:prSet presAssocID="{5FCE57EA-82BB-4BBE-8543-86D3A408D586}" presName="sibTrans" presStyleCnt="0"/>
      <dgm:spPr/>
    </dgm:pt>
    <dgm:pt modelId="{72F104D4-D24C-4664-9808-C6C7108BD3D9}" type="pres">
      <dgm:prSet presAssocID="{6551BFAA-7921-4C01-9841-C621737742F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B6FE9A0-9686-49FB-92A3-A2637ECB0C23}" srcId="{93836DF7-7F2C-4480-A3C2-CCE2AF815ABA}" destId="{6551BFAA-7921-4C01-9841-C621737742FC}" srcOrd="3" destOrd="0" parTransId="{E7DE8117-10CE-4DDC-95EF-E11ACCD00656}" sibTransId="{710703D2-324F-4FBF-938F-F63F85B6FE37}"/>
    <dgm:cxn modelId="{7CFB443B-F6B6-46C7-BB5D-157F33582552}" type="presOf" srcId="{4C91F106-1966-4F17-802B-FEA3D2D2A710}" destId="{0EFD8A5F-671F-4231-8B9E-DDEBC59218BF}" srcOrd="0" destOrd="0" presId="urn:microsoft.com/office/officeart/2005/8/layout/default"/>
    <dgm:cxn modelId="{367BAA57-69BF-402F-8014-7384F1CB77D5}" type="presOf" srcId="{18D729EB-367E-4186-9B88-860C7201498A}" destId="{96629CE0-B13E-4AB4-896B-5D47D9C96AB5}" srcOrd="0" destOrd="0" presId="urn:microsoft.com/office/officeart/2005/8/layout/default"/>
    <dgm:cxn modelId="{5DE4DCD5-3B2C-4C7D-8D4A-8207A8E305E8}" srcId="{93836DF7-7F2C-4480-A3C2-CCE2AF815ABA}" destId="{4C91F106-1966-4F17-802B-FEA3D2D2A710}" srcOrd="1" destOrd="0" parTransId="{F3B7F8BE-26AB-40DA-A36B-A9D16993CD97}" sibTransId="{1ED04D10-D228-464F-B6F4-F26A59ECDAB0}"/>
    <dgm:cxn modelId="{90026BE3-0F97-4F71-97F8-6E17F88B2E91}" type="presOf" srcId="{93836DF7-7F2C-4480-A3C2-CCE2AF815ABA}" destId="{E221EC3D-6357-416A-B5DC-4F0223BC1667}" srcOrd="0" destOrd="0" presId="urn:microsoft.com/office/officeart/2005/8/layout/default"/>
    <dgm:cxn modelId="{EA1A7AC2-A1AA-4F0E-83FB-E18142780120}" type="presOf" srcId="{6551BFAA-7921-4C01-9841-C621737742FC}" destId="{72F104D4-D24C-4664-9808-C6C7108BD3D9}" srcOrd="0" destOrd="0" presId="urn:microsoft.com/office/officeart/2005/8/layout/default"/>
    <dgm:cxn modelId="{7141B6BA-B0BC-4104-8F1F-BAC7A9792432}" srcId="{93836DF7-7F2C-4480-A3C2-CCE2AF815ABA}" destId="{14D13B7F-F96C-481C-9140-113B1C14B148}" srcOrd="2" destOrd="0" parTransId="{BEB25FF7-09AB-4495-9097-87AD6EE38CE7}" sibTransId="{5FCE57EA-82BB-4BBE-8543-86D3A408D586}"/>
    <dgm:cxn modelId="{42F6BE30-2089-4749-AF01-997F30213686}" type="presOf" srcId="{14D13B7F-F96C-481C-9140-113B1C14B148}" destId="{1CC39416-4E38-433A-8487-449B93CF756C}" srcOrd="0" destOrd="0" presId="urn:microsoft.com/office/officeart/2005/8/layout/default"/>
    <dgm:cxn modelId="{6FA56527-DC66-49EF-A05D-12F9FD32C81A}" srcId="{93836DF7-7F2C-4480-A3C2-CCE2AF815ABA}" destId="{18D729EB-367E-4186-9B88-860C7201498A}" srcOrd="0" destOrd="0" parTransId="{5662D5D4-8B83-4125-A611-94F8C9487EA9}" sibTransId="{EAE0B3B5-D3DF-4051-AA1D-E3A9A9F708D9}"/>
    <dgm:cxn modelId="{4FF77BD4-D98F-4635-BCA4-0ABAEB7B4AB6}" type="presParOf" srcId="{E221EC3D-6357-416A-B5DC-4F0223BC1667}" destId="{96629CE0-B13E-4AB4-896B-5D47D9C96AB5}" srcOrd="0" destOrd="0" presId="urn:microsoft.com/office/officeart/2005/8/layout/default"/>
    <dgm:cxn modelId="{3DEDDBA2-2C9E-4847-8FEC-0D475ECA394F}" type="presParOf" srcId="{E221EC3D-6357-416A-B5DC-4F0223BC1667}" destId="{6D081FCC-F123-4FA3-95BC-98A7C9E3FC4F}" srcOrd="1" destOrd="0" presId="urn:microsoft.com/office/officeart/2005/8/layout/default"/>
    <dgm:cxn modelId="{5618964D-83DC-41A2-A94E-A16D16C36C37}" type="presParOf" srcId="{E221EC3D-6357-416A-B5DC-4F0223BC1667}" destId="{0EFD8A5F-671F-4231-8B9E-DDEBC59218BF}" srcOrd="2" destOrd="0" presId="urn:microsoft.com/office/officeart/2005/8/layout/default"/>
    <dgm:cxn modelId="{53F304BC-F67F-42D3-A4D4-0B6E47C13327}" type="presParOf" srcId="{E221EC3D-6357-416A-B5DC-4F0223BC1667}" destId="{63347A2D-317F-4165-AB42-6850F453FFF2}" srcOrd="3" destOrd="0" presId="urn:microsoft.com/office/officeart/2005/8/layout/default"/>
    <dgm:cxn modelId="{DF6CA476-D4BB-4F13-BBCF-AE4F221769CD}" type="presParOf" srcId="{E221EC3D-6357-416A-B5DC-4F0223BC1667}" destId="{1CC39416-4E38-433A-8487-449B93CF756C}" srcOrd="4" destOrd="0" presId="urn:microsoft.com/office/officeart/2005/8/layout/default"/>
    <dgm:cxn modelId="{BEEE6B6D-12DE-4E5D-A4E2-7377E1B2EBEF}" type="presParOf" srcId="{E221EC3D-6357-416A-B5DC-4F0223BC1667}" destId="{B75558FB-615E-4241-B5C8-68468C521836}" srcOrd="5" destOrd="0" presId="urn:microsoft.com/office/officeart/2005/8/layout/default"/>
    <dgm:cxn modelId="{6296D096-2D1D-4DBB-BA6F-34D4E6385BF9}" type="presParOf" srcId="{E221EC3D-6357-416A-B5DC-4F0223BC1667}" destId="{72F104D4-D24C-4664-9808-C6C7108BD3D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2EDA8A05-7210-48CD-92C3-F42B70CC0E4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AC28764-2F7D-420B-BDA7-9D885EEAA01B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Измерительные приборы - для измерения различных величин (термометры, манометры, датчики уровня).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B2DBB067-F4DA-4528-A26B-18868069B053}" type="parTrans" cxnId="{E5B1F8FD-B0F3-40E5-AA12-E866D030D91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64A8198-16EA-480D-9C46-283342F3C202}" type="sibTrans" cxnId="{E5B1F8FD-B0F3-40E5-AA12-E866D030D91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13FD27E-64C4-4FA7-B015-04193862854F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Регулирующие устройства - обеспечивают автоматическую настройку и регулировку параметров системы (регуляторы давления, регуляторы температуры, электромеханические приводы).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875DC2A1-22EB-450E-A0B1-A46C8909C8EC}" type="parTrans" cxnId="{42EEE849-A848-4D4C-B1C3-B6C65B93CC0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9AD4205-D9B4-41F6-8FEB-B045B6CB32C1}" type="sibTrans" cxnId="{42EEE849-A848-4D4C-B1C3-B6C65B93CC08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CA20B6B-F7DF-4728-BFFF-CB59532AFA38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Контролирующие системы - отслеживают работоспособность и состояние оборудования (системы автоматического контроля, алгоритмы аварийной сигнализации).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7114C78B-FFB2-464C-965B-11947C7E2A74}" type="parTrans" cxnId="{D929BF56-732F-4AD8-BDFE-6953DB3839E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5733EDA-B47A-48BA-8BA6-F783A0FFB256}" type="sibTrans" cxnId="{D929BF56-732F-4AD8-BDFE-6953DB3839E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49E0AE9-F223-456A-A7A1-3DA50E8EB2FC}" type="pres">
      <dgm:prSet presAssocID="{2EDA8A05-7210-48CD-92C3-F42B70CC0E4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4E7C94B-30BC-42F4-9CC8-0620BABD6CF9}" type="pres">
      <dgm:prSet presAssocID="{7AC28764-2F7D-420B-BDA7-9D885EEAA01B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F98FDEA-9563-4486-B20B-BABF8942F40E}" type="pres">
      <dgm:prSet presAssocID="{064A8198-16EA-480D-9C46-283342F3C202}" presName="sibTrans" presStyleCnt="0"/>
      <dgm:spPr/>
    </dgm:pt>
    <dgm:pt modelId="{34502941-595E-41FD-8F8E-1BDAFD3A2F41}" type="pres">
      <dgm:prSet presAssocID="{113FD27E-64C4-4FA7-B015-04193862854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ACDE70A-D307-4C3C-8A97-21BA567DD43E}" type="pres">
      <dgm:prSet presAssocID="{A9AD4205-D9B4-41F6-8FEB-B045B6CB32C1}" presName="sibTrans" presStyleCnt="0"/>
      <dgm:spPr/>
    </dgm:pt>
    <dgm:pt modelId="{E8BF8650-AFE6-4200-8C5A-A166605D7497}" type="pres">
      <dgm:prSet presAssocID="{3CA20B6B-F7DF-4728-BFFF-CB59532AFA38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929BF56-732F-4AD8-BDFE-6953DB3839E5}" srcId="{2EDA8A05-7210-48CD-92C3-F42B70CC0E45}" destId="{3CA20B6B-F7DF-4728-BFFF-CB59532AFA38}" srcOrd="2" destOrd="0" parTransId="{7114C78B-FFB2-464C-965B-11947C7E2A74}" sibTransId="{F5733EDA-B47A-48BA-8BA6-F783A0FFB256}"/>
    <dgm:cxn modelId="{ACB92132-35D3-4687-BE24-858737D79CE6}" type="presOf" srcId="{113FD27E-64C4-4FA7-B015-04193862854F}" destId="{34502941-595E-41FD-8F8E-1BDAFD3A2F41}" srcOrd="0" destOrd="0" presId="urn:microsoft.com/office/officeart/2005/8/layout/default"/>
    <dgm:cxn modelId="{42EEE849-A848-4D4C-B1C3-B6C65B93CC08}" srcId="{2EDA8A05-7210-48CD-92C3-F42B70CC0E45}" destId="{113FD27E-64C4-4FA7-B015-04193862854F}" srcOrd="1" destOrd="0" parTransId="{875DC2A1-22EB-450E-A0B1-A46C8909C8EC}" sibTransId="{A9AD4205-D9B4-41F6-8FEB-B045B6CB32C1}"/>
    <dgm:cxn modelId="{E5B1F8FD-B0F3-40E5-AA12-E866D030D916}" srcId="{2EDA8A05-7210-48CD-92C3-F42B70CC0E45}" destId="{7AC28764-2F7D-420B-BDA7-9D885EEAA01B}" srcOrd="0" destOrd="0" parTransId="{B2DBB067-F4DA-4528-A26B-18868069B053}" sibTransId="{064A8198-16EA-480D-9C46-283342F3C202}"/>
    <dgm:cxn modelId="{98CCBA1F-92DE-47A4-BE3A-4AFD0233756B}" type="presOf" srcId="{2EDA8A05-7210-48CD-92C3-F42B70CC0E45}" destId="{049E0AE9-F223-456A-A7A1-3DA50E8EB2FC}" srcOrd="0" destOrd="0" presId="urn:microsoft.com/office/officeart/2005/8/layout/default"/>
    <dgm:cxn modelId="{F6F9FE7C-70D5-4C07-A0BC-12513F7D1CFD}" type="presOf" srcId="{7AC28764-2F7D-420B-BDA7-9D885EEAA01B}" destId="{54E7C94B-30BC-42F4-9CC8-0620BABD6CF9}" srcOrd="0" destOrd="0" presId="urn:microsoft.com/office/officeart/2005/8/layout/default"/>
    <dgm:cxn modelId="{2F778D77-5113-45F2-B042-B59C60A0C889}" type="presOf" srcId="{3CA20B6B-F7DF-4728-BFFF-CB59532AFA38}" destId="{E8BF8650-AFE6-4200-8C5A-A166605D7497}" srcOrd="0" destOrd="0" presId="urn:microsoft.com/office/officeart/2005/8/layout/default"/>
    <dgm:cxn modelId="{25B82B84-A5CC-421E-BC15-597D934E19D0}" type="presParOf" srcId="{049E0AE9-F223-456A-A7A1-3DA50E8EB2FC}" destId="{54E7C94B-30BC-42F4-9CC8-0620BABD6CF9}" srcOrd="0" destOrd="0" presId="urn:microsoft.com/office/officeart/2005/8/layout/default"/>
    <dgm:cxn modelId="{A50F0206-4A8A-4A82-8525-A957FF40F119}" type="presParOf" srcId="{049E0AE9-F223-456A-A7A1-3DA50E8EB2FC}" destId="{BF98FDEA-9563-4486-B20B-BABF8942F40E}" srcOrd="1" destOrd="0" presId="urn:microsoft.com/office/officeart/2005/8/layout/default"/>
    <dgm:cxn modelId="{F4CCB28C-F7D6-4A0D-94C8-B212D36D3DBD}" type="presParOf" srcId="{049E0AE9-F223-456A-A7A1-3DA50E8EB2FC}" destId="{34502941-595E-41FD-8F8E-1BDAFD3A2F41}" srcOrd="2" destOrd="0" presId="urn:microsoft.com/office/officeart/2005/8/layout/default"/>
    <dgm:cxn modelId="{3CA461A2-11EE-4F8F-BF79-FBF327759823}" type="presParOf" srcId="{049E0AE9-F223-456A-A7A1-3DA50E8EB2FC}" destId="{0ACDE70A-D307-4C3C-8A97-21BA567DD43E}" srcOrd="3" destOrd="0" presId="urn:microsoft.com/office/officeart/2005/8/layout/default"/>
    <dgm:cxn modelId="{1F642B34-80BC-43E2-99AC-4964EB65EE31}" type="presParOf" srcId="{049E0AE9-F223-456A-A7A1-3DA50E8EB2FC}" destId="{E8BF8650-AFE6-4200-8C5A-A166605D749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6DB75B4A-0BE0-4E6C-908B-D018E8AFFAC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50152D4-002F-47BA-B7BB-EE6F8475940F}">
      <dgm:prSet phldrT="[Текст]"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Поддержка разных типов данных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: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 таблиц, файлов JSON, XML, логов веб-серверов, текстов, изображений, видео, аудиозаписей.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1D8AB89-99BD-401A-AE8F-552D836CAAEF}" type="parTrans" cxnId="{6FDBF7EF-2DEE-464B-B4A8-6533A35B128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2A67A3E-270F-4813-A800-AD50228D522E}" type="sibTrans" cxnId="{6FDBF7EF-2DEE-464B-B4A8-6533A35B128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402EE27-638B-4836-98DA-B81C70F16C55}">
      <dgm:prSet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Сырой формат :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 данные хранятся «как есть», без предварительной обработки и трансформации.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41A25F9-1404-4124-82A7-9EEC92CB8922}" type="parTrans" cxnId="{D53A78D0-670D-4788-B89E-AE8F4763C5D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770B006-B23B-4548-A90F-19845129B1C1}" type="sibTrans" cxnId="{D53A78D0-670D-4788-B89E-AE8F4763C5D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13AB52B-5017-4729-A05C-E79B28F4203F}">
      <dgm:prSet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Принцип «схема при чтении» (</a:t>
          </a:r>
          <a:r>
            <a:rPr lang="ru-RU" b="1" dirty="0" err="1" smtClean="0">
              <a:latin typeface="Times New Roman" pitchFamily="18" charset="0"/>
              <a:cs typeface="Times New Roman" pitchFamily="18" charset="0"/>
            </a:rPr>
            <a:t>schema-on-read</a:t>
          </a:r>
          <a:r>
            <a:rPr lang="ru-RU" b="1" dirty="0" smtClean="0">
              <a:latin typeface="Times New Roman" pitchFamily="18" charset="0"/>
              <a:cs typeface="Times New Roman" pitchFamily="18" charset="0"/>
            </a:rPr>
            <a:t>):</a:t>
          </a:r>
        </a:p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- структура информации определяется не в момент сохранения, а когда данные извлекаются для анализа.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C60ED87-0283-4491-9906-6C0A0EE7474D}" type="parTrans" cxnId="{85893C38-0FAD-4DC5-B745-1FB4E7A8B39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F1FD706-31E8-47A0-B7E0-F1A45D2CA2F0}" type="sibTrans" cxnId="{85893C38-0FAD-4DC5-B745-1FB4E7A8B39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AE2F295-BA2A-46C0-91DD-6940A5BC3BDD}" type="pres">
      <dgm:prSet presAssocID="{6DB75B4A-0BE0-4E6C-908B-D018E8AFFAC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7777B2A-3D9C-4F6F-897D-3B23E3894578}" type="pres">
      <dgm:prSet presAssocID="{E50152D4-002F-47BA-B7BB-EE6F8475940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D97190-BC65-4D22-A41B-82949E12CA29}" type="pres">
      <dgm:prSet presAssocID="{02A67A3E-270F-4813-A800-AD50228D522E}" presName="sibTrans" presStyleCnt="0"/>
      <dgm:spPr/>
    </dgm:pt>
    <dgm:pt modelId="{1F39C6D7-F7DF-4309-811D-A4AA25EEC890}" type="pres">
      <dgm:prSet presAssocID="{3402EE27-638B-4836-98DA-B81C70F16C5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154858-101B-46C4-B04D-698909582A2E}" type="pres">
      <dgm:prSet presAssocID="{9770B006-B23B-4548-A90F-19845129B1C1}" presName="sibTrans" presStyleCnt="0"/>
      <dgm:spPr/>
    </dgm:pt>
    <dgm:pt modelId="{59B001C2-B834-4E6E-B179-2DD5544DF965}" type="pres">
      <dgm:prSet presAssocID="{113AB52B-5017-4729-A05C-E79B28F4203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FDBF7EF-2DEE-464B-B4A8-6533A35B1285}" srcId="{6DB75B4A-0BE0-4E6C-908B-D018E8AFFACA}" destId="{E50152D4-002F-47BA-B7BB-EE6F8475940F}" srcOrd="0" destOrd="0" parTransId="{D1D8AB89-99BD-401A-AE8F-552D836CAAEF}" sibTransId="{02A67A3E-270F-4813-A800-AD50228D522E}"/>
    <dgm:cxn modelId="{8266B3DB-F3B8-4BA0-85FA-DF12C07C039D}" type="presOf" srcId="{3402EE27-638B-4836-98DA-B81C70F16C55}" destId="{1F39C6D7-F7DF-4309-811D-A4AA25EEC890}" srcOrd="0" destOrd="0" presId="urn:microsoft.com/office/officeart/2005/8/layout/default"/>
    <dgm:cxn modelId="{C6B82E76-6588-4090-9696-F97E5BCC1C58}" type="presOf" srcId="{113AB52B-5017-4729-A05C-E79B28F4203F}" destId="{59B001C2-B834-4E6E-B179-2DD5544DF965}" srcOrd="0" destOrd="0" presId="urn:microsoft.com/office/officeart/2005/8/layout/default"/>
    <dgm:cxn modelId="{D53A78D0-670D-4788-B89E-AE8F4763C5D6}" srcId="{6DB75B4A-0BE0-4E6C-908B-D018E8AFFACA}" destId="{3402EE27-638B-4836-98DA-B81C70F16C55}" srcOrd="1" destOrd="0" parTransId="{441A25F9-1404-4124-82A7-9EEC92CB8922}" sibTransId="{9770B006-B23B-4548-A90F-19845129B1C1}"/>
    <dgm:cxn modelId="{FAF4F244-4B3A-4E71-8AAC-375162241E9F}" type="presOf" srcId="{6DB75B4A-0BE0-4E6C-908B-D018E8AFFACA}" destId="{0AE2F295-BA2A-46C0-91DD-6940A5BC3BDD}" srcOrd="0" destOrd="0" presId="urn:microsoft.com/office/officeart/2005/8/layout/default"/>
    <dgm:cxn modelId="{85893C38-0FAD-4DC5-B745-1FB4E7A8B394}" srcId="{6DB75B4A-0BE0-4E6C-908B-D018E8AFFACA}" destId="{113AB52B-5017-4729-A05C-E79B28F4203F}" srcOrd="2" destOrd="0" parTransId="{0C60ED87-0283-4491-9906-6C0A0EE7474D}" sibTransId="{CF1FD706-31E8-47A0-B7E0-F1A45D2CA2F0}"/>
    <dgm:cxn modelId="{27773974-9810-4626-BC43-2594BA1BE481}" type="presOf" srcId="{E50152D4-002F-47BA-B7BB-EE6F8475940F}" destId="{D7777B2A-3D9C-4F6F-897D-3B23E3894578}" srcOrd="0" destOrd="0" presId="urn:microsoft.com/office/officeart/2005/8/layout/default"/>
    <dgm:cxn modelId="{E8ADD2D4-713F-4AA4-B632-B1745EF9CF6D}" type="presParOf" srcId="{0AE2F295-BA2A-46C0-91DD-6940A5BC3BDD}" destId="{D7777B2A-3D9C-4F6F-897D-3B23E3894578}" srcOrd="0" destOrd="0" presId="urn:microsoft.com/office/officeart/2005/8/layout/default"/>
    <dgm:cxn modelId="{6819A6F2-55AA-40CA-AF2E-90BCD98E6570}" type="presParOf" srcId="{0AE2F295-BA2A-46C0-91DD-6940A5BC3BDD}" destId="{83D97190-BC65-4D22-A41B-82949E12CA29}" srcOrd="1" destOrd="0" presId="urn:microsoft.com/office/officeart/2005/8/layout/default"/>
    <dgm:cxn modelId="{068FB900-14AA-4B2B-8D83-D1594EB4D0E6}" type="presParOf" srcId="{0AE2F295-BA2A-46C0-91DD-6940A5BC3BDD}" destId="{1F39C6D7-F7DF-4309-811D-A4AA25EEC890}" srcOrd="2" destOrd="0" presId="urn:microsoft.com/office/officeart/2005/8/layout/default"/>
    <dgm:cxn modelId="{B03CDC70-5CA7-44FA-89F3-6AD51319CC76}" type="presParOf" srcId="{0AE2F295-BA2A-46C0-91DD-6940A5BC3BDD}" destId="{24154858-101B-46C4-B04D-698909582A2E}" srcOrd="3" destOrd="0" presId="urn:microsoft.com/office/officeart/2005/8/layout/default"/>
    <dgm:cxn modelId="{9A148688-2BF9-4BCD-8E00-A2F554BCB73B}" type="presParOf" srcId="{0AE2F295-BA2A-46C0-91DD-6940A5BC3BDD}" destId="{59B001C2-B834-4E6E-B179-2DD5544DF96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6DB75B4A-0BE0-4E6C-908B-D018E8AFFAC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50152D4-002F-47BA-B7BB-EE6F8475940F}">
      <dgm:prSet phldrT="[Текст]"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1. Формирование данных в одном из источников — каждый датчик фиксирует параметры (температура, скорость или вибрация) и передаёт эти данные в систему.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1D8AB89-99BD-401A-AE8F-552D836CAAEF}" type="parTrans" cxnId="{6FDBF7EF-2DEE-464B-B4A8-6533A35B128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2A67A3E-270F-4813-A800-AD50228D522E}" type="sibTrans" cxnId="{6FDBF7EF-2DEE-464B-B4A8-6533A35B128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8CFD928-4F7D-4FCB-90F8-3DFFF74AD5A1}">
      <dgm:prSet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2. Отправка данных в Data Lake — информация из датчиков отправляется в озеро через заранее настроенные маршруты, например, через API или потоковую платформу.</a:t>
          </a:r>
        </a:p>
      </dgm:t>
    </dgm:pt>
    <dgm:pt modelId="{BA297725-C878-4E81-8AF9-2E8A0B0E4EAF}" type="parTrans" cxnId="{970D0E49-6EF2-40B0-A863-D680306D417D}">
      <dgm:prSet/>
      <dgm:spPr/>
      <dgm:t>
        <a:bodyPr/>
        <a:lstStyle/>
        <a:p>
          <a:endParaRPr lang="ru-RU"/>
        </a:p>
      </dgm:t>
    </dgm:pt>
    <dgm:pt modelId="{AC0507C0-6A2B-4B75-8D77-56E7F5D6ADF1}" type="sibTrans" cxnId="{970D0E49-6EF2-40B0-A863-D680306D417D}">
      <dgm:prSet/>
      <dgm:spPr/>
      <dgm:t>
        <a:bodyPr/>
        <a:lstStyle/>
        <a:p>
          <a:endParaRPr lang="ru-RU"/>
        </a:p>
      </dgm:t>
    </dgm:pt>
    <dgm:pt modelId="{E325B79F-5024-4DB0-905E-0E25EC933F67}">
      <dgm:prSet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3. Присвоение метаданных — при загрузке в озеро каждому набору данных присваиваются ключевые метки: источник данных, время получения, тип данных и их текущий формат.</a:t>
          </a:r>
        </a:p>
      </dgm:t>
    </dgm:pt>
    <dgm:pt modelId="{8BDBBA59-C22E-4E59-ACF9-6DD50346F33E}" type="parTrans" cxnId="{70A82B84-6930-4D93-9366-B099B0B04F5D}">
      <dgm:prSet/>
      <dgm:spPr/>
      <dgm:t>
        <a:bodyPr/>
        <a:lstStyle/>
        <a:p>
          <a:endParaRPr lang="ru-RU"/>
        </a:p>
      </dgm:t>
    </dgm:pt>
    <dgm:pt modelId="{592FF280-35FD-424F-9F8B-35223FACFA35}" type="sibTrans" cxnId="{70A82B84-6930-4D93-9366-B099B0B04F5D}">
      <dgm:prSet/>
      <dgm:spPr/>
      <dgm:t>
        <a:bodyPr/>
        <a:lstStyle/>
        <a:p>
          <a:endParaRPr lang="ru-RU"/>
        </a:p>
      </dgm:t>
    </dgm:pt>
    <dgm:pt modelId="{80E3C051-712E-4468-9FD5-B676C3A67822}">
      <dgm:prSet/>
      <dgm:spPr/>
      <dgm:t>
        <a:bodyPr/>
        <a:lstStyle/>
        <a:p>
          <a:r>
            <a:rPr lang="ru-RU" b="1" dirty="0" smtClean="0">
              <a:latin typeface="Times New Roman" pitchFamily="18" charset="0"/>
              <a:cs typeface="Times New Roman" pitchFamily="18" charset="0"/>
            </a:rPr>
            <a:t>4. Извлечение данных — по мере необходимости аналитики извлекают нужные данные.</a:t>
          </a:r>
        </a:p>
      </dgm:t>
    </dgm:pt>
    <dgm:pt modelId="{93C63E53-1DC0-4DFB-A1DC-B71D58335360}" type="parTrans" cxnId="{9D022CD6-768D-45F1-AB57-2616EE036FC2}">
      <dgm:prSet/>
      <dgm:spPr/>
      <dgm:t>
        <a:bodyPr/>
        <a:lstStyle/>
        <a:p>
          <a:endParaRPr lang="ru-RU"/>
        </a:p>
      </dgm:t>
    </dgm:pt>
    <dgm:pt modelId="{F3C76135-0B0D-4C5C-936C-0FD4D4CA3F3B}" type="sibTrans" cxnId="{9D022CD6-768D-45F1-AB57-2616EE036FC2}">
      <dgm:prSet/>
      <dgm:spPr/>
      <dgm:t>
        <a:bodyPr/>
        <a:lstStyle/>
        <a:p>
          <a:endParaRPr lang="ru-RU"/>
        </a:p>
      </dgm:t>
    </dgm:pt>
    <dgm:pt modelId="{0AE2F295-BA2A-46C0-91DD-6940A5BC3BDD}" type="pres">
      <dgm:prSet presAssocID="{6DB75B4A-0BE0-4E6C-908B-D018E8AFFAC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7777B2A-3D9C-4F6F-897D-3B23E3894578}" type="pres">
      <dgm:prSet presAssocID="{E50152D4-002F-47BA-B7BB-EE6F8475940F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D97190-BC65-4D22-A41B-82949E12CA29}" type="pres">
      <dgm:prSet presAssocID="{02A67A3E-270F-4813-A800-AD50228D522E}" presName="sibTrans" presStyleCnt="0"/>
      <dgm:spPr/>
    </dgm:pt>
    <dgm:pt modelId="{D12D7C1C-2F2D-490A-8DEA-3CCAFE96466E}" type="pres">
      <dgm:prSet presAssocID="{68CFD928-4F7D-4FCB-90F8-3DFFF74AD5A1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9646A1-3277-4557-8C65-6784B8AEA8FD}" type="pres">
      <dgm:prSet presAssocID="{AC0507C0-6A2B-4B75-8D77-56E7F5D6ADF1}" presName="sibTrans" presStyleCnt="0"/>
      <dgm:spPr/>
    </dgm:pt>
    <dgm:pt modelId="{5DE21B66-7F3F-4C75-9F77-4ABA783310C6}" type="pres">
      <dgm:prSet presAssocID="{E325B79F-5024-4DB0-905E-0E25EC933F6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DF60D9-3113-413F-A4C5-6FFA77CDC366}" type="pres">
      <dgm:prSet presAssocID="{592FF280-35FD-424F-9F8B-35223FACFA35}" presName="sibTrans" presStyleCnt="0"/>
      <dgm:spPr/>
    </dgm:pt>
    <dgm:pt modelId="{97F32F19-B47C-43D9-98C7-CAEE5B5153EF}" type="pres">
      <dgm:prSet presAssocID="{80E3C051-712E-4468-9FD5-B676C3A6782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FDBF7EF-2DEE-464B-B4A8-6533A35B1285}" srcId="{6DB75B4A-0BE0-4E6C-908B-D018E8AFFACA}" destId="{E50152D4-002F-47BA-B7BB-EE6F8475940F}" srcOrd="0" destOrd="0" parTransId="{D1D8AB89-99BD-401A-AE8F-552D836CAAEF}" sibTransId="{02A67A3E-270F-4813-A800-AD50228D522E}"/>
    <dgm:cxn modelId="{D1AC1EC4-2CC9-4C30-B622-EA5C57DA3336}" type="presOf" srcId="{80E3C051-712E-4468-9FD5-B676C3A67822}" destId="{97F32F19-B47C-43D9-98C7-CAEE5B5153EF}" srcOrd="0" destOrd="0" presId="urn:microsoft.com/office/officeart/2005/8/layout/default"/>
    <dgm:cxn modelId="{31AFFBA5-1B58-4008-9475-7D0EB90130B1}" type="presOf" srcId="{6DB75B4A-0BE0-4E6C-908B-D018E8AFFACA}" destId="{0AE2F295-BA2A-46C0-91DD-6940A5BC3BDD}" srcOrd="0" destOrd="0" presId="urn:microsoft.com/office/officeart/2005/8/layout/default"/>
    <dgm:cxn modelId="{70A82B84-6930-4D93-9366-B099B0B04F5D}" srcId="{6DB75B4A-0BE0-4E6C-908B-D018E8AFFACA}" destId="{E325B79F-5024-4DB0-905E-0E25EC933F67}" srcOrd="2" destOrd="0" parTransId="{8BDBBA59-C22E-4E59-ACF9-6DD50346F33E}" sibTransId="{592FF280-35FD-424F-9F8B-35223FACFA35}"/>
    <dgm:cxn modelId="{970D0E49-6EF2-40B0-A863-D680306D417D}" srcId="{6DB75B4A-0BE0-4E6C-908B-D018E8AFFACA}" destId="{68CFD928-4F7D-4FCB-90F8-3DFFF74AD5A1}" srcOrd="1" destOrd="0" parTransId="{BA297725-C878-4E81-8AF9-2E8A0B0E4EAF}" sibTransId="{AC0507C0-6A2B-4B75-8D77-56E7F5D6ADF1}"/>
    <dgm:cxn modelId="{2019A0F8-4184-4473-95A0-ECC7D2192CD1}" type="presOf" srcId="{E50152D4-002F-47BA-B7BB-EE6F8475940F}" destId="{D7777B2A-3D9C-4F6F-897D-3B23E3894578}" srcOrd="0" destOrd="0" presId="urn:microsoft.com/office/officeart/2005/8/layout/default"/>
    <dgm:cxn modelId="{382CBDA8-2C97-4808-A7F6-E9907601AE4F}" type="presOf" srcId="{68CFD928-4F7D-4FCB-90F8-3DFFF74AD5A1}" destId="{D12D7C1C-2F2D-490A-8DEA-3CCAFE96466E}" srcOrd="0" destOrd="0" presId="urn:microsoft.com/office/officeart/2005/8/layout/default"/>
    <dgm:cxn modelId="{D5B47E80-8EA9-4638-B273-DECE04E79501}" type="presOf" srcId="{E325B79F-5024-4DB0-905E-0E25EC933F67}" destId="{5DE21B66-7F3F-4C75-9F77-4ABA783310C6}" srcOrd="0" destOrd="0" presId="urn:microsoft.com/office/officeart/2005/8/layout/default"/>
    <dgm:cxn modelId="{9D022CD6-768D-45F1-AB57-2616EE036FC2}" srcId="{6DB75B4A-0BE0-4E6C-908B-D018E8AFFACA}" destId="{80E3C051-712E-4468-9FD5-B676C3A67822}" srcOrd="3" destOrd="0" parTransId="{93C63E53-1DC0-4DFB-A1DC-B71D58335360}" sibTransId="{F3C76135-0B0D-4C5C-936C-0FD4D4CA3F3B}"/>
    <dgm:cxn modelId="{9698AB76-8B70-4892-A80B-AD21A482228E}" type="presParOf" srcId="{0AE2F295-BA2A-46C0-91DD-6940A5BC3BDD}" destId="{D7777B2A-3D9C-4F6F-897D-3B23E3894578}" srcOrd="0" destOrd="0" presId="urn:microsoft.com/office/officeart/2005/8/layout/default"/>
    <dgm:cxn modelId="{5C75B2BC-C04F-45DB-8863-3F396DC175A9}" type="presParOf" srcId="{0AE2F295-BA2A-46C0-91DD-6940A5BC3BDD}" destId="{83D97190-BC65-4D22-A41B-82949E12CA29}" srcOrd="1" destOrd="0" presId="urn:microsoft.com/office/officeart/2005/8/layout/default"/>
    <dgm:cxn modelId="{F85BDA0E-CFB5-4DFB-8E55-8F0AF2E3A6FC}" type="presParOf" srcId="{0AE2F295-BA2A-46C0-91DD-6940A5BC3BDD}" destId="{D12D7C1C-2F2D-490A-8DEA-3CCAFE96466E}" srcOrd="2" destOrd="0" presId="urn:microsoft.com/office/officeart/2005/8/layout/default"/>
    <dgm:cxn modelId="{3595435C-3BA1-40D0-90C9-1384DDF34FD4}" type="presParOf" srcId="{0AE2F295-BA2A-46C0-91DD-6940A5BC3BDD}" destId="{E79646A1-3277-4557-8C65-6784B8AEA8FD}" srcOrd="3" destOrd="0" presId="urn:microsoft.com/office/officeart/2005/8/layout/default"/>
    <dgm:cxn modelId="{EB23CA04-E244-4A8C-8A58-1ACF9E7C46C5}" type="presParOf" srcId="{0AE2F295-BA2A-46C0-91DD-6940A5BC3BDD}" destId="{5DE21B66-7F3F-4C75-9F77-4ABA783310C6}" srcOrd="4" destOrd="0" presId="urn:microsoft.com/office/officeart/2005/8/layout/default"/>
    <dgm:cxn modelId="{33E2359F-7FFD-49FB-BB51-297D8052521E}" type="presParOf" srcId="{0AE2F295-BA2A-46C0-91DD-6940A5BC3BDD}" destId="{02DF60D9-3113-413F-A4C5-6FFA77CDC366}" srcOrd="5" destOrd="0" presId="urn:microsoft.com/office/officeart/2005/8/layout/default"/>
    <dgm:cxn modelId="{C5F0D8B7-75DA-42AB-A86F-005FC6D91DCA}" type="presParOf" srcId="{0AE2F295-BA2A-46C0-91DD-6940A5BC3BDD}" destId="{97F32F19-B47C-43D9-98C7-CAEE5B5153E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6DB75B4A-0BE0-4E6C-908B-D018E8AFFAC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50152D4-002F-47BA-B7BB-EE6F8475940F}">
      <dgm:prSet phldrT="[Текст]" custT="1"/>
      <dgm:spPr/>
      <dgm:t>
        <a:bodyPr/>
        <a:lstStyle/>
        <a:p>
          <a:r>
            <a:rPr lang="ru-RU" sz="2400" b="1" i="0" dirty="0" smtClean="0">
              <a:latin typeface="Times New Roman" pitchFamily="18" charset="0"/>
              <a:cs typeface="Times New Roman" pitchFamily="18" charset="0"/>
            </a:rPr>
            <a:t>Источники данных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 - базы данных, потоки </a:t>
          </a:r>
          <a:r>
            <a:rPr lang="ru-RU" sz="2400" b="0" i="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, файлы, API и другие источники информации.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D1D8AB89-99BD-401A-AE8F-552D836CAAEF}" type="parTrans" cxnId="{6FDBF7EF-2DEE-464B-B4A8-6533A35B1285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02A67A3E-270F-4813-A800-AD50228D522E}" type="sibTrans" cxnId="{6FDBF7EF-2DEE-464B-B4A8-6533A35B1285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6DCA037D-BB4B-4505-A6A3-0F6952186255}">
      <dgm:prSet custT="1"/>
      <dgm:spPr/>
      <dgm:t>
        <a:bodyPr/>
        <a:lstStyle/>
        <a:p>
          <a:r>
            <a:rPr lang="ru-RU" sz="2400" b="1" i="0" dirty="0" smtClean="0">
              <a:latin typeface="Times New Roman" pitchFamily="18" charset="0"/>
              <a:cs typeface="Times New Roman" pitchFamily="18" charset="0"/>
            </a:rPr>
            <a:t>Хранилище данных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 - распределённая файловая система, например, </a:t>
          </a:r>
        </a:p>
        <a:p>
          <a:r>
            <a:rPr lang="ru-RU" sz="2400" b="0" i="0" dirty="0" err="1" smtClean="0">
              <a:latin typeface="Times New Roman" pitchFamily="18" charset="0"/>
              <a:cs typeface="Times New Roman" pitchFamily="18" charset="0"/>
            </a:rPr>
            <a:t>Hadoop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 HDFS или облачные решения.</a:t>
          </a:r>
          <a:endParaRPr lang="ru-RU" sz="2400" b="0" i="0" dirty="0">
            <a:latin typeface="Times New Roman" pitchFamily="18" charset="0"/>
            <a:cs typeface="Times New Roman" pitchFamily="18" charset="0"/>
          </a:endParaRPr>
        </a:p>
      </dgm:t>
    </dgm:pt>
    <dgm:pt modelId="{0CEB882B-9064-4A29-B553-EDB8F57994D1}" type="parTrans" cxnId="{405276E0-0F5B-4408-8086-C819D8D5BB3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EA1FE56-3335-4986-9355-4EA3EC14D2E8}" type="sibTrans" cxnId="{405276E0-0F5B-4408-8086-C819D8D5BB3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2042C0D0-3AAA-468C-9667-DD804831C185}">
      <dgm:prSet custT="1"/>
      <dgm:spPr/>
      <dgm:t>
        <a:bodyPr/>
        <a:lstStyle/>
        <a:p>
          <a:r>
            <a:rPr lang="ru-RU" sz="2400" b="1" i="0" dirty="0" smtClean="0">
              <a:latin typeface="Times New Roman" pitchFamily="18" charset="0"/>
              <a:cs typeface="Times New Roman" pitchFamily="18" charset="0"/>
            </a:rPr>
            <a:t>Обработчик данных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 - инструменты для трансформации, очистки и подготовки данных, такие как </a:t>
          </a:r>
          <a:r>
            <a:rPr lang="ru-RU" sz="2400" b="0" i="0" dirty="0" err="1" smtClean="0">
              <a:latin typeface="Times New Roman" pitchFamily="18" charset="0"/>
              <a:cs typeface="Times New Roman" pitchFamily="18" charset="0"/>
            </a:rPr>
            <a:t>Apache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0" i="0" dirty="0" err="1" smtClean="0">
              <a:latin typeface="Times New Roman" pitchFamily="18" charset="0"/>
              <a:cs typeface="Times New Roman" pitchFamily="18" charset="0"/>
            </a:rPr>
            <a:t>Spark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 и AWS </a:t>
          </a:r>
          <a:r>
            <a:rPr lang="ru-RU" sz="2400" b="0" i="0" dirty="0" err="1" smtClean="0">
              <a:latin typeface="Times New Roman" pitchFamily="18" charset="0"/>
              <a:cs typeface="Times New Roman" pitchFamily="18" charset="0"/>
            </a:rPr>
            <a:t>Glue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2400" b="0" i="0" dirty="0">
            <a:latin typeface="Times New Roman" pitchFamily="18" charset="0"/>
            <a:cs typeface="Times New Roman" pitchFamily="18" charset="0"/>
          </a:endParaRPr>
        </a:p>
      </dgm:t>
    </dgm:pt>
    <dgm:pt modelId="{8132BAFB-9AAC-4B59-9A0D-D805151939F3}" type="parTrans" cxnId="{B5394138-00B1-4C5C-8D3C-B8E76F34AE7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66A7844C-17F5-4898-B068-CE742AF5C86C}" type="sibTrans" cxnId="{B5394138-00B1-4C5C-8D3C-B8E76F34AE72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6236303E-0417-4C89-A7F6-DB100B595FBF}">
      <dgm:prSet custT="1"/>
      <dgm:spPr/>
      <dgm:t>
        <a:bodyPr/>
        <a:lstStyle/>
        <a:p>
          <a:r>
            <a:rPr lang="ru-RU" sz="2400" b="1" i="0" dirty="0" smtClean="0">
              <a:latin typeface="Times New Roman" pitchFamily="18" charset="0"/>
              <a:cs typeface="Times New Roman" pitchFamily="18" charset="0"/>
            </a:rPr>
            <a:t>Управление метаданными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 - каталогизация данных для удобного поиска и использования.</a:t>
          </a:r>
          <a:endParaRPr lang="ru-RU" sz="2400" b="0" i="0" dirty="0">
            <a:latin typeface="Times New Roman" pitchFamily="18" charset="0"/>
            <a:cs typeface="Times New Roman" pitchFamily="18" charset="0"/>
          </a:endParaRPr>
        </a:p>
      </dgm:t>
    </dgm:pt>
    <dgm:pt modelId="{7BB8450F-F775-402C-9FAD-81D2873A02EF}" type="parTrans" cxnId="{A4C33833-3EE2-49CA-A878-396AC4E235B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C3530409-CADF-4CF7-97DA-C6394C72EB7C}" type="sibTrans" cxnId="{A4C33833-3EE2-49CA-A878-396AC4E235B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A95AC33-EBE6-45DB-8490-6ED4D7FC9108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ru-RU" sz="2400" b="1" i="0" dirty="0" smtClean="0">
              <a:latin typeface="Times New Roman" pitchFamily="18" charset="0"/>
              <a:cs typeface="Times New Roman" pitchFamily="18" charset="0"/>
            </a:rPr>
            <a:t>Инструменты аналитики и машинного обучения</a:t>
          </a:r>
          <a:r>
            <a:rPr lang="ru-RU" sz="2400" b="0" i="0" dirty="0" smtClean="0">
              <a:latin typeface="Times New Roman" pitchFamily="18" charset="0"/>
              <a:cs typeface="Times New Roman" pitchFamily="18" charset="0"/>
            </a:rPr>
            <a:t> - поддержка SQL-запросов, AI/ML-платформ и BI-инструментов.</a:t>
          </a:r>
          <a:endParaRPr lang="ru-RU" sz="2400" b="0" i="0" dirty="0">
            <a:latin typeface="Times New Roman" pitchFamily="18" charset="0"/>
            <a:cs typeface="Times New Roman" pitchFamily="18" charset="0"/>
          </a:endParaRPr>
        </a:p>
      </dgm:t>
    </dgm:pt>
    <dgm:pt modelId="{805A790A-AD10-447E-9281-C6B2D36BDF40}" type="parTrans" cxnId="{DD103EEF-4332-47C6-BEBA-F86142F0D35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F9C31AF-3836-41D6-AA68-4F6967AA7571}" type="sibTrans" cxnId="{DD103EEF-4332-47C6-BEBA-F86142F0D351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0AE2F295-BA2A-46C0-91DD-6940A5BC3BDD}" type="pres">
      <dgm:prSet presAssocID="{6DB75B4A-0BE0-4E6C-908B-D018E8AFFAC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7777B2A-3D9C-4F6F-897D-3B23E3894578}" type="pres">
      <dgm:prSet presAssocID="{E50152D4-002F-47BA-B7BB-EE6F8475940F}" presName="node" presStyleLbl="node1" presStyleIdx="0" presStyleCnt="5" custScaleY="15748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D97190-BC65-4D22-A41B-82949E12CA29}" type="pres">
      <dgm:prSet presAssocID="{02A67A3E-270F-4813-A800-AD50228D522E}" presName="sibTrans" presStyleCnt="0"/>
      <dgm:spPr/>
    </dgm:pt>
    <dgm:pt modelId="{66050641-6965-4264-8900-F53F0363C04E}" type="pres">
      <dgm:prSet presAssocID="{6DCA037D-BB4B-4505-A6A3-0F6952186255}" presName="node" presStyleLbl="node1" presStyleIdx="1" presStyleCnt="5" custScaleY="15250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BABEEF-F130-4865-B1DD-F074C024F62D}" type="pres">
      <dgm:prSet presAssocID="{FEA1FE56-3335-4986-9355-4EA3EC14D2E8}" presName="sibTrans" presStyleCnt="0"/>
      <dgm:spPr/>
    </dgm:pt>
    <dgm:pt modelId="{07587393-C4C2-407E-A970-43306BBD1E76}" type="pres">
      <dgm:prSet presAssocID="{2042C0D0-3AAA-468C-9667-DD804831C185}" presName="node" presStyleLbl="node1" presStyleIdx="2" presStyleCnt="5" custScaleY="15416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F2D58E-72DD-4185-B870-B395251CF162}" type="pres">
      <dgm:prSet presAssocID="{66A7844C-17F5-4898-B068-CE742AF5C86C}" presName="sibTrans" presStyleCnt="0"/>
      <dgm:spPr/>
    </dgm:pt>
    <dgm:pt modelId="{03D819CF-636C-4A84-B123-1AC00C69E1AB}" type="pres">
      <dgm:prSet presAssocID="{6236303E-0417-4C89-A7F6-DB100B595FBF}" presName="node" presStyleLbl="node1" presStyleIdx="3" presStyleCnt="5" custScaleX="1353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DC1CDA-A2B0-4D7B-8297-988AD4DEE228}" type="pres">
      <dgm:prSet presAssocID="{C3530409-CADF-4CF7-97DA-C6394C72EB7C}" presName="sibTrans" presStyleCnt="0"/>
      <dgm:spPr/>
    </dgm:pt>
    <dgm:pt modelId="{68C0D048-6A7A-4CAB-AEBE-425C2446C7E2}" type="pres">
      <dgm:prSet presAssocID="{EA95AC33-EBE6-45DB-8490-6ED4D7FC9108}" presName="node" presStyleLbl="node1" presStyleIdx="4" presStyleCnt="5" custScaleX="1408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D103EEF-4332-47C6-BEBA-F86142F0D351}" srcId="{6DB75B4A-0BE0-4E6C-908B-D018E8AFFACA}" destId="{EA95AC33-EBE6-45DB-8490-6ED4D7FC9108}" srcOrd="4" destOrd="0" parTransId="{805A790A-AD10-447E-9281-C6B2D36BDF40}" sibTransId="{5F9C31AF-3836-41D6-AA68-4F6967AA7571}"/>
    <dgm:cxn modelId="{3FB17FE0-2DBF-4225-8E66-B3EE31AD4539}" type="presOf" srcId="{6DB75B4A-0BE0-4E6C-908B-D018E8AFFACA}" destId="{0AE2F295-BA2A-46C0-91DD-6940A5BC3BDD}" srcOrd="0" destOrd="0" presId="urn:microsoft.com/office/officeart/2005/8/layout/default"/>
    <dgm:cxn modelId="{A4C33833-3EE2-49CA-A878-396AC4E235BE}" srcId="{6DB75B4A-0BE0-4E6C-908B-D018E8AFFACA}" destId="{6236303E-0417-4C89-A7F6-DB100B595FBF}" srcOrd="3" destOrd="0" parTransId="{7BB8450F-F775-402C-9FAD-81D2873A02EF}" sibTransId="{C3530409-CADF-4CF7-97DA-C6394C72EB7C}"/>
    <dgm:cxn modelId="{5F219623-C15A-44F7-9CFF-E2ADB089FFB7}" type="presOf" srcId="{2042C0D0-3AAA-468C-9667-DD804831C185}" destId="{07587393-C4C2-407E-A970-43306BBD1E76}" srcOrd="0" destOrd="0" presId="urn:microsoft.com/office/officeart/2005/8/layout/default"/>
    <dgm:cxn modelId="{C3184617-F12E-4E04-A1DB-52A7FFA27C2E}" type="presOf" srcId="{6DCA037D-BB4B-4505-A6A3-0F6952186255}" destId="{66050641-6965-4264-8900-F53F0363C04E}" srcOrd="0" destOrd="0" presId="urn:microsoft.com/office/officeart/2005/8/layout/default"/>
    <dgm:cxn modelId="{06C2CC79-658A-47A2-9FFB-E045B22F41CD}" type="presOf" srcId="{E50152D4-002F-47BA-B7BB-EE6F8475940F}" destId="{D7777B2A-3D9C-4F6F-897D-3B23E3894578}" srcOrd="0" destOrd="0" presId="urn:microsoft.com/office/officeart/2005/8/layout/default"/>
    <dgm:cxn modelId="{FE8D63DB-CC3C-48F1-91A1-51C7019774D3}" type="presOf" srcId="{6236303E-0417-4C89-A7F6-DB100B595FBF}" destId="{03D819CF-636C-4A84-B123-1AC00C69E1AB}" srcOrd="0" destOrd="0" presId="urn:microsoft.com/office/officeart/2005/8/layout/default"/>
    <dgm:cxn modelId="{10A63E4C-3266-43DF-92A0-73990E793A8A}" type="presOf" srcId="{EA95AC33-EBE6-45DB-8490-6ED4D7FC9108}" destId="{68C0D048-6A7A-4CAB-AEBE-425C2446C7E2}" srcOrd="0" destOrd="0" presId="urn:microsoft.com/office/officeart/2005/8/layout/default"/>
    <dgm:cxn modelId="{405276E0-0F5B-4408-8086-C819D8D5BB3A}" srcId="{6DB75B4A-0BE0-4E6C-908B-D018E8AFFACA}" destId="{6DCA037D-BB4B-4505-A6A3-0F6952186255}" srcOrd="1" destOrd="0" parTransId="{0CEB882B-9064-4A29-B553-EDB8F57994D1}" sibTransId="{FEA1FE56-3335-4986-9355-4EA3EC14D2E8}"/>
    <dgm:cxn modelId="{6FDBF7EF-2DEE-464B-B4A8-6533A35B1285}" srcId="{6DB75B4A-0BE0-4E6C-908B-D018E8AFFACA}" destId="{E50152D4-002F-47BA-B7BB-EE6F8475940F}" srcOrd="0" destOrd="0" parTransId="{D1D8AB89-99BD-401A-AE8F-552D836CAAEF}" sibTransId="{02A67A3E-270F-4813-A800-AD50228D522E}"/>
    <dgm:cxn modelId="{B5394138-00B1-4C5C-8D3C-B8E76F34AE72}" srcId="{6DB75B4A-0BE0-4E6C-908B-D018E8AFFACA}" destId="{2042C0D0-3AAA-468C-9667-DD804831C185}" srcOrd="2" destOrd="0" parTransId="{8132BAFB-9AAC-4B59-9A0D-D805151939F3}" sibTransId="{66A7844C-17F5-4898-B068-CE742AF5C86C}"/>
    <dgm:cxn modelId="{636A0396-DD9E-4EEA-82F6-61830CA024E0}" type="presParOf" srcId="{0AE2F295-BA2A-46C0-91DD-6940A5BC3BDD}" destId="{D7777B2A-3D9C-4F6F-897D-3B23E3894578}" srcOrd="0" destOrd="0" presId="urn:microsoft.com/office/officeart/2005/8/layout/default"/>
    <dgm:cxn modelId="{5E0A130C-59E5-4F63-AB9E-2DE47627F746}" type="presParOf" srcId="{0AE2F295-BA2A-46C0-91DD-6940A5BC3BDD}" destId="{83D97190-BC65-4D22-A41B-82949E12CA29}" srcOrd="1" destOrd="0" presId="urn:microsoft.com/office/officeart/2005/8/layout/default"/>
    <dgm:cxn modelId="{D116BF38-A4F2-41D8-A2E2-BDFD1DD56FC6}" type="presParOf" srcId="{0AE2F295-BA2A-46C0-91DD-6940A5BC3BDD}" destId="{66050641-6965-4264-8900-F53F0363C04E}" srcOrd="2" destOrd="0" presId="urn:microsoft.com/office/officeart/2005/8/layout/default"/>
    <dgm:cxn modelId="{9E7D39F4-7596-444A-BCB1-08E7A3703A16}" type="presParOf" srcId="{0AE2F295-BA2A-46C0-91DD-6940A5BC3BDD}" destId="{8EBABEEF-F130-4865-B1DD-F074C024F62D}" srcOrd="3" destOrd="0" presId="urn:microsoft.com/office/officeart/2005/8/layout/default"/>
    <dgm:cxn modelId="{98C7C626-2940-4C43-8B2F-17299419A4DC}" type="presParOf" srcId="{0AE2F295-BA2A-46C0-91DD-6940A5BC3BDD}" destId="{07587393-C4C2-407E-A970-43306BBD1E76}" srcOrd="4" destOrd="0" presId="urn:microsoft.com/office/officeart/2005/8/layout/default"/>
    <dgm:cxn modelId="{18F06299-789D-4698-A3BB-CE51A1B0B276}" type="presParOf" srcId="{0AE2F295-BA2A-46C0-91DD-6940A5BC3BDD}" destId="{24F2D58E-72DD-4185-B870-B395251CF162}" srcOrd="5" destOrd="0" presId="urn:microsoft.com/office/officeart/2005/8/layout/default"/>
    <dgm:cxn modelId="{8A87D547-3C57-47F4-950E-50EF27CFFAE8}" type="presParOf" srcId="{0AE2F295-BA2A-46C0-91DD-6940A5BC3BDD}" destId="{03D819CF-636C-4A84-B123-1AC00C69E1AB}" srcOrd="6" destOrd="0" presId="urn:microsoft.com/office/officeart/2005/8/layout/default"/>
    <dgm:cxn modelId="{2097FB9C-AF0E-411F-B6E7-2694DC251F87}" type="presParOf" srcId="{0AE2F295-BA2A-46C0-91DD-6940A5BC3BDD}" destId="{28DC1CDA-A2B0-4D7B-8297-988AD4DEE228}" srcOrd="7" destOrd="0" presId="urn:microsoft.com/office/officeart/2005/8/layout/default"/>
    <dgm:cxn modelId="{EA05B9E1-B480-4ABE-9F23-D66404BAB7B3}" type="presParOf" srcId="{0AE2F295-BA2A-46C0-91DD-6940A5BC3BDD}" destId="{68C0D048-6A7A-4CAB-AEBE-425C2446C7E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34B401D9-EF25-4FBD-81CC-45F9755005D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38402CB-E684-4A9B-A6A6-138EDFA9477A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Машинное обучение - обучение искусственного интеллекта требует больших объёмов различных данных.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B241613E-DF69-4AF6-B7F6-F68EB630788C}" type="parTrans" cxnId="{6FCFECCD-16D2-4FEB-8F13-DA07DFE79AAB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868B0A66-38D4-41C8-A5C1-D3560619BF3F}" type="sibTrans" cxnId="{6FCFECCD-16D2-4FEB-8F13-DA07DFE79AAB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25C6AB0F-FC98-4A3D-B693-DCC481B75DB0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Оперативная аналитика - озёра данных позволяют обрабатывать потоки информации в реальном времени, что даёт возможность компании быстро реагировать на внешние изменения.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FCB07D80-6F09-472B-A3A0-F111D05A69A9}" type="parTrans" cxnId="{424BADFA-1936-4C7C-A64A-6E6A390D6675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B098A857-336A-4419-87C5-9B8E1FB432A4}" type="sibTrans" cxnId="{424BADFA-1936-4C7C-A64A-6E6A390D6675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CC96B2D0-3C75-4FE2-819C-8A22DE84C3D1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Прогнозирование -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Data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Lake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подходит для анализа деятельности компании за прошлые периоды, например, данных о продажах, финансах, производительности или клиентских предпочтениях за последние месяцы или годы.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7B115BDD-9583-4D27-BEB0-FCD85734098E}" type="parTrans" cxnId="{EBC30C01-337D-4AA3-8FCE-2BDE8D1B3571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E0EEDD6E-7AAE-43A7-AE6D-6E42167F80E6}" type="sibTrans" cxnId="{EBC30C01-337D-4AA3-8FCE-2BDE8D1B3571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0CE56C84-5059-4067-8899-22B87F8E6AE6}" type="pres">
      <dgm:prSet presAssocID="{34B401D9-EF25-4FBD-81CC-45F9755005D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F2D249-F7B2-40C0-87E5-92242408E513}" type="pres">
      <dgm:prSet presAssocID="{738402CB-E684-4A9B-A6A6-138EDFA9477A}" presName="node" presStyleLbl="node1" presStyleIdx="0" presStyleCnt="3" custScaleX="1407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ADE827-5336-47A9-9AB0-A7B260A2D719}" type="pres">
      <dgm:prSet presAssocID="{868B0A66-38D4-41C8-A5C1-D3560619BF3F}" presName="sibTrans" presStyleCnt="0"/>
      <dgm:spPr/>
    </dgm:pt>
    <dgm:pt modelId="{0A3370B8-A1C1-4551-8AA4-A9AC060F01C1}" type="pres">
      <dgm:prSet presAssocID="{25C6AB0F-FC98-4A3D-B693-DCC481B75DB0}" presName="node" presStyleLbl="node1" presStyleIdx="1" presStyleCnt="3" custScaleX="13364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ADAA23-92E9-46B0-9AD1-FC2F516D5C3B}" type="pres">
      <dgm:prSet presAssocID="{B098A857-336A-4419-87C5-9B8E1FB432A4}" presName="sibTrans" presStyleCnt="0"/>
      <dgm:spPr/>
    </dgm:pt>
    <dgm:pt modelId="{E6CEB2A9-6092-4164-8B9C-DB705D3B6600}" type="pres">
      <dgm:prSet presAssocID="{CC96B2D0-3C75-4FE2-819C-8A22DE84C3D1}" presName="node" presStyleLbl="node1" presStyleIdx="2" presStyleCnt="3" custScaleX="18361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BC30C01-337D-4AA3-8FCE-2BDE8D1B3571}" srcId="{34B401D9-EF25-4FBD-81CC-45F9755005D9}" destId="{CC96B2D0-3C75-4FE2-819C-8A22DE84C3D1}" srcOrd="2" destOrd="0" parTransId="{7B115BDD-9583-4D27-BEB0-FCD85734098E}" sibTransId="{E0EEDD6E-7AAE-43A7-AE6D-6E42167F80E6}"/>
    <dgm:cxn modelId="{18AEF7F2-7A49-4FC1-B984-E80F29095B7F}" type="presOf" srcId="{25C6AB0F-FC98-4A3D-B693-DCC481B75DB0}" destId="{0A3370B8-A1C1-4551-8AA4-A9AC060F01C1}" srcOrd="0" destOrd="0" presId="urn:microsoft.com/office/officeart/2005/8/layout/default"/>
    <dgm:cxn modelId="{6FCFECCD-16D2-4FEB-8F13-DA07DFE79AAB}" srcId="{34B401D9-EF25-4FBD-81CC-45F9755005D9}" destId="{738402CB-E684-4A9B-A6A6-138EDFA9477A}" srcOrd="0" destOrd="0" parTransId="{B241613E-DF69-4AF6-B7F6-F68EB630788C}" sibTransId="{868B0A66-38D4-41C8-A5C1-D3560619BF3F}"/>
    <dgm:cxn modelId="{C66F7CDC-A92C-46E3-9DC9-DD3E3245BE3B}" type="presOf" srcId="{738402CB-E684-4A9B-A6A6-138EDFA9477A}" destId="{E6F2D249-F7B2-40C0-87E5-92242408E513}" srcOrd="0" destOrd="0" presId="urn:microsoft.com/office/officeart/2005/8/layout/default"/>
    <dgm:cxn modelId="{6478D61F-0F67-4BFA-B08C-692B17A71775}" type="presOf" srcId="{34B401D9-EF25-4FBD-81CC-45F9755005D9}" destId="{0CE56C84-5059-4067-8899-22B87F8E6AE6}" srcOrd="0" destOrd="0" presId="urn:microsoft.com/office/officeart/2005/8/layout/default"/>
    <dgm:cxn modelId="{21975442-F438-4795-A134-F0B0DFB06D01}" type="presOf" srcId="{CC96B2D0-3C75-4FE2-819C-8A22DE84C3D1}" destId="{E6CEB2A9-6092-4164-8B9C-DB705D3B6600}" srcOrd="0" destOrd="0" presId="urn:microsoft.com/office/officeart/2005/8/layout/default"/>
    <dgm:cxn modelId="{424BADFA-1936-4C7C-A64A-6E6A390D6675}" srcId="{34B401D9-EF25-4FBD-81CC-45F9755005D9}" destId="{25C6AB0F-FC98-4A3D-B693-DCC481B75DB0}" srcOrd="1" destOrd="0" parTransId="{FCB07D80-6F09-472B-A3A0-F111D05A69A9}" sibTransId="{B098A857-336A-4419-87C5-9B8E1FB432A4}"/>
    <dgm:cxn modelId="{8CC30CE9-3369-4C76-BEEE-30DE3250CDB9}" type="presParOf" srcId="{0CE56C84-5059-4067-8899-22B87F8E6AE6}" destId="{E6F2D249-F7B2-40C0-87E5-92242408E513}" srcOrd="0" destOrd="0" presId="urn:microsoft.com/office/officeart/2005/8/layout/default"/>
    <dgm:cxn modelId="{A765BE2F-236D-4001-B6B2-04169B297D2F}" type="presParOf" srcId="{0CE56C84-5059-4067-8899-22B87F8E6AE6}" destId="{3FADE827-5336-47A9-9AB0-A7B260A2D719}" srcOrd="1" destOrd="0" presId="urn:microsoft.com/office/officeart/2005/8/layout/default"/>
    <dgm:cxn modelId="{9EB1BFAA-9D7F-4FF0-931A-8522151A83E9}" type="presParOf" srcId="{0CE56C84-5059-4067-8899-22B87F8E6AE6}" destId="{0A3370B8-A1C1-4551-8AA4-A9AC060F01C1}" srcOrd="2" destOrd="0" presId="urn:microsoft.com/office/officeart/2005/8/layout/default"/>
    <dgm:cxn modelId="{92A8B9AE-84CE-4433-9188-0BD3A0626CA2}" type="presParOf" srcId="{0CE56C84-5059-4067-8899-22B87F8E6AE6}" destId="{09ADAA23-92E9-46B0-9AD1-FC2F516D5C3B}" srcOrd="3" destOrd="0" presId="urn:microsoft.com/office/officeart/2005/8/layout/default"/>
    <dgm:cxn modelId="{7FAD14BD-FC9A-4891-B367-56E4F72737A3}" type="presParOf" srcId="{0CE56C84-5059-4067-8899-22B87F8E6AE6}" destId="{E6CEB2A9-6092-4164-8B9C-DB705D3B660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2F44743-2E64-4F2F-9A2C-7B514DDC7DD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576E677-FDC1-4170-A274-03E40AE6DAC6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• Собирать данные и сохранять историю взаимодействия с каждым клиентом.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AD27433-375B-498B-85AD-4D126C539B08}" type="parTrans" cxnId="{8186E191-7139-4EE8-87C9-7464A8FEB30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E2F7E28-0976-4FB3-87E1-603432236112}" type="sibTrans" cxnId="{8186E191-7139-4EE8-87C9-7464A8FEB30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0E49C7C-7A89-456C-AE27-552A47B53825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• Вести каталог поставщиков и партнеров.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0489F5B-A92C-444B-A529-11193407D87F}" type="parTrans" cxnId="{584BB910-6BC1-421A-82CF-9AF8EEDF0C3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60A3A1A-5591-46DC-8280-F6A84E9EB12E}" type="sibTrans" cxnId="{584BB910-6BC1-421A-82CF-9AF8EEDF0C3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DBBBDC7-F221-4B95-B92F-FD283161317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• Безопасно хранить данные и управлять ими.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C6280CC-B8C7-4FA5-91D3-AE924FD604C9}" type="parTrans" cxnId="{7591C746-1A05-4C4C-BD76-42E20359874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0AF44B9-E9A1-4BA2-A40B-ACC3387C2735}" type="sibTrans" cxnId="{7591C746-1A05-4C4C-BD76-42E20359874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A86A952-C826-460B-9211-1451595B5CD8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• Напоминать о важных звонках и встречах.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07B7C2A-073C-4313-9595-64E133CA88A7}" type="parTrans" cxnId="{4EFDA7C2-41D4-40C4-925C-09BF728668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F92F28D-BC35-4184-A62F-FD1893146720}" type="sibTrans" cxnId="{4EFDA7C2-41D4-40C4-925C-09BF728668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88E716A-DC57-41E3-822A-4921CF72B036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• Автоматизировать отчетность, получать аналитику в режиме реального времени.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552175E-9E78-496C-8AD5-01C40FE39629}" type="parTrans" cxnId="{A1DE06C8-4C9A-41CB-87B1-6FF3652807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6EDC5BE-1147-4A67-8A8D-9AC55C030D84}" type="sibTrans" cxnId="{A1DE06C8-4C9A-41CB-87B1-6FF3652807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F1CC100-1DAD-4575-B600-5BAFF4B5299B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• Планировать и делать оценку эффективности маркетинговых кампаний.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03F11F8-0D08-43EC-93A8-86E56632C181}" type="parTrans" cxnId="{B1C6BA67-5523-4AAC-AF94-1751238C271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2FF7885-8232-4AAF-9C86-02802677C301}" type="sibTrans" cxnId="{B1C6BA67-5523-4AAC-AF94-1751238C271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B407198-178D-472E-8D84-4609686F493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• Рассылать сообщения по SMS и электронной почте.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7007574-87B3-4913-92AA-E933F9212BE4}" type="parTrans" cxnId="{BE07FEA8-163B-4AD6-A316-A77B8ADE1BB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FF6A77C-A6B8-452D-9201-7C28704A0606}" type="sibTrans" cxnId="{BE07FEA8-163B-4AD6-A316-A77B8ADE1BB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5B86FF9-146F-46BC-BFF9-3A8714A8F6C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• Упростить ведение документооборота за счет использования встроенных шаблонов.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8CA3063-3C4A-4EFF-9279-5BAAF8E88D5C}" type="parTrans" cxnId="{2DBE02CF-F663-4DCF-A4E8-B93F8B85A06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EA6F47E-9222-45D4-9D19-D1AA1171964F}" type="sibTrans" cxnId="{2DBE02CF-F663-4DCF-A4E8-B93F8B85A06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359951F-9DA5-48C0-9254-7CEB4D38CE35}" type="pres">
      <dgm:prSet presAssocID="{82F44743-2E64-4F2F-9A2C-7B514DDC7DD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E3B55B4-FA5E-4796-B231-86A2EE7290B2}" type="pres">
      <dgm:prSet presAssocID="{6576E677-FDC1-4170-A274-03E40AE6DAC6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C8C8A7-8644-45E3-8495-986ED2E92A6D}" type="pres">
      <dgm:prSet presAssocID="{EE2F7E28-0976-4FB3-87E1-603432236112}" presName="sibTrans" presStyleCnt="0"/>
      <dgm:spPr/>
    </dgm:pt>
    <dgm:pt modelId="{A29B8786-396F-4ADC-A0F2-43841C9A2729}" type="pres">
      <dgm:prSet presAssocID="{70E49C7C-7A89-456C-AE27-552A47B53825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7B62B3-67B0-44E6-8132-ABD45B40A20C}" type="pres">
      <dgm:prSet presAssocID="{E60A3A1A-5591-46DC-8280-F6A84E9EB12E}" presName="sibTrans" presStyleCnt="0"/>
      <dgm:spPr/>
    </dgm:pt>
    <dgm:pt modelId="{4B72D912-BF3C-4E00-AFEB-5D5A5A9ABC6F}" type="pres">
      <dgm:prSet presAssocID="{4DBBBDC7-F221-4B95-B92F-FD2831613174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D9CBD73-12F9-493E-96E5-FFA3D69E3AEF}" type="pres">
      <dgm:prSet presAssocID="{F0AF44B9-E9A1-4BA2-A40B-ACC3387C2735}" presName="sibTrans" presStyleCnt="0"/>
      <dgm:spPr/>
    </dgm:pt>
    <dgm:pt modelId="{474E82E6-8325-4964-82D9-65CD7C71C206}" type="pres">
      <dgm:prSet presAssocID="{6A86A952-C826-460B-9211-1451595B5CD8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A07DFC-EB72-4615-834B-B1358C65FEBE}" type="pres">
      <dgm:prSet presAssocID="{1F92F28D-BC35-4184-A62F-FD1893146720}" presName="sibTrans" presStyleCnt="0"/>
      <dgm:spPr/>
    </dgm:pt>
    <dgm:pt modelId="{8F619F22-0160-4C60-9FB4-A5E47231A2BE}" type="pres">
      <dgm:prSet presAssocID="{388E716A-DC57-41E3-822A-4921CF72B036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03A24C-A0BE-4F5A-BBBA-00D411A2FB38}" type="pres">
      <dgm:prSet presAssocID="{56EDC5BE-1147-4A67-8A8D-9AC55C030D84}" presName="sibTrans" presStyleCnt="0"/>
      <dgm:spPr/>
    </dgm:pt>
    <dgm:pt modelId="{B12E9BC0-5231-4DAC-BD50-773494C8F765}" type="pres">
      <dgm:prSet presAssocID="{7F1CC100-1DAD-4575-B600-5BAFF4B5299B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F364101-96E3-40A7-B9DB-710B26FEBAD7}" type="pres">
      <dgm:prSet presAssocID="{62FF7885-8232-4AAF-9C86-02802677C301}" presName="sibTrans" presStyleCnt="0"/>
      <dgm:spPr/>
    </dgm:pt>
    <dgm:pt modelId="{1CFBE2AD-1308-46F3-9B9C-F21B453FDFB1}" type="pres">
      <dgm:prSet presAssocID="{1B407198-178D-472E-8D84-4609686F4939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D34BDE-25CA-41FA-BE10-B09867B3C42A}" type="pres">
      <dgm:prSet presAssocID="{3FF6A77C-A6B8-452D-9201-7C28704A0606}" presName="sibTrans" presStyleCnt="0"/>
      <dgm:spPr/>
    </dgm:pt>
    <dgm:pt modelId="{D617BE2A-E5A2-466D-9618-1DF9DF4CFCB1}" type="pres">
      <dgm:prSet presAssocID="{35B86FF9-146F-46BC-BFF9-3A8714A8F6C7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BE02CF-F663-4DCF-A4E8-B93F8B85A069}" srcId="{82F44743-2E64-4F2F-9A2C-7B514DDC7DDE}" destId="{35B86FF9-146F-46BC-BFF9-3A8714A8F6C7}" srcOrd="7" destOrd="0" parTransId="{D8CA3063-3C4A-4EFF-9279-5BAAF8E88D5C}" sibTransId="{1EA6F47E-9222-45D4-9D19-D1AA1171964F}"/>
    <dgm:cxn modelId="{A1DE06C8-4C9A-41CB-87B1-6FF365280759}" srcId="{82F44743-2E64-4F2F-9A2C-7B514DDC7DDE}" destId="{388E716A-DC57-41E3-822A-4921CF72B036}" srcOrd="4" destOrd="0" parTransId="{7552175E-9E78-496C-8AD5-01C40FE39629}" sibTransId="{56EDC5BE-1147-4A67-8A8D-9AC55C030D84}"/>
    <dgm:cxn modelId="{7591C746-1A05-4C4C-BD76-42E203598743}" srcId="{82F44743-2E64-4F2F-9A2C-7B514DDC7DDE}" destId="{4DBBBDC7-F221-4B95-B92F-FD2831613174}" srcOrd="2" destOrd="0" parTransId="{0C6280CC-B8C7-4FA5-91D3-AE924FD604C9}" sibTransId="{F0AF44B9-E9A1-4BA2-A40B-ACC3387C2735}"/>
    <dgm:cxn modelId="{685B0AEF-2E7F-49EE-AB51-A7ADC2A28995}" type="presOf" srcId="{7F1CC100-1DAD-4575-B600-5BAFF4B5299B}" destId="{B12E9BC0-5231-4DAC-BD50-773494C8F765}" srcOrd="0" destOrd="0" presId="urn:microsoft.com/office/officeart/2005/8/layout/default"/>
    <dgm:cxn modelId="{B1C6BA67-5523-4AAC-AF94-1751238C271B}" srcId="{82F44743-2E64-4F2F-9A2C-7B514DDC7DDE}" destId="{7F1CC100-1DAD-4575-B600-5BAFF4B5299B}" srcOrd="5" destOrd="0" parTransId="{403F11F8-0D08-43EC-93A8-86E56632C181}" sibTransId="{62FF7885-8232-4AAF-9C86-02802677C301}"/>
    <dgm:cxn modelId="{DF594649-3FE3-45C1-A1B6-0D077D47618E}" type="presOf" srcId="{4DBBBDC7-F221-4B95-B92F-FD2831613174}" destId="{4B72D912-BF3C-4E00-AFEB-5D5A5A9ABC6F}" srcOrd="0" destOrd="0" presId="urn:microsoft.com/office/officeart/2005/8/layout/default"/>
    <dgm:cxn modelId="{56FF4A84-C19D-4D7A-9E20-D9795ED55129}" type="presOf" srcId="{35B86FF9-146F-46BC-BFF9-3A8714A8F6C7}" destId="{D617BE2A-E5A2-466D-9618-1DF9DF4CFCB1}" srcOrd="0" destOrd="0" presId="urn:microsoft.com/office/officeart/2005/8/layout/default"/>
    <dgm:cxn modelId="{584BB910-6BC1-421A-82CF-9AF8EEDF0C30}" srcId="{82F44743-2E64-4F2F-9A2C-7B514DDC7DDE}" destId="{70E49C7C-7A89-456C-AE27-552A47B53825}" srcOrd="1" destOrd="0" parTransId="{40489F5B-A92C-444B-A529-11193407D87F}" sibTransId="{E60A3A1A-5591-46DC-8280-F6A84E9EB12E}"/>
    <dgm:cxn modelId="{CDD642F4-A87A-4DA6-9DF4-577759F92115}" type="presOf" srcId="{388E716A-DC57-41E3-822A-4921CF72B036}" destId="{8F619F22-0160-4C60-9FB4-A5E47231A2BE}" srcOrd="0" destOrd="0" presId="urn:microsoft.com/office/officeart/2005/8/layout/default"/>
    <dgm:cxn modelId="{8186E191-7139-4EE8-87C9-7464A8FEB305}" srcId="{82F44743-2E64-4F2F-9A2C-7B514DDC7DDE}" destId="{6576E677-FDC1-4170-A274-03E40AE6DAC6}" srcOrd="0" destOrd="0" parTransId="{7AD27433-375B-498B-85AD-4D126C539B08}" sibTransId="{EE2F7E28-0976-4FB3-87E1-603432236112}"/>
    <dgm:cxn modelId="{BE07FEA8-163B-4AD6-A316-A77B8ADE1BB0}" srcId="{82F44743-2E64-4F2F-9A2C-7B514DDC7DDE}" destId="{1B407198-178D-472E-8D84-4609686F4939}" srcOrd="6" destOrd="0" parTransId="{B7007574-87B3-4913-92AA-E933F9212BE4}" sibTransId="{3FF6A77C-A6B8-452D-9201-7C28704A0606}"/>
    <dgm:cxn modelId="{819A0974-DE42-4339-BB71-33D0D17825E4}" type="presOf" srcId="{6A86A952-C826-460B-9211-1451595B5CD8}" destId="{474E82E6-8325-4964-82D9-65CD7C71C206}" srcOrd="0" destOrd="0" presId="urn:microsoft.com/office/officeart/2005/8/layout/default"/>
    <dgm:cxn modelId="{C1B9B852-D409-427B-8367-40657BCAE510}" type="presOf" srcId="{1B407198-178D-472E-8D84-4609686F4939}" destId="{1CFBE2AD-1308-46F3-9B9C-F21B453FDFB1}" srcOrd="0" destOrd="0" presId="urn:microsoft.com/office/officeart/2005/8/layout/default"/>
    <dgm:cxn modelId="{4EFDA7C2-41D4-40C4-925C-09BF72866838}" srcId="{82F44743-2E64-4F2F-9A2C-7B514DDC7DDE}" destId="{6A86A952-C826-460B-9211-1451595B5CD8}" srcOrd="3" destOrd="0" parTransId="{D07B7C2A-073C-4313-9595-64E133CA88A7}" sibTransId="{1F92F28D-BC35-4184-A62F-FD1893146720}"/>
    <dgm:cxn modelId="{B6A6D484-1F77-4079-BA57-FD85C5CAE01D}" type="presOf" srcId="{82F44743-2E64-4F2F-9A2C-7B514DDC7DDE}" destId="{9359951F-9DA5-48C0-9254-7CEB4D38CE35}" srcOrd="0" destOrd="0" presId="urn:microsoft.com/office/officeart/2005/8/layout/default"/>
    <dgm:cxn modelId="{EBAF9D18-86E3-40A0-A7BF-9692750EBB1D}" type="presOf" srcId="{70E49C7C-7A89-456C-AE27-552A47B53825}" destId="{A29B8786-396F-4ADC-A0F2-43841C9A2729}" srcOrd="0" destOrd="0" presId="urn:microsoft.com/office/officeart/2005/8/layout/default"/>
    <dgm:cxn modelId="{148FFB83-4933-4531-9E8D-8AF09D8DAC89}" type="presOf" srcId="{6576E677-FDC1-4170-A274-03E40AE6DAC6}" destId="{EE3B55B4-FA5E-4796-B231-86A2EE7290B2}" srcOrd="0" destOrd="0" presId="urn:microsoft.com/office/officeart/2005/8/layout/default"/>
    <dgm:cxn modelId="{632C123B-0D25-496D-9897-768F3273C6DD}" type="presParOf" srcId="{9359951F-9DA5-48C0-9254-7CEB4D38CE35}" destId="{EE3B55B4-FA5E-4796-B231-86A2EE7290B2}" srcOrd="0" destOrd="0" presId="urn:microsoft.com/office/officeart/2005/8/layout/default"/>
    <dgm:cxn modelId="{60B8849F-0D57-475D-8019-13690353C853}" type="presParOf" srcId="{9359951F-9DA5-48C0-9254-7CEB4D38CE35}" destId="{04C8C8A7-8644-45E3-8495-986ED2E92A6D}" srcOrd="1" destOrd="0" presId="urn:microsoft.com/office/officeart/2005/8/layout/default"/>
    <dgm:cxn modelId="{A6E86033-C9E4-4394-B636-2B9F0477F9C3}" type="presParOf" srcId="{9359951F-9DA5-48C0-9254-7CEB4D38CE35}" destId="{A29B8786-396F-4ADC-A0F2-43841C9A2729}" srcOrd="2" destOrd="0" presId="urn:microsoft.com/office/officeart/2005/8/layout/default"/>
    <dgm:cxn modelId="{A3B6C132-3F47-4DB2-BDB4-09406B96ACCA}" type="presParOf" srcId="{9359951F-9DA5-48C0-9254-7CEB4D38CE35}" destId="{7E7B62B3-67B0-44E6-8132-ABD45B40A20C}" srcOrd="3" destOrd="0" presId="urn:microsoft.com/office/officeart/2005/8/layout/default"/>
    <dgm:cxn modelId="{1C6831FD-6FE1-4483-9569-6C973C2793D5}" type="presParOf" srcId="{9359951F-9DA5-48C0-9254-7CEB4D38CE35}" destId="{4B72D912-BF3C-4E00-AFEB-5D5A5A9ABC6F}" srcOrd="4" destOrd="0" presId="urn:microsoft.com/office/officeart/2005/8/layout/default"/>
    <dgm:cxn modelId="{E2F7791D-6B90-46C2-802A-9A3ABB087EFE}" type="presParOf" srcId="{9359951F-9DA5-48C0-9254-7CEB4D38CE35}" destId="{5D9CBD73-12F9-493E-96E5-FFA3D69E3AEF}" srcOrd="5" destOrd="0" presId="urn:microsoft.com/office/officeart/2005/8/layout/default"/>
    <dgm:cxn modelId="{FC40E39A-4176-4787-8E1F-69A7EE048BC2}" type="presParOf" srcId="{9359951F-9DA5-48C0-9254-7CEB4D38CE35}" destId="{474E82E6-8325-4964-82D9-65CD7C71C206}" srcOrd="6" destOrd="0" presId="urn:microsoft.com/office/officeart/2005/8/layout/default"/>
    <dgm:cxn modelId="{083EB78D-BFC4-4D5E-955E-36DF7CED5521}" type="presParOf" srcId="{9359951F-9DA5-48C0-9254-7CEB4D38CE35}" destId="{57A07DFC-EB72-4615-834B-B1358C65FEBE}" srcOrd="7" destOrd="0" presId="urn:microsoft.com/office/officeart/2005/8/layout/default"/>
    <dgm:cxn modelId="{62B0C7A9-2A4C-45FC-8B88-50CFBEB2C92D}" type="presParOf" srcId="{9359951F-9DA5-48C0-9254-7CEB4D38CE35}" destId="{8F619F22-0160-4C60-9FB4-A5E47231A2BE}" srcOrd="8" destOrd="0" presId="urn:microsoft.com/office/officeart/2005/8/layout/default"/>
    <dgm:cxn modelId="{24D73C1B-84E4-497A-B133-FA592E1E09CE}" type="presParOf" srcId="{9359951F-9DA5-48C0-9254-7CEB4D38CE35}" destId="{8403A24C-A0BE-4F5A-BBBA-00D411A2FB38}" srcOrd="9" destOrd="0" presId="urn:microsoft.com/office/officeart/2005/8/layout/default"/>
    <dgm:cxn modelId="{100CAD70-4C92-4E09-93C3-37F867C43C9F}" type="presParOf" srcId="{9359951F-9DA5-48C0-9254-7CEB4D38CE35}" destId="{B12E9BC0-5231-4DAC-BD50-773494C8F765}" srcOrd="10" destOrd="0" presId="urn:microsoft.com/office/officeart/2005/8/layout/default"/>
    <dgm:cxn modelId="{67BB8883-0444-4CED-9D69-6D5A3C5124E2}" type="presParOf" srcId="{9359951F-9DA5-48C0-9254-7CEB4D38CE35}" destId="{AF364101-96E3-40A7-B9DB-710B26FEBAD7}" srcOrd="11" destOrd="0" presId="urn:microsoft.com/office/officeart/2005/8/layout/default"/>
    <dgm:cxn modelId="{60671A19-7021-4B55-9D8C-1D8ED7FCD5CF}" type="presParOf" srcId="{9359951F-9DA5-48C0-9254-7CEB4D38CE35}" destId="{1CFBE2AD-1308-46F3-9B9C-F21B453FDFB1}" srcOrd="12" destOrd="0" presId="urn:microsoft.com/office/officeart/2005/8/layout/default"/>
    <dgm:cxn modelId="{F65D7AB6-BDAB-4AD7-A616-EFE1C5F61BC8}" type="presParOf" srcId="{9359951F-9DA5-48C0-9254-7CEB4D38CE35}" destId="{C8D34BDE-25CA-41FA-BE10-B09867B3C42A}" srcOrd="13" destOrd="0" presId="urn:microsoft.com/office/officeart/2005/8/layout/default"/>
    <dgm:cxn modelId="{68209531-9884-4253-92C0-0B270B2850B1}" type="presParOf" srcId="{9359951F-9DA5-48C0-9254-7CEB4D38CE35}" destId="{D617BE2A-E5A2-466D-9618-1DF9DF4CFCB1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6A0B11B9-5243-4A36-A3D9-A518405E913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43E71A6-2983-452E-A748-B7F4C9F8C40F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Разработать организационный дизайн с учетом целевой модели работы цифровых команд и вовлеченности ключевых руководителей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E2D9B332-DEC5-46CD-AA81-4C274BEB0EF9}" type="parTrans" cxnId="{ADDF28F6-21B8-42B4-812C-C4314A2117F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3B2B860-D0CF-4E07-8848-3764763F8E43}" type="sibTrans" cxnId="{ADDF28F6-21B8-42B4-812C-C4314A2117F4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C1FC2F2-4648-40B1-B832-5C162D07174D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Определить процессы работы (для инициатив, управление через структурированный PMO, эффективное планирование задач и ресурсов и проч.)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8653D3BC-844A-4120-9FB8-3E27A45A9A6D}" type="parTrans" cxnId="{0EED8F66-56AE-4F6B-AD3D-DBF400E0E48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B7C5734-E0EE-4AE6-9C52-729FAA5DF631}" type="sibTrans" cxnId="{0EED8F66-56AE-4F6B-AD3D-DBF400E0E48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F7559F1-A2F9-426C-8CFC-49CA2B60FD72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Обеспечить обучение команды ЦТ навыкам 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и формату работы «продуктовых команд»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E2CA0306-B65A-47C7-A535-CD0A46C4F8C2}" type="parTrans" cxnId="{6098B43F-E998-4168-8074-AE3CA6CBE88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F63BE7F-944E-4F78-9E1E-2D9C3AA9EBF0}" type="sibTrans" cxnId="{6098B43F-E998-4168-8074-AE3CA6CBE88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3539097-8DAC-46D1-B639-84CD1D7A9DBA}" type="pres">
      <dgm:prSet presAssocID="{6A0B11B9-5243-4A36-A3D9-A518405E913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2B99A09-519B-492E-833D-0F0F4074806C}" type="pres">
      <dgm:prSet presAssocID="{643E71A6-2983-452E-A748-B7F4C9F8C40F}" presName="node" presStyleLbl="node1" presStyleIdx="0" presStyleCnt="3" custScaleX="13086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2CCB66-4B04-4F6F-9F2A-D61BB904B988}" type="pres">
      <dgm:prSet presAssocID="{F3B2B860-D0CF-4E07-8848-3764763F8E43}" presName="sibTrans" presStyleCnt="0"/>
      <dgm:spPr/>
    </dgm:pt>
    <dgm:pt modelId="{676E324F-C009-4D7F-8BE0-82EDAC9790F1}" type="pres">
      <dgm:prSet presAssocID="{8C1FC2F2-4648-40B1-B832-5C162D07174D}" presName="node" presStyleLbl="node1" presStyleIdx="1" presStyleCnt="3" custScaleX="13651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21C2DE-E4A7-4AE6-BE1F-242CECA72814}" type="pres">
      <dgm:prSet presAssocID="{1B7C5734-E0EE-4AE6-9C52-729FAA5DF631}" presName="sibTrans" presStyleCnt="0"/>
      <dgm:spPr/>
    </dgm:pt>
    <dgm:pt modelId="{B77CC325-2BC2-4DCA-A8F6-0779C41AD56D}" type="pres">
      <dgm:prSet presAssocID="{FF7559F1-A2F9-426C-8CFC-49CA2B60FD72}" presName="node" presStyleLbl="node1" presStyleIdx="2" presStyleCnt="3" custScaleX="1577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7C061BB-1F17-4ED9-8DD4-42855375F5A7}" type="presOf" srcId="{FF7559F1-A2F9-426C-8CFC-49CA2B60FD72}" destId="{B77CC325-2BC2-4DCA-A8F6-0779C41AD56D}" srcOrd="0" destOrd="0" presId="urn:microsoft.com/office/officeart/2005/8/layout/default"/>
    <dgm:cxn modelId="{ADDF28F6-21B8-42B4-812C-C4314A2117F4}" srcId="{6A0B11B9-5243-4A36-A3D9-A518405E9133}" destId="{643E71A6-2983-452E-A748-B7F4C9F8C40F}" srcOrd="0" destOrd="0" parTransId="{E2D9B332-DEC5-46CD-AA81-4C274BEB0EF9}" sibTransId="{F3B2B860-D0CF-4E07-8848-3764763F8E43}"/>
    <dgm:cxn modelId="{6098B43F-E998-4168-8074-AE3CA6CBE885}" srcId="{6A0B11B9-5243-4A36-A3D9-A518405E9133}" destId="{FF7559F1-A2F9-426C-8CFC-49CA2B60FD72}" srcOrd="2" destOrd="0" parTransId="{E2CA0306-B65A-47C7-A535-CD0A46C4F8C2}" sibTransId="{0F63BE7F-944E-4F78-9E1E-2D9C3AA9EBF0}"/>
    <dgm:cxn modelId="{F98FAAFF-38C8-4982-8F44-3726D05CFBF1}" type="presOf" srcId="{8C1FC2F2-4648-40B1-B832-5C162D07174D}" destId="{676E324F-C009-4D7F-8BE0-82EDAC9790F1}" srcOrd="0" destOrd="0" presId="urn:microsoft.com/office/officeart/2005/8/layout/default"/>
    <dgm:cxn modelId="{0EED8F66-56AE-4F6B-AD3D-DBF400E0E48E}" srcId="{6A0B11B9-5243-4A36-A3D9-A518405E9133}" destId="{8C1FC2F2-4648-40B1-B832-5C162D07174D}" srcOrd="1" destOrd="0" parTransId="{8653D3BC-844A-4120-9FB8-3E27A45A9A6D}" sibTransId="{1B7C5734-E0EE-4AE6-9C52-729FAA5DF631}"/>
    <dgm:cxn modelId="{FB149148-B9C7-4AAB-BEE9-A3C28976E782}" type="presOf" srcId="{6A0B11B9-5243-4A36-A3D9-A518405E9133}" destId="{D3539097-8DAC-46D1-B639-84CD1D7A9DBA}" srcOrd="0" destOrd="0" presId="urn:microsoft.com/office/officeart/2005/8/layout/default"/>
    <dgm:cxn modelId="{507D33A5-09C3-4473-A95C-AADD955AE32E}" type="presOf" srcId="{643E71A6-2983-452E-A748-B7F4C9F8C40F}" destId="{62B99A09-519B-492E-833D-0F0F4074806C}" srcOrd="0" destOrd="0" presId="urn:microsoft.com/office/officeart/2005/8/layout/default"/>
    <dgm:cxn modelId="{B6AC4C5B-D3B4-4D9B-BB0C-3055ED923D87}" type="presParOf" srcId="{D3539097-8DAC-46D1-B639-84CD1D7A9DBA}" destId="{62B99A09-519B-492E-833D-0F0F4074806C}" srcOrd="0" destOrd="0" presId="urn:microsoft.com/office/officeart/2005/8/layout/default"/>
    <dgm:cxn modelId="{FE7A5744-BC2E-4DA6-BFA8-DA71C30CA282}" type="presParOf" srcId="{D3539097-8DAC-46D1-B639-84CD1D7A9DBA}" destId="{282CCB66-4B04-4F6F-9F2A-D61BB904B988}" srcOrd="1" destOrd="0" presId="urn:microsoft.com/office/officeart/2005/8/layout/default"/>
    <dgm:cxn modelId="{7CD31510-B143-4B0B-B9C8-EF186D3E637B}" type="presParOf" srcId="{D3539097-8DAC-46D1-B639-84CD1D7A9DBA}" destId="{676E324F-C009-4D7F-8BE0-82EDAC9790F1}" srcOrd="2" destOrd="0" presId="urn:microsoft.com/office/officeart/2005/8/layout/default"/>
    <dgm:cxn modelId="{EE9F8B8A-0C85-4E5A-8256-BE09C05E8A59}" type="presParOf" srcId="{D3539097-8DAC-46D1-B639-84CD1D7A9DBA}" destId="{0B21C2DE-E4A7-4AE6-BE1F-242CECA72814}" srcOrd="3" destOrd="0" presId="urn:microsoft.com/office/officeart/2005/8/layout/default"/>
    <dgm:cxn modelId="{6EF8260A-1F8D-46CC-87C6-88CAD947B5CB}" type="presParOf" srcId="{D3539097-8DAC-46D1-B639-84CD1D7A9DBA}" destId="{B77CC325-2BC2-4DCA-A8F6-0779C41AD56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6A0B11B9-5243-4A36-A3D9-A518405E913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43E71A6-2983-452E-A748-B7F4C9F8C40F}">
      <dgm:prSet phldrT="[Текст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1. Система совещаний и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дэшбордов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для управления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результативностью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2D9B332-DEC5-46CD-AA81-4C274BEB0EF9}" type="parTrans" cxnId="{ADDF28F6-21B8-42B4-812C-C4314A2117F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3B2B860-D0CF-4E07-8848-3764763F8E43}" type="sibTrans" cxnId="{ADDF28F6-21B8-42B4-812C-C4314A2117F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C1FC2F2-4648-40B1-B832-5C162D07174D}">
      <dgm:prSet phldrT="[Текст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2. Встраивание метрик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результативности ЦТ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в систему мотивации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653D3BC-844A-4120-9FB8-3E27A45A9A6D}" type="parTrans" cxnId="{0EED8F66-56AE-4F6B-AD3D-DBF400E0E48E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B7C5734-E0EE-4AE6-9C52-729FAA5DF631}" type="sibTrans" cxnId="{0EED8F66-56AE-4F6B-AD3D-DBF400E0E48E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F7559F1-A2F9-426C-8CFC-49CA2B60FD72}">
      <dgm:prSet phldrT="[Текст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3. Обучение широкого круга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руководителей базовым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и углубленным знаниям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в области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цифровизации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2CA0306-B65A-47C7-A535-CD0A46C4F8C2}" type="parTrans" cxnId="{6098B43F-E998-4168-8074-AE3CA6CBE885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F63BE7F-944E-4F78-9E1E-2D9C3AA9EBF0}" type="sibTrans" cxnId="{6098B43F-E998-4168-8074-AE3CA6CBE885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19A9CE9-0A00-4803-BB4C-2FC81138E57A}">
      <dgm:prSet phldrT="[Текст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4. Механизмы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геймификации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для вовлечения в обучение и проекты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DC9DDAE-D0A2-4A3C-ACCB-9E3AF94236B9}" type="parTrans" cxnId="{BB5F84C8-D6C7-48B6-B94A-8A5C13DA068D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3A2F8CB-D5CE-4AFD-B913-0C5C17558A28}" type="sibTrans" cxnId="{BB5F84C8-D6C7-48B6-B94A-8A5C13DA068D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F9D890C-9C0B-4D59-8897-E3B2C147C4AA}">
      <dgm:prSet phldrT="[Текст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5. Система стажировок и наставничества в цифровых проектах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AC8AD30-A7C3-4294-A57F-DD0F8F53AA08}" type="parTrans" cxnId="{C07D0E6C-F185-44D2-A151-604453405EFD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4A4C626-D416-471C-838F-C8E0ACC5204B}" type="sibTrans" cxnId="{C07D0E6C-F185-44D2-A151-604453405EFD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12419B5-B694-47FB-9473-8A068D08F299}">
      <dgm:prSet phldrT="[Текст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dirty="0" smtClean="0">
              <a:latin typeface="Times New Roman" pitchFamily="18" charset="0"/>
              <a:cs typeface="Times New Roman" pitchFamily="18" charset="0"/>
            </a:rPr>
            <a:t>6. Корпоративные коммуникации о реализации ЦТ и ее достижениях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782048E-4491-426F-8BD0-8A18B14904AB}" type="parTrans" cxnId="{1C1F6381-E41B-4D05-A12B-1A32BD8B5AC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0006335-C08F-441C-B9FA-F1BFF4EF2D63}" type="sibTrans" cxnId="{1C1F6381-E41B-4D05-A12B-1A32BD8B5AC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3539097-8DAC-46D1-B639-84CD1D7A9DBA}" type="pres">
      <dgm:prSet presAssocID="{6A0B11B9-5243-4A36-A3D9-A518405E913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2B99A09-519B-492E-833D-0F0F4074806C}" type="pres">
      <dgm:prSet presAssocID="{643E71A6-2983-452E-A748-B7F4C9F8C40F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2CCB66-4B04-4F6F-9F2A-D61BB904B988}" type="pres">
      <dgm:prSet presAssocID="{F3B2B860-D0CF-4E07-8848-3764763F8E43}" presName="sibTrans" presStyleCnt="0"/>
      <dgm:spPr/>
    </dgm:pt>
    <dgm:pt modelId="{676E324F-C009-4D7F-8BE0-82EDAC9790F1}" type="pres">
      <dgm:prSet presAssocID="{8C1FC2F2-4648-40B1-B832-5C162D07174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21C2DE-E4A7-4AE6-BE1F-242CECA72814}" type="pres">
      <dgm:prSet presAssocID="{1B7C5734-E0EE-4AE6-9C52-729FAA5DF631}" presName="sibTrans" presStyleCnt="0"/>
      <dgm:spPr/>
    </dgm:pt>
    <dgm:pt modelId="{B77CC325-2BC2-4DCA-A8F6-0779C41AD56D}" type="pres">
      <dgm:prSet presAssocID="{FF7559F1-A2F9-426C-8CFC-49CA2B60FD72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580A72-D589-4C59-BA38-B03006E99AE1}" type="pres">
      <dgm:prSet presAssocID="{0F63BE7F-944E-4F78-9E1E-2D9C3AA9EBF0}" presName="sibTrans" presStyleCnt="0"/>
      <dgm:spPr/>
    </dgm:pt>
    <dgm:pt modelId="{DA3DE900-A2AC-49CF-BACD-D76D0639468C}" type="pres">
      <dgm:prSet presAssocID="{919A9CE9-0A00-4803-BB4C-2FC81138E57A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0E8B32-02DB-4C57-B117-D49B9EBF2287}" type="pres">
      <dgm:prSet presAssocID="{23A2F8CB-D5CE-4AFD-B913-0C5C17558A28}" presName="sibTrans" presStyleCnt="0"/>
      <dgm:spPr/>
    </dgm:pt>
    <dgm:pt modelId="{3D48E02F-6F1C-4BA9-9FC1-C22625276D80}" type="pres">
      <dgm:prSet presAssocID="{6F9D890C-9C0B-4D59-8897-E3B2C147C4A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3FCC6A-409F-4C2A-94FE-5130FC928941}" type="pres">
      <dgm:prSet presAssocID="{74A4C626-D416-471C-838F-C8E0ACC5204B}" presName="sibTrans" presStyleCnt="0"/>
      <dgm:spPr/>
    </dgm:pt>
    <dgm:pt modelId="{6B0398B6-A394-4B87-B6E4-CFBE6F587DD4}" type="pres">
      <dgm:prSet presAssocID="{D12419B5-B694-47FB-9473-8A068D08F29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DDF28F6-21B8-42B4-812C-C4314A2117F4}" srcId="{6A0B11B9-5243-4A36-A3D9-A518405E9133}" destId="{643E71A6-2983-452E-A748-B7F4C9F8C40F}" srcOrd="0" destOrd="0" parTransId="{E2D9B332-DEC5-46CD-AA81-4C274BEB0EF9}" sibTransId="{F3B2B860-D0CF-4E07-8848-3764763F8E43}"/>
    <dgm:cxn modelId="{DC461665-9116-47D8-A694-A2E716DA05E2}" type="presOf" srcId="{FF7559F1-A2F9-426C-8CFC-49CA2B60FD72}" destId="{B77CC325-2BC2-4DCA-A8F6-0779C41AD56D}" srcOrd="0" destOrd="0" presId="urn:microsoft.com/office/officeart/2005/8/layout/default"/>
    <dgm:cxn modelId="{12F5B0E4-87CE-49A8-BFC1-EC9F4B9DE9B4}" type="presOf" srcId="{8C1FC2F2-4648-40B1-B832-5C162D07174D}" destId="{676E324F-C009-4D7F-8BE0-82EDAC9790F1}" srcOrd="0" destOrd="0" presId="urn:microsoft.com/office/officeart/2005/8/layout/default"/>
    <dgm:cxn modelId="{0EED8F66-56AE-4F6B-AD3D-DBF400E0E48E}" srcId="{6A0B11B9-5243-4A36-A3D9-A518405E9133}" destId="{8C1FC2F2-4648-40B1-B832-5C162D07174D}" srcOrd="1" destOrd="0" parTransId="{8653D3BC-844A-4120-9FB8-3E27A45A9A6D}" sibTransId="{1B7C5734-E0EE-4AE6-9C52-729FAA5DF631}"/>
    <dgm:cxn modelId="{BB5F84C8-D6C7-48B6-B94A-8A5C13DA068D}" srcId="{6A0B11B9-5243-4A36-A3D9-A518405E9133}" destId="{919A9CE9-0A00-4803-BB4C-2FC81138E57A}" srcOrd="3" destOrd="0" parTransId="{0DC9DDAE-D0A2-4A3C-ACCB-9E3AF94236B9}" sibTransId="{23A2F8CB-D5CE-4AFD-B913-0C5C17558A28}"/>
    <dgm:cxn modelId="{6098B43F-E998-4168-8074-AE3CA6CBE885}" srcId="{6A0B11B9-5243-4A36-A3D9-A518405E9133}" destId="{FF7559F1-A2F9-426C-8CFC-49CA2B60FD72}" srcOrd="2" destOrd="0" parTransId="{E2CA0306-B65A-47C7-A535-CD0A46C4F8C2}" sibTransId="{0F63BE7F-944E-4F78-9E1E-2D9C3AA9EBF0}"/>
    <dgm:cxn modelId="{010BF749-F7E0-4B38-A38F-AA4218666DD1}" type="presOf" srcId="{6A0B11B9-5243-4A36-A3D9-A518405E9133}" destId="{D3539097-8DAC-46D1-B639-84CD1D7A9DBA}" srcOrd="0" destOrd="0" presId="urn:microsoft.com/office/officeart/2005/8/layout/default"/>
    <dgm:cxn modelId="{249070F9-C741-4C66-883A-C584B4DE29D1}" type="presOf" srcId="{D12419B5-B694-47FB-9473-8A068D08F299}" destId="{6B0398B6-A394-4B87-B6E4-CFBE6F587DD4}" srcOrd="0" destOrd="0" presId="urn:microsoft.com/office/officeart/2005/8/layout/default"/>
    <dgm:cxn modelId="{B94B4086-A5AB-45C6-BE20-BA850BE440E8}" type="presOf" srcId="{643E71A6-2983-452E-A748-B7F4C9F8C40F}" destId="{62B99A09-519B-492E-833D-0F0F4074806C}" srcOrd="0" destOrd="0" presId="urn:microsoft.com/office/officeart/2005/8/layout/default"/>
    <dgm:cxn modelId="{1807A0E4-DB2C-4B64-B00A-CF02A1402C73}" type="presOf" srcId="{919A9CE9-0A00-4803-BB4C-2FC81138E57A}" destId="{DA3DE900-A2AC-49CF-BACD-D76D0639468C}" srcOrd="0" destOrd="0" presId="urn:microsoft.com/office/officeart/2005/8/layout/default"/>
    <dgm:cxn modelId="{C07D0E6C-F185-44D2-A151-604453405EFD}" srcId="{6A0B11B9-5243-4A36-A3D9-A518405E9133}" destId="{6F9D890C-9C0B-4D59-8897-E3B2C147C4AA}" srcOrd="4" destOrd="0" parTransId="{EAC8AD30-A7C3-4294-A57F-DD0F8F53AA08}" sibTransId="{74A4C626-D416-471C-838F-C8E0ACC5204B}"/>
    <dgm:cxn modelId="{1C1F6381-E41B-4D05-A12B-1A32BD8B5AC0}" srcId="{6A0B11B9-5243-4A36-A3D9-A518405E9133}" destId="{D12419B5-B694-47FB-9473-8A068D08F299}" srcOrd="5" destOrd="0" parTransId="{4782048E-4491-426F-8BD0-8A18B14904AB}" sibTransId="{E0006335-C08F-441C-B9FA-F1BFF4EF2D63}"/>
    <dgm:cxn modelId="{490D9445-2A72-433A-B5E1-692DCE911A99}" type="presOf" srcId="{6F9D890C-9C0B-4D59-8897-E3B2C147C4AA}" destId="{3D48E02F-6F1C-4BA9-9FC1-C22625276D80}" srcOrd="0" destOrd="0" presId="urn:microsoft.com/office/officeart/2005/8/layout/default"/>
    <dgm:cxn modelId="{73887D0E-B9E7-4A28-92F0-582A2AC9349D}" type="presParOf" srcId="{D3539097-8DAC-46D1-B639-84CD1D7A9DBA}" destId="{62B99A09-519B-492E-833D-0F0F4074806C}" srcOrd="0" destOrd="0" presId="urn:microsoft.com/office/officeart/2005/8/layout/default"/>
    <dgm:cxn modelId="{B3BAA026-740C-4FDD-B043-FE5907F29DA4}" type="presParOf" srcId="{D3539097-8DAC-46D1-B639-84CD1D7A9DBA}" destId="{282CCB66-4B04-4F6F-9F2A-D61BB904B988}" srcOrd="1" destOrd="0" presId="urn:microsoft.com/office/officeart/2005/8/layout/default"/>
    <dgm:cxn modelId="{CB024C02-A565-46A8-8CF0-87602FFE941F}" type="presParOf" srcId="{D3539097-8DAC-46D1-B639-84CD1D7A9DBA}" destId="{676E324F-C009-4D7F-8BE0-82EDAC9790F1}" srcOrd="2" destOrd="0" presId="urn:microsoft.com/office/officeart/2005/8/layout/default"/>
    <dgm:cxn modelId="{12F8B7BC-AC96-4303-AD4F-25E72C69FBB0}" type="presParOf" srcId="{D3539097-8DAC-46D1-B639-84CD1D7A9DBA}" destId="{0B21C2DE-E4A7-4AE6-BE1F-242CECA72814}" srcOrd="3" destOrd="0" presId="urn:microsoft.com/office/officeart/2005/8/layout/default"/>
    <dgm:cxn modelId="{17E4D3EA-B331-498A-A318-D3F8548261A3}" type="presParOf" srcId="{D3539097-8DAC-46D1-B639-84CD1D7A9DBA}" destId="{B77CC325-2BC2-4DCA-A8F6-0779C41AD56D}" srcOrd="4" destOrd="0" presId="urn:microsoft.com/office/officeart/2005/8/layout/default"/>
    <dgm:cxn modelId="{831A18F7-AECE-4369-A3AE-A8E20624FB87}" type="presParOf" srcId="{D3539097-8DAC-46D1-B639-84CD1D7A9DBA}" destId="{88580A72-D589-4C59-BA38-B03006E99AE1}" srcOrd="5" destOrd="0" presId="urn:microsoft.com/office/officeart/2005/8/layout/default"/>
    <dgm:cxn modelId="{C046321D-1713-43C0-8209-C45116082D97}" type="presParOf" srcId="{D3539097-8DAC-46D1-B639-84CD1D7A9DBA}" destId="{DA3DE900-A2AC-49CF-BACD-D76D0639468C}" srcOrd="6" destOrd="0" presId="urn:microsoft.com/office/officeart/2005/8/layout/default"/>
    <dgm:cxn modelId="{B3F59E49-D117-4246-9F5B-3CA0EE62570F}" type="presParOf" srcId="{D3539097-8DAC-46D1-B639-84CD1D7A9DBA}" destId="{570E8B32-02DB-4C57-B117-D49B9EBF2287}" srcOrd="7" destOrd="0" presId="urn:microsoft.com/office/officeart/2005/8/layout/default"/>
    <dgm:cxn modelId="{75453A52-AB66-45A5-A7CA-6DCA8EADBAD6}" type="presParOf" srcId="{D3539097-8DAC-46D1-B639-84CD1D7A9DBA}" destId="{3D48E02F-6F1C-4BA9-9FC1-C22625276D80}" srcOrd="8" destOrd="0" presId="urn:microsoft.com/office/officeart/2005/8/layout/default"/>
    <dgm:cxn modelId="{B6108165-263D-4C65-842F-E4ABA2072380}" type="presParOf" srcId="{D3539097-8DAC-46D1-B639-84CD1D7A9DBA}" destId="{823FCC6A-409F-4C2A-94FE-5130FC928941}" srcOrd="9" destOrd="0" presId="urn:microsoft.com/office/officeart/2005/8/layout/default"/>
    <dgm:cxn modelId="{9D404AC3-D302-4CA9-B9B2-6C5AAB93CD53}" type="presParOf" srcId="{D3539097-8DAC-46D1-B639-84CD1D7A9DBA}" destId="{6B0398B6-A394-4B87-B6E4-CFBE6F587DD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2966B-FDDE-4A86-87AB-6CA8CA9C483B}">
      <dsp:nvSpPr>
        <dsp:cNvPr id="0" name=""/>
        <dsp:cNvSpPr/>
      </dsp:nvSpPr>
      <dsp:spPr>
        <a:xfrm>
          <a:off x="414337" y="2358"/>
          <a:ext cx="2598539" cy="15591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Усиление конкуренции:  Глобализация рынков, развитие интернета и электронной коммерции привели к усилению конкуренции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4337" y="2358"/>
        <a:ext cx="2598539" cy="1559123"/>
      </dsp:txXfrm>
    </dsp:sp>
    <dsp:sp modelId="{165C698F-A05F-414D-9448-ADF6D0A1F2AC}">
      <dsp:nvSpPr>
        <dsp:cNvPr id="0" name=""/>
        <dsp:cNvSpPr/>
      </dsp:nvSpPr>
      <dsp:spPr>
        <a:xfrm>
          <a:off x="3272730" y="2358"/>
          <a:ext cx="2598539" cy="15591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Повышение требований потребителей: Современные потребители становятся все более требовательными к качеству продукции, скорости доставки, уровню сервиса и </a:t>
          </a:r>
          <a:r>
            <a:rPr lang="ru-RU" sz="1300" kern="1200" dirty="0" err="1" smtClean="0">
              <a:latin typeface="Times New Roman" pitchFamily="18" charset="0"/>
              <a:cs typeface="Times New Roman" pitchFamily="18" charset="0"/>
            </a:rPr>
            <a:t>экологичности</a:t>
          </a: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272730" y="2358"/>
        <a:ext cx="2598539" cy="1559123"/>
      </dsp:txXfrm>
    </dsp:sp>
    <dsp:sp modelId="{65E9003E-86D8-4509-91A9-881DEF5C8469}">
      <dsp:nvSpPr>
        <dsp:cNvPr id="0" name=""/>
        <dsp:cNvSpPr/>
      </dsp:nvSpPr>
      <dsp:spPr>
        <a:xfrm>
          <a:off x="6131123" y="2358"/>
          <a:ext cx="2598539" cy="15591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Сокращение жизненного цикла продукции:  Технологии развиваются стремительно, и жизненный цикл многих товаров постоянно сокращается. Компании должны быть гибкими и быстро адаптироваться к изменениям рынка, чтобы оставаться конкурентоспособными.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31123" y="2358"/>
        <a:ext cx="2598539" cy="1559123"/>
      </dsp:txXfrm>
    </dsp:sp>
    <dsp:sp modelId="{74956B61-A9D0-4A2C-8A04-DAABEC004593}">
      <dsp:nvSpPr>
        <dsp:cNvPr id="0" name=""/>
        <dsp:cNvSpPr/>
      </dsp:nvSpPr>
      <dsp:spPr>
        <a:xfrm>
          <a:off x="414337" y="1821335"/>
          <a:ext cx="2598539" cy="15591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>
              <a:latin typeface="Times New Roman" pitchFamily="18" charset="0"/>
              <a:cs typeface="Times New Roman" pitchFamily="18" charset="0"/>
            </a:rPr>
            <a:t>Необходимость снижения издержек:  В условиях жесткой конкуренции предприятия стремятся снизить все виды издержек</a:t>
          </a:r>
          <a:endParaRPr lang="ru-RU" sz="1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4337" y="1821335"/>
        <a:ext cx="2598539" cy="1559123"/>
      </dsp:txXfrm>
    </dsp:sp>
    <dsp:sp modelId="{239C57EE-E94F-4258-99AF-697AD0266198}">
      <dsp:nvSpPr>
        <dsp:cNvPr id="0" name=""/>
        <dsp:cNvSpPr/>
      </dsp:nvSpPr>
      <dsp:spPr>
        <a:xfrm>
          <a:off x="3272730" y="1821335"/>
          <a:ext cx="2598539" cy="15591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smtClean="0">
              <a:latin typeface="Times New Roman" pitchFamily="18" charset="0"/>
              <a:cs typeface="Times New Roman" pitchFamily="18" charset="0"/>
            </a:rPr>
            <a:t>Улучшение качества продукции:  Повышение качества продукции – это не только удовлетворение потребностей потребителей, но и снижение затрат на исправление брака, гарантийное обслуживание и т.д.</a:t>
          </a:r>
          <a:endParaRPr lang="ru-RU" sz="1300" kern="1200">
            <a:latin typeface="Times New Roman" pitchFamily="18" charset="0"/>
            <a:cs typeface="Times New Roman" pitchFamily="18" charset="0"/>
          </a:endParaRPr>
        </a:p>
      </dsp:txBody>
      <dsp:txXfrm>
        <a:off x="3272730" y="1821335"/>
        <a:ext cx="2598539" cy="1559123"/>
      </dsp:txXfrm>
    </dsp:sp>
    <dsp:sp modelId="{FF3C9214-43F8-4A77-B6FB-D159484272A3}">
      <dsp:nvSpPr>
        <dsp:cNvPr id="0" name=""/>
        <dsp:cNvSpPr/>
      </dsp:nvSpPr>
      <dsp:spPr>
        <a:xfrm>
          <a:off x="6131123" y="1821335"/>
          <a:ext cx="2598539" cy="15591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smtClean="0">
              <a:latin typeface="Times New Roman" pitchFamily="18" charset="0"/>
              <a:cs typeface="Times New Roman" pitchFamily="18" charset="0"/>
            </a:rPr>
            <a:t>Повышение безопасности труда:  Автоматизация и роботизация производственных процессов позволяют снизить количество опасных и монотонных операций, что способствует повышению безопасности труда и снижению травматизма.</a:t>
          </a:r>
          <a:endParaRPr lang="ru-RU" sz="1300" kern="1200">
            <a:latin typeface="Times New Roman" pitchFamily="18" charset="0"/>
            <a:cs typeface="Times New Roman" pitchFamily="18" charset="0"/>
          </a:endParaRPr>
        </a:p>
      </dsp:txBody>
      <dsp:txXfrm>
        <a:off x="6131123" y="1821335"/>
        <a:ext cx="2598539" cy="15591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78D02-C244-4831-A715-D8D147CBAE3F}">
      <dsp:nvSpPr>
        <dsp:cNvPr id="0" name=""/>
        <dsp:cNvSpPr/>
      </dsp:nvSpPr>
      <dsp:spPr>
        <a:xfrm>
          <a:off x="7" y="20966"/>
          <a:ext cx="9143985" cy="1194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Конкуренция вынуждает предприятия использовать все доступные ресурсы и технологии для достижения максимальной эффективности.  </a:t>
          </a:r>
        </a:p>
        <a:p>
          <a:pPr lvl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Беспилотные технологии – это одно из решений, которое позволяет добиться значительных результатов в этой области.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" y="20966"/>
        <a:ext cx="9143985" cy="11948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0E084-B3A5-49CB-9473-00D9EFCB7FC4}">
      <dsp:nvSpPr>
        <dsp:cNvPr id="0" name=""/>
        <dsp:cNvSpPr/>
      </dsp:nvSpPr>
      <dsp:spPr>
        <a:xfrm>
          <a:off x="0" y="360017"/>
          <a:ext cx="2809875" cy="168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По прогнозу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McKinsey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, к 2030 году около 400 миллионов человек на планете, или 14% рабочей силы, потеряют работу из-за того, что их функции станут выполнять программы и роботы.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360017"/>
        <a:ext cx="2809875" cy="1685925"/>
      </dsp:txXfrm>
    </dsp:sp>
    <dsp:sp modelId="{5C88EF17-975D-4AD4-ABBB-8192B49FFF00}">
      <dsp:nvSpPr>
        <dsp:cNvPr id="0" name=""/>
        <dsp:cNvSpPr/>
      </dsp:nvSpPr>
      <dsp:spPr>
        <a:xfrm>
          <a:off x="3090862" y="360017"/>
          <a:ext cx="2809875" cy="168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53% работников считают, что автоматизация значительно изменит или сделает их работу устаревшей в течение следующих десяти лет (только 28% считают, что это маловероятно).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3090862" y="360017"/>
        <a:ext cx="2809875" cy="1685925"/>
      </dsp:txXfrm>
    </dsp:sp>
    <dsp:sp modelId="{B356CF40-C838-4293-B0EA-16ECA9EFE423}">
      <dsp:nvSpPr>
        <dsp:cNvPr id="0" name=""/>
        <dsp:cNvSpPr/>
      </dsp:nvSpPr>
      <dsp:spPr>
        <a:xfrm>
          <a:off x="6181725" y="360017"/>
          <a:ext cx="2809875" cy="168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77% работников будут вынуждены в ближайшее время приобрести новые навыки или полностью переквалифицироваться в связи с роботизацией.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6181725" y="360017"/>
        <a:ext cx="2809875" cy="1685925"/>
      </dsp:txXfrm>
    </dsp:sp>
    <dsp:sp modelId="{23A45599-DEEC-4D11-B0F0-4592BE0C6CF8}">
      <dsp:nvSpPr>
        <dsp:cNvPr id="0" name=""/>
        <dsp:cNvSpPr/>
      </dsp:nvSpPr>
      <dsp:spPr>
        <a:xfrm>
          <a:off x="0" y="2326929"/>
          <a:ext cx="2809875" cy="168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80% мужчин в связи с роботизацией приобретают новые навыки в сравнении с 74% женщин.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0" y="2326929"/>
        <a:ext cx="2809875" cy="1685925"/>
      </dsp:txXfrm>
    </dsp:sp>
    <dsp:sp modelId="{BA1EB42C-F79C-4ECE-9991-918BAA496D28}">
      <dsp:nvSpPr>
        <dsp:cNvPr id="0" name=""/>
        <dsp:cNvSpPr/>
      </dsp:nvSpPr>
      <dsp:spPr>
        <a:xfrm>
          <a:off x="3090862" y="2326929"/>
          <a:ext cx="2809875" cy="168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34% взрослых людей, не имеющих среднего и высшего образования, не считают нужным развивать новые цифровые навыки.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3090862" y="2326929"/>
        <a:ext cx="2809875" cy="1685925"/>
      </dsp:txXfrm>
    </dsp:sp>
    <dsp:sp modelId="{7CD25669-5CAA-4DB3-81E2-45B5C63698BC}">
      <dsp:nvSpPr>
        <dsp:cNvPr id="0" name=""/>
        <dsp:cNvSpPr/>
      </dsp:nvSpPr>
      <dsp:spPr>
        <a:xfrm>
          <a:off x="6181725" y="2326929"/>
          <a:ext cx="2809875" cy="16859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69% людей в возрасте от 18 до 34 лет положительно оценивают потенциальное влияние цифровизации на рынок труда. Их мнение разделяют 59% людей в возрасте от 35 до 54 лет и 50% – в возрасте старше 55 лет</a:t>
          </a:r>
          <a:endParaRPr lang="ru-RU" sz="1600" kern="1200">
            <a:latin typeface="Times New Roman" pitchFamily="18" charset="0"/>
            <a:cs typeface="Times New Roman" pitchFamily="18" charset="0"/>
          </a:endParaRPr>
        </a:p>
      </dsp:txBody>
      <dsp:txXfrm>
        <a:off x="6181725" y="2326929"/>
        <a:ext cx="2809875" cy="16859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A1D0C-948F-41B0-ACBF-976885F62437}">
      <dsp:nvSpPr>
        <dsp:cNvPr id="0" name=""/>
        <dsp:cNvSpPr/>
      </dsp:nvSpPr>
      <dsp:spPr>
        <a:xfrm>
          <a:off x="1290339" y="496"/>
          <a:ext cx="3125390" cy="1875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Повышение эффективности за счёт автоматизации рутинных операций, что освобождает время сотрудников для стратегически важных задач.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290339" y="496"/>
        <a:ext cx="3125390" cy="1875234"/>
      </dsp:txXfrm>
    </dsp:sp>
    <dsp:sp modelId="{B42AFF9C-8F26-4493-933C-9C9412ACA706}">
      <dsp:nvSpPr>
        <dsp:cNvPr id="0" name=""/>
        <dsp:cNvSpPr/>
      </dsp:nvSpPr>
      <dsp:spPr>
        <a:xfrm>
          <a:off x="4728269" y="496"/>
          <a:ext cx="3125390" cy="1875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Улучшение клиентского опыта - анализ больших данных помогает предлагать клиентам персонализированные услуги и улучшать обслуживание через удобные каналы.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728269" y="496"/>
        <a:ext cx="3125390" cy="1875234"/>
      </dsp:txXfrm>
    </dsp:sp>
    <dsp:sp modelId="{A3A2FC76-7627-4DDC-9414-38479BC4BA1C}">
      <dsp:nvSpPr>
        <dsp:cNvPr id="0" name=""/>
        <dsp:cNvSpPr/>
      </dsp:nvSpPr>
      <dsp:spPr>
        <a:xfrm>
          <a:off x="1290339" y="2188269"/>
          <a:ext cx="3125390" cy="1875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Рост конкурентоспособности - IT-инструменты позволяют быстрее реагировать на рыночные изменения и запускать инновационные продукты.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290339" y="2188269"/>
        <a:ext cx="3125390" cy="1875234"/>
      </dsp:txXfrm>
    </dsp:sp>
    <dsp:sp modelId="{12EC2732-9E9E-45FF-A738-56779A271F16}">
      <dsp:nvSpPr>
        <dsp:cNvPr id="0" name=""/>
        <dsp:cNvSpPr/>
      </dsp:nvSpPr>
      <dsp:spPr>
        <a:xfrm>
          <a:off x="4728269" y="2188269"/>
          <a:ext cx="3125390" cy="1875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Снижение затрат - переход на облачные платформы и автоматизирование сокращают расходы на инфраструктуру и обслуживание.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728269" y="2188269"/>
        <a:ext cx="3125390" cy="18752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A1D0C-948F-41B0-ACBF-976885F62437}">
      <dsp:nvSpPr>
        <dsp:cNvPr id="0" name=""/>
        <dsp:cNvSpPr/>
      </dsp:nvSpPr>
      <dsp:spPr>
        <a:xfrm>
          <a:off x="277088" y="11503"/>
          <a:ext cx="4154331" cy="1875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Технологическая инфраструктура - системы, программное обеспечение и инструменты, необходимые для реализации трансформации (облачные решения, аналитика данных, автоматизация процессов).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77088" y="11503"/>
        <a:ext cx="4154331" cy="1875234"/>
      </dsp:txXfrm>
    </dsp:sp>
    <dsp:sp modelId="{59067FCE-EA28-4074-B548-B014A57EE396}">
      <dsp:nvSpPr>
        <dsp:cNvPr id="0" name=""/>
        <dsp:cNvSpPr/>
      </dsp:nvSpPr>
      <dsp:spPr>
        <a:xfrm>
          <a:off x="4730113" y="496"/>
          <a:ext cx="4150643" cy="1875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Изменение корпоративной культуры - создание среды, в которой сотрудники готовы активно принимать и использовать новые технологии (развитие цифровой грамотности, изменение управленческих подходов).</a:t>
          </a:r>
        </a:p>
      </dsp:txBody>
      <dsp:txXfrm>
        <a:off x="4730113" y="496"/>
        <a:ext cx="4150643" cy="1875234"/>
      </dsp:txXfrm>
    </dsp:sp>
    <dsp:sp modelId="{DD4ACD33-428C-4C68-B205-F3F2BA7E96BC}">
      <dsp:nvSpPr>
        <dsp:cNvPr id="0" name=""/>
        <dsp:cNvSpPr/>
      </dsp:nvSpPr>
      <dsp:spPr>
        <a:xfrm>
          <a:off x="2299856" y="2188269"/>
          <a:ext cx="4544286" cy="1875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Аналитика данных - использование данных для принятия обоснованных бизнес-решений (например, изучение больших объёмов данных для выявления трендов и прогнозирования будущего поведения клиентов).</a:t>
          </a:r>
        </a:p>
      </dsp:txBody>
      <dsp:txXfrm>
        <a:off x="2299856" y="2188269"/>
        <a:ext cx="4544286" cy="18752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A1D0C-948F-41B0-ACBF-976885F62437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оценка текущей цифровой зрелости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44" y="145603"/>
        <a:ext cx="2902148" cy="1741289"/>
      </dsp:txXfrm>
    </dsp:sp>
    <dsp:sp modelId="{C005694A-8443-4B1B-90B3-C251B1281945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установка чётких целей и ключевых показателей эффективности (KPI)</a:t>
          </a:r>
        </a:p>
      </dsp:txBody>
      <dsp:txXfrm>
        <a:off x="3193107" y="145603"/>
        <a:ext cx="2902148" cy="1741289"/>
      </dsp:txXfrm>
    </dsp:sp>
    <dsp:sp modelId="{D6DA4231-6175-410E-A4B8-ED4D620CE901}">
      <dsp:nvSpPr>
        <dsp:cNvPr id="0" name=""/>
        <dsp:cNvSpPr/>
      </dsp:nvSpPr>
      <dsp:spPr>
        <a:xfrm>
          <a:off x="1596925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приоритизация инициатив и создание дорожной карты</a:t>
          </a:r>
        </a:p>
      </dsp:txBody>
      <dsp:txXfrm>
        <a:off x="1596925" y="2177107"/>
        <a:ext cx="2902148" cy="17412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A1D0C-948F-41B0-ACBF-976885F62437}">
      <dsp:nvSpPr>
        <dsp:cNvPr id="0" name=""/>
        <dsp:cNvSpPr/>
      </dsp:nvSpPr>
      <dsp:spPr>
        <a:xfrm>
          <a:off x="0" y="0"/>
          <a:ext cx="4045990" cy="2659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 smtClean="0">
              <a:latin typeface="Times New Roman" pitchFamily="18" charset="0"/>
              <a:cs typeface="Times New Roman" pitchFamily="18" charset="0"/>
            </a:rPr>
            <a:t>Netflix</a:t>
          </a: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 - изначально начав как сервис по прокату DVD, перешёл на модель </a:t>
          </a:r>
          <a:r>
            <a:rPr lang="ru-RU" sz="2400" kern="1200" dirty="0" err="1" smtClean="0">
              <a:latin typeface="Times New Roman" pitchFamily="18" charset="0"/>
              <a:cs typeface="Times New Roman" pitchFamily="18" charset="0"/>
            </a:rPr>
            <a:t>стриминга</a:t>
          </a: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, используя облачные технологии и ИИ для рекомендаций контента.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0"/>
        <a:ext cx="4045990" cy="2659792"/>
      </dsp:txXfrm>
    </dsp:sp>
    <dsp:sp modelId="{DA28FA86-2473-4662-BE16-66D8AB5EA918}">
      <dsp:nvSpPr>
        <dsp:cNvPr id="0" name=""/>
        <dsp:cNvSpPr/>
      </dsp:nvSpPr>
      <dsp:spPr>
        <a:xfrm>
          <a:off x="4391612" y="0"/>
          <a:ext cx="4461442" cy="26326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 smtClean="0">
              <a:latin typeface="Times New Roman" pitchFamily="18" charset="0"/>
              <a:cs typeface="Times New Roman" pitchFamily="18" charset="0"/>
            </a:rPr>
            <a:t>Amazon</a:t>
          </a: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 - использует цифровые технологии для оптимизации бизнес-процессов и улучшения клиентского опыта: применяет ИИ и машинное обучение для прогнозирования спроса, управления запасами и персонализации рекомендаций.</a:t>
          </a:r>
        </a:p>
      </dsp:txBody>
      <dsp:txXfrm>
        <a:off x="4391612" y="0"/>
        <a:ext cx="4461442" cy="2632615"/>
      </dsp:txXfrm>
    </dsp:sp>
    <dsp:sp modelId="{EE1EC87E-0C25-4743-85F7-0A51BB25DF8B}">
      <dsp:nvSpPr>
        <dsp:cNvPr id="0" name=""/>
        <dsp:cNvSpPr/>
      </dsp:nvSpPr>
      <dsp:spPr>
        <a:xfrm>
          <a:off x="1177641" y="3239251"/>
          <a:ext cx="6497771" cy="20619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Domino's </a:t>
          </a:r>
          <a:r>
            <a:rPr lang="ru-RU" sz="2400" kern="1200" dirty="0" err="1" smtClean="0">
              <a:latin typeface="Times New Roman" pitchFamily="18" charset="0"/>
              <a:cs typeface="Times New Roman" pitchFamily="18" charset="0"/>
            </a:rPr>
            <a:t>Pizza</a:t>
          </a: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 - внедрила цифровые технологии для улучшения процесса заказа и доставки пиццы: разработала мобильное приложение и онлайн-платформу, которые позволяют клиентам легко заказывать пиццу и отслеживать статус заказа в реальном времени.</a:t>
          </a:r>
        </a:p>
      </dsp:txBody>
      <dsp:txXfrm>
        <a:off x="1177641" y="3239251"/>
        <a:ext cx="6497771" cy="20619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22911-3665-48BF-9CEE-0AAE92E370D4}">
      <dsp:nvSpPr>
        <dsp:cNvPr id="0" name=""/>
        <dsp:cNvSpPr/>
      </dsp:nvSpPr>
      <dsp:spPr>
        <a:xfrm>
          <a:off x="0" y="176"/>
          <a:ext cx="2717330" cy="23904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Развитие систем сбора информации с применением высокочувствительных датчиков, квантовых сенсоров для промышленности, связи, медицины.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76"/>
        <a:ext cx="2717330" cy="2390474"/>
      </dsp:txXfrm>
    </dsp:sp>
    <dsp:sp modelId="{CBFAA3CE-3F04-45D5-933D-98D593F0DFAE}">
      <dsp:nvSpPr>
        <dsp:cNvPr id="0" name=""/>
        <dsp:cNvSpPr/>
      </dsp:nvSpPr>
      <dsp:spPr>
        <a:xfrm>
          <a:off x="2989064" y="380213"/>
          <a:ext cx="2717330" cy="1630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Улучшение передачи сведений в реальном времени для работы робототехники, беспилотного транспорта, «умных городов».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989064" y="380213"/>
        <a:ext cx="2717330" cy="1630398"/>
      </dsp:txXfrm>
    </dsp:sp>
    <dsp:sp modelId="{93B94336-4562-4B77-8E02-06C50CA722EA}">
      <dsp:nvSpPr>
        <dsp:cNvPr id="0" name=""/>
        <dsp:cNvSpPr/>
      </dsp:nvSpPr>
      <dsp:spPr>
        <a:xfrm>
          <a:off x="5978128" y="69451"/>
          <a:ext cx="2717330" cy="22519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Создание российских систем хранения информации – от облачных платформ,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ЦОДов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до вычислительных мощностей на квантовых и фотонных технологиях.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78128" y="69451"/>
        <a:ext cx="2717330" cy="2251922"/>
      </dsp:txXfrm>
    </dsp:sp>
    <dsp:sp modelId="{F794BC89-7B36-4A05-B4DE-1E7710AB50A2}">
      <dsp:nvSpPr>
        <dsp:cNvPr id="0" name=""/>
        <dsp:cNvSpPr/>
      </dsp:nvSpPr>
      <dsp:spPr>
        <a:xfrm>
          <a:off x="0" y="2761495"/>
          <a:ext cx="2717330" cy="1630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Обеспечение безопасности данных через развитие квантовых коммуникаций, криптографии для защиты от кибератак.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0" y="2761495"/>
        <a:ext cx="2717330" cy="1630398"/>
      </dsp:txXfrm>
    </dsp:sp>
    <dsp:sp modelId="{92EF359D-4A90-4EA6-B084-AB253FED4FD6}">
      <dsp:nvSpPr>
        <dsp:cNvPr id="0" name=""/>
        <dsp:cNvSpPr/>
      </dsp:nvSpPr>
      <dsp:spPr>
        <a:xfrm>
          <a:off x="2989064" y="2761495"/>
          <a:ext cx="2717330" cy="1630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Формирование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нацстандартов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и регламентов обработки данных, включая механизмы защиты персональных сведений.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89064" y="2761495"/>
        <a:ext cx="2717330" cy="1630398"/>
      </dsp:txXfrm>
    </dsp:sp>
    <dsp:sp modelId="{6AFDF65F-F5CC-48E8-9857-F3ED8C8A5EE9}">
      <dsp:nvSpPr>
        <dsp:cNvPr id="0" name=""/>
        <dsp:cNvSpPr/>
      </dsp:nvSpPr>
      <dsp:spPr>
        <a:xfrm>
          <a:off x="5978128" y="2662383"/>
          <a:ext cx="2717330" cy="18286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Разработку алгоритмов анализа данных на основе российского ПО с параллельным созданием локальных платформ для совместной работы IT-специалистов.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978128" y="2662383"/>
        <a:ext cx="2717330" cy="182862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4A32A-F741-4F64-B66C-69170D242668}">
      <dsp:nvSpPr>
        <dsp:cNvPr id="0" name=""/>
        <dsp:cNvSpPr/>
      </dsp:nvSpPr>
      <dsp:spPr>
        <a:xfrm>
          <a:off x="0" y="509803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Развитие сенсорных технологий:  Современные беспилотные системы оснащены высокоточными сенсорами (камеры,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лидары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, радары, ультразвуковые датчики), которые позволяют им ориентироваться в пространстве, распознавать объекты и принимать решения.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509803"/>
        <a:ext cx="2775238" cy="1665143"/>
      </dsp:txXfrm>
    </dsp:sp>
    <dsp:sp modelId="{11A78607-6B4A-4F22-B516-8BC859E04F25}">
      <dsp:nvSpPr>
        <dsp:cNvPr id="0" name=""/>
        <dsp:cNvSpPr/>
      </dsp:nvSpPr>
      <dsp:spPr>
        <a:xfrm>
          <a:off x="3052762" y="3"/>
          <a:ext cx="2775238" cy="268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Прогресс в области искусственного интеллекта (ИИ) и машинного обучения:  ИИ и машинное обучение играют ключевую роль в управлении беспилотными системами. Они позволяют им анализировать огромные объемы данных, принимать решения в реальном времени, обучаться на основе опыта и адаптироваться к изменяющимся условиям.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52762" y="3"/>
        <a:ext cx="2775238" cy="2684743"/>
      </dsp:txXfrm>
    </dsp:sp>
    <dsp:sp modelId="{99BD5B7E-776D-4457-982E-04C99B571112}">
      <dsp:nvSpPr>
        <dsp:cNvPr id="0" name=""/>
        <dsp:cNvSpPr/>
      </dsp:nvSpPr>
      <dsp:spPr>
        <a:xfrm>
          <a:off x="6105525" y="509803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Улучшение технологий связи и передачи данных:  Надежная связь и быстрая передача данных необходимы для эффективной работы беспилотных систем, особенно в условиях сложной производственной среды.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6105525" y="509803"/>
        <a:ext cx="2775238" cy="1665143"/>
      </dsp:txXfrm>
    </dsp:sp>
    <dsp:sp modelId="{86563A44-354C-47E8-8AF3-3C3CA0B99B9B}">
      <dsp:nvSpPr>
        <dsp:cNvPr id="0" name=""/>
        <dsp:cNvSpPr/>
      </dsp:nvSpPr>
      <dsp:spPr>
        <a:xfrm>
          <a:off x="1526381" y="2962270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Развитие аккумуляторов и электродвигателей: Повышение емкости аккумуляторов и эффективности электродвигателей позволяет беспилотным системам работать дольше и выполнять более сложные задачи.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1526381" y="2962270"/>
        <a:ext cx="2775238" cy="1665143"/>
      </dsp:txXfrm>
    </dsp:sp>
    <dsp:sp modelId="{9112EB9F-CDF5-4787-A834-2B37AEE5BB53}">
      <dsp:nvSpPr>
        <dsp:cNvPr id="0" name=""/>
        <dsp:cNvSpPr/>
      </dsp:nvSpPr>
      <dsp:spPr>
        <a:xfrm>
          <a:off x="4579143" y="2962270"/>
          <a:ext cx="2775238" cy="16651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Снижение стоимости беспилотных технологий:  Массовое производство и конкуренция между производителями беспилотных систем привели к снижению их стоимости, что делает их более доступными для широкого круга предприятий.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4579143" y="2962270"/>
        <a:ext cx="2775238" cy="166514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4A32A-F741-4F64-B66C-69170D242668}">
      <dsp:nvSpPr>
        <dsp:cNvPr id="0" name=""/>
        <dsp:cNvSpPr/>
      </dsp:nvSpPr>
      <dsp:spPr>
        <a:xfrm>
          <a:off x="0" y="327"/>
          <a:ext cx="4370516" cy="1454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AGV (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Automated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Guided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Vehicles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):  Автоматически управляемые транспортные средства, которые перемещаются по заданному маршруту с помощью магнитной ленты, проводов, лазеров или других способов навигации. AGV хорошо подходят для перемещения больших объемов грузов по фиксированным маршрутам.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327"/>
        <a:ext cx="4370516" cy="1454398"/>
      </dsp:txXfrm>
    </dsp:sp>
    <dsp:sp modelId="{1B9626E1-9CCF-4CD3-A22B-211D84AF0047}">
      <dsp:nvSpPr>
        <dsp:cNvPr id="0" name=""/>
        <dsp:cNvSpPr/>
      </dsp:nvSpPr>
      <dsp:spPr>
        <a:xfrm>
          <a:off x="4668977" y="163"/>
          <a:ext cx="4155725" cy="1454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AMR (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Autonomous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Mobile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Robots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): Автономные мобильные роботы, которые могут самостоятельно ориентироваться в пространстве, обходить препятствия и выбирать оптимальный маршрут. AMR более гибкие и адаптивные, чем AGV, и могут работать в динамичной среде.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668977" y="163"/>
        <a:ext cx="4155725" cy="145439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5E05C-B26E-446D-BFC4-AA4C68CFDC31}">
      <dsp:nvSpPr>
        <dsp:cNvPr id="0" name=""/>
        <dsp:cNvSpPr/>
      </dsp:nvSpPr>
      <dsp:spPr>
        <a:xfrm>
          <a:off x="722636" y="1821"/>
          <a:ext cx="3729501" cy="16105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Повышение производительности:  AGV/AMR могут работать круглосуточно, без перерывов и выходных, что позволяет значительно увеличить скорость обработки заказов.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22636" y="1821"/>
        <a:ext cx="3729501" cy="1610505"/>
      </dsp:txXfrm>
    </dsp:sp>
    <dsp:sp modelId="{69E99309-FD0D-4080-AB5F-497CED0ED593}">
      <dsp:nvSpPr>
        <dsp:cNvPr id="0" name=""/>
        <dsp:cNvSpPr/>
      </dsp:nvSpPr>
      <dsp:spPr>
        <a:xfrm>
          <a:off x="4720556" y="1821"/>
          <a:ext cx="3437570" cy="16105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Снижение затрат на оплату труда:  Автоматизация перемещения материалов позволяет сократить количество персонала, занятого на рутинных операциях.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720556" y="1821"/>
        <a:ext cx="3437570" cy="1610505"/>
      </dsp:txXfrm>
    </dsp:sp>
    <dsp:sp modelId="{26C3EFFF-8D7D-4C45-BA68-C4C99CDD286C}">
      <dsp:nvSpPr>
        <dsp:cNvPr id="0" name=""/>
        <dsp:cNvSpPr/>
      </dsp:nvSpPr>
      <dsp:spPr>
        <a:xfrm>
          <a:off x="809899" y="1647720"/>
          <a:ext cx="3705666" cy="16105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Улучшение логистики:  AGV/AMR могут оптимизировать маршруты перемещения, сократить время доставки грузов и уменьшить количество ошибок.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09899" y="1647720"/>
        <a:ext cx="3705666" cy="1610505"/>
      </dsp:txXfrm>
    </dsp:sp>
    <dsp:sp modelId="{ECFFF6C7-C883-4962-B0C0-98338CDB387F}">
      <dsp:nvSpPr>
        <dsp:cNvPr id="0" name=""/>
        <dsp:cNvSpPr/>
      </dsp:nvSpPr>
      <dsp:spPr>
        <a:xfrm>
          <a:off x="4660752" y="1647720"/>
          <a:ext cx="3390436" cy="16105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Повышение безопасности труда: Автоматизация опасных и монотонных операций снижает риск травм на рабочем месте.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660752" y="1647720"/>
        <a:ext cx="3390436" cy="1610505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4A32A-F741-4F64-B66C-69170D242668}">
      <dsp:nvSpPr>
        <dsp:cNvPr id="0" name=""/>
        <dsp:cNvSpPr/>
      </dsp:nvSpPr>
      <dsp:spPr>
        <a:xfrm>
          <a:off x="151337" y="685"/>
          <a:ext cx="4084804" cy="24508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Опыт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Amazon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:  </a:t>
          </a:r>
          <a:r>
            <a:rPr lang="ru-RU" sz="1400" kern="1200" dirty="0" err="1" smtClean="0">
              <a:latin typeface="Times New Roman" pitchFamily="18" charset="0"/>
              <a:cs typeface="Times New Roman" pitchFamily="18" charset="0"/>
            </a:rPr>
            <a:t>Amazon</a:t>
          </a: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 активно использует AGV/AMR на своих складах для перемещения товаров от стеллажей к сортировочным станциям. Это позволяет значительно ускорить процесс комплектации заказов и сократить время доставки.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51337" y="685"/>
        <a:ext cx="4084804" cy="2450882"/>
      </dsp:txXfrm>
    </dsp:sp>
    <dsp:sp modelId="{41ECAD33-5E03-4A8B-BB27-C47278C06F15}">
      <dsp:nvSpPr>
        <dsp:cNvPr id="0" name=""/>
        <dsp:cNvSpPr/>
      </dsp:nvSpPr>
      <dsp:spPr>
        <a:xfrm>
          <a:off x="4644622" y="685"/>
          <a:ext cx="4084804" cy="24508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Опыт Ocado:  Ocado – британская компания, специализирующаяся на онлайн-торговле продуктами питания. Компания использует роботизированную систему на своих складах, где тысячи роботов перемещаются по сетке над контейнерами с продуктами, комплектуя заказы в автоматическом режиме.</a:t>
          </a:r>
        </a:p>
      </dsp:txBody>
      <dsp:txXfrm>
        <a:off x="4644622" y="685"/>
        <a:ext cx="4084804" cy="245088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4A32A-F741-4F64-B66C-69170D242668}">
      <dsp:nvSpPr>
        <dsp:cNvPr id="0" name=""/>
        <dsp:cNvSpPr/>
      </dsp:nvSpPr>
      <dsp:spPr>
        <a:xfrm>
          <a:off x="1794838" y="0"/>
          <a:ext cx="2502051" cy="1501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Высокая скорость и точность:  Дроны могут быстро и точно сканировать штрих-коды и RFID-метки на товарах, что позволяет проводить инвентаризацию в несколько раз быстрее, чем традиционными способами.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794838" y="0"/>
        <a:ext cx="2502051" cy="1501230"/>
      </dsp:txXfrm>
    </dsp:sp>
    <dsp:sp modelId="{758A704E-EA89-40BF-AD18-FBC12800AAF8}">
      <dsp:nvSpPr>
        <dsp:cNvPr id="0" name=""/>
        <dsp:cNvSpPr/>
      </dsp:nvSpPr>
      <dsp:spPr>
        <a:xfrm>
          <a:off x="4935037" y="0"/>
          <a:ext cx="2502051" cy="1501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Охват больших площадей: Дроны могут легко перемещаться между стеллажами и сканировать товары на большой высоте, что позволяет проводить инвентаризацию даже на самых больших складах.</a:t>
          </a:r>
        </a:p>
      </dsp:txBody>
      <dsp:txXfrm>
        <a:off x="4935037" y="0"/>
        <a:ext cx="2502051" cy="1501230"/>
      </dsp:txXfrm>
    </dsp:sp>
    <dsp:sp modelId="{F2BAFEA4-DDD5-453F-89C2-DE410E618908}">
      <dsp:nvSpPr>
        <dsp:cNvPr id="0" name=""/>
        <dsp:cNvSpPr/>
      </dsp:nvSpPr>
      <dsp:spPr>
        <a:xfrm>
          <a:off x="1787231" y="1594846"/>
          <a:ext cx="2502051" cy="1501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Снижение затрат на оплату труда:  Автоматизация инвентаризации позволяет сократить количество персонала, занятого на этой рутинной операции.</a:t>
          </a:r>
        </a:p>
      </dsp:txBody>
      <dsp:txXfrm>
        <a:off x="1787231" y="1594846"/>
        <a:ext cx="2502051" cy="1501230"/>
      </dsp:txXfrm>
    </dsp:sp>
    <dsp:sp modelId="{D7DD135E-91B1-46D3-98FE-3612C72A220A}">
      <dsp:nvSpPr>
        <dsp:cNvPr id="0" name=""/>
        <dsp:cNvSpPr/>
      </dsp:nvSpPr>
      <dsp:spPr>
        <a:xfrm>
          <a:off x="4921176" y="1600606"/>
          <a:ext cx="2502051" cy="1501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Повышение точности учета:  Использование дронов позволяет снизить количество ошибок, связанных с ручным вводом данных.</a:t>
          </a:r>
        </a:p>
      </dsp:txBody>
      <dsp:txXfrm>
        <a:off x="4921176" y="1600606"/>
        <a:ext cx="2502051" cy="1501230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EDF6F-27C7-4B28-9A2F-CABC489393D9}">
      <dsp:nvSpPr>
        <dsp:cNvPr id="0" name=""/>
        <dsp:cNvSpPr/>
      </dsp:nvSpPr>
      <dsp:spPr>
        <a:xfrm>
          <a:off x="2121" y="0"/>
          <a:ext cx="8296745" cy="10609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Опыт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Walmart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: 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Walmart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использует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дронов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для инвентаризации на своих складах с 2016 года. По данным компании,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дроны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позволяют сократить время инвентаризации на 50% и повысить точность учета.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121" y="0"/>
        <a:ext cx="8296745" cy="106091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924F6F-1218-4B3A-8E87-D698C897E46A}">
      <dsp:nvSpPr>
        <dsp:cNvPr id="0" name=""/>
        <dsp:cNvSpPr/>
      </dsp:nvSpPr>
      <dsp:spPr>
        <a:xfrm>
          <a:off x="2553" y="529594"/>
          <a:ext cx="2025442" cy="12152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>
              <a:latin typeface="Times New Roman" pitchFamily="18" charset="0"/>
              <a:cs typeface="Times New Roman" pitchFamily="18" charset="0"/>
            </a:rPr>
            <a:t>ИНДУСТРИЯ 1.0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>
              <a:latin typeface="Times New Roman" pitchFamily="18" charset="0"/>
              <a:cs typeface="Times New Roman" pitchFamily="18" charset="0"/>
            </a:rPr>
            <a:t> Первое использование машин в производстве</a:t>
          </a:r>
          <a:endParaRPr lang="ru-RU" sz="15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2553" y="529594"/>
        <a:ext cx="2025442" cy="1215265"/>
      </dsp:txXfrm>
    </dsp:sp>
    <dsp:sp modelId="{A408A617-F69C-4713-A4EF-D503556D9B0B}">
      <dsp:nvSpPr>
        <dsp:cNvPr id="0" name=""/>
        <dsp:cNvSpPr/>
      </dsp:nvSpPr>
      <dsp:spPr>
        <a:xfrm>
          <a:off x="2230539" y="529594"/>
          <a:ext cx="2025442" cy="12152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>
              <a:latin typeface="Times New Roman" pitchFamily="18" charset="0"/>
              <a:cs typeface="Times New Roman" pitchFamily="18" charset="0"/>
            </a:rPr>
            <a:t>ИНДУСТРИЯ 2.0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>
              <a:latin typeface="Times New Roman" pitchFamily="18" charset="0"/>
              <a:cs typeface="Times New Roman" pitchFamily="18" charset="0"/>
            </a:rPr>
            <a:t> Массовое производство</a:t>
          </a:r>
          <a:endParaRPr lang="ru-RU" sz="15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2230539" y="529594"/>
        <a:ext cx="2025442" cy="1215265"/>
      </dsp:txXfrm>
    </dsp:sp>
    <dsp:sp modelId="{956E1366-B2FC-45C7-B558-E0155A0BE282}">
      <dsp:nvSpPr>
        <dsp:cNvPr id="0" name=""/>
        <dsp:cNvSpPr/>
      </dsp:nvSpPr>
      <dsp:spPr>
        <a:xfrm>
          <a:off x="4458526" y="529594"/>
          <a:ext cx="2025442" cy="12152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>
              <a:latin typeface="Times New Roman" pitchFamily="18" charset="0"/>
              <a:cs typeface="Times New Roman" pitchFamily="18" charset="0"/>
            </a:rPr>
            <a:t>ИНДУСТРИЯ 3.0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>
              <a:latin typeface="Times New Roman" pitchFamily="18" charset="0"/>
              <a:cs typeface="Times New Roman" pitchFamily="18" charset="0"/>
            </a:rPr>
            <a:t>Вычисления и автоматизация для дополнения человека</a:t>
          </a:r>
          <a:endParaRPr lang="ru-RU" sz="15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58526" y="529594"/>
        <a:ext cx="2025442" cy="1215265"/>
      </dsp:txXfrm>
    </dsp:sp>
    <dsp:sp modelId="{26830688-7CF3-41B8-9354-94E801329172}">
      <dsp:nvSpPr>
        <dsp:cNvPr id="0" name=""/>
        <dsp:cNvSpPr/>
      </dsp:nvSpPr>
      <dsp:spPr>
        <a:xfrm>
          <a:off x="6686513" y="529594"/>
          <a:ext cx="2025442" cy="12152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>
              <a:latin typeface="Times New Roman" pitchFamily="18" charset="0"/>
              <a:cs typeface="Times New Roman" pitchFamily="18" charset="0"/>
            </a:rPr>
            <a:t>ИНДУСТРИЯ 4.0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>
              <a:latin typeface="Times New Roman" pitchFamily="18" charset="0"/>
              <a:cs typeface="Times New Roman" pitchFamily="18" charset="0"/>
            </a:rPr>
            <a:t>Замещение человека, Роботизация, ИИ</a:t>
          </a:r>
          <a:endParaRPr lang="ru-RU" sz="15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6686513" y="529594"/>
        <a:ext cx="2025442" cy="1215265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60594-1CE9-4681-8E11-D25D945400F5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Большие Данные, вычислительная мощь, связность (</a:t>
          </a:r>
          <a:r>
            <a:rPr lang="en-US" sz="2500" kern="1200" dirty="0" smtClean="0">
              <a:latin typeface="Times New Roman" pitchFamily="18" charset="0"/>
              <a:cs typeface="Times New Roman" pitchFamily="18" charset="0"/>
            </a:rPr>
            <a:t>connectivity</a:t>
          </a: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)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44" y="145603"/>
        <a:ext cx="2902148" cy="1741289"/>
      </dsp:txXfrm>
    </dsp:sp>
    <dsp:sp modelId="{FA8F0240-7E4C-4CB5-A083-41F39A9E76C9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Искусственный Интеллект и продвинутая аналитика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193107" y="145603"/>
        <a:ext cx="2902148" cy="1741289"/>
      </dsp:txXfrm>
    </dsp:sp>
    <dsp:sp modelId="{7F86EB02-52A5-4476-A8F6-C9132CD74D47}">
      <dsp:nvSpPr>
        <dsp:cNvPr id="0" name=""/>
        <dsp:cNvSpPr/>
      </dsp:nvSpPr>
      <dsp:spPr>
        <a:xfrm>
          <a:off x="744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Изменение способа взаимодействия между человеком и компьютером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44" y="2177107"/>
        <a:ext cx="2902148" cy="1741289"/>
      </dsp:txXfrm>
    </dsp:sp>
    <dsp:sp modelId="{598416E6-0BBC-4EC0-BBE9-AF58A2B0C272}">
      <dsp:nvSpPr>
        <dsp:cNvPr id="0" name=""/>
        <dsp:cNvSpPr/>
      </dsp:nvSpPr>
      <dsp:spPr>
        <a:xfrm>
          <a:off x="3193107" y="2177107"/>
          <a:ext cx="2902148" cy="1741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Роботизация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193107" y="2177107"/>
        <a:ext cx="2902148" cy="1741289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C146D-3526-4845-BEE5-1CCA5C2171BC}">
      <dsp:nvSpPr>
        <dsp:cNvPr id="0" name=""/>
        <dsp:cNvSpPr/>
      </dsp:nvSpPr>
      <dsp:spPr>
        <a:xfrm>
          <a:off x="602224" y="950213"/>
          <a:ext cx="2595242" cy="855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Подключение техники к промышленному интернету вещей</a:t>
          </a:r>
          <a:endParaRPr lang="ru-RU" sz="2000" kern="1200" dirty="0"/>
        </a:p>
      </dsp:txBody>
      <dsp:txXfrm>
        <a:off x="602224" y="950213"/>
        <a:ext cx="2595242" cy="855250"/>
      </dsp:txXfrm>
    </dsp:sp>
    <dsp:sp modelId="{93D02D36-23B4-419E-B0E4-678DA36E573D}">
      <dsp:nvSpPr>
        <dsp:cNvPr id="0" name=""/>
        <dsp:cNvSpPr/>
      </dsp:nvSpPr>
      <dsp:spPr>
        <a:xfrm>
          <a:off x="599275" y="690099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14956-4447-407D-B26C-D52D586470D9}">
      <dsp:nvSpPr>
        <dsp:cNvPr id="0" name=""/>
        <dsp:cNvSpPr/>
      </dsp:nvSpPr>
      <dsp:spPr>
        <a:xfrm>
          <a:off x="743783" y="401083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049BE-1568-4558-B68E-CAF138708748}">
      <dsp:nvSpPr>
        <dsp:cNvPr id="0" name=""/>
        <dsp:cNvSpPr/>
      </dsp:nvSpPr>
      <dsp:spPr>
        <a:xfrm>
          <a:off x="1090601" y="458886"/>
          <a:ext cx="324405" cy="324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37EC8-C1F6-43D1-865A-D3F6720AA99F}">
      <dsp:nvSpPr>
        <dsp:cNvPr id="0" name=""/>
        <dsp:cNvSpPr/>
      </dsp:nvSpPr>
      <dsp:spPr>
        <a:xfrm>
          <a:off x="1379617" y="140969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50996-E798-47A9-B85A-6804EA9B505C}">
      <dsp:nvSpPr>
        <dsp:cNvPr id="0" name=""/>
        <dsp:cNvSpPr/>
      </dsp:nvSpPr>
      <dsp:spPr>
        <a:xfrm>
          <a:off x="1755337" y="25363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9AF14-0465-4D92-9A6D-1583EBE899BC}">
      <dsp:nvSpPr>
        <dsp:cNvPr id="0" name=""/>
        <dsp:cNvSpPr/>
      </dsp:nvSpPr>
      <dsp:spPr>
        <a:xfrm>
          <a:off x="2217762" y="227674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8B77D-F955-458E-85A7-C62836FBC888}">
      <dsp:nvSpPr>
        <dsp:cNvPr id="0" name=""/>
        <dsp:cNvSpPr/>
      </dsp:nvSpPr>
      <dsp:spPr>
        <a:xfrm>
          <a:off x="2506778" y="372181"/>
          <a:ext cx="324405" cy="324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85DD3-961E-43C4-94DC-B04AE90A364F}">
      <dsp:nvSpPr>
        <dsp:cNvPr id="0" name=""/>
        <dsp:cNvSpPr/>
      </dsp:nvSpPr>
      <dsp:spPr>
        <a:xfrm>
          <a:off x="2911400" y="690099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8D7CB-E43A-4D54-91B8-526A10E922CA}">
      <dsp:nvSpPr>
        <dsp:cNvPr id="0" name=""/>
        <dsp:cNvSpPr/>
      </dsp:nvSpPr>
      <dsp:spPr>
        <a:xfrm>
          <a:off x="3084809" y="1008016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4D75F-C387-4E79-86B2-11B9EF006FA2}">
      <dsp:nvSpPr>
        <dsp:cNvPr id="0" name=""/>
        <dsp:cNvSpPr/>
      </dsp:nvSpPr>
      <dsp:spPr>
        <a:xfrm>
          <a:off x="1581928" y="401083"/>
          <a:ext cx="530844" cy="5308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219B5-C05C-4D89-8678-84466468D6EA}">
      <dsp:nvSpPr>
        <dsp:cNvPr id="0" name=""/>
        <dsp:cNvSpPr/>
      </dsp:nvSpPr>
      <dsp:spPr>
        <a:xfrm>
          <a:off x="454767" y="1499342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50CF0-14FD-4FDF-8DB2-AE1D56D1B28E}">
      <dsp:nvSpPr>
        <dsp:cNvPr id="0" name=""/>
        <dsp:cNvSpPr/>
      </dsp:nvSpPr>
      <dsp:spPr>
        <a:xfrm>
          <a:off x="628176" y="1759456"/>
          <a:ext cx="324405" cy="324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F2339-B484-4507-B235-23904C152E27}">
      <dsp:nvSpPr>
        <dsp:cNvPr id="0" name=""/>
        <dsp:cNvSpPr/>
      </dsp:nvSpPr>
      <dsp:spPr>
        <a:xfrm>
          <a:off x="1061700" y="1990669"/>
          <a:ext cx="471862" cy="4718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2029E-F148-428E-811D-03C5213009E2}">
      <dsp:nvSpPr>
        <dsp:cNvPr id="0" name=""/>
        <dsp:cNvSpPr/>
      </dsp:nvSpPr>
      <dsp:spPr>
        <a:xfrm>
          <a:off x="1668632" y="2366389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ACA31-FABF-4A45-8E7E-E5F3D8EBE79A}">
      <dsp:nvSpPr>
        <dsp:cNvPr id="0" name=""/>
        <dsp:cNvSpPr/>
      </dsp:nvSpPr>
      <dsp:spPr>
        <a:xfrm>
          <a:off x="1784239" y="1990669"/>
          <a:ext cx="324405" cy="324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2B325-C1AD-4348-935E-D188E4189128}">
      <dsp:nvSpPr>
        <dsp:cNvPr id="0" name=""/>
        <dsp:cNvSpPr/>
      </dsp:nvSpPr>
      <dsp:spPr>
        <a:xfrm>
          <a:off x="2073254" y="2395291"/>
          <a:ext cx="206439" cy="2064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033EE-9AEF-45CD-BC5E-19BA870BD48A}">
      <dsp:nvSpPr>
        <dsp:cNvPr id="0" name=""/>
        <dsp:cNvSpPr/>
      </dsp:nvSpPr>
      <dsp:spPr>
        <a:xfrm>
          <a:off x="2333368" y="1932866"/>
          <a:ext cx="471862" cy="4718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BC4D2-7786-4FAE-8FE9-A27C3DD6BCEB}">
      <dsp:nvSpPr>
        <dsp:cNvPr id="0" name=""/>
        <dsp:cNvSpPr/>
      </dsp:nvSpPr>
      <dsp:spPr>
        <a:xfrm>
          <a:off x="2969203" y="1817259"/>
          <a:ext cx="324405" cy="324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89AE6-2C99-4BD8-BCA4-FA51BDA545B7}">
      <dsp:nvSpPr>
        <dsp:cNvPr id="0" name=""/>
        <dsp:cNvSpPr/>
      </dsp:nvSpPr>
      <dsp:spPr>
        <a:xfrm>
          <a:off x="3293608" y="458405"/>
          <a:ext cx="952732" cy="1818869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842B1-6BCC-4B7F-B9DC-2A91AF7C9458}">
      <dsp:nvSpPr>
        <dsp:cNvPr id="0" name=""/>
        <dsp:cNvSpPr/>
      </dsp:nvSpPr>
      <dsp:spPr>
        <a:xfrm>
          <a:off x="4073116" y="458405"/>
          <a:ext cx="952732" cy="1818869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2DF3F-25FD-4346-8A0D-CFFA33F793F4}">
      <dsp:nvSpPr>
        <dsp:cNvPr id="0" name=""/>
        <dsp:cNvSpPr/>
      </dsp:nvSpPr>
      <dsp:spPr>
        <a:xfrm>
          <a:off x="5129782" y="308090"/>
          <a:ext cx="2208606" cy="22086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>
              <a:latin typeface="Times New Roman" pitchFamily="18" charset="0"/>
              <a:cs typeface="Times New Roman" pitchFamily="18" charset="0"/>
            </a:rPr>
            <a:t>сразу получаем поток информации реальных данных в режиме реального времени</a:t>
          </a:r>
          <a:endParaRPr lang="ru-RU" sz="1600" kern="1200"/>
        </a:p>
      </dsp:txBody>
      <dsp:txXfrm>
        <a:off x="5453225" y="631533"/>
        <a:ext cx="1561720" cy="1561720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C146D-3526-4845-BEE5-1CCA5C2171BC}">
      <dsp:nvSpPr>
        <dsp:cNvPr id="0" name=""/>
        <dsp:cNvSpPr/>
      </dsp:nvSpPr>
      <dsp:spPr>
        <a:xfrm>
          <a:off x="591041" y="846481"/>
          <a:ext cx="2609286" cy="1077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Оснащение техники системой контроля загрузки, навигационными блоками, различными датчиками и сенсорами</a:t>
          </a:r>
          <a:endParaRPr lang="ru-RU" sz="1600" kern="1200" dirty="0"/>
        </a:p>
      </dsp:txBody>
      <dsp:txXfrm>
        <a:off x="591041" y="846481"/>
        <a:ext cx="2609286" cy="1077625"/>
      </dsp:txXfrm>
    </dsp:sp>
    <dsp:sp modelId="{93D02D36-23B4-419E-B0E4-678DA36E573D}">
      <dsp:nvSpPr>
        <dsp:cNvPr id="0" name=""/>
        <dsp:cNvSpPr/>
      </dsp:nvSpPr>
      <dsp:spPr>
        <a:xfrm>
          <a:off x="588076" y="693833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14956-4447-407D-B26C-D52D586470D9}">
      <dsp:nvSpPr>
        <dsp:cNvPr id="0" name=""/>
        <dsp:cNvSpPr/>
      </dsp:nvSpPr>
      <dsp:spPr>
        <a:xfrm>
          <a:off x="733366" y="403253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049BE-1568-4558-B68E-CAF138708748}">
      <dsp:nvSpPr>
        <dsp:cNvPr id="0" name=""/>
        <dsp:cNvSpPr/>
      </dsp:nvSpPr>
      <dsp:spPr>
        <a:xfrm>
          <a:off x="1082062" y="461369"/>
          <a:ext cx="326160" cy="3261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37EC8-C1F6-43D1-865A-D3F6720AA99F}">
      <dsp:nvSpPr>
        <dsp:cNvPr id="0" name=""/>
        <dsp:cNvSpPr/>
      </dsp:nvSpPr>
      <dsp:spPr>
        <a:xfrm>
          <a:off x="1372641" y="141732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50996-E798-47A9-B85A-6804EA9B505C}">
      <dsp:nvSpPr>
        <dsp:cNvPr id="0" name=""/>
        <dsp:cNvSpPr/>
      </dsp:nvSpPr>
      <dsp:spPr>
        <a:xfrm>
          <a:off x="1750395" y="25500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9AF14-0465-4D92-9A6D-1583EBE899BC}">
      <dsp:nvSpPr>
        <dsp:cNvPr id="0" name=""/>
        <dsp:cNvSpPr/>
      </dsp:nvSpPr>
      <dsp:spPr>
        <a:xfrm>
          <a:off x="2215322" y="228906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8B77D-F955-458E-85A7-C62836FBC888}">
      <dsp:nvSpPr>
        <dsp:cNvPr id="0" name=""/>
        <dsp:cNvSpPr/>
      </dsp:nvSpPr>
      <dsp:spPr>
        <a:xfrm>
          <a:off x="2505902" y="374196"/>
          <a:ext cx="326160" cy="3261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85DD3-961E-43C4-94DC-B04AE90A364F}">
      <dsp:nvSpPr>
        <dsp:cNvPr id="0" name=""/>
        <dsp:cNvSpPr/>
      </dsp:nvSpPr>
      <dsp:spPr>
        <a:xfrm>
          <a:off x="2912713" y="693833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8D7CB-E43A-4D54-91B8-526A10E922CA}">
      <dsp:nvSpPr>
        <dsp:cNvPr id="0" name=""/>
        <dsp:cNvSpPr/>
      </dsp:nvSpPr>
      <dsp:spPr>
        <a:xfrm>
          <a:off x="3087061" y="1013471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4D75F-C387-4E79-86B2-11B9EF006FA2}">
      <dsp:nvSpPr>
        <dsp:cNvPr id="0" name=""/>
        <dsp:cNvSpPr/>
      </dsp:nvSpPr>
      <dsp:spPr>
        <a:xfrm>
          <a:off x="1576047" y="403253"/>
          <a:ext cx="533717" cy="5337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219B5-C05C-4D89-8678-84466468D6EA}">
      <dsp:nvSpPr>
        <dsp:cNvPr id="0" name=""/>
        <dsp:cNvSpPr/>
      </dsp:nvSpPr>
      <dsp:spPr>
        <a:xfrm>
          <a:off x="442786" y="1507456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50CF0-14FD-4FDF-8DB2-AE1D56D1B28E}">
      <dsp:nvSpPr>
        <dsp:cNvPr id="0" name=""/>
        <dsp:cNvSpPr/>
      </dsp:nvSpPr>
      <dsp:spPr>
        <a:xfrm>
          <a:off x="617134" y="1768978"/>
          <a:ext cx="326160" cy="3261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F2339-B484-4507-B235-23904C152E27}">
      <dsp:nvSpPr>
        <dsp:cNvPr id="0" name=""/>
        <dsp:cNvSpPr/>
      </dsp:nvSpPr>
      <dsp:spPr>
        <a:xfrm>
          <a:off x="1053004" y="2001442"/>
          <a:ext cx="474415" cy="4744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2029E-F148-428E-811D-03C5213009E2}">
      <dsp:nvSpPr>
        <dsp:cNvPr id="0" name=""/>
        <dsp:cNvSpPr/>
      </dsp:nvSpPr>
      <dsp:spPr>
        <a:xfrm>
          <a:off x="1663221" y="2379195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ACA31-FABF-4A45-8E7E-E5F3D8EBE79A}">
      <dsp:nvSpPr>
        <dsp:cNvPr id="0" name=""/>
        <dsp:cNvSpPr/>
      </dsp:nvSpPr>
      <dsp:spPr>
        <a:xfrm>
          <a:off x="1779453" y="2001442"/>
          <a:ext cx="326160" cy="3261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2B325-C1AD-4348-935E-D188E4189128}">
      <dsp:nvSpPr>
        <dsp:cNvPr id="0" name=""/>
        <dsp:cNvSpPr/>
      </dsp:nvSpPr>
      <dsp:spPr>
        <a:xfrm>
          <a:off x="2070032" y="2408253"/>
          <a:ext cx="207556" cy="2075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033EE-9AEF-45CD-BC5E-19BA870BD48A}">
      <dsp:nvSpPr>
        <dsp:cNvPr id="0" name=""/>
        <dsp:cNvSpPr/>
      </dsp:nvSpPr>
      <dsp:spPr>
        <a:xfrm>
          <a:off x="2331554" y="1943326"/>
          <a:ext cx="474415" cy="4744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BC4D2-7786-4FAE-8FE9-A27C3DD6BCEB}">
      <dsp:nvSpPr>
        <dsp:cNvPr id="0" name=""/>
        <dsp:cNvSpPr/>
      </dsp:nvSpPr>
      <dsp:spPr>
        <a:xfrm>
          <a:off x="2970829" y="1827094"/>
          <a:ext cx="326160" cy="3261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89AE6-2C99-4BD8-BCA4-FA51BDA545B7}">
      <dsp:nvSpPr>
        <dsp:cNvPr id="0" name=""/>
        <dsp:cNvSpPr/>
      </dsp:nvSpPr>
      <dsp:spPr>
        <a:xfrm>
          <a:off x="3296990" y="460886"/>
          <a:ext cx="957887" cy="1828712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842B1-6BCC-4B7F-B9DC-2A91AF7C9458}">
      <dsp:nvSpPr>
        <dsp:cNvPr id="0" name=""/>
        <dsp:cNvSpPr/>
      </dsp:nvSpPr>
      <dsp:spPr>
        <a:xfrm>
          <a:off x="4080717" y="460886"/>
          <a:ext cx="957887" cy="1828712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2DF3F-25FD-4346-8A0D-CFFA33F793F4}">
      <dsp:nvSpPr>
        <dsp:cNvPr id="0" name=""/>
        <dsp:cNvSpPr/>
      </dsp:nvSpPr>
      <dsp:spPr>
        <a:xfrm>
          <a:off x="5143101" y="309758"/>
          <a:ext cx="2220558" cy="22205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мы знаем сколько груза везет водитель и по какой дороге, надолго хватит топлива, как скоро потребуется подкачивать шины) </a:t>
          </a:r>
          <a:endParaRPr lang="ru-RU" sz="1400" kern="1200" dirty="0"/>
        </a:p>
      </dsp:txBody>
      <dsp:txXfrm>
        <a:off x="5468294" y="634951"/>
        <a:ext cx="1570172" cy="157017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864F1-7417-4E4B-A74A-227F727BC78F}">
      <dsp:nvSpPr>
        <dsp:cNvPr id="0" name=""/>
        <dsp:cNvSpPr/>
      </dsp:nvSpPr>
      <dsp:spPr>
        <a:xfrm>
          <a:off x="2592" y="292258"/>
          <a:ext cx="3158098" cy="12632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Когда мы научили нашу технику отдавать данные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34212" y="292258"/>
        <a:ext cx="1894859" cy="1263239"/>
      </dsp:txXfrm>
    </dsp:sp>
    <dsp:sp modelId="{C8B76012-D605-42A2-8C66-7C38076BF55D}">
      <dsp:nvSpPr>
        <dsp:cNvPr id="0" name=""/>
        <dsp:cNvSpPr/>
      </dsp:nvSpPr>
      <dsp:spPr>
        <a:xfrm>
          <a:off x="2844880" y="292258"/>
          <a:ext cx="3158098" cy="12632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сами их собираем и храним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476500" y="292258"/>
        <a:ext cx="1894859" cy="1263239"/>
      </dsp:txXfrm>
    </dsp:sp>
    <dsp:sp modelId="{FFD63833-0B7C-4631-8A6B-970AF4B6FD03}">
      <dsp:nvSpPr>
        <dsp:cNvPr id="0" name=""/>
        <dsp:cNvSpPr/>
      </dsp:nvSpPr>
      <dsp:spPr>
        <a:xfrm>
          <a:off x="5687168" y="292258"/>
          <a:ext cx="3158098" cy="12632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то стоит использовать эту информацию для получения новых эффектов 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318788" y="292258"/>
        <a:ext cx="1894859" cy="1263239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DC671-C32C-4B50-B1CD-52B10A370D49}">
      <dsp:nvSpPr>
        <dsp:cNvPr id="0" name=""/>
        <dsp:cNvSpPr/>
      </dsp:nvSpPr>
      <dsp:spPr>
        <a:xfrm>
          <a:off x="4240058" y="779941"/>
          <a:ext cx="2874387" cy="2260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82"/>
              </a:lnTo>
              <a:lnTo>
                <a:pt x="2874387" y="13282"/>
              </a:lnTo>
              <a:lnTo>
                <a:pt x="2874387" y="2260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B3EAF2-9DA1-4989-A102-F3B8F28A0CF0}">
      <dsp:nvSpPr>
        <dsp:cNvPr id="0" name=""/>
        <dsp:cNvSpPr/>
      </dsp:nvSpPr>
      <dsp:spPr>
        <a:xfrm>
          <a:off x="4240058" y="779941"/>
          <a:ext cx="422538" cy="2260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82"/>
              </a:lnTo>
              <a:lnTo>
                <a:pt x="422538" y="13282"/>
              </a:lnTo>
              <a:lnTo>
                <a:pt x="422538" y="2260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0E09A4-ED1E-4E7A-8C44-9E7B8358CD68}">
      <dsp:nvSpPr>
        <dsp:cNvPr id="0" name=""/>
        <dsp:cNvSpPr/>
      </dsp:nvSpPr>
      <dsp:spPr>
        <a:xfrm>
          <a:off x="1793579" y="779941"/>
          <a:ext cx="2446479" cy="226046"/>
        </a:xfrm>
        <a:custGeom>
          <a:avLst/>
          <a:gdLst/>
          <a:ahLst/>
          <a:cxnLst/>
          <a:rect l="0" t="0" r="0" b="0"/>
          <a:pathLst>
            <a:path>
              <a:moveTo>
                <a:pt x="2446479" y="0"/>
              </a:moveTo>
              <a:lnTo>
                <a:pt x="2446479" y="13282"/>
              </a:lnTo>
              <a:lnTo>
                <a:pt x="0" y="13282"/>
              </a:lnTo>
              <a:lnTo>
                <a:pt x="0" y="2260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1CAAC9-F0C2-4E0E-AD7A-AAF8263B9FC4}">
      <dsp:nvSpPr>
        <dsp:cNvPr id="0" name=""/>
        <dsp:cNvSpPr/>
      </dsp:nvSpPr>
      <dsp:spPr>
        <a:xfrm>
          <a:off x="16232" y="202480"/>
          <a:ext cx="8447653" cy="5774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Уровень цифровой готовности (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Digital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Readliness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Level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)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6232" y="202480"/>
        <a:ext cx="8447653" cy="577461"/>
      </dsp:txXfrm>
    </dsp:sp>
    <dsp:sp modelId="{320E893F-3A2B-4B1B-9C1B-CE7ADEB0048A}">
      <dsp:nvSpPr>
        <dsp:cNvPr id="0" name=""/>
        <dsp:cNvSpPr/>
      </dsp:nvSpPr>
      <dsp:spPr>
        <a:xfrm>
          <a:off x="363249" y="1005987"/>
          <a:ext cx="2860659" cy="37402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▪ Покрытие основных процессов информационными системами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▪ Наличие и глубину интеграции между системами, в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т.ч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. возможность построения цифровой модели компании на базе существующих систем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▪ Уровень понимания долгосрочных цифровых технологических трендов, их корреляцию со стратегией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▪ Подходы к формированию портфеля цифровых инициатив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63249" y="1005987"/>
        <a:ext cx="2860659" cy="3740265"/>
      </dsp:txXfrm>
    </dsp:sp>
    <dsp:sp modelId="{D8B46A23-C198-437C-ACFC-8D4E4A15EB9B}">
      <dsp:nvSpPr>
        <dsp:cNvPr id="0" name=""/>
        <dsp:cNvSpPr/>
      </dsp:nvSpPr>
      <dsp:spPr>
        <a:xfrm>
          <a:off x="3649436" y="1005987"/>
          <a:ext cx="2026321" cy="3544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Степень готовности и зрелости цифровой экосистемы на отраслевом уровне (в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т.ч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. законодательной и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нормативноправовой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базы)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649436" y="1005987"/>
        <a:ext cx="2026321" cy="3544968"/>
      </dsp:txXfrm>
    </dsp:sp>
    <dsp:sp modelId="{708ED6CF-B315-4FC1-92F2-35EA8A853C86}">
      <dsp:nvSpPr>
        <dsp:cNvPr id="0" name=""/>
        <dsp:cNvSpPr/>
      </dsp:nvSpPr>
      <dsp:spPr>
        <a:xfrm>
          <a:off x="6101285" y="1005987"/>
          <a:ext cx="2026321" cy="3576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Уровень проникновения цифровых решений в основные процессы компании (AI, VR&amp;AR,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Blockchain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и др.)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01285" y="1005987"/>
        <a:ext cx="2026321" cy="3576953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DC671-C32C-4B50-B1CD-52B10A370D49}">
      <dsp:nvSpPr>
        <dsp:cNvPr id="0" name=""/>
        <dsp:cNvSpPr/>
      </dsp:nvSpPr>
      <dsp:spPr>
        <a:xfrm>
          <a:off x="4258885" y="1101261"/>
          <a:ext cx="3105040" cy="465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401"/>
              </a:lnTo>
              <a:lnTo>
                <a:pt x="3105040" y="234401"/>
              </a:lnTo>
              <a:lnTo>
                <a:pt x="3105040" y="46566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B3EAF2-9DA1-4989-A102-F3B8F28A0CF0}">
      <dsp:nvSpPr>
        <dsp:cNvPr id="0" name=""/>
        <dsp:cNvSpPr/>
      </dsp:nvSpPr>
      <dsp:spPr>
        <a:xfrm>
          <a:off x="4258885" y="1101261"/>
          <a:ext cx="439987" cy="4656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401"/>
              </a:lnTo>
              <a:lnTo>
                <a:pt x="439987" y="234401"/>
              </a:lnTo>
              <a:lnTo>
                <a:pt x="439987" y="46566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0E09A4-ED1E-4E7A-8C44-9E7B8358CD68}">
      <dsp:nvSpPr>
        <dsp:cNvPr id="0" name=""/>
        <dsp:cNvSpPr/>
      </dsp:nvSpPr>
      <dsp:spPr>
        <a:xfrm>
          <a:off x="1580375" y="1101261"/>
          <a:ext cx="2678510" cy="465666"/>
        </a:xfrm>
        <a:custGeom>
          <a:avLst/>
          <a:gdLst/>
          <a:ahLst/>
          <a:cxnLst/>
          <a:rect l="0" t="0" r="0" b="0"/>
          <a:pathLst>
            <a:path>
              <a:moveTo>
                <a:pt x="2678510" y="0"/>
              </a:moveTo>
              <a:lnTo>
                <a:pt x="2678510" y="234401"/>
              </a:lnTo>
              <a:lnTo>
                <a:pt x="0" y="234401"/>
              </a:lnTo>
              <a:lnTo>
                <a:pt x="0" y="46566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1CAAC9-F0C2-4E0E-AD7A-AAF8263B9FC4}">
      <dsp:nvSpPr>
        <dsp:cNvPr id="0" name=""/>
        <dsp:cNvSpPr/>
      </dsp:nvSpPr>
      <dsp:spPr>
        <a:xfrm>
          <a:off x="1362226" y="0"/>
          <a:ext cx="5793319" cy="11012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Уровень цифровой готовности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(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Digital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Readliness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Level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)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62226" y="0"/>
        <a:ext cx="5793319" cy="1101261"/>
      </dsp:txXfrm>
    </dsp:sp>
    <dsp:sp modelId="{320E893F-3A2B-4B1B-9C1B-CE7ADEB0048A}">
      <dsp:nvSpPr>
        <dsp:cNvPr id="0" name=""/>
        <dsp:cNvSpPr/>
      </dsp:nvSpPr>
      <dsp:spPr>
        <a:xfrm>
          <a:off x="25669" y="1566928"/>
          <a:ext cx="3109412" cy="40655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Цифровая ДНК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▪ Покрытие основных процессов информационными системами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▪ Наличие и глубину интеграции между системами, в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т.ч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. возможность построения цифровой модели компании на базе существующих систем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▪ Уровень понимания долгосрочных цифровых технологических трендов, их корреляцию со стратегией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▪ Подходы к формированию портфеля цифровых инициатив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5669" y="1566928"/>
        <a:ext cx="3109412" cy="4065505"/>
      </dsp:txXfrm>
    </dsp:sp>
    <dsp:sp modelId="{D8B46A23-C198-437C-ACFC-8D4E4A15EB9B}">
      <dsp:nvSpPr>
        <dsp:cNvPr id="0" name=""/>
        <dsp:cNvSpPr/>
      </dsp:nvSpPr>
      <dsp:spPr>
        <a:xfrm>
          <a:off x="3597611" y="1566928"/>
          <a:ext cx="2202523" cy="38532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Готовность институциональной среды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Степень готовности и зрелости цифровой экосистемы на отраслевом уровне (в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т.ч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. законодательной и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нормативноправовой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базы)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597611" y="1566928"/>
        <a:ext cx="2202523" cy="3853226"/>
      </dsp:txXfrm>
    </dsp:sp>
    <dsp:sp modelId="{708ED6CF-B315-4FC1-92F2-35EA8A853C86}">
      <dsp:nvSpPr>
        <dsp:cNvPr id="0" name=""/>
        <dsp:cNvSpPr/>
      </dsp:nvSpPr>
      <dsp:spPr>
        <a:xfrm>
          <a:off x="6262664" y="1566928"/>
          <a:ext cx="2202523" cy="38879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Степень проникновения цифровых решений 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Уровень проникновения цифровых решений в основные процессы компании (AI, VR&amp;AR,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Blockchain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,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и др.)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262664" y="1566928"/>
        <a:ext cx="2202523" cy="3887993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0A957-B917-4CB0-9250-3F5BE8449678}">
      <dsp:nvSpPr>
        <dsp:cNvPr id="0" name=""/>
        <dsp:cNvSpPr/>
      </dsp:nvSpPr>
      <dsp:spPr>
        <a:xfrm>
          <a:off x="1038863" y="510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Times New Roman" pitchFamily="18" charset="0"/>
              <a:cs typeface="Times New Roman" pitchFamily="18" charset="0"/>
            </a:rPr>
            <a:t>финансовый учёт и отчётность;</a:t>
          </a:r>
          <a:endParaRPr lang="ru-RU" sz="1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38863" y="510"/>
        <a:ext cx="2130278" cy="1278166"/>
      </dsp:txXfrm>
    </dsp:sp>
    <dsp:sp modelId="{90F16F02-C7A2-4F71-A77D-64B8186682DD}">
      <dsp:nvSpPr>
        <dsp:cNvPr id="0" name=""/>
        <dsp:cNvSpPr/>
      </dsp:nvSpPr>
      <dsp:spPr>
        <a:xfrm>
          <a:off x="3382169" y="510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управление запасами и логистика;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3382169" y="510"/>
        <a:ext cx="2130278" cy="1278166"/>
      </dsp:txXfrm>
    </dsp:sp>
    <dsp:sp modelId="{E2D83934-F0E0-4AC0-A3E2-0D1AE80BD3D1}">
      <dsp:nvSpPr>
        <dsp:cNvPr id="0" name=""/>
        <dsp:cNvSpPr/>
      </dsp:nvSpPr>
      <dsp:spPr>
        <a:xfrm>
          <a:off x="5725475" y="510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производственные операции и планирование (формирование заказов, расчёт себестоимости, планирование загрузки оборудования);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5725475" y="510"/>
        <a:ext cx="2130278" cy="1278166"/>
      </dsp:txXfrm>
    </dsp:sp>
    <dsp:sp modelId="{58A0396E-8B8A-4820-9A4F-C7B551D7014D}">
      <dsp:nvSpPr>
        <dsp:cNvPr id="0" name=""/>
        <dsp:cNvSpPr/>
      </dsp:nvSpPr>
      <dsp:spPr>
        <a:xfrm>
          <a:off x="2210516" y="1491705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закупки и снабжение (управление цепочками поставок, автоматизация заявок на закупку);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2210516" y="1491705"/>
        <a:ext cx="2130278" cy="1278166"/>
      </dsp:txXfrm>
    </dsp:sp>
    <dsp:sp modelId="{DD7E1847-A40A-4C6C-B17A-7C57BC744FF6}">
      <dsp:nvSpPr>
        <dsp:cNvPr id="0" name=""/>
        <dsp:cNvSpPr/>
      </dsp:nvSpPr>
      <dsp:spPr>
        <a:xfrm>
          <a:off x="4553822" y="1491705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кадровый учёт и расчёт зарплат.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4553822" y="1491705"/>
        <a:ext cx="2130278" cy="1278166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29CE0-B13E-4AB4-896B-5D47D9C96AB5}">
      <dsp:nvSpPr>
        <dsp:cNvPr id="0" name=""/>
        <dsp:cNvSpPr/>
      </dsp:nvSpPr>
      <dsp:spPr>
        <a:xfrm>
          <a:off x="1038863" y="510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контроль производственных операций (в режиме реального времени следить за выполнением заданий, отслеживать отклонения от плана);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1038863" y="510"/>
        <a:ext cx="2130278" cy="1278166"/>
      </dsp:txXfrm>
    </dsp:sp>
    <dsp:sp modelId="{0EFD8A5F-671F-4231-8B9E-DDEBC59218BF}">
      <dsp:nvSpPr>
        <dsp:cNvPr id="0" name=""/>
        <dsp:cNvSpPr/>
      </dsp:nvSpPr>
      <dsp:spPr>
        <a:xfrm>
          <a:off x="3382169" y="510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сбор и обработка данных (системы фиксируют ключевые параметры: от производительности оборудования до объёмов продукции и расхода ресурсов);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3382169" y="510"/>
        <a:ext cx="2130278" cy="1278166"/>
      </dsp:txXfrm>
    </dsp:sp>
    <dsp:sp modelId="{1CC39416-4E38-433A-8487-449B93CF756C}">
      <dsp:nvSpPr>
        <dsp:cNvPr id="0" name=""/>
        <dsp:cNvSpPr/>
      </dsp:nvSpPr>
      <dsp:spPr>
        <a:xfrm>
          <a:off x="5725475" y="510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контроль качества (MES интегрируют инструменты проверки качества, позволяя оперативно выявлять и устранять дефекты);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5725475" y="510"/>
        <a:ext cx="2130278" cy="1278166"/>
      </dsp:txXfrm>
    </dsp:sp>
    <dsp:sp modelId="{72F104D4-D24C-4664-9808-C6C7108BD3D9}">
      <dsp:nvSpPr>
        <dsp:cNvPr id="0" name=""/>
        <dsp:cNvSpPr/>
      </dsp:nvSpPr>
      <dsp:spPr>
        <a:xfrm>
          <a:off x="3382169" y="1491705"/>
          <a:ext cx="2130278" cy="12781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smtClean="0">
              <a:latin typeface="Times New Roman" pitchFamily="18" charset="0"/>
              <a:cs typeface="Times New Roman" pitchFamily="18" charset="0"/>
            </a:rPr>
            <a:t>прослеживаемость производства (системы хранят полную историю создания продукции: от использованных материалов до этапов сборки).</a:t>
          </a:r>
          <a:endParaRPr lang="ru-RU" sz="1400" kern="1200">
            <a:latin typeface="Times New Roman" pitchFamily="18" charset="0"/>
            <a:cs typeface="Times New Roman" pitchFamily="18" charset="0"/>
          </a:endParaRPr>
        </a:p>
      </dsp:txBody>
      <dsp:txXfrm>
        <a:off x="3382169" y="1491705"/>
        <a:ext cx="2130278" cy="1278166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7C94B-30BC-42F4-9CC8-0620BABD6CF9}">
      <dsp:nvSpPr>
        <dsp:cNvPr id="0" name=""/>
        <dsp:cNvSpPr/>
      </dsp:nvSpPr>
      <dsp:spPr>
        <a:xfrm>
          <a:off x="977" y="17405"/>
          <a:ext cx="3812367" cy="22874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Измерительные приборы - для измерения различных величин (термометры, манометры, датчики уровня).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77" y="17405"/>
        <a:ext cx="3812367" cy="2287420"/>
      </dsp:txXfrm>
    </dsp:sp>
    <dsp:sp modelId="{34502941-595E-41FD-8F8E-1BDAFD3A2F41}">
      <dsp:nvSpPr>
        <dsp:cNvPr id="0" name=""/>
        <dsp:cNvSpPr/>
      </dsp:nvSpPr>
      <dsp:spPr>
        <a:xfrm>
          <a:off x="4194581" y="17405"/>
          <a:ext cx="3812367" cy="22874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Регулирующие устройства - обеспечивают автоматическую настройку и регулировку параметров системы (регуляторы давления, регуляторы температуры, электромеханические приводы).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94581" y="17405"/>
        <a:ext cx="3812367" cy="2287420"/>
      </dsp:txXfrm>
    </dsp:sp>
    <dsp:sp modelId="{E8BF8650-AFE6-4200-8C5A-A166605D7497}">
      <dsp:nvSpPr>
        <dsp:cNvPr id="0" name=""/>
        <dsp:cNvSpPr/>
      </dsp:nvSpPr>
      <dsp:spPr>
        <a:xfrm>
          <a:off x="2097779" y="2686062"/>
          <a:ext cx="3812367" cy="22874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Контролирующие системы - отслеживают работоспособность и состояние оборудования (системы автоматического контроля, алгоритмы аварийной сигнализации).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097779" y="2686062"/>
        <a:ext cx="3812367" cy="2287420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77B2A-3D9C-4F6F-897D-3B23E3894578}">
      <dsp:nvSpPr>
        <dsp:cNvPr id="0" name=""/>
        <dsp:cNvSpPr/>
      </dsp:nvSpPr>
      <dsp:spPr>
        <a:xfrm>
          <a:off x="805643" y="628"/>
          <a:ext cx="3125187" cy="1875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1" kern="1200" dirty="0" smtClean="0">
              <a:latin typeface="Times New Roman" pitchFamily="18" charset="0"/>
              <a:cs typeface="Times New Roman" pitchFamily="18" charset="0"/>
            </a:rPr>
            <a:t>Поддержка разных типов данных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: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 таблиц, файлов JSON, XML, логов веб-серверов, текстов, изображений, видео, аудиозаписей.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05643" y="628"/>
        <a:ext cx="3125187" cy="1875112"/>
      </dsp:txXfrm>
    </dsp:sp>
    <dsp:sp modelId="{1F39C6D7-F7DF-4309-811D-A4AA25EEC890}">
      <dsp:nvSpPr>
        <dsp:cNvPr id="0" name=""/>
        <dsp:cNvSpPr/>
      </dsp:nvSpPr>
      <dsp:spPr>
        <a:xfrm>
          <a:off x="4243349" y="628"/>
          <a:ext cx="3125187" cy="1875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1" kern="1200" dirty="0" smtClean="0">
              <a:latin typeface="Times New Roman" pitchFamily="18" charset="0"/>
              <a:cs typeface="Times New Roman" pitchFamily="18" charset="0"/>
            </a:rPr>
            <a:t>Сырой формат :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 данные хранятся «как есть», без предварительной обработки и трансформации.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43349" y="628"/>
        <a:ext cx="3125187" cy="1875112"/>
      </dsp:txXfrm>
    </dsp:sp>
    <dsp:sp modelId="{59B001C2-B834-4E6E-B179-2DD5544DF965}">
      <dsp:nvSpPr>
        <dsp:cNvPr id="0" name=""/>
        <dsp:cNvSpPr/>
      </dsp:nvSpPr>
      <dsp:spPr>
        <a:xfrm>
          <a:off x="2524496" y="2188259"/>
          <a:ext cx="3125187" cy="1875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1" kern="1200" dirty="0" smtClean="0">
              <a:latin typeface="Times New Roman" pitchFamily="18" charset="0"/>
              <a:cs typeface="Times New Roman" pitchFamily="18" charset="0"/>
            </a:rPr>
            <a:t>Принцип «схема при чтении» (</a:t>
          </a:r>
          <a:r>
            <a:rPr lang="ru-RU" sz="1900" b="1" kern="1200" dirty="0" err="1" smtClean="0">
              <a:latin typeface="Times New Roman" pitchFamily="18" charset="0"/>
              <a:cs typeface="Times New Roman" pitchFamily="18" charset="0"/>
            </a:rPr>
            <a:t>schema-on-read</a:t>
          </a:r>
          <a:r>
            <a:rPr lang="ru-RU" sz="1900" b="1" kern="1200" dirty="0" smtClean="0">
              <a:latin typeface="Times New Roman" pitchFamily="18" charset="0"/>
              <a:cs typeface="Times New Roman" pitchFamily="18" charset="0"/>
            </a:rPr>
            <a:t>):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1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- структура информации определяется не в момент сохранения, а когда данные извлекаются для анализа.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524496" y="2188259"/>
        <a:ext cx="3125187" cy="1875112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77B2A-3D9C-4F6F-897D-3B23E3894578}">
      <dsp:nvSpPr>
        <dsp:cNvPr id="0" name=""/>
        <dsp:cNvSpPr/>
      </dsp:nvSpPr>
      <dsp:spPr>
        <a:xfrm>
          <a:off x="805643" y="628"/>
          <a:ext cx="3125187" cy="1875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b="1" kern="1200" dirty="0" smtClean="0">
              <a:latin typeface="Times New Roman" pitchFamily="18" charset="0"/>
              <a:cs typeface="Times New Roman" pitchFamily="18" charset="0"/>
            </a:rPr>
            <a:t>1. Формирование данных в одном из источников — каждый датчик фиксирует параметры (температура, скорость или вибрация) и передаёт эти данные в систему.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05643" y="628"/>
        <a:ext cx="3125187" cy="1875112"/>
      </dsp:txXfrm>
    </dsp:sp>
    <dsp:sp modelId="{D12D7C1C-2F2D-490A-8DEA-3CCAFE96466E}">
      <dsp:nvSpPr>
        <dsp:cNvPr id="0" name=""/>
        <dsp:cNvSpPr/>
      </dsp:nvSpPr>
      <dsp:spPr>
        <a:xfrm>
          <a:off x="4243349" y="628"/>
          <a:ext cx="3125187" cy="1875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b="1" kern="1200" dirty="0" smtClean="0">
              <a:latin typeface="Times New Roman" pitchFamily="18" charset="0"/>
              <a:cs typeface="Times New Roman" pitchFamily="18" charset="0"/>
            </a:rPr>
            <a:t>2. Отправка данных в Data Lake — информация из датчиков отправляется в озеро через заранее настроенные маршруты, например, через API или потоковую платформу.</a:t>
          </a:r>
        </a:p>
      </dsp:txBody>
      <dsp:txXfrm>
        <a:off x="4243349" y="628"/>
        <a:ext cx="3125187" cy="1875112"/>
      </dsp:txXfrm>
    </dsp:sp>
    <dsp:sp modelId="{5DE21B66-7F3F-4C75-9F77-4ABA783310C6}">
      <dsp:nvSpPr>
        <dsp:cNvPr id="0" name=""/>
        <dsp:cNvSpPr/>
      </dsp:nvSpPr>
      <dsp:spPr>
        <a:xfrm>
          <a:off x="805643" y="2188259"/>
          <a:ext cx="3125187" cy="1875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b="1" kern="1200" dirty="0" smtClean="0">
              <a:latin typeface="Times New Roman" pitchFamily="18" charset="0"/>
              <a:cs typeface="Times New Roman" pitchFamily="18" charset="0"/>
            </a:rPr>
            <a:t>3. Присвоение метаданных — при загрузке в озеро каждому набору данных присваиваются ключевые метки: источник данных, время получения, тип данных и их текущий формат.</a:t>
          </a:r>
        </a:p>
      </dsp:txBody>
      <dsp:txXfrm>
        <a:off x="805643" y="2188259"/>
        <a:ext cx="3125187" cy="1875112"/>
      </dsp:txXfrm>
    </dsp:sp>
    <dsp:sp modelId="{97F32F19-B47C-43D9-98C7-CAEE5B5153EF}">
      <dsp:nvSpPr>
        <dsp:cNvPr id="0" name=""/>
        <dsp:cNvSpPr/>
      </dsp:nvSpPr>
      <dsp:spPr>
        <a:xfrm>
          <a:off x="4243349" y="2188259"/>
          <a:ext cx="3125187" cy="1875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b="1" kern="1200" dirty="0" smtClean="0">
              <a:latin typeface="Times New Roman" pitchFamily="18" charset="0"/>
              <a:cs typeface="Times New Roman" pitchFamily="18" charset="0"/>
            </a:rPr>
            <a:t>4. Извлечение данных — по мере необходимости аналитики извлекают нужные данные.</a:t>
          </a:r>
        </a:p>
      </dsp:txBody>
      <dsp:txXfrm>
        <a:off x="4243349" y="2188259"/>
        <a:ext cx="3125187" cy="1875112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77B2A-3D9C-4F6F-897D-3B23E3894578}">
      <dsp:nvSpPr>
        <dsp:cNvPr id="0" name=""/>
        <dsp:cNvSpPr/>
      </dsp:nvSpPr>
      <dsp:spPr>
        <a:xfrm>
          <a:off x="0" y="297541"/>
          <a:ext cx="2783896" cy="26305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latin typeface="Times New Roman" pitchFamily="18" charset="0"/>
              <a:cs typeface="Times New Roman" pitchFamily="18" charset="0"/>
            </a:rPr>
            <a:t>Источники данных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 - базы данных, потоки </a:t>
          </a:r>
          <a:r>
            <a:rPr lang="ru-RU" sz="2400" b="0" i="0" kern="1200" dirty="0" err="1" smtClean="0">
              <a:latin typeface="Times New Roman" pitchFamily="18" charset="0"/>
              <a:cs typeface="Times New Roman" pitchFamily="18" charset="0"/>
            </a:rPr>
            <a:t>IoT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, файлы, API и другие источники информации.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297541"/>
        <a:ext cx="2783896" cy="2630531"/>
      </dsp:txXfrm>
    </dsp:sp>
    <dsp:sp modelId="{66050641-6965-4264-8900-F53F0363C04E}">
      <dsp:nvSpPr>
        <dsp:cNvPr id="0" name=""/>
        <dsp:cNvSpPr/>
      </dsp:nvSpPr>
      <dsp:spPr>
        <a:xfrm>
          <a:off x="3062286" y="339107"/>
          <a:ext cx="2783896" cy="2547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latin typeface="Times New Roman" pitchFamily="18" charset="0"/>
              <a:cs typeface="Times New Roman" pitchFamily="18" charset="0"/>
            </a:rPr>
            <a:t>Хранилище данных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 - распределённая файловая система, например,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0" i="0" kern="1200" dirty="0" err="1" smtClean="0">
              <a:latin typeface="Times New Roman" pitchFamily="18" charset="0"/>
              <a:cs typeface="Times New Roman" pitchFamily="18" charset="0"/>
            </a:rPr>
            <a:t>Hadoop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 HDFS или облачные решения.</a:t>
          </a:r>
          <a:endParaRPr lang="ru-RU" sz="2400" b="0" i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62286" y="339107"/>
        <a:ext cx="2783896" cy="2547398"/>
      </dsp:txXfrm>
    </dsp:sp>
    <dsp:sp modelId="{07587393-C4C2-407E-A970-43306BBD1E76}">
      <dsp:nvSpPr>
        <dsp:cNvPr id="0" name=""/>
        <dsp:cNvSpPr/>
      </dsp:nvSpPr>
      <dsp:spPr>
        <a:xfrm>
          <a:off x="6124572" y="325252"/>
          <a:ext cx="2783896" cy="25751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latin typeface="Times New Roman" pitchFamily="18" charset="0"/>
              <a:cs typeface="Times New Roman" pitchFamily="18" charset="0"/>
            </a:rPr>
            <a:t>Обработчик данных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 - инструменты для трансформации, очистки и подготовки данных, такие как </a:t>
          </a:r>
          <a:r>
            <a:rPr lang="ru-RU" sz="2400" b="0" i="0" kern="1200" dirty="0" err="1" smtClean="0">
              <a:latin typeface="Times New Roman" pitchFamily="18" charset="0"/>
              <a:cs typeface="Times New Roman" pitchFamily="18" charset="0"/>
            </a:rPr>
            <a:t>Apache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0" i="0" kern="1200" dirty="0" err="1" smtClean="0">
              <a:latin typeface="Times New Roman" pitchFamily="18" charset="0"/>
              <a:cs typeface="Times New Roman" pitchFamily="18" charset="0"/>
            </a:rPr>
            <a:t>Spark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 и AWS </a:t>
          </a:r>
          <a:r>
            <a:rPr lang="ru-RU" sz="2400" b="0" i="0" kern="1200" dirty="0" err="1" smtClean="0">
              <a:latin typeface="Times New Roman" pitchFamily="18" charset="0"/>
              <a:cs typeface="Times New Roman" pitchFamily="18" charset="0"/>
            </a:rPr>
            <a:t>Glue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ru-RU" sz="2400" b="0" i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24572" y="325252"/>
        <a:ext cx="2783896" cy="2575109"/>
      </dsp:txXfrm>
    </dsp:sp>
    <dsp:sp modelId="{03D819CF-636C-4A84-B123-1AC00C69E1AB}">
      <dsp:nvSpPr>
        <dsp:cNvPr id="0" name=""/>
        <dsp:cNvSpPr/>
      </dsp:nvSpPr>
      <dsp:spPr>
        <a:xfrm>
          <a:off x="471049" y="3206462"/>
          <a:ext cx="3768003" cy="16703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latin typeface="Times New Roman" pitchFamily="18" charset="0"/>
              <a:cs typeface="Times New Roman" pitchFamily="18" charset="0"/>
            </a:rPr>
            <a:t>Управление метаданными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 - каталогизация данных для удобного поиска и использования.</a:t>
          </a:r>
          <a:endParaRPr lang="ru-RU" sz="2400" b="0" i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71049" y="3206462"/>
        <a:ext cx="3768003" cy="1670337"/>
      </dsp:txXfrm>
    </dsp:sp>
    <dsp:sp modelId="{68C0D048-6A7A-4CAB-AEBE-425C2446C7E2}">
      <dsp:nvSpPr>
        <dsp:cNvPr id="0" name=""/>
        <dsp:cNvSpPr/>
      </dsp:nvSpPr>
      <dsp:spPr>
        <a:xfrm>
          <a:off x="4517442" y="3206462"/>
          <a:ext cx="3919976" cy="16703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2400" b="1" i="0" kern="1200" dirty="0" smtClean="0">
              <a:latin typeface="Times New Roman" pitchFamily="18" charset="0"/>
              <a:cs typeface="Times New Roman" pitchFamily="18" charset="0"/>
            </a:rPr>
            <a:t>Инструменты аналитики и машинного обучения</a:t>
          </a:r>
          <a:r>
            <a:rPr lang="ru-RU" sz="2400" b="0" i="0" kern="1200" dirty="0" smtClean="0">
              <a:latin typeface="Times New Roman" pitchFamily="18" charset="0"/>
              <a:cs typeface="Times New Roman" pitchFamily="18" charset="0"/>
            </a:rPr>
            <a:t> - поддержка SQL-запросов, AI/ML-платформ и BI-инструментов.</a:t>
          </a:r>
          <a:endParaRPr lang="ru-RU" sz="2400" b="0" i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17442" y="3206462"/>
        <a:ext cx="3919976" cy="1670337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F2D249-F7B2-40C0-87E5-92242408E513}">
      <dsp:nvSpPr>
        <dsp:cNvPr id="0" name=""/>
        <dsp:cNvSpPr/>
      </dsp:nvSpPr>
      <dsp:spPr>
        <a:xfrm>
          <a:off x="6" y="870"/>
          <a:ext cx="4217548" cy="1797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Машинное обучение - обучение искусственного интеллекта требует больших объёмов различных данных.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" y="870"/>
        <a:ext cx="4217548" cy="1797301"/>
      </dsp:txXfrm>
    </dsp:sp>
    <dsp:sp modelId="{0A3370B8-A1C1-4551-8AA4-A9AC060F01C1}">
      <dsp:nvSpPr>
        <dsp:cNvPr id="0" name=""/>
        <dsp:cNvSpPr/>
      </dsp:nvSpPr>
      <dsp:spPr>
        <a:xfrm>
          <a:off x="4517105" y="870"/>
          <a:ext cx="4003429" cy="1797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Оперативная аналитика - озёра данных позволяют обрабатывать потоки информации в реальном времени, что даёт возможность компании быстро реагировать на внешние изменения.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17105" y="870"/>
        <a:ext cx="4003429" cy="1797301"/>
      </dsp:txXfrm>
    </dsp:sp>
    <dsp:sp modelId="{E6CEB2A9-6092-4164-8B9C-DB705D3B6600}">
      <dsp:nvSpPr>
        <dsp:cNvPr id="0" name=""/>
        <dsp:cNvSpPr/>
      </dsp:nvSpPr>
      <dsp:spPr>
        <a:xfrm>
          <a:off x="1510144" y="2097722"/>
          <a:ext cx="5500252" cy="17973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Прогнозирование -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Data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Lake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подходит для анализа деятельности компании за прошлые периоды, например, данных о продажах, финансах, производительности или клиентских предпочтениях за последние месяцы или годы.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510144" y="2097722"/>
        <a:ext cx="5500252" cy="1797301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B55B4-FA5E-4796-B231-86A2EE7290B2}">
      <dsp:nvSpPr>
        <dsp:cNvPr id="0" name=""/>
        <dsp:cNvSpPr/>
      </dsp:nvSpPr>
      <dsp:spPr>
        <a:xfrm>
          <a:off x="432326" y="3076"/>
          <a:ext cx="2474726" cy="14848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• Собирать данные и сохранять историю взаимодействия с каждым клиентом.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32326" y="3076"/>
        <a:ext cx="2474726" cy="1484835"/>
      </dsp:txXfrm>
    </dsp:sp>
    <dsp:sp modelId="{A29B8786-396F-4ADC-A0F2-43841C9A2729}">
      <dsp:nvSpPr>
        <dsp:cNvPr id="0" name=""/>
        <dsp:cNvSpPr/>
      </dsp:nvSpPr>
      <dsp:spPr>
        <a:xfrm>
          <a:off x="3154525" y="3076"/>
          <a:ext cx="2474726" cy="14848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• Вести каталог поставщиков и партнеров.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154525" y="3076"/>
        <a:ext cx="2474726" cy="1484835"/>
      </dsp:txXfrm>
    </dsp:sp>
    <dsp:sp modelId="{4B72D912-BF3C-4E00-AFEB-5D5A5A9ABC6F}">
      <dsp:nvSpPr>
        <dsp:cNvPr id="0" name=""/>
        <dsp:cNvSpPr/>
      </dsp:nvSpPr>
      <dsp:spPr>
        <a:xfrm>
          <a:off x="5876724" y="3076"/>
          <a:ext cx="2474726" cy="14848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• Безопасно хранить данные и управлять ими.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5876724" y="3076"/>
        <a:ext cx="2474726" cy="1484835"/>
      </dsp:txXfrm>
    </dsp:sp>
    <dsp:sp modelId="{474E82E6-8325-4964-82D9-65CD7C71C206}">
      <dsp:nvSpPr>
        <dsp:cNvPr id="0" name=""/>
        <dsp:cNvSpPr/>
      </dsp:nvSpPr>
      <dsp:spPr>
        <a:xfrm>
          <a:off x="432326" y="1735385"/>
          <a:ext cx="2474726" cy="14848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• Напоминать о важных звонках и встречах.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432326" y="1735385"/>
        <a:ext cx="2474726" cy="1484835"/>
      </dsp:txXfrm>
    </dsp:sp>
    <dsp:sp modelId="{8F619F22-0160-4C60-9FB4-A5E47231A2BE}">
      <dsp:nvSpPr>
        <dsp:cNvPr id="0" name=""/>
        <dsp:cNvSpPr/>
      </dsp:nvSpPr>
      <dsp:spPr>
        <a:xfrm>
          <a:off x="3154525" y="1735385"/>
          <a:ext cx="2474726" cy="14848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• Автоматизировать отчетность, получать аналитику в режиме реального времени.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3154525" y="1735385"/>
        <a:ext cx="2474726" cy="1484835"/>
      </dsp:txXfrm>
    </dsp:sp>
    <dsp:sp modelId="{B12E9BC0-5231-4DAC-BD50-773494C8F765}">
      <dsp:nvSpPr>
        <dsp:cNvPr id="0" name=""/>
        <dsp:cNvSpPr/>
      </dsp:nvSpPr>
      <dsp:spPr>
        <a:xfrm>
          <a:off x="5876724" y="1735385"/>
          <a:ext cx="2474726" cy="14848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• Планировать и делать оценку эффективности маркетинговых кампаний.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5876724" y="1735385"/>
        <a:ext cx="2474726" cy="1484835"/>
      </dsp:txXfrm>
    </dsp:sp>
    <dsp:sp modelId="{1CFBE2AD-1308-46F3-9B9C-F21B453FDFB1}">
      <dsp:nvSpPr>
        <dsp:cNvPr id="0" name=""/>
        <dsp:cNvSpPr/>
      </dsp:nvSpPr>
      <dsp:spPr>
        <a:xfrm>
          <a:off x="1793426" y="3467693"/>
          <a:ext cx="2474726" cy="14848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• Рассылать сообщения по SMS и электронной почте.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1793426" y="3467693"/>
        <a:ext cx="2474726" cy="1484835"/>
      </dsp:txXfrm>
    </dsp:sp>
    <dsp:sp modelId="{D617BE2A-E5A2-466D-9618-1DF9DF4CFCB1}">
      <dsp:nvSpPr>
        <dsp:cNvPr id="0" name=""/>
        <dsp:cNvSpPr/>
      </dsp:nvSpPr>
      <dsp:spPr>
        <a:xfrm>
          <a:off x="4515625" y="3467693"/>
          <a:ext cx="2474726" cy="14848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• Упростить ведение документооборота за счет использования встроенных шаблонов.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4515625" y="3467693"/>
        <a:ext cx="2474726" cy="1484835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99A09-519B-492E-833D-0F0F4074806C}">
      <dsp:nvSpPr>
        <dsp:cNvPr id="0" name=""/>
        <dsp:cNvSpPr/>
      </dsp:nvSpPr>
      <dsp:spPr>
        <a:xfrm>
          <a:off x="374072" y="1791"/>
          <a:ext cx="3575523" cy="1639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Разработать организационный дизайн с учетом целевой модели работы цифровых команд и вовлеченности ключевых руководителей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74072" y="1791"/>
        <a:ext cx="3575523" cy="1639296"/>
      </dsp:txXfrm>
    </dsp:sp>
    <dsp:sp modelId="{676E324F-C009-4D7F-8BE0-82EDAC9790F1}">
      <dsp:nvSpPr>
        <dsp:cNvPr id="0" name=""/>
        <dsp:cNvSpPr/>
      </dsp:nvSpPr>
      <dsp:spPr>
        <a:xfrm>
          <a:off x="4222811" y="1791"/>
          <a:ext cx="3729699" cy="1639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Определить процессы работы (для инициатив, управление через структурированный PMO, эффективное планирование задач и ресурсов и проч.)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22811" y="1791"/>
        <a:ext cx="3729699" cy="1639296"/>
      </dsp:txXfrm>
    </dsp:sp>
    <dsp:sp modelId="{B77CC325-2BC2-4DCA-A8F6-0779C41AD56D}">
      <dsp:nvSpPr>
        <dsp:cNvPr id="0" name=""/>
        <dsp:cNvSpPr/>
      </dsp:nvSpPr>
      <dsp:spPr>
        <a:xfrm>
          <a:off x="2008914" y="1914304"/>
          <a:ext cx="4308753" cy="1639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Обеспечить обучение команды ЦТ навыкам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Agile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и формату работы «продуктовых команд»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008914" y="1914304"/>
        <a:ext cx="4308753" cy="1639296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99A09-519B-492E-833D-0F0F4074806C}">
      <dsp:nvSpPr>
        <dsp:cNvPr id="0" name=""/>
        <dsp:cNvSpPr/>
      </dsp:nvSpPr>
      <dsp:spPr>
        <a:xfrm>
          <a:off x="0" y="86358"/>
          <a:ext cx="2602057" cy="1561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1. Система совещаний и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дэшбордов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для управления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результативностью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86358"/>
        <a:ext cx="2602057" cy="1561234"/>
      </dsp:txXfrm>
    </dsp:sp>
    <dsp:sp modelId="{676E324F-C009-4D7F-8BE0-82EDAC9790F1}">
      <dsp:nvSpPr>
        <dsp:cNvPr id="0" name=""/>
        <dsp:cNvSpPr/>
      </dsp:nvSpPr>
      <dsp:spPr>
        <a:xfrm>
          <a:off x="2862262" y="86358"/>
          <a:ext cx="2602057" cy="1561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2. Встраивание метрик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результативности ЦТ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в систему мотивации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862262" y="86358"/>
        <a:ext cx="2602057" cy="1561234"/>
      </dsp:txXfrm>
    </dsp:sp>
    <dsp:sp modelId="{B77CC325-2BC2-4DCA-A8F6-0779C41AD56D}">
      <dsp:nvSpPr>
        <dsp:cNvPr id="0" name=""/>
        <dsp:cNvSpPr/>
      </dsp:nvSpPr>
      <dsp:spPr>
        <a:xfrm>
          <a:off x="5724525" y="86358"/>
          <a:ext cx="2602057" cy="1561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3. Обучение широкого круга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руководителей базовым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и углубленным знаниям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в области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цифровизации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724525" y="86358"/>
        <a:ext cx="2602057" cy="1561234"/>
      </dsp:txXfrm>
    </dsp:sp>
    <dsp:sp modelId="{DA3DE900-A2AC-49CF-BACD-D76D0639468C}">
      <dsp:nvSpPr>
        <dsp:cNvPr id="0" name=""/>
        <dsp:cNvSpPr/>
      </dsp:nvSpPr>
      <dsp:spPr>
        <a:xfrm>
          <a:off x="0" y="1907798"/>
          <a:ext cx="2602057" cy="1561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4. Механизмы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геймификации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для вовлечения в обучение и проекты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907798"/>
        <a:ext cx="2602057" cy="1561234"/>
      </dsp:txXfrm>
    </dsp:sp>
    <dsp:sp modelId="{3D48E02F-6F1C-4BA9-9FC1-C22625276D80}">
      <dsp:nvSpPr>
        <dsp:cNvPr id="0" name=""/>
        <dsp:cNvSpPr/>
      </dsp:nvSpPr>
      <dsp:spPr>
        <a:xfrm>
          <a:off x="2862262" y="1907798"/>
          <a:ext cx="2602057" cy="1561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5. Система стажировок и наставничества в цифровых проектах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862262" y="1907798"/>
        <a:ext cx="2602057" cy="1561234"/>
      </dsp:txXfrm>
    </dsp:sp>
    <dsp:sp modelId="{6B0398B6-A394-4B87-B6E4-CFBE6F587DD4}">
      <dsp:nvSpPr>
        <dsp:cNvPr id="0" name=""/>
        <dsp:cNvSpPr/>
      </dsp:nvSpPr>
      <dsp:spPr>
        <a:xfrm>
          <a:off x="5724525" y="1907798"/>
          <a:ext cx="2602057" cy="1561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6. Корпоративные коммуникации о реализации ЦТ и ее достижениях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724525" y="1907798"/>
        <a:ext cx="2602057" cy="1561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2.xml"/><Relationship Id="rId3" Type="http://schemas.openxmlformats.org/officeDocument/2006/relationships/diagramLayout" Target="../diagrams/layout31.xml"/><Relationship Id="rId7" Type="http://schemas.openxmlformats.org/officeDocument/2006/relationships/diagramData" Target="../diagrams/data32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1.xml"/><Relationship Id="rId11" Type="http://schemas.microsoft.com/office/2007/relationships/diagramDrawing" Target="../diagrams/drawing32.xml"/><Relationship Id="rId5" Type="http://schemas.openxmlformats.org/officeDocument/2006/relationships/diagramColors" Target="../diagrams/colors31.xml"/><Relationship Id="rId10" Type="http://schemas.openxmlformats.org/officeDocument/2006/relationships/diagramColors" Target="../diagrams/colors32.xml"/><Relationship Id="rId4" Type="http://schemas.openxmlformats.org/officeDocument/2006/relationships/diagramQuickStyle" Target="../diagrams/quickStyle31.xml"/><Relationship Id="rId9" Type="http://schemas.openxmlformats.org/officeDocument/2006/relationships/diagramQuickStyle" Target="../diagrams/quickStyle3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6.xml"/><Relationship Id="rId3" Type="http://schemas.openxmlformats.org/officeDocument/2006/relationships/diagramLayout" Target="../diagrams/layout35.xml"/><Relationship Id="rId7" Type="http://schemas.openxmlformats.org/officeDocument/2006/relationships/diagramData" Target="../diagrams/data36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5.xml"/><Relationship Id="rId11" Type="http://schemas.microsoft.com/office/2007/relationships/diagramDrawing" Target="../diagrams/drawing36.xml"/><Relationship Id="rId5" Type="http://schemas.openxmlformats.org/officeDocument/2006/relationships/diagramColors" Target="../diagrams/colors35.xml"/><Relationship Id="rId10" Type="http://schemas.openxmlformats.org/officeDocument/2006/relationships/diagramColors" Target="../diagrams/colors36.xml"/><Relationship Id="rId4" Type="http://schemas.openxmlformats.org/officeDocument/2006/relationships/diagramQuickStyle" Target="../diagrams/quickStyle35.xml"/><Relationship Id="rId9" Type="http://schemas.openxmlformats.org/officeDocument/2006/relationships/diagramQuickStyle" Target="../diagrams/quickStyle3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hyperlink" Target="https://kpht.ru/publikatsii/121-znachenie-kipia-v-promyshlennom-oborudovanii" TargetMode="Externa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3, 2026-2027 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3787002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Обзор успешных практик по трансформации производственных процессов на основе беспилотных технологий. Цифровая трансформация и Индустрия 4.0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6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Конкуренция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необходимость повышения эффективности производства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Технологический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прогресс и доступность беспилотных решений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Логистика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складское хозяйство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Контроль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качества и техническое обслуживание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Сельское хозяйство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Цифровая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революция и Индустрия 4.0.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Оценка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уровня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производственных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процессов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Современные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подходы и тренды по разработке и актуализации стратегии цифровой трансформации производственных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процессов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Стратегия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цифровой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Выбор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приоритизация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проектов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43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41673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264162226"/>
              </p:ext>
            </p:extLst>
          </p:nvPr>
        </p:nvGraphicFramePr>
        <p:xfrm>
          <a:off x="0" y="2078182"/>
          <a:ext cx="9144000" cy="3382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681791417"/>
              </p:ext>
            </p:extLst>
          </p:nvPr>
        </p:nvGraphicFramePr>
        <p:xfrm>
          <a:off x="0" y="5502562"/>
          <a:ext cx="9144000" cy="1775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7647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1972739"/>
            <a:ext cx="83260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Эпоха цифровых технологий ознаменована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событиями: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580706828"/>
              </p:ext>
            </p:extLst>
          </p:nvPr>
        </p:nvGraphicFramePr>
        <p:xfrm>
          <a:off x="152400" y="2479963"/>
          <a:ext cx="8991600" cy="4372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87927" y="6575836"/>
            <a:ext cx="75507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https://apni.ru/article/8038-ispolzovanie-tsifrovikh-tekhnologij-dlya-avto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76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ая выноска 7"/>
          <p:cNvSpPr/>
          <p:nvPr/>
        </p:nvSpPr>
        <p:spPr>
          <a:xfrm>
            <a:off x="387927" y="2172794"/>
            <a:ext cx="8326005" cy="2149824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416733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Цифровая трансформация бизнеса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это процесс интеграции цифровых технологий в бизнес-модель компании, который меняет подход к управлению, организации процессов и взаимодействию с клиентами.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Трансформация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затрагивает все аспекты деятельности организации: от операционных процессов до стратегического планирования.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411065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35310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1981155"/>
            <a:ext cx="8326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Цели цифровой трансформации бизнеса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930367174"/>
              </p:ext>
            </p:extLst>
          </p:nvPr>
        </p:nvGraphicFramePr>
        <p:xfrm>
          <a:off x="0" y="2595235"/>
          <a:ext cx="9144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120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35310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8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Элементы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цифровой трансформации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376789"/>
              </p:ext>
            </p:extLst>
          </p:nvPr>
        </p:nvGraphicFramePr>
        <p:xfrm>
          <a:off x="0" y="2595235"/>
          <a:ext cx="9144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42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35310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9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Этапы стратегии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цифровой трансформации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226032287"/>
              </p:ext>
            </p:extLst>
          </p:nvPr>
        </p:nvGraphicFramePr>
        <p:xfrm>
          <a:off x="1502930" y="259523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09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500016054"/>
              </p:ext>
            </p:extLst>
          </p:nvPr>
        </p:nvGraphicFramePr>
        <p:xfrm>
          <a:off x="138545" y="1122218"/>
          <a:ext cx="8853055" cy="5537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160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ая выноска 5"/>
          <p:cNvSpPr/>
          <p:nvPr/>
        </p:nvSpPr>
        <p:spPr>
          <a:xfrm>
            <a:off x="387927" y="2660073"/>
            <a:ext cx="8326005" cy="1814945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35310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11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"Индустрия 4.0"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Термин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возникший в Германии, представляет четвертую промышленную революцию, характеризующуюся слиянием физических и цифровых технологий и представляет собой новую фазу процесса индустриализации, когда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киберфизические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системы, Интернет вещей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), облачные вычисления и когнитивные вычисления становятся главными задачами производственных операций.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Индустрия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4.0 характеризуется высокой степенью автоматизации и обмена данными в производственных технологиях, что приводит к созданию интеллектуальных фабрик, которые могут похвастаться повышенной эффективностью, снижением количества человеческих ошибок и повышенной гибкостью производства.</a:t>
            </a:r>
          </a:p>
        </p:txBody>
      </p:sp>
    </p:spTree>
    <p:extLst>
      <p:ext uri="{BB962C8B-B14F-4D97-AF65-F5344CB8AC3E}">
        <p14:creationId xmlns:p14="http://schemas.microsoft.com/office/powerpoint/2010/main" val="79930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35310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12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"Индустрия 4.0"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 descr="https://apni.ru/uploads/967ae45c_92ca_4d81_8419_3e43eecb950e_8a484dd55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5" y="2634459"/>
            <a:ext cx="8893129" cy="361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01347" y="6435362"/>
            <a:ext cx="79451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https://apni.ru/uploads/967ae45c_92ca_4d81_8419_3e43eecb950e_8a484dd554.png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05763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ая выноска 2"/>
          <p:cNvSpPr/>
          <p:nvPr/>
        </p:nvSpPr>
        <p:spPr>
          <a:xfrm>
            <a:off x="387928" y="2895600"/>
            <a:ext cx="8451272" cy="137160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Конкуренция и необходимость повышения эффективности производства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35310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13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Автоматизация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«Автоматизация»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контексте современного производства означает использование различных систем управления, механизмов и программного обеспечения для управления оборудованием с минимальным вмешательством человека или вообще без него.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Суть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автоматизации заключается в ее способности повышать скорость, согласованность и качество производства, тем самым снижая эксплуатационные расходы и человеческие ошибки.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Автоматизация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интегрированная с цифровыми технологиями, такими как искусственный интеллект и Интернет вещей, обеспечивают мониторинг и принятие решений в режиме реального времени, тем самым выводя производство на высокий уровень точности и эффективности.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6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26339"/>
            <a:ext cx="8058150" cy="677217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Цифровые технологии для автоматизации производственных процессов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8"/>
            <a:ext cx="8326005" cy="353108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14</a:t>
            </a:fld>
            <a:endParaRPr lang="ru-RU"/>
          </a:p>
        </p:txBody>
      </p:sp>
      <p:pic>
        <p:nvPicPr>
          <p:cNvPr id="12290" name="Picture 2" descr="https://apni.ru/uploads/404e38e0_2874_4f0f_ae17_0968b42821c1_553981584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170456" cy="550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550930" y="655561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https://apni.ru/article/8038-ispolzovanie-tsifrovikh-tekhnologij-dlya-avto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95077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ая выноска 2"/>
          <p:cNvSpPr/>
          <p:nvPr/>
        </p:nvSpPr>
        <p:spPr>
          <a:xfrm>
            <a:off x="180109" y="1757156"/>
            <a:ext cx="8811491" cy="1343891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40200"/>
            <a:ext cx="8058150" cy="67721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3. Классификация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80109" y="1745672"/>
            <a:ext cx="8811491" cy="1186657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err="1" smtClean="0">
                <a:latin typeface="Times New Roman" pitchFamily="18" charset="0"/>
                <a:ea typeface="Times New Roman"/>
                <a:cs typeface="Times New Roman" pitchFamily="18" charset="0"/>
              </a:rPr>
              <a:t>Digital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twin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– это виртуальный двойник любого физического объекта: человека, системы, процесса. </a:t>
            </a:r>
            <a:endParaRPr lang="ru-RU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Они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имитируют полный жизненный цикл объекта, используя для этого информацию с его датчиков, поступающую в режиме реального времени. </a:t>
            </a:r>
            <a:endParaRPr lang="ru-RU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Цифрового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двойника можно создать, например, для ветровой турбины, заводской установки, отдельной единицы оборудования. Такой инновационный приём позволяет контролировать работу модели, выявлять неисправности и 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своевременно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исправлять их.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 smtClean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15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1295491"/>
            <a:ext cx="8326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Цифровые двойники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Digital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twin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0" t="3485" r="13290" b="10888"/>
          <a:stretch/>
        </p:blipFill>
        <p:spPr bwMode="auto">
          <a:xfrm>
            <a:off x="3823855" y="4184073"/>
            <a:ext cx="5320150" cy="2449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0" y="6628172"/>
            <a:ext cx="33461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https://yandex.ru/images/search?pos=1&amp;from=tabbar&amp;img_url=http%3A%2F%2Fcnews24.ru%2Fuploads%2F725%2F725fb5205a4e68a5183b9eb8308fecc1b19d9f02.jpg&amp;text=</a:t>
            </a:r>
            <a:r>
              <a:rPr lang="ru-RU" sz="500" dirty="0" err="1"/>
              <a:t>Цифровые+двойники</a:t>
            </a:r>
            <a:r>
              <a:rPr lang="ru-RU" sz="500" dirty="0"/>
              <a:t>&amp;</a:t>
            </a:r>
            <a:r>
              <a:rPr lang="en-US" sz="500" dirty="0" err="1"/>
              <a:t>rpt</a:t>
            </a:r>
            <a:r>
              <a:rPr lang="en-US" sz="500" dirty="0"/>
              <a:t>=</a:t>
            </a:r>
            <a:r>
              <a:rPr lang="en-US" sz="500" dirty="0" err="1"/>
              <a:t>simage&amp;lr</a:t>
            </a:r>
            <a:r>
              <a:rPr lang="en-US" sz="500" dirty="0"/>
              <a:t>=10715</a:t>
            </a:r>
            <a:endParaRPr lang="ru-RU" sz="500" dirty="0"/>
          </a:p>
        </p:txBody>
      </p:sp>
    </p:spTree>
    <p:extLst>
      <p:ext uri="{BB962C8B-B14F-4D97-AF65-F5344CB8AC3E}">
        <p14:creationId xmlns:p14="http://schemas.microsoft.com/office/powerpoint/2010/main" val="18716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16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Цифровые двойники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Digital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twin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993275" y="2634459"/>
            <a:ext cx="2883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Преимущества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Digital twin: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499094711"/>
              </p:ext>
            </p:extLst>
          </p:nvPr>
        </p:nvGraphicFramePr>
        <p:xfrm>
          <a:off x="0" y="3117272"/>
          <a:ext cx="9143999" cy="3740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822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ая выноска 5"/>
          <p:cNvSpPr/>
          <p:nvPr/>
        </p:nvSpPr>
        <p:spPr>
          <a:xfrm>
            <a:off x="138545" y="2189017"/>
            <a:ext cx="8853055" cy="955965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3328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5" y="1466212"/>
            <a:ext cx="885305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Смарт-фабрика (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Connected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Factory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indent="457200" algn="ctr"/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Суть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технологии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Connected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Factory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заключается в том, чтобы объединить данные с каждого этапа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от поставки сырья до конечной логистики.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Современные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производства генерируют огромное количество данных, причем на каждом этапе.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Сбор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данных в единой системе поможет лучше контролировать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все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процессы.</a:t>
            </a:r>
          </a:p>
        </p:txBody>
      </p:sp>
      <p:pic>
        <p:nvPicPr>
          <p:cNvPr id="15362" name="Picture 2" descr="https://avatars.mds.yandex.net/i?id=46ba5f9e1ca5dd7c99f33bd38c1a488c825ec022-12938349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11782"/>
            <a:ext cx="4572000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-6928" y="635635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https://yandex.ru/images/search?text=</a:t>
            </a:r>
            <a:r>
              <a:rPr lang="ru-RU" sz="800" dirty="0"/>
              <a:t>Смарт-фабрика+&amp;</a:t>
            </a:r>
            <a:r>
              <a:rPr lang="en-US" sz="800" dirty="0" err="1"/>
              <a:t>pos</a:t>
            </a:r>
            <a:r>
              <a:rPr lang="en-US" sz="800" dirty="0"/>
              <a:t>=10&amp;rpt=</a:t>
            </a:r>
            <a:r>
              <a:rPr lang="en-US" sz="800" dirty="0" err="1"/>
              <a:t>simage&amp;img_url</a:t>
            </a:r>
            <a:r>
              <a:rPr lang="en-US" sz="800" dirty="0"/>
              <a:t>=https%3A%2F%2Fwww.mokosmart.com%2Fwp-content%2Fuploads%2F2021%2F10%2Fiiot-on-smart-factory.webp&amp;from=</a:t>
            </a:r>
            <a:r>
              <a:rPr lang="en-US" sz="800" dirty="0" err="1"/>
              <a:t>tabbar&amp;lr</a:t>
            </a:r>
            <a:r>
              <a:rPr lang="en-US" sz="800" dirty="0"/>
              <a:t>=10715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16056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ая выноска 7"/>
          <p:cNvSpPr/>
          <p:nvPr/>
        </p:nvSpPr>
        <p:spPr>
          <a:xfrm>
            <a:off x="0" y="1925782"/>
            <a:ext cx="9144000" cy="789709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09474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8" y="1620981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18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0" y="1358490"/>
            <a:ext cx="91440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Модульные производственные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процессы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Modular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production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assets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indent="457200" algn="just"/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Традиционные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производственные линии уступят свое место модульному производству с большим числом роботизированных процессов.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Модульная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система имеет ряд преимуществ: например, можно быстро трансформировать производство под новые требования или масштабировать существующую линию.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Подобные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процессы еще в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2017-м</a:t>
            </a: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году внедрила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Audi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счет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чего</a:t>
            </a: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удалось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повысить</a:t>
            </a: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производительность на 20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%.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46" name="Picture 2" descr="https://avatars.mds.yandex.net/i?id=7ab1a871e6af710b68984acac8143e8e9262d722-10555985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745" y="3797299"/>
            <a:ext cx="4738255" cy="303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0" y="6381874"/>
            <a:ext cx="36853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https://avatars.mds.yandex.net/i?id=7ab1a871e6af710b68984acac8143e8e9262d722-10555985-images-thumbs&amp;n=13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88208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88047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19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1070" y="1286232"/>
            <a:ext cx="912293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Гибкие методы производства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Flexible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production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Под гибкими методами производства аналитики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понимают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например, 3D-печать.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их мнению, подобные методы способны поддерживать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многовариантность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и способны кардинально увеличить гибкость производства.</a:t>
            </a:r>
          </a:p>
        </p:txBody>
      </p:sp>
      <p:sp>
        <p:nvSpPr>
          <p:cNvPr id="3" name="AutoShape 2" descr="https://yandex-images.clstorage.net/D9iw8g356/d74308jBEN/_jL1KEl7q63g7t690UDX-FtwDQIYyk11BMMANfSjhMg5do9pToKfKqOOJlz1h2eewCi5uIa5Wc4DC-OkUZcPXbEws2QCMLP5s6jE6dlD0vpGLU4TBJBJKB6BXGu1-47EbCO1VTn0603Zvlt93a0rms986qaY-hvwaRyi8XbKZjnMJu0bYmXsjffHuYLIRcn5SDwCLT6XZR0b31RVg4qlih5xm0EU2MJ55q9Wf-eGH43lW8KQxeoA-UJXgfpr63Ah-QPoDVJh65bt8L2vyn_J73AMOTYcplUrO_ByZbWwqakkQrN4HfjfZtyVQnPCtBa1ynbHquTjFutBZZ7cQ81ZGcQG8TNqbMaKz_O8ksBe9_pGDjQEI61POyjjU0ywjK2sFnivfRr83UbMgWRi0a81j8BZx7fl_CDubl65xVfUeA3bPMgaSGbqi8HZuZP3fNL_RRMsDB-pUyEm01d-loumgTV5hE0U9-Je8rpDaeWMNInPU_amxt8C-FpGm_p89Xsb2zLHGnpc1ZTO_5Shw3jw8HAEEBEDjlU6IuxzfK6ujbc1f7xkF93CVfOqZmrzoTyuzHnBtN_iFsRxa4fee8x6Idgg6QtjXuS58du6ocpex_pUPwUgD71TGBT3bGKooZioO2CbXBHS6Er1mnto5YEQmMt-wIrA6gD4dESc_WfGfAr4Ovguc17dtuvwvrLaSf3vbycvFi2SYiA61HN8j6OKkBBivGgw2Npz951jds63Cq_ZUtiL4uMeyXdunvJY4HIPzwLrL0xN0ILu1YWR91rF6XAYBgIBj0AGF8ZNV4Shj7sPWqFaDubNf9uPRVnMjj6P1WzKtefRJ85ScaHFRtRLI8wd6wNTY8eIyfSVscBpx9tLES4_IYJQPSPwRHCplJm6EWm7TjTh-GHBtXxV-7ofqsJ3-Knh3yHXeUSE5n3AVQfSNeocUU_AseblgobHQfrfUSQNCy6IURwLxWhgro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930" y="3810000"/>
            <a:ext cx="45720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-21070" y="5240815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700" dirty="0"/>
              <a:t>https://yandex-images.clstorage.net/D9iw8g356/d74308jBEN/_jL1KEl7q63g7t690UDX-FtwDQIYyk11BMMANfSjhMg5do9pToKfKqOOJlz1h2eewCi5uIa5Wc4DC-OkUZcPXbEws2QCMLP5s6jE6dlD0vpGLU4TBJBJKB6BXGu1-47EbCO1VTn0603Zvlt93a0rms986qaY-hvwaRyi8XbKZjnMJu0bYmXsjffHuYLIRcn5SDwCLT6XZR0b31RVg4qlih5xm0EU2MJ55q9Wf-eGH43lW8KQxeoA-UJXgfpr63Ah-QPoDVJh65bt8L2vyn_J73AMOTYcplUrO_ByZbWwqakkQrN4HfjfZtyVQnPCtBa1ynbHquTjFutBZZ7cQ81ZGcQG8TNqbMaKz_O8ksBe9_pGDjQEI61POyjjU0ywjK2sFnivfRr83UbMgWRi0a81j8BZx7fl_CDubl65xVfUeA3bPMgaSGbqi8HZuZP3fNL_RRMsDB-pUyEm01d-loumgTV5hE0U9-Je8rpDaeWMNInPU_amxt8C-FpGm_p89Xsb2zLHGnpc1ZTO_5Shw3jw8HAEEBEDjlU6IuxzfK6ujbc1f7xkF93CVfOqZmrzoTyuzHnBtN_iFsRxa4fee8x6Idgg6QtjXuS58du6ocpex_pUPwUgD71TGBT3bGKooZioO2CbXBHS6Er1mnto5YEQmMt-wIrA6gD4dESc_WfGfAr4Ovguc17dtuvwvrLaSf3vbycvFi2SYiA61HN8j6OKkBBivGgw2Npz951jds63Cq_ZUtiL4uMeyXdunvJY4HIPzwLrL0xN0ILu1YWR91rF6XAYBgIBj0AGF8ZNV4Shj7sPWqFaDubNf9uPRVnMjj6P1WzKtefRJ85ScaHFRtRLI8wd6wNTY8eIyfSVscBpx9tLES4_IYJQPSPwRHCplJm6EWm7TjTh-GHBtXxV-7ofqsJ3-Knh3yHXeUSE5n3AVQfSNeocUU_AseblgobHQfrfUSQNCy6IURwLxWhgro8</a:t>
            </a:r>
            <a:endParaRPr lang="ru-RU" sz="700" dirty="0"/>
          </a:p>
        </p:txBody>
      </p:sp>
    </p:spTree>
    <p:extLst>
      <p:ext uri="{BB962C8B-B14F-4D97-AF65-F5344CB8AC3E}">
        <p14:creationId xmlns:p14="http://schemas.microsoft.com/office/powerpoint/2010/main" val="354693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0310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20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1070" y="1480067"/>
            <a:ext cx="912293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Визуализация и автоматизация производства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Аналитики советуют присмотреться к тому, чтобы внедрить на производстве различные 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мобильные приложения и технологии дополненной реальности (AR)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вроде специальных AR-очков. Люди и машины должны теснее сотрудничать друг с другом.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927" y="3665282"/>
            <a:ext cx="4925003" cy="2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197927" y="6664881"/>
            <a:ext cx="494607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/>
              <a:t>https://avatars.mds.yandex.net/i?id=e6985bd29fedfdfb776a6939f22662373b2967d7-7089948-images-thumbs&amp;n=13</a:t>
            </a:r>
            <a:endParaRPr lang="ru-RU" sz="700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70325"/>
            <a:ext cx="457200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1070" y="6405283"/>
            <a:ext cx="41768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https://avatars.mds.yandex.net/i?id=03a483b1b97f2832601096c942e3c48c0e4146c6-3449022-images-thumbs&amp;n=13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6063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81760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21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1157965"/>
            <a:ext cx="832600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Интегрированное планирование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Integrated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planning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Подобные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технологии позволяют заниматься планированием сразу всех подразделений и бизнес-юнитов, включая партнеров. Такое планирование позволяет быстро реагировать на изменения в поставках или спроса.</a:t>
            </a:r>
          </a:p>
        </p:txBody>
      </p:sp>
      <p:pic>
        <p:nvPicPr>
          <p:cNvPr id="34818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9" t="30799" r="3440" b="2736"/>
          <a:stretch/>
        </p:blipFill>
        <p:spPr bwMode="auto">
          <a:xfrm>
            <a:off x="0" y="2444517"/>
            <a:ext cx="7813964" cy="420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572000" y="659639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https://image1.slideserve.com/3478154/slide8-l.jpg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7303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22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10836" y="1590903"/>
            <a:ext cx="888076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Автономная логистика на производстве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Современные решения позволяют оснастить завод или фабрику беспилотной техникой, вроде погрузчиков.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Такая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техника вполне безопасно может перемещаться как по прилегающей территории, так и внутри зданий.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5842" name="Picture 2" descr="https://avatars.mds.yandex.net/i?id=a12b83379c0aa9f9485c1ce92cb07f255b097c0c-6947113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746" y="3776118"/>
            <a:ext cx="5606472" cy="315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6558125"/>
            <a:ext cx="35167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/>
              <a:t>https://avatars.mds.yandex.net/i?id=a12b83379c0aa9f9485c1ce92cb07f255b097c0c-6947113-images-thumbs&amp;n=13</a:t>
            </a:r>
            <a:endParaRPr lang="ru-RU" sz="600" dirty="0"/>
          </a:p>
        </p:txBody>
      </p:sp>
    </p:spTree>
    <p:extLst>
      <p:ext uri="{BB962C8B-B14F-4D97-AF65-F5344CB8AC3E}">
        <p14:creationId xmlns:p14="http://schemas.microsoft.com/office/powerpoint/2010/main" val="428319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ая выноска 2"/>
          <p:cNvSpPr/>
          <p:nvPr/>
        </p:nvSpPr>
        <p:spPr>
          <a:xfrm>
            <a:off x="110837" y="2410691"/>
            <a:ext cx="8880764" cy="1080654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23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26423" y="1632466"/>
            <a:ext cx="8865177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Предиктивное обслуживание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Predictive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maintenance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Используя данные с датчиков и технологии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можно заранее предсказывать необходимость обслуживания или ремонта оборудования.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позволяет, как минимум,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оптимизировать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затраты на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обслуживание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а также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избегать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внезапного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выхода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из строя оборудования.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187" y="3571458"/>
            <a:ext cx="4929813" cy="3286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0" y="6367318"/>
            <a:ext cx="4114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https://avatars.mds.yandex.net/i?id=aa6b2afa7247b72befbd6c723b3d05c0808d4fcb-4956937-images-thumbs&amp;n=13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296144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8" y="1946241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24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5130" y="1660176"/>
            <a:ext cx="89364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/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Data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Это структурированные или неструктурированные массивы данных большого объёма.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Источниками данных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являются: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968042557"/>
              </p:ext>
            </p:extLst>
          </p:nvPr>
        </p:nvGraphicFramePr>
        <p:xfrm>
          <a:off x="55130" y="3241964"/>
          <a:ext cx="8991600" cy="3493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931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8" y="1946241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25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Data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Большие данные нужны для: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948548543"/>
              </p:ext>
            </p:extLst>
          </p:nvPr>
        </p:nvGraphicFramePr>
        <p:xfrm>
          <a:off x="55130" y="3003791"/>
          <a:ext cx="8936470" cy="3731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93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26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Процессы, управляемые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driven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позволяет находить различные паттерны в производстве, а затем оптимизировать различные процессы и качество продукции.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Моделей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 технологий в этом сфере много, направлены они на то, чтобы повысить эффективность и качество.</a:t>
            </a:r>
          </a:p>
        </p:txBody>
      </p:sp>
    </p:spTree>
    <p:extLst>
      <p:ext uri="{BB962C8B-B14F-4D97-AF65-F5344CB8AC3E}">
        <p14:creationId xmlns:p14="http://schemas.microsoft.com/office/powerpoint/2010/main" val="194472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7270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52400" y="1992685"/>
            <a:ext cx="88392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Оптимизация потребляемых ресурсов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Анализ данных позволяет оптимизировать не только затраты сырья для производства продукции, но и затраты, например, электроэнергии.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Все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это помогает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экономить.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7890" name="Picture 2" descr="https://avatars.mds.yandex.net/i?id=7a33e37733e068dd56f3d716d4e90c7ef5a2c1d0-16311580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839" y="3560619"/>
            <a:ext cx="5950161" cy="329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6488668"/>
            <a:ext cx="31938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https://avatars.mds.yandex.net/i?id=7a33e37733e068dd56f3d716d4e90c7ef5a2c1d0-16311580-images-thumbs&amp;n=13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26159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ая выноска 5"/>
          <p:cNvSpPr/>
          <p:nvPr/>
        </p:nvSpPr>
        <p:spPr>
          <a:xfrm>
            <a:off x="207818" y="2909455"/>
            <a:ext cx="8783782" cy="1060305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28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07818" y="2172794"/>
            <a:ext cx="87837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Полностью автономные производства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Все процессы на производстве полностью автоматизированы, а человек принимает участие в процессе на начальном этапе, когда проектирует завод или фабрику, и в дальнейшем, когда следит за процессом.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Подобная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технология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больше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кажется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фантастикой. </a:t>
            </a:r>
          </a:p>
        </p:txBody>
      </p:sp>
      <p:pic>
        <p:nvPicPr>
          <p:cNvPr id="38914" name="Picture 2" descr="https://avatars.mds.yandex.net/i?id=38525cca51e3a3b6f1e7096366ce4e319ae18751-6968661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241" y="3969760"/>
            <a:ext cx="4332359" cy="288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7709" y="648866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https://avatars.mds.yandex.net/i?id=38525cca51e3a3b6f1e7096366ce4e319ae18751-6968661-images-thumbs&amp;n=13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77607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ая выноска 2"/>
          <p:cNvSpPr/>
          <p:nvPr/>
        </p:nvSpPr>
        <p:spPr>
          <a:xfrm>
            <a:off x="387927" y="2951018"/>
            <a:ext cx="8326005" cy="1094509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29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2172794"/>
            <a:ext cx="832600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Трансфер параметров производства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Полностью автоматический трансфер параметров производства позволяет быстро открывать новые фабрики или заводы.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оптимизировав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производство на одном заводе, можно быстро внести изменения и на других объектах.</a:t>
            </a:r>
          </a:p>
        </p:txBody>
      </p:sp>
    </p:spTree>
    <p:extLst>
      <p:ext uri="{BB962C8B-B14F-4D97-AF65-F5344CB8AC3E}">
        <p14:creationId xmlns:p14="http://schemas.microsoft.com/office/powerpoint/2010/main" val="188882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ая выноска 7"/>
          <p:cNvSpPr/>
          <p:nvPr/>
        </p:nvSpPr>
        <p:spPr>
          <a:xfrm>
            <a:off x="193964" y="2189017"/>
            <a:ext cx="8797636" cy="1224163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37185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927" y="2189017"/>
            <a:ext cx="8326005" cy="20227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30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93964" y="1474188"/>
            <a:ext cx="879763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Облачные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сервисы (ОС) и платформы</a:t>
            </a:r>
          </a:p>
          <a:p>
            <a:pPr indent="457200"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Это сеть мощных серверов, позволяющих клиентам пользоваться их вычислительными возможностями через интернет на условиях аренды.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Потребитель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получает доступ к ОС, системе управления БД, связующему ПО. Эта технология значительно расширяет возможности обработки метаданных, моделирования, работы с большими данными.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Также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облачные технологии позволяют хранить информацию, обмениваться ею, производить вычисления, работая в онлайн-офисах.</a:t>
            </a:r>
          </a:p>
        </p:txBody>
      </p:sp>
    </p:spTree>
    <p:extLst>
      <p:ext uri="{BB962C8B-B14F-4D97-AF65-F5344CB8AC3E}">
        <p14:creationId xmlns:p14="http://schemas.microsoft.com/office/powerpoint/2010/main" val="77093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27050" y="1510144"/>
            <a:ext cx="8326005" cy="1468583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31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52400" y="1510144"/>
            <a:ext cx="8839200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Облачные сервисы </a:t>
            </a: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латформы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программы и инструменты, с которыми можно работать в удаленном режиме.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цифровой трансформации компаний могут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использоваться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виды облачных технологий: 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333051095"/>
              </p:ext>
            </p:extLst>
          </p:nvPr>
        </p:nvGraphicFramePr>
        <p:xfrm>
          <a:off x="0" y="3664580"/>
          <a:ext cx="9143999" cy="3193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278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2400" y="1510144"/>
            <a:ext cx="8839200" cy="1468583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Times New Roman" pitchFamily="18" charset="0"/>
                <a:ea typeface="Times New Roman"/>
                <a:cs typeface="Times New Roman" pitchFamily="18" charset="0"/>
              </a:rPr>
              <a:t>Хранилище </a:t>
            </a:r>
            <a:r>
              <a:rPr lang="ru-RU" sz="2000" b="1" dirty="0" err="1" smtClean="0">
                <a:latin typeface="Times New Roman" pitchFamily="18" charset="0"/>
                <a:ea typeface="Times New Roman"/>
                <a:cs typeface="Times New Roman" pitchFamily="18" charset="0"/>
              </a:rPr>
              <a:t>вендора</a:t>
            </a:r>
            <a:r>
              <a:rPr lang="ru-RU" sz="2000" b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b="1" dirty="0">
                <a:latin typeface="Times New Roman" pitchFamily="18" charset="0"/>
                <a:ea typeface="Times New Roman"/>
                <a:cs typeface="Times New Roman" pitchFamily="18" charset="0"/>
              </a:rPr>
              <a:t>(</a:t>
            </a:r>
            <a:r>
              <a:rPr lang="ru-RU" sz="2000" b="1" dirty="0" err="1">
                <a:latin typeface="Times New Roman" pitchFamily="18" charset="0"/>
                <a:ea typeface="Times New Roman"/>
                <a:cs typeface="Times New Roman" pitchFamily="18" charset="0"/>
              </a:rPr>
              <a:t>vendor</a:t>
            </a:r>
            <a:r>
              <a:rPr lang="ru-RU" sz="2000" b="1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  <a:ea typeface="Times New Roman"/>
                <a:cs typeface="Times New Roman" pitchFamily="18" charset="0"/>
              </a:rPr>
              <a:t>repository</a:t>
            </a:r>
            <a:r>
              <a:rPr lang="ru-RU" sz="2000" b="1" dirty="0">
                <a:latin typeface="Times New Roman" pitchFamily="18" charset="0"/>
                <a:ea typeface="Times New Roman"/>
                <a:cs typeface="Times New Roman" pitchFamily="18" charset="0"/>
              </a:rPr>
              <a:t>) 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это централизованное место, где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вендор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 (поставщик) хранит все типы файлов, необходимые для реализации или поддержки своих продуктов/услуг</a:t>
            </a: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32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49382" y="3560020"/>
            <a:ext cx="87422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Вендор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поставщик)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компания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которая поставляет продукты, услуги или решения другим компаниям (например, производитель программного обеспечения, оборудования, облачных сервисов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Хранилище 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централизованное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место для хранения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64906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2400" y="1510145"/>
            <a:ext cx="8839200" cy="429492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Зачем </a:t>
            </a:r>
            <a:r>
              <a:rPr lang="ru-RU" sz="2000" dirty="0">
                <a:latin typeface="Times New Roman" pitchFamily="18" charset="0"/>
                <a:ea typeface="Times New Roman"/>
                <a:cs typeface="Times New Roman" pitchFamily="18" charset="0"/>
              </a:rPr>
              <a:t>нужно хранилище </a:t>
            </a:r>
            <a:r>
              <a:rPr lang="ru-RU" sz="2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вендора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33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496895427"/>
              </p:ext>
            </p:extLst>
          </p:nvPr>
        </p:nvGraphicFramePr>
        <p:xfrm>
          <a:off x="152400" y="1939637"/>
          <a:ext cx="8839200" cy="4781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776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34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87928" y="1941961"/>
            <a:ext cx="8326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Примеры облачных сервисов разного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типа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429150"/>
              </p:ext>
            </p:extLst>
          </p:nvPr>
        </p:nvGraphicFramePr>
        <p:xfrm>
          <a:off x="96984" y="2475233"/>
          <a:ext cx="9047016" cy="4206213"/>
        </p:xfrm>
        <a:graphic>
          <a:graphicData uri="http://schemas.openxmlformats.org/drawingml/2006/table">
            <a:tbl>
              <a:tblPr/>
              <a:tblGrid>
                <a:gridCol w="3015672"/>
                <a:gridCol w="3015672"/>
                <a:gridCol w="3015672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Инфраструктура</a:t>
                      </a: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Платформа для разработки</a:t>
                      </a: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Готовая программа</a:t>
                      </a: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F"/>
                    </a:solidFill>
                  </a:tcPr>
                </a:tc>
              </a:tr>
              <a:tr h="1992615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Яндекс Облако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4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Compute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Cloud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виртуальные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диски</a:t>
                      </a:r>
                    </a:p>
                    <a:p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Object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Storage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хранилище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информации</a:t>
                      </a:r>
                    </a:p>
                    <a:p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Virtual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Private Cloud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управление облачными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сетями</a:t>
                      </a:r>
                    </a:p>
                    <a:p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Cloud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Interconnect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выделенные соединения</a:t>
                      </a: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Cloud.ru (бывший </a:t>
                      </a:r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SberCloud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провайдер, у которого есть платформа </a:t>
                      </a:r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Advanced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с большим набором инструментов</a:t>
                      </a: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Битрикс24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система с фирменными инструментами CRM, </a:t>
                      </a:r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мессенджером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автоматизацией, готовыми решениями для создания интернет-магазинов</a:t>
                      </a: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5482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MWS Cloud Platform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/>
                      </a:r>
                      <a:b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Compute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виртуальные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машины</a:t>
                      </a:r>
                    </a:p>
                    <a:p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Virtual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Private Cloud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виртуальные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сети</a:t>
                      </a:r>
                    </a:p>
                    <a:p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Identity </a:t>
                      </a: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 Access Management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управление доступом</a:t>
                      </a: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РТК-ЦОД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серия платформенных сервисов наподобие </a:t>
                      </a:r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BareMetal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(подходит для тяжелых программ и масштабных проектов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банковских экосистем, графических </a:t>
                      </a:r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рендеров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и пр.)</a:t>
                      </a: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Tilda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блочный конструктор сайтов, где есть все необходимое, от инструментов дизайна до подключения платежных систем наподобие </a:t>
                      </a:r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Robokassa</a:t>
                      </a:r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или </a:t>
                      </a:r>
                      <a:r>
                        <a:rPr lang="ru-RU" sz="1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PayAnyWay</a:t>
                      </a:r>
                      <a:endParaRPr lang="ru-RU" sz="1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2378" marR="42378" marT="42378" marB="4237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93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ая выноска 7"/>
          <p:cNvSpPr/>
          <p:nvPr/>
        </p:nvSpPr>
        <p:spPr>
          <a:xfrm>
            <a:off x="138546" y="2022764"/>
            <a:ext cx="8853054" cy="1690254"/>
          </a:xfrm>
          <a:prstGeom prst="wedgeRectCallout">
            <a:avLst>
              <a:gd name="adj1" fmla="val -20833"/>
              <a:gd name="adj2" fmla="val 56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35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651016"/>
            <a:ext cx="885305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Искусственный интеллект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Artificial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intelligence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(AI) – это свойство искусственных систем выполнять творческие функции.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инновационная технология, позволяющая воспроизводить человеческие функции, например, анализировать данные, принимать решения, отвечать на запросы.</a:t>
            </a:r>
          </a:p>
          <a:p>
            <a:pPr indent="457200"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промышленном секторе мировой и российской экономики процессы автоматизации завершены, что является первым этапом перехода на цифровой уровень управления. Задача следующего этапа – внедрение инновационных технологий на все уровни управления. А ведущая роль в этом отведена ИИ.</a:t>
            </a:r>
          </a:p>
          <a:p>
            <a:pPr indent="457200"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Adeptik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APS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автоматизированная система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для оперативного производственного планирования, базирующуюся на технологии ИИ.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её внедрением потенциал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в российской промышленности значительно возрастёт.</a:t>
            </a:r>
          </a:p>
        </p:txBody>
      </p:sp>
    </p:spTree>
    <p:extLst>
      <p:ext uri="{BB962C8B-B14F-4D97-AF65-F5344CB8AC3E}">
        <p14:creationId xmlns:p14="http://schemas.microsoft.com/office/powerpoint/2010/main" val="42954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36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651016"/>
            <a:ext cx="88530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ИИ 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Искусственный интеллект используется как в самой цифровой трансформации, так и в новых бизнес-моделях, созданных в результате ЦТ.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первом случае ИИ может: </a:t>
            </a: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951706494"/>
              </p:ext>
            </p:extLst>
          </p:nvPr>
        </p:nvGraphicFramePr>
        <p:xfrm>
          <a:off x="0" y="2974456"/>
          <a:ext cx="9144000" cy="2960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0" y="5934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Во втором случае искусственный интеллект освобождает сотрудников компании от рутины, упрощает работу с клиентами, предлагает персонализированные решения разных задач.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97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ая выноска 2"/>
          <p:cNvSpPr/>
          <p:nvPr/>
        </p:nvSpPr>
        <p:spPr>
          <a:xfrm>
            <a:off x="166256" y="1856509"/>
            <a:ext cx="8853054" cy="1704109"/>
          </a:xfrm>
          <a:prstGeom prst="wedgeRectCallout">
            <a:avLst>
              <a:gd name="adj1" fmla="val -20520"/>
              <a:gd name="adj2" fmla="val 582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90946" y="1304654"/>
            <a:ext cx="8853054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Интернет вещей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/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Это сеть взаимосвязанных устройств, которые могут собирать, обрабатывать и передавать данные без участия человека.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Сюда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относятся в первую очередь ПК и смартфоны, но стать компонентом сети может любое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техустройство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способное передавать сигнал.</a:t>
            </a:r>
          </a:p>
          <a:p>
            <a:pPr indent="457200" algn="just"/>
            <a:endParaRPr lang="ru-RU" sz="11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обеспечивает интеграцию физических объектов с цифровыми системами, повышая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эффективность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процессов и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снижая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человеческое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вмешательство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28674" name="Picture 2" descr="https://avatars.mds.yandex.net/i?id=de637f2b212d4e2d03623682bc49c8c66e0e4f44-4256054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114799"/>
            <a:ext cx="45720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0783" y="6242446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" dirty="0"/>
              <a:t>https://yandex-images.clstorage.net/D9iw8g356/d74308jBEN/_jL1KEl7q63g7t690UDX-FtwDQIYyk11BMMAYqD20847Iog4SYfNJvPedgqn1WDIlyC9vNW8V8wOX-OgV5NbWO5ntWQPOrD2tKjE6dlD0vpGLU4TBJBJKB6BXGu1-47EbCO1VTn0603Zvlt93a0rms986qaY-hvwaRyi8XbKZjnMJu0bYmXsjffHuYLIRcn5SDwCLT6XZR0b31RVg4qlih5xm0EU2MJ55q9Wf-eGH43lW8KQxeoA-UJXgfpr63Ah-QPoDVJh65bt8L2vyn_J73AMOTYcplUrO_ByZbWwqakkQrN4HfjfZtyVQnPCtBa1ynbHquTjFutBZZ7cQ81ZGcQG8TNqbMaKz_O8ksBe9_pGDjQEI61POyjjU0ywjK2sFnivfRr83UbMgWRi0a81j8BZx7fl_CDubl65xVfUeA3bPMgaSGbqi8HZuZP3fNL_RRMsDB-pUyEm01d-loumgTV5hE0U9-Je8rpDaeWMNInPU_amxt8C-FpGm_p89Xsb2zLHGnpc1ZTO_5Shw3jw8HAEEBEDjlU6IuxzfK6ujbc1f7xkF93CVfOqZmrzoTyuzHnBtN_iFsRxa4fee8x6Idgg6QtjXuS58du6ocpex_pUPwUgD71TGBT3bGKooZioO2CbXBHS6Er1mnto5YEQmMt-wIrA6gD4dESc_WfGfAr4Ovguc17dtuvwvrLaSf3vbycvFi2SYiA61HN8j6OKkBBivGgw2Npz951jds63Cq_ZUtiL4uMeyXdunvJY4HIPzwLrL0xN0ILu1YWR91rF6XAYBgIBj0AGF8ZNV4Shj7sPWqFaDubNf9uPRVnMjj6P1WzKtefRJ85ScaHFRtRLI8wd6wNTY8eIyfSVscBpx9tLES4_IYJQPSPwRHCplJm6EWm7TjTh-GHBtXxV-7ofqsJ3-Knh3yHXeUSE5n3AVQfSNeocUU_AseblgobHQfrfUSQNCy6IURwLxWhgro8</a:t>
            </a:r>
            <a:endParaRPr lang="ru-RU" sz="400" dirty="0"/>
          </a:p>
        </p:txBody>
      </p:sp>
    </p:spTree>
    <p:extLst>
      <p:ext uri="{BB962C8B-B14F-4D97-AF65-F5344CB8AC3E}">
        <p14:creationId xmlns:p14="http://schemas.microsoft.com/office/powerpoint/2010/main" val="70792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38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865733"/>
            <a:ext cx="88530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Современные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-системы развиваются в сторону автономного управления через: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851650971"/>
              </p:ext>
            </p:extLst>
          </p:nvPr>
        </p:nvGraphicFramePr>
        <p:xfrm>
          <a:off x="0" y="2696730"/>
          <a:ext cx="9144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415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39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2038944"/>
            <a:ext cx="8853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Базовая архитектура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включает: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828452989"/>
              </p:ext>
            </p:extLst>
          </p:nvPr>
        </p:nvGraphicFramePr>
        <p:xfrm>
          <a:off x="0" y="2696730"/>
          <a:ext cx="899159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991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40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727234"/>
            <a:ext cx="88530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Перспективы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связаны с созданием самоорганизующихся сетей, где объекты автономно взаимодействуют на основе контекста.</a:t>
            </a:r>
          </a:p>
          <a:p>
            <a:pPr algn="just"/>
            <a:endParaRPr lang="ru-RU" sz="1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Система состоит из 4 компонентов: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770655543"/>
              </p:ext>
            </p:extLst>
          </p:nvPr>
        </p:nvGraphicFramePr>
        <p:xfrm>
          <a:off x="138546" y="3666226"/>
          <a:ext cx="8853053" cy="3094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492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41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727234"/>
            <a:ext cx="8853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Принцип работы интернета вещей: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028601725"/>
              </p:ext>
            </p:extLst>
          </p:nvPr>
        </p:nvGraphicFramePr>
        <p:xfrm>
          <a:off x="290944" y="2355273"/>
          <a:ext cx="8700655" cy="4405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86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42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727234"/>
            <a:ext cx="8853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Технологии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485059428"/>
              </p:ext>
            </p:extLst>
          </p:nvPr>
        </p:nvGraphicFramePr>
        <p:xfrm>
          <a:off x="0" y="2355273"/>
          <a:ext cx="9144000" cy="4405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33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43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727234"/>
            <a:ext cx="88530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Потребительские решения: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158348075"/>
              </p:ext>
            </p:extLst>
          </p:nvPr>
        </p:nvGraphicFramePr>
        <p:xfrm>
          <a:off x="0" y="2618509"/>
          <a:ext cx="9144000" cy="4142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151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44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727234"/>
            <a:ext cx="88530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Промышленные применения: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814945438"/>
              </p:ext>
            </p:extLst>
          </p:nvPr>
        </p:nvGraphicFramePr>
        <p:xfrm>
          <a:off x="290944" y="2927563"/>
          <a:ext cx="8700655" cy="3833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952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45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727234"/>
            <a:ext cx="88530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Инфраструктура и экология: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938484492"/>
              </p:ext>
            </p:extLst>
          </p:nvPr>
        </p:nvGraphicFramePr>
        <p:xfrm>
          <a:off x="290944" y="2927563"/>
          <a:ext cx="8700655" cy="3833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609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46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727234"/>
            <a:ext cx="88530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Специальные области: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99728481"/>
              </p:ext>
            </p:extLst>
          </p:nvPr>
        </p:nvGraphicFramePr>
        <p:xfrm>
          <a:off x="290944" y="2927563"/>
          <a:ext cx="8700655" cy="3833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078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38546" y="1290799"/>
            <a:ext cx="885305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ru-RU" sz="1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работы Интернета вещей важны: аналитика, соединения, устройства и опыт.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простоты этот принцип представляют как ABCDE: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Big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Connection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Device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Experience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558177287"/>
              </p:ext>
            </p:extLst>
          </p:nvPr>
        </p:nvGraphicFramePr>
        <p:xfrm>
          <a:off x="0" y="3671456"/>
          <a:ext cx="9144000" cy="318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507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48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90946" y="1413581"/>
            <a:ext cx="88530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072289"/>
              </p:ext>
            </p:extLst>
          </p:nvPr>
        </p:nvGraphicFramePr>
        <p:xfrm>
          <a:off x="117764" y="2159278"/>
          <a:ext cx="9005454" cy="4785949"/>
        </p:xfrm>
        <a:graphic>
          <a:graphicData uri="http://schemas.openxmlformats.org/drawingml/2006/table">
            <a:tbl>
              <a:tblPr/>
              <a:tblGrid>
                <a:gridCol w="1724891"/>
                <a:gridCol w="7280563"/>
              </a:tblGrid>
              <a:tr h="168915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Задача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Реализация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F"/>
                    </a:solidFill>
                  </a:tcPr>
                </a:tc>
              </a:tr>
              <a:tr h="494680">
                <a:tc rowSpan="3"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Сбор информации и ее передача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Трансляция с умных камер, выявляющих посторонних на территории без участия оператора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6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Отправка показателей с матричного счетчика с автоматическим расчетом стоимости ЖКУ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Учет данных на заводе с помощью умных датчиков, следящих за влажностью, консистенцией сырья, температурой и т.д.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503">
                <a:tc rowSpan="3"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Прогнозирование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Сбор статистики по расходам ГСМ в авторежиме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Расчет времени, в течение которого складские остатки закончатся полностью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6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Уведомление о том, что оборудованию на заводе скоро потребуется обслуживание или ремонт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503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Оптимизация бизнеса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GPS-мониторинг транспорта в компаниях по грузоперевозкам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503">
                <a:tc rowSpan="3"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Модернизация работы с клиентами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Кассы самообслуживания в ритейле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50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Роботы-курьеры в службах доставки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1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Фитнес-браслеты в спортзалах</a:t>
                      </a:r>
                    </a:p>
                  </a:txBody>
                  <a:tcPr marL="34815" marR="34815" marT="34815" marB="3481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40872" y="1772176"/>
            <a:ext cx="6553199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Основные функции интернета вещей с примерами </a:t>
            </a:r>
            <a:endParaRPr kumimoji="0" lang="ru-RU" sz="105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48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ая выноска 7"/>
          <p:cNvSpPr/>
          <p:nvPr/>
        </p:nvSpPr>
        <p:spPr>
          <a:xfrm>
            <a:off x="325581" y="1732430"/>
            <a:ext cx="8492837" cy="636697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49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15392" y="1270765"/>
            <a:ext cx="6553199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Промышленный интернет вещей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0" lang="ru-RU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ru-RU" sz="11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25581" y="1732430"/>
            <a:ext cx="849283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Промышленный интернет вещей – это сеть подключённых промышленных объектов с датчиками, ПО для автоматического сбора данных, удалённого управления.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>
                <a:latin typeface="Times New Roman" pitchFamily="18" charset="0"/>
                <a:cs typeface="Times New Roman" pitchFamily="18" charset="0"/>
              </a:rPr>
              <a:t>IIoT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повышает производительность, снижает затраты и улучшает качество продукции, оптимизируя производственные процессы.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Технология применяется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заводах,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сельском хозяйстве, логистике,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финансах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госуслугах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8434" name="Picture 2" descr="https://avatars.mds.yandex.net/i?id=fa8ab516cf13d18cb07db73488badd81f3466ea5-6875822-images-thumbs&amp;n=1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t="9302"/>
          <a:stretch/>
        </p:blipFill>
        <p:spPr bwMode="auto">
          <a:xfrm>
            <a:off x="4031673" y="3479386"/>
            <a:ext cx="5112327" cy="324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0" y="648866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https://avatars.mds.yandex.net/i?id=fa8ab516cf13d18cb07db73488badd81f3466ea5-6875822-images-thumbs&amp;n=13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84555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ая выноска 2"/>
          <p:cNvSpPr/>
          <p:nvPr/>
        </p:nvSpPr>
        <p:spPr>
          <a:xfrm>
            <a:off x="180109" y="1621173"/>
            <a:ext cx="8700655" cy="1177254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50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42260" y="1159508"/>
            <a:ext cx="4495799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Киберфизическая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система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CPS)</a:t>
            </a:r>
            <a:r>
              <a:rPr kumimoji="0" lang="ru-RU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ru-RU" sz="11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80109" y="1621364"/>
            <a:ext cx="860367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Концепция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интеграции вычислительных мощностей в физические объекты разной природы, включая биологические и искусственно созданные элементы. В таких системах вычислительные компоненты распределены по всей физической структуре и находятся в синергетическом взаимодействии с её составными частями.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Датчики, оборудование, информационные системы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киберфизических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комплексах объединены в сквозные цепочки создания стоимости, выходящие за границы отдельных предприятий. Взаимодействие между компонентами осуществляется через стандартные интернет-протоколы, что обеспечивает прогнозирование, автоматическую настройку, адаптацию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изменениям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 descr="https://avatars.mds.yandex.net/i?id=2d3e27b4bc6939fce1c7b9617bb7d8250176780a-5843137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86249"/>
            <a:ext cx="457200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0" y="646114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https://avatars.mds.yandex.net/i?id=2d3e27b4bc6939fce1c7b9617bb7d8250176780a-5843137-images-thumbs&amp;n=13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60569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51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62151" y="1741399"/>
            <a:ext cx="4495799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Киберфизическая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система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CPS)</a:t>
            </a:r>
            <a:r>
              <a:rPr kumimoji="0" lang="ru-RU" sz="24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ru-RU" sz="11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90945" y="2203064"/>
            <a:ext cx="8492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Ключевые технологические тренды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киберфизических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систем включают: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923294391"/>
              </p:ext>
            </p:extLst>
          </p:nvPr>
        </p:nvGraphicFramePr>
        <p:xfrm>
          <a:off x="290945" y="2572396"/>
          <a:ext cx="8492837" cy="402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131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52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8543" y="1760178"/>
            <a:ext cx="8853055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RPA </a:t>
            </a: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Robotic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 технология, которая подразумевает внедрение ботов, делающих бизнес-процессы автоматическими.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Онлайн-помощники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берут на себя рутинные задачи, которые раньше выполняли живые сотрудники.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решает сразу несколько проблем: </a:t>
            </a:r>
            <a:r>
              <a:rPr kumimoji="0" lang="ru-RU" sz="20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ru-RU" sz="105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549239107"/>
              </p:ext>
            </p:extLst>
          </p:nvPr>
        </p:nvGraphicFramePr>
        <p:xfrm>
          <a:off x="138545" y="3508275"/>
          <a:ext cx="8853055" cy="3512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639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53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8545" y="1460029"/>
            <a:ext cx="8853055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Блокчейн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defTabSz="914400" fontAlgn="base">
              <a:spcBef>
                <a:spcPct val="0"/>
              </a:spcBef>
              <a:spcAft>
                <a:spcPct val="0"/>
              </a:spcAft>
            </a:pPr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Блокчейн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– это распределенный, децентрализованный и публичный цифровой реестр, который используется для записи транзакций между множеством компьютеров. 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Электронная база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данных, которая разделена между многими компьютерами, и каждый компьютер хранит идентичную копию этой базы.</a:t>
            </a:r>
          </a:p>
          <a:p>
            <a:pPr lvl="0" algn="just" defTabSz="914400" fontAlgn="base">
              <a:spcBef>
                <a:spcPct val="0"/>
              </a:spcBef>
              <a:spcAft>
                <a:spcPct val="0"/>
              </a:spcAft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072" y="3634364"/>
            <a:ext cx="4572000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565072" y="620539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https://yandex.ru/images/search?text=</a:t>
            </a:r>
            <a:r>
              <a:rPr lang="ru-RU" sz="900" dirty="0" err="1"/>
              <a:t>Блокчейн</a:t>
            </a:r>
            <a:r>
              <a:rPr lang="ru-RU" sz="900" dirty="0"/>
              <a:t>+&amp;</a:t>
            </a:r>
            <a:r>
              <a:rPr lang="en-US" sz="900" dirty="0" err="1"/>
              <a:t>pos</a:t>
            </a:r>
            <a:r>
              <a:rPr lang="en-US" sz="900" dirty="0"/>
              <a:t>=1&amp;rpt=</a:t>
            </a:r>
            <a:r>
              <a:rPr lang="en-US" sz="900" dirty="0" err="1"/>
              <a:t>simage&amp;img_url</a:t>
            </a:r>
            <a:r>
              <a:rPr lang="en-US" sz="900" dirty="0"/>
              <a:t>=http%3A%2F%2Fnav-it.ru%2Fupload%2Fmedialibrary%2Ff5f%2F1vh3gqzzpg1jfy9fp3qq3xge7ws7gkdg.jpg&amp;from=</a:t>
            </a:r>
            <a:r>
              <a:rPr lang="en-US" sz="900" dirty="0" err="1"/>
              <a:t>tabbar&amp;lr</a:t>
            </a:r>
            <a:r>
              <a:rPr lang="en-US" sz="900" dirty="0"/>
              <a:t>=10715</a:t>
            </a:r>
            <a:endParaRPr lang="ru-RU" sz="900" dirty="0"/>
          </a:p>
        </p:txBody>
      </p:sp>
      <p:pic>
        <p:nvPicPr>
          <p:cNvPr id="9219" name="Picture 3" descr="https://avatars.mds.yandex.net/i?id=6e714b55285c55fbbcc3c71887cb2ad1c48c0ff0-16302628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28" y="3634364"/>
            <a:ext cx="4371110" cy="262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-6928" y="6321365"/>
            <a:ext cx="43711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https://avatars.mds.yandex.net/i?id=6e714b55285c55fbbcc3c71887cb2ad1c48c0ff0-16302628-images-thumbs&amp;n=13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177031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54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1207904"/>
            <a:ext cx="8853055" cy="44935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API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Application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Programming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это способ соединения программ, приложений, платформ и других видов ПО. С его помощью сервисы интегрируют друг с другом, расширяя набор функций и возможностей для клиентов.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цифровая трансформация Сбербанка включила разработку открытого API.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Теперь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предприниматели могут меньше чем за минуту подключить к сайту терминал банка для онлайн-платежей.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фирменный API от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Wildberries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помогает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селлерам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эффективнее управлять ассортиментом, автоматически размещать рекламу через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биддер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и создавать сотни карточек за раз. </a:t>
            </a:r>
            <a:endParaRPr kumimoji="0" lang="ru-RU" sz="22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85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51035"/>
            <a:ext cx="8058150" cy="510968"/>
          </a:xfrm>
        </p:spPr>
        <p:txBody>
          <a:bodyPr/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трансформации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55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1109316"/>
            <a:ext cx="9144000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технологии помогают разработать сервисы и страницы с малым количеством кода или вообще с помощью готовых блоков и визуальных решений.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Их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применяют в цифровой трансформации банков, мобильных операторов, магазинов, клиник и других учреждений.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с помощью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no-code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можно создать портфолио дизайнера, фотографа, журналиста 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т.д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., а технология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low-code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подойдет,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требуется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оформить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страницу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более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индивидуально. </a:t>
            </a:r>
            <a:endParaRPr kumimoji="0" lang="ru-RU" sz="20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273" y="3169907"/>
            <a:ext cx="5916727" cy="368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976051" y="739984"/>
            <a:ext cx="3191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45720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Low-code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no-code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8742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56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1087519"/>
            <a:ext cx="9144000" cy="3847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BI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Технологии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Business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Intelligence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помогают собирать и систематизировать информацию, упрощают ее анализ, визуализацию и прогнозирование.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их помощью большой объем данных, который тяжело воспринимать «с листа», становится понятнее.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Цифры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выкладки и формулы можно преобразовать в графики, диаграммы, делать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дашборды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разы облегчает труд маркетологов, менеджеров по закупкам, аналитиков, HR, специалистов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 работе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 клиентами и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других </a:t>
            </a:r>
          </a:p>
          <a:p>
            <a:pPr lvl="0" indent="45720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сотрудников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kumimoji="0" lang="ru-RU" sz="105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8" name="Picture 4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" r="4266"/>
          <a:stretch/>
        </p:blipFill>
        <p:spPr bwMode="auto">
          <a:xfrm>
            <a:off x="3713018" y="3817758"/>
            <a:ext cx="5430982" cy="304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6601223"/>
            <a:ext cx="34497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https://marketer.by/wp-content/uploads/2022/04/sa2.jpg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58751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4"/>
            <a:ext cx="805815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Классификация технологий цифровой трансформации (по принципу действия и назначению)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57</a:t>
            </a:fld>
            <a:endParaRPr lang="ru-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8545" y="1627228"/>
            <a:ext cx="8853055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BI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Примеры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применения BI в различных сферах </a:t>
            </a:r>
            <a:endParaRPr kumimoji="0" lang="ru-RU" sz="11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300294"/>
              </p:ext>
            </p:extLst>
          </p:nvPr>
        </p:nvGraphicFramePr>
        <p:xfrm>
          <a:off x="235526" y="2458226"/>
          <a:ext cx="8645238" cy="4094398"/>
        </p:xfrm>
        <a:graphic>
          <a:graphicData uri="http://schemas.openxmlformats.org/drawingml/2006/table">
            <a:tbl>
              <a:tblPr/>
              <a:tblGrid>
                <a:gridCol w="1274619"/>
                <a:gridCol w="7370619"/>
              </a:tblGrid>
              <a:tr h="316483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Компания</a:t>
                      </a:r>
                    </a:p>
                  </a:txBody>
                  <a:tcPr marL="44547" marR="44547" marT="44547" marB="445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Роль технологии</a:t>
                      </a:r>
                    </a:p>
                  </a:txBody>
                  <a:tcPr marL="44547" marR="44547" marT="44547" marB="445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F"/>
                    </a:solidFill>
                  </a:tcPr>
                </a:tc>
              </a:tr>
              <a:tr h="1057112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Сбер</a:t>
                      </a:r>
                    </a:p>
                  </a:txBody>
                  <a:tcPr marL="44547" marR="44547" marT="44547" marB="445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Платформа «Навигатор BI» </a:t>
                      </a:r>
                      <a:r>
                        <a:rPr lang="ru-RU" sz="18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инструмент для бизнес-аналитики. Визуализировать данные можно, создавая собственную графику через встроенный конструктор, а ИИ-ассистент ускоряет обработку</a:t>
                      </a:r>
                    </a:p>
                  </a:txBody>
                  <a:tcPr marL="44547" marR="44547" marT="44547" marB="445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88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X5 Retail</a:t>
                      </a:r>
                    </a:p>
                  </a:txBody>
                  <a:tcPr marL="44547" marR="44547" marT="44547" marB="445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Годовые и промежуточные отчеты по продажам в супермаркетах сети формируются в виде диаграмм и графиков</a:t>
                      </a:r>
                    </a:p>
                  </a:txBody>
                  <a:tcPr marL="44547" marR="44547" marT="44547" marB="445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96584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РЖД</a:t>
                      </a:r>
                    </a:p>
                  </a:txBody>
                  <a:tcPr marL="44547" marR="44547" marT="44547" marB="445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Российская разработка </a:t>
                      </a:r>
                      <a:r>
                        <a:rPr lang="ru-RU" sz="18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Alpha</a:t>
                      </a:r>
                      <a:r>
                        <a:rPr lang="ru-RU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BI используется для анализа нагрузок на железную дорогу в разное время года. Технология позволяет наглядно понять, в какие месяцы пассажиры раскупают почти все билеты, а когда спрос падает. Это помогает распределить нагрузку, чтобы пропускная способность ж/д была стабильно высокой, и уменьшить расходы компании</a:t>
                      </a:r>
                    </a:p>
                  </a:txBody>
                  <a:tcPr marL="44547" marR="44547" marT="44547" marB="4454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54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45617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Национальный проект «Экономика данных» и господдержка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0945" y="1692470"/>
            <a:ext cx="8626187" cy="455593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 1 января 2025 года в России стартовал крупный государственный проект по развитию промышленных платформенных решений, технологий искусственного интеллекта, стандартов обмена данными.</a:t>
            </a:r>
          </a:p>
          <a:p>
            <a:pPr marL="0" indent="0" algn="just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Этот новый нацпроект, рассчитанный на 2025-2030 годы, продолжает завершившийся «Цифровая экономика». На его реализацию предусмотрено 1,013 трлн рублей бюджетных средств, 420 млрд рублей внебюджетных инвестиций.</a:t>
            </a:r>
          </a:p>
          <a:p>
            <a:pPr marL="0" indent="0" algn="just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Проект нацелен на трансформацию экономической системы страны путем внедрения передовых цифровых технологий, включая решения на основе ИИ. Его главная задача – повсеместное внедрение управления, основанного на данных, во всех сферах общественной жизни, что позволит вывести на новый уровень логистику, телемедицину, онлайн-образование,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госуслуги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26890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481947"/>
            <a:ext cx="7886700" cy="1325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Национальный проект «Экономика данных» и господдержка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692470"/>
            <a:ext cx="7886700" cy="42727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Основные направления реализации: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089994658"/>
              </p:ext>
            </p:extLst>
          </p:nvPr>
        </p:nvGraphicFramePr>
        <p:xfrm>
          <a:off x="221673" y="2159000"/>
          <a:ext cx="8695459" cy="4491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96720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01838"/>
            <a:ext cx="7886700" cy="13255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2. Технологический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прогресс и доступность беспилотных решений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60</a:t>
            </a:fld>
            <a:endParaRPr lang="ru-RU" dirty="0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594883991"/>
              </p:ext>
            </p:extLst>
          </p:nvPr>
        </p:nvGraphicFramePr>
        <p:xfrm>
          <a:off x="152400" y="2078182"/>
          <a:ext cx="8880764" cy="4627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63425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01839"/>
            <a:ext cx="7886700" cy="667980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Логистика и складское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хозяйство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61</a:t>
            </a:fld>
            <a:endParaRPr lang="ru-RU" dirty="0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89084275"/>
              </p:ext>
            </p:extLst>
          </p:nvPr>
        </p:nvGraphicFramePr>
        <p:xfrm>
          <a:off x="152400" y="1616150"/>
          <a:ext cx="8880764" cy="1454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43344" y="969819"/>
            <a:ext cx="84737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3.1. Автоматизация перемещения материалов и готовой продукции на складе с помощью AGV/AMR (опыт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Amazon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Ocado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43344" y="3173151"/>
            <a:ext cx="74814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Преимущества использования AGV/AMR на складе: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2370681378"/>
              </p:ext>
            </p:extLst>
          </p:nvPr>
        </p:nvGraphicFramePr>
        <p:xfrm>
          <a:off x="36368" y="3542483"/>
          <a:ext cx="8880764" cy="3493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568016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01839"/>
            <a:ext cx="7886700" cy="667980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Логистика и складское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хозяйство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62</a:t>
            </a:fld>
            <a:endParaRPr lang="ru-RU" dirty="0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518941466"/>
              </p:ext>
            </p:extLst>
          </p:nvPr>
        </p:nvGraphicFramePr>
        <p:xfrm>
          <a:off x="152400" y="2078183"/>
          <a:ext cx="8880764" cy="245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43344" y="969819"/>
            <a:ext cx="84737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3.1. Автоматизация перемещения материалов и готовой продукции на складе с помощью AGV/AMR (опыт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Amazon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Ocado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416537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01839"/>
            <a:ext cx="7886700" cy="667980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Логистика и складское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хозяйство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63</a:t>
            </a:fld>
            <a:endParaRPr lang="ru-RU" dirty="0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777187898"/>
              </p:ext>
            </p:extLst>
          </p:nvPr>
        </p:nvGraphicFramePr>
        <p:xfrm>
          <a:off x="152400" y="2078182"/>
          <a:ext cx="8880764" cy="3255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43344" y="969819"/>
            <a:ext cx="84737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3.2. Инвентаризация и контроль запасов с помощью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дронов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(опыт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Walmart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68036" y="1339151"/>
            <a:ext cx="73429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Преимущества использования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дронов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для инвентаризации: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475011745"/>
              </p:ext>
            </p:extLst>
          </p:nvPr>
        </p:nvGraphicFramePr>
        <p:xfrm>
          <a:off x="530800" y="5317838"/>
          <a:ext cx="8298874" cy="1290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809191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01839"/>
            <a:ext cx="7886700" cy="667980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3. Логистика и складское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хозяйство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64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43344" y="969819"/>
            <a:ext cx="84737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4. Контроль качества и техническое обслуживание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43343" y="1350498"/>
            <a:ext cx="84737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4.1. Инспекция инфраструктуры (трубопроводы, электросети, мосты) с помощью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дронов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(опыт энергетических компаний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43344" y="2273828"/>
            <a:ext cx="81603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4.2. Мониторинг производственного оборудования с помощью беспилотных роботов (опыт автомобильных заводов).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30138" y="3371211"/>
            <a:ext cx="23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5. Сельское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хозяйство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0093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15636" y="2163526"/>
            <a:ext cx="8298296" cy="1313966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3600" dirty="0" smtClean="0">
                <a:latin typeface="Times New Roman"/>
              </a:rPr>
              <a:t>Цифровая  </a:t>
            </a:r>
            <a:r>
              <a:rPr lang="ru-RU" sz="3600" dirty="0">
                <a:latin typeface="Times New Roman"/>
              </a:rPr>
              <a:t>революция и Индустрия </a:t>
            </a:r>
            <a:r>
              <a:rPr lang="ru-RU" sz="3600" dirty="0" smtClean="0">
                <a:latin typeface="Times New Roman"/>
              </a:rPr>
              <a:t>4.0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36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58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Промышленные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революции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66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489382699"/>
              </p:ext>
            </p:extLst>
          </p:nvPr>
        </p:nvGraphicFramePr>
        <p:xfrm>
          <a:off x="249381" y="2161307"/>
          <a:ext cx="8714509" cy="2274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56808" y="6356350"/>
            <a:ext cx="2897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Источники: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WEF, Accenture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-92536" y="1699642"/>
            <a:ext cx="10259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Конец</a:t>
            </a:r>
          </a:p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XVII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века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913942" y="1856504"/>
            <a:ext cx="10647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Начало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XX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века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074776" y="1856504"/>
            <a:ext cx="11899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Начало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XXI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века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457950" y="1976641"/>
            <a:ext cx="987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Сегодня</a:t>
            </a:r>
          </a:p>
        </p:txBody>
      </p:sp>
    </p:spTree>
    <p:extLst>
      <p:ext uri="{BB962C8B-B14F-4D97-AF65-F5344CB8AC3E}">
        <p14:creationId xmlns:p14="http://schemas.microsoft.com/office/powerpoint/2010/main" val="176303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Цифровая  революция и Индустрия 4.0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10836" y="6510329"/>
            <a:ext cx="88201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Источник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McKinsey&amp;Company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«How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digital innovation can improve mining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productivity»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26472" y="1748135"/>
            <a:ext cx="7988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Цифровые технологии для повышения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производительности</a:t>
            </a: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720546409"/>
              </p:ext>
            </p:extLst>
          </p:nvPr>
        </p:nvGraphicFramePr>
        <p:xfrm>
          <a:off x="1177637" y="239446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695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64889"/>
            <a:ext cx="8210550" cy="677217"/>
          </a:xfrm>
        </p:spPr>
        <p:txBody>
          <a:bodyPr/>
          <a:lstStyle/>
          <a:p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McKinsey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: Пять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ключевых областей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в горнодобывающей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промышленности с наибольшими эффектами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68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10835" y="6554096"/>
            <a:ext cx="88201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Источник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McKinsey&amp;Company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« How digital innovation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can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improve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mining productivity »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6" t="32765" r="13750" b="16405"/>
          <a:stretch/>
        </p:blipFill>
        <p:spPr bwMode="auto">
          <a:xfrm>
            <a:off x="569680" y="1465697"/>
            <a:ext cx="7902461" cy="476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110835" y="6280310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13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373346"/>
            <a:ext cx="7886700" cy="873563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BCG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: Ключевые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области цифровой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трансформации горнодобывающих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предприятий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69</a:t>
            </a:fld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"/>
          <a:stretch/>
        </p:blipFill>
        <p:spPr bwMode="auto">
          <a:xfrm>
            <a:off x="0" y="1547357"/>
            <a:ext cx="9143999" cy="3966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10835" y="6030595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80106" y="6432710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Источник: анализ с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BCG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3115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126020"/>
            <a:ext cx="7886700" cy="1752674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. Оценка уровня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70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475245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8587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373346"/>
            <a:ext cx="7886700" cy="1752674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. Оценка уровня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Ступени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71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475245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2509" y="1772077"/>
            <a:ext cx="85569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Ступени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– от базового подключения техники до технологий роботизации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114691" y="2701132"/>
            <a:ext cx="53752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Три уровня </a:t>
            </a:r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318709" y="3576890"/>
            <a:ext cx="58969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1. Эффективная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техника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 Умная техника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 Роботизированная техника</a:t>
            </a:r>
          </a:p>
        </p:txBody>
      </p:sp>
    </p:spTree>
    <p:extLst>
      <p:ext uri="{BB962C8B-B14F-4D97-AF65-F5344CB8AC3E}">
        <p14:creationId xmlns:p14="http://schemas.microsoft.com/office/powerpoint/2010/main" val="4906569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Ступени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72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879734"/>
            <a:ext cx="76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1. Эффективная техника </a:t>
            </a:r>
          </a:p>
        </p:txBody>
      </p:sp>
      <p:graphicFrame>
        <p:nvGraphicFramePr>
          <p:cNvPr id="10" name="Схема 9"/>
          <p:cNvGraphicFramePr/>
          <p:nvPr>
            <p:extLst>
              <p:ext uri="{D42A27DB-BD31-4B8C-83A1-F6EECF244321}">
                <p14:modId xmlns:p14="http://schemas.microsoft.com/office/powerpoint/2010/main" val="1223053636"/>
              </p:ext>
            </p:extLst>
          </p:nvPr>
        </p:nvGraphicFramePr>
        <p:xfrm>
          <a:off x="637309" y="1141344"/>
          <a:ext cx="7897091" cy="2627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Схема 11"/>
          <p:cNvGraphicFramePr/>
          <p:nvPr>
            <p:extLst>
              <p:ext uri="{D42A27DB-BD31-4B8C-83A1-F6EECF244321}">
                <p14:modId xmlns:p14="http://schemas.microsoft.com/office/powerpoint/2010/main" val="1991203364"/>
              </p:ext>
            </p:extLst>
          </p:nvPr>
        </p:nvGraphicFramePr>
        <p:xfrm>
          <a:off x="526474" y="3839387"/>
          <a:ext cx="7910944" cy="2641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725439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Ступени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73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7309" y="870987"/>
            <a:ext cx="76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1. Эффективная техника 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0544"/>
              </p:ext>
            </p:extLst>
          </p:nvPr>
        </p:nvGraphicFramePr>
        <p:xfrm>
          <a:off x="180109" y="1479647"/>
          <a:ext cx="878378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927"/>
                <a:gridCol w="2927927"/>
                <a:gridCol w="292792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Самосвалы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Распределение техники,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увеличение объемов добычи текущим парком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+10-12% рост эффективности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Снижение времени простоев, повышение производительности</a:t>
                      </a:r>
                      <a:r>
                        <a:rPr lang="ru-RU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самосвалов, экономия расходных материалов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Экскаваторы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Оптимизация работы и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контроль качества добываемых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ископаемых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+10-12% рост эффективности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Буровые станки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Высокоточное наведение на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скважину, контроль бурения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+10-12% рост эффективности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6362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Ступени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74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7309" y="870987"/>
            <a:ext cx="7620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1. Эффективная техника</a:t>
            </a:r>
          </a:p>
          <a:p>
            <a:pPr algn="ctr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Парк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подключенной тяжелой горной техники в РФ, 2020 г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Parker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Bay</a:t>
            </a:r>
            <a:endParaRPr lang="ru-RU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823319"/>
              </p:ext>
            </p:extLst>
          </p:nvPr>
        </p:nvGraphicFramePr>
        <p:xfrm>
          <a:off x="476250" y="3371738"/>
          <a:ext cx="805815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050"/>
                <a:gridCol w="2686050"/>
                <a:gridCol w="2686050"/>
              </a:tblGrid>
              <a:tr h="689974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Тип техники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Всего в РФ, ед.</a:t>
                      </a:r>
                    </a:p>
                    <a:p>
                      <a:pPr algn="ctr"/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Подключено к</a:t>
                      </a:r>
                    </a:p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системам</a:t>
                      </a:r>
                    </a:p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диспетчеризации</a:t>
                      </a:r>
                    </a:p>
                    <a:p>
                      <a:pPr algn="ctr"/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54447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Самосвалы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5 531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(q</a:t>
                      </a: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н</a:t>
                      </a:r>
                      <a:r>
                        <a:rPr lang="ru-RU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более 90т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ru-RU" sz="1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1 644</a:t>
                      </a:r>
                    </a:p>
                    <a:p>
                      <a:pPr algn="ctr"/>
                      <a:endParaRPr lang="ru-RU" sz="1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Экскаваторы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1 100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327</a:t>
                      </a:r>
                    </a:p>
                    <a:p>
                      <a:pPr algn="ctr"/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Буровые станки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704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208</a:t>
                      </a:r>
                    </a:p>
                    <a:p>
                      <a:pPr algn="ctr"/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098" name="Picture 2" descr="https://parkerbaymining.com/wp-content/uploads/2020/06/parker-bay-company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84" y="1579418"/>
            <a:ext cx="1865975" cy="6303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2460213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Ступени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7309" y="870987"/>
            <a:ext cx="76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2. Умная техника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70908" y="3441728"/>
            <a:ext cx="388620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 помощь приходят технологии </a:t>
            </a:r>
          </a:p>
          <a:p>
            <a:pPr algn="ctr"/>
            <a:endParaRPr lang="ru-RU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искусственного интеллекта и</a:t>
            </a:r>
          </a:p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машинного обучения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382" y="5100628"/>
            <a:ext cx="8695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!!! Когда данные хорошо структурированы, проводить их анализ становится легче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72037270"/>
              </p:ext>
            </p:extLst>
          </p:nvPr>
        </p:nvGraphicFramePr>
        <p:xfrm>
          <a:off x="96981" y="1394207"/>
          <a:ext cx="8847859" cy="1847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9586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Ступени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7309" y="801712"/>
            <a:ext cx="76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2. Умная техника </a:t>
            </a: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789713"/>
              </p:ext>
            </p:extLst>
          </p:nvPr>
        </p:nvGraphicFramePr>
        <p:xfrm>
          <a:off x="96984" y="1341580"/>
          <a:ext cx="892232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187"/>
                <a:gridCol w="3011811"/>
                <a:gridCol w="4350327"/>
              </a:tblGrid>
              <a:tr h="1401618">
                <a:tc rowSpan="2"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Самосвал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Сервисы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на базе продвинутой аналитики, </a:t>
                      </a:r>
                      <a:r>
                        <a:rPr lang="ru-RU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помогают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выбрать минимальный маршрут для движения техники, обеспечивают контроль состояния водителей и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дорог, предиктивная диагностика шин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+3-5% рост эффективности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Анализ исторических данных о поломках дает возможность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Прогнозировать отказ тех</a:t>
                      </a:r>
                      <a:r>
                        <a:rPr lang="ru-RU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или иных узлов и оборудования, чтобы перейти от плановых ремонтов к ремонту по состоянию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Экскаваторы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Видеоаналитика</a:t>
                      </a:r>
                      <a:r>
                        <a:rPr lang="ru-RU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ИИ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 (распознавание видеопотока и</a:t>
                      </a:r>
                      <a:r>
                        <a:rPr lang="ru-RU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генерация сигналов  о поломке зубьев экскаватора 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Контроль состояния зубьев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ковша экскаватора, </a:t>
                      </a:r>
                    </a:p>
                    <a:p>
                      <a:r>
                        <a:rPr lang="ru-RU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гранулометрия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+3-5% рост эффективности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Буровые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станки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Видеоаналитика</a:t>
                      </a:r>
                      <a:r>
                        <a:rPr lang="ru-RU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ru-RU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ИИ </a:t>
                      </a:r>
                      <a:r>
                        <a:rPr lang="ru-RU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(п</a:t>
                      </a: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опадание негабаритного куска породы )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Анализ пласта, предсказание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качества горной породы</a:t>
                      </a:r>
                    </a:p>
                    <a:p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+3-5% рост эффективности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7745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276364"/>
            <a:ext cx="7886700" cy="873563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Ступени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77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7309" y="801712"/>
            <a:ext cx="76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. Роботизированная техника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325601"/>
              </p:ext>
            </p:extLst>
          </p:nvPr>
        </p:nvGraphicFramePr>
        <p:xfrm>
          <a:off x="401781" y="1397000"/>
          <a:ext cx="839066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887"/>
                <a:gridCol w="2796887"/>
                <a:gridCol w="279688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Самосвалы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Роботизированная беспилотная</a:t>
                      </a:r>
                    </a:p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горно-транспортная техника</a:t>
                      </a:r>
                    </a:p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+15-20% рост эффективности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Большее время полезной работы, существенное снижение расходных материалов (топливо, электричество)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Экскаваторы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Роботизированная беспилотная</a:t>
                      </a:r>
                    </a:p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горно-транспортная техника</a:t>
                      </a:r>
                    </a:p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+15-20% рост эффективности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Буровые</a:t>
                      </a:r>
                    </a:p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станки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Роботизированный</a:t>
                      </a:r>
                    </a:p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буровой станок</a:t>
                      </a:r>
                    </a:p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+15-20% рост эффективности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2611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78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7309" y="2394985"/>
            <a:ext cx="76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Текущая ступень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2503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Определение текущей ступени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79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14745" y="1302327"/>
            <a:ext cx="874221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анализа готовности к цифровой трансформации отраслей ТЭК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разработана комплексная методология EY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т.ч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учитывающая ограничения законодательной и нормативно-правовой базы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14745" y="2396943"/>
            <a:ext cx="87422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– провести расчет интегрального показателя уровня готовности к цифровой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трансформации,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уровень цифровой готовности (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Readliness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Level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отражающего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уровень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компаний и определить базис для цифровой трансформации отрасли</a:t>
            </a:r>
          </a:p>
        </p:txBody>
      </p:sp>
    </p:spTree>
    <p:extLst>
      <p:ext uri="{BB962C8B-B14F-4D97-AF65-F5344CB8AC3E}">
        <p14:creationId xmlns:p14="http://schemas.microsoft.com/office/powerpoint/2010/main" val="36069871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Определение текущей ступени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80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1661137591"/>
              </p:ext>
            </p:extLst>
          </p:nvPr>
        </p:nvGraphicFramePr>
        <p:xfrm>
          <a:off x="333829" y="1898073"/>
          <a:ext cx="8490857" cy="47492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519546" y="850052"/>
            <a:ext cx="84304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Аудиторско-консалтинговая компания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Ernst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Young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(EY)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оценила степень готовности к цифровой трансформации и уровень ее использования, опросив руководителей более чем 3800 компаний в 44 странах мира.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Направления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исследования в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рамках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методологии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1481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Определение текущей ступени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81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633973750"/>
              </p:ext>
            </p:extLst>
          </p:nvPr>
        </p:nvGraphicFramePr>
        <p:xfrm>
          <a:off x="333829" y="845127"/>
          <a:ext cx="8490857" cy="5635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73859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Определение текущей ступени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82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19546" y="850052"/>
            <a:ext cx="843049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Аудиторско-консалтинговая компания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Ernst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Young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(EY)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оценила степень готовности к цифровой трансформации и уровень ее использования, опросив руководителей более чем 3800 компаний в 44 странах мира.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Определяется уровень 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Базовый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Развивающийся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Развитый 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Продвинутый 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Передовой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Формируются рекомендации</a:t>
            </a:r>
          </a:p>
          <a:p>
            <a:pPr algn="ctr"/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Выявляются сильные стороны и барьеры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9380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Определение текущей ступени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83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13509" y="2969798"/>
            <a:ext cx="84304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Другие методологии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8288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Определение текущей ступени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84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4800" y="845127"/>
            <a:ext cx="8589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Примеры методологий для определения уровня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2" t="29924" r="3101" b="8152"/>
          <a:stretch/>
        </p:blipFill>
        <p:spPr bwMode="auto">
          <a:xfrm>
            <a:off x="0" y="1427018"/>
            <a:ext cx="9145529" cy="437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7443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Определение текущей ступени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4800" y="900547"/>
            <a:ext cx="85898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Области для оценки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уровня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рамках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обследования/внедрения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51165" y="2413338"/>
            <a:ext cx="763385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ИНФРАСТРУКТУРА 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качество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покрытия производственной площадки сетями связи, требования к серверным мощностям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КАДРЫ 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КОМПЕТЕНЦИИ 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производственная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дирекция, IT-блок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ОРГАНИЗАЦИОННАЯ 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КУЛЬТУРА КОМПАНИИ IT И ИНТЕГРАЦИЯ 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аудит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смежных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21300904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3. Современные подходы и тренды по разработке и актуализации стратегии цифровой трансформации производственных процессов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00811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Портфель инициатив ЦТ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87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07818" y="847684"/>
            <a:ext cx="87422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Популярность решений в области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 подтвержденным эффектом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480827"/>
              </p:ext>
            </p:extLst>
          </p:nvPr>
        </p:nvGraphicFramePr>
        <p:xfrm>
          <a:off x="540327" y="1473249"/>
          <a:ext cx="8215746" cy="47548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107873"/>
                <a:gridCol w="410787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Позиционирование, умные системы управления транспортом </a:t>
                      </a:r>
                      <a:endParaRPr lang="ru-RU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42%</a:t>
                      </a:r>
                      <a:endParaRPr lang="ru-RU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Подсказчики</a:t>
                      </a:r>
                    </a:p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оптимизаторы</a:t>
                      </a:r>
                      <a:endParaRPr lang="ru-RU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41%</a:t>
                      </a:r>
                      <a:endParaRPr lang="ru-RU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Диспетчерские</a:t>
                      </a:r>
                    </a:p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или удаленные центры</a:t>
                      </a:r>
                      <a:endParaRPr lang="ru-RU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41%</a:t>
                      </a:r>
                      <a:endParaRPr lang="ru-RU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Прочие технологии,</a:t>
                      </a:r>
                    </a:p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такие как </a:t>
                      </a:r>
                      <a:r>
                        <a:rPr lang="ru-RU" sz="2400" b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BIMмоделирование</a:t>
                      </a:r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</a:p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3D-печать, AR/VR,</a:t>
                      </a:r>
                    </a:p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роботизация и т.д.</a:t>
                      </a:r>
                      <a:endParaRPr lang="ru-RU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dirty="0" smtClean="0">
                          <a:latin typeface="Times New Roman" pitchFamily="18" charset="0"/>
                          <a:cs typeface="Times New Roman" pitchFamily="18" charset="0"/>
                        </a:rPr>
                        <a:t>27% и менее</a:t>
                      </a:r>
                      <a:endParaRPr lang="ru-RU" sz="2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3707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Портфель инициатив ЦТ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88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07818" y="847684"/>
            <a:ext cx="87422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Зарождающиеся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технологии также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встречают интерес со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стороны крупных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игроков индустрии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02218"/>
              </p:ext>
            </p:extLst>
          </p:nvPr>
        </p:nvGraphicFramePr>
        <p:xfrm>
          <a:off x="540327" y="1725818"/>
          <a:ext cx="8215746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7873"/>
                <a:gridCol w="410787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Успешные реализации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ЦТ отличает сбалансированный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подход к выстраиванию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портфеля инициатив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Какие зарождающиеся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технологии популярны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у международных компаний?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Фокусироваться на зрелых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технологиях с доказанным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эффектом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1. Предиктивное </a:t>
                      </a:r>
                      <a:r>
                        <a:rPr lang="ru-RU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ТОиР</a:t>
                      </a: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2. </a:t>
                      </a:r>
                      <a:r>
                        <a:rPr lang="ru-RU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Цифровизация</a:t>
                      </a:r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логистики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/ S&amp;OP функции;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3. Цифровые решения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в </a:t>
                      </a:r>
                      <a:r>
                        <a:rPr lang="ru-RU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ОТиПБ</a:t>
                      </a:r>
                      <a:endParaRPr lang="ru-RU" sz="24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4. 3D-печать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5. Робототехника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6. AR/VR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Не исключать из внимания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зарождающиеся технологии,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инвестировать в случае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кейсов с подтверждением</a:t>
                      </a:r>
                    </a:p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эффекта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8270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1122945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Старт программ ЦТ предприятия</a:t>
            </a:r>
            <a:br>
              <a:rPr lang="ru-RU" sz="4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Что необходимо?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89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4692" y="1399309"/>
            <a:ext cx="87422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Для 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программ </a:t>
            </a:r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ЦТ необходима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зрелая техническая</a:t>
            </a:r>
          </a:p>
          <a:p>
            <a:pPr algn="ctr"/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ИТ-инфраструктура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1" y="2715491"/>
            <a:ext cx="8077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Это:</a:t>
            </a: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Достаточность датчиков</a:t>
            </a: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Готовность АСУТП</a:t>
            </a: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Готовность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MES</a:t>
            </a: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 работе оптимизаторов и прочих цифровых продуктов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0394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Старт программ ЦТ предприятия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Что необходимо?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90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4692" y="1789793"/>
            <a:ext cx="87422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Проблемные зоны, связанные с ограничениями</a:t>
            </a:r>
          </a:p>
          <a:p>
            <a:pPr algn="ctr"/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поставках инфраструктуры для </a:t>
            </a:r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цифровизации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05740" y="2858777"/>
            <a:ext cx="2331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Горное оборудование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870835" y="2858777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55%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935812" y="3429000"/>
            <a:ext cx="2750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АСУТП, АСУГР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863907" y="3255818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45%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35812" y="4089461"/>
            <a:ext cx="2114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ERP, MES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856981" y="3904795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24%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010132" y="4768334"/>
            <a:ext cx="912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Прочее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829272" y="4458793"/>
            <a:ext cx="737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&lt;23%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000486" y="5138180"/>
            <a:ext cx="68370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включая оборудование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/LTE, системы хранения</a:t>
            </a:r>
          </a:p>
          <a:p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данных, ПО для подсказчиков и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т.д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14178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АСУТП АСУГР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91</a:t>
            </a:fld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628649" y="2217323"/>
            <a:ext cx="75870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АСУТП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автоматизированные системы управления технологическими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процессами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АСУГР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автоматизированные системы управления горными работами. </a:t>
            </a:r>
          </a:p>
        </p:txBody>
      </p:sp>
    </p:spTree>
    <p:extLst>
      <p:ext uri="{BB962C8B-B14F-4D97-AF65-F5344CB8AC3E}">
        <p14:creationId xmlns:p14="http://schemas.microsoft.com/office/powerpoint/2010/main" val="18250026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ERP MES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92</a:t>
            </a:fld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628648" y="1773977"/>
            <a:ext cx="790575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ERP (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Enterprise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Resource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Planning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и MES (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Manufacturing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Execution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системы для управления разными аспектами деятельности предприятия.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Они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решают разные задачи, но при этом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взаимодополняемы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173011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ERP MES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93</a:t>
            </a:fld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90945" y="1593868"/>
            <a:ext cx="856210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ERP (</a:t>
            </a:r>
            <a:r>
              <a:rPr lang="ru-RU" sz="2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Enterprise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Resource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Planning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Корпоративная система для управления ресурсами, логистикой, финансами, закупками и взаимодействием с контрагентами. 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Отвечает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за стратегическое планирование и учёт, включая расчёт себестоимости и управление цепочками поставок.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112499" y="3359859"/>
            <a:ext cx="34810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Некоторые функции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ERP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818247206"/>
              </p:ext>
            </p:extLst>
          </p:nvPr>
        </p:nvGraphicFramePr>
        <p:xfrm>
          <a:off x="96982" y="3821524"/>
          <a:ext cx="8894617" cy="2770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1747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94</a:t>
            </a:fld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90945" y="1593868"/>
            <a:ext cx="856210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MES (</a:t>
            </a:r>
            <a:r>
              <a:rPr lang="ru-RU" sz="2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Manufacturing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Execution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Система, работающая внутри производственного контура. Управляет исполнением производственных процессов: от запуска смены до учёта брака и отклонений. Обеспечивает детальный контроль на уровне участков и станков.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112499" y="3359859"/>
            <a:ext cx="35500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Некоторые функции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MES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108644991"/>
              </p:ext>
            </p:extLst>
          </p:nvPr>
        </p:nvGraphicFramePr>
        <p:xfrm>
          <a:off x="96982" y="3821524"/>
          <a:ext cx="8894617" cy="2770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68518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95</a:t>
            </a:fld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90945" y="1829395"/>
            <a:ext cx="856210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Особенности: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MES реагирует на изменения в производственном процессе практически мгновенно, обеспечивает полную видимость всех этапов производства. </a:t>
            </a:r>
          </a:p>
          <a:p>
            <a:pPr algn="just"/>
            <a:endParaRPr lang="ru-RU" sz="2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Интеграция</a:t>
            </a:r>
            <a:r>
              <a: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MES получает план производства из ERP, а затем возвращает информацию о фактическом исполнении: статус заказа, потери, изменения сроков. Это позволяет корректировать планы на основе живых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2364615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ая выноска 15"/>
          <p:cNvSpPr/>
          <p:nvPr/>
        </p:nvSpPr>
        <p:spPr>
          <a:xfrm>
            <a:off x="401782" y="2399393"/>
            <a:ext cx="8118764" cy="1604571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034" y="1452527"/>
            <a:ext cx="8490239" cy="122140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При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планировании 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ЦТ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важно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продумать каналы 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поставок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необходимого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оборудования и ПО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0055" y="2509179"/>
            <a:ext cx="874221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Эффективный подход</a:t>
            </a:r>
          </a:p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к развитию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инфраструктуры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-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параллельное наращивание с проектами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ЦТ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41217" y="4255992"/>
            <a:ext cx="7072747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Инфраструктура для цифровой трансформации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включает: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Сети передачи данных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Серверные мощности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Оснащенность процессов КИП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уровня АСУТП/АСУГР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MES и ERP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Корпоративное хранилище данных,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lake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1085847" y="129088"/>
            <a:ext cx="75593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Старт программ ЦТ предприятия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Что необходимо?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093767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КИП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97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4692" y="1194047"/>
            <a:ext cx="874221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Оснащённость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процессов контрольно-измерительными приборами (</a:t>
            </a:r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КИПиА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это использование устройств и систем для измерения, контроля, регулирования и автоматизации технологических операций в промышленности.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КИПиА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обеспечивают точность, надёжность и безопасность работы оборудования, контролируя различные параметры процессов: температуру, давление, расход, уровень, химический состав и другие. </a:t>
            </a:r>
            <a:r>
              <a:rPr lang="ru-RU" sz="2800" dirty="0">
                <a:latin typeface="Times New Roman" pitchFamily="18" charset="0"/>
                <a:cs typeface="Times New Roman" pitchFamily="18" charset="0"/>
                <a:hlinkClick r:id="rId2"/>
              </a:rPr>
              <a:t/>
            </a:r>
            <a:br>
              <a:rPr lang="ru-RU" sz="2800" dirty="0">
                <a:latin typeface="Times New Roman" pitchFamily="18" charset="0"/>
                <a:cs typeface="Times New Roman" pitchFamily="18" charset="0"/>
                <a:hlinkClick r:id="rId2"/>
              </a:rPr>
            </a:b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8510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КИП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98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08219" y="845127"/>
            <a:ext cx="26462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Виды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КИПиА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107300310"/>
              </p:ext>
            </p:extLst>
          </p:nvPr>
        </p:nvGraphicFramePr>
        <p:xfrm>
          <a:off x="609599" y="1368347"/>
          <a:ext cx="8007927" cy="4990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713012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568763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Data Lake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99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7201" y="1510146"/>
            <a:ext cx="786938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Lake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(«озеро данных»)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централизованное хранилище, в котором можно сохранять структурированные,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полуструктурированные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и неструктурированные данные в исходном виде. В отличие от традиционных баз данных,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Lake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не требует заранее определённой структуры или схемы для поступающих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31923538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432018"/>
            <a:ext cx="8238259" cy="568763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Data Lake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100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7201" y="1000781"/>
            <a:ext cx="7869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Особенности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223383671"/>
              </p:ext>
            </p:extLst>
          </p:nvPr>
        </p:nvGraphicFramePr>
        <p:xfrm>
          <a:off x="457201" y="2072621"/>
          <a:ext cx="8174181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63739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49" y="348890"/>
            <a:ext cx="8238259" cy="568763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Data Lake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77633" y="917653"/>
            <a:ext cx="7869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Принцип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работы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665665031"/>
              </p:ext>
            </p:extLst>
          </p:nvPr>
        </p:nvGraphicFramePr>
        <p:xfrm>
          <a:off x="484908" y="2764312"/>
          <a:ext cx="8174181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93964" y="1440873"/>
            <a:ext cx="87560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Данные поступают из разных источников: CRM-систем,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камер видеонаблюдения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датчиков и товарных каталогов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ctr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Пример работы 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 примере мониторинга работы производственного оборудования): </a:t>
            </a:r>
          </a:p>
        </p:txBody>
      </p:sp>
    </p:spTree>
    <p:extLst>
      <p:ext uri="{BB962C8B-B14F-4D97-AF65-F5344CB8AC3E}">
        <p14:creationId xmlns:p14="http://schemas.microsoft.com/office/powerpoint/2010/main" val="41176669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49" y="348890"/>
            <a:ext cx="8238259" cy="568763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Data Lake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77633" y="917653"/>
            <a:ext cx="7869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Компоненты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45142739"/>
              </p:ext>
            </p:extLst>
          </p:nvPr>
        </p:nvGraphicFramePr>
        <p:xfrm>
          <a:off x="138545" y="1475840"/>
          <a:ext cx="8908469" cy="5174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515838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49" y="348890"/>
            <a:ext cx="8238259" cy="568763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Data Lake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103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77633" y="917653"/>
            <a:ext cx="7869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Технологии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26473" y="1792345"/>
            <a:ext cx="784167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Для реализации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Lake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часто используют 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облачные технологии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хранить такие огромные и разнообразные массивы данных локально бывает сложно и дорого.</a:t>
            </a:r>
          </a:p>
        </p:txBody>
      </p:sp>
    </p:spTree>
    <p:extLst>
      <p:ext uri="{BB962C8B-B14F-4D97-AF65-F5344CB8AC3E}">
        <p14:creationId xmlns:p14="http://schemas.microsoft.com/office/powerpoint/2010/main" val="222474053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49" y="348890"/>
            <a:ext cx="8238259" cy="568763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Data Lake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104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77633" y="889944"/>
            <a:ext cx="7869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Применение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46364" y="1413164"/>
            <a:ext cx="85205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Lake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подходит для хранения и дальнейшей обработки больших объёмов данных. Некоторые сценарии использования: </a:t>
            </a: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061557923"/>
              </p:ext>
            </p:extLst>
          </p:nvPr>
        </p:nvGraphicFramePr>
        <p:xfrm>
          <a:off x="346364" y="2798158"/>
          <a:ext cx="8520542" cy="3895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22098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49" y="348890"/>
            <a:ext cx="8238259" cy="568763"/>
          </a:xfrm>
        </p:spPr>
        <p:txBody>
          <a:bodyPr/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CRM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105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46364" y="1413164"/>
            <a:ext cx="852054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Customer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Relationship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(CRM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анг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., 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«управление взаимоотношениями с клиентами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pPr indent="457200"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Инструмент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представляет собой программное обеспечение, помогающее автоматизировать процессы взаимодействия с заказчиками.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2465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49" y="348890"/>
            <a:ext cx="8238259" cy="568763"/>
          </a:xfrm>
        </p:spPr>
        <p:txBody>
          <a:bodyPr/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CRM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106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71054" y="936110"/>
            <a:ext cx="85205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CRM называют кровеносной системой организации.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Такое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 может: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900370206"/>
              </p:ext>
            </p:extLst>
          </p:nvPr>
        </p:nvGraphicFramePr>
        <p:xfrm>
          <a:off x="207818" y="1890217"/>
          <a:ext cx="8783778" cy="4955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95601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106752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Старт программ ЦТ предприятия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Что необходимо?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107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1781" y="1484993"/>
            <a:ext cx="87422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Для старта программы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ЦТ нужна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готовность как организации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21673" y="2315990"/>
            <a:ext cx="87283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Что необходимо сделать для обеспечения готовности организации к старту ЦТ</a:t>
            </a: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4169863908"/>
              </p:ext>
            </p:extLst>
          </p:nvPr>
        </p:nvGraphicFramePr>
        <p:xfrm>
          <a:off x="374072" y="3163473"/>
          <a:ext cx="8326583" cy="3555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737198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5"/>
            <a:ext cx="8238259" cy="679600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Stage-Gate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108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01782" y="1282652"/>
            <a:ext cx="8534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Stage-Gate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модель управления проектами, которая разделяет жизненный цикл проекта на отдельные этапы с чётко определёнными результатами и точками принятия решений. 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Цель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Stage-Gate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разбить сложный и хаотичный процесс реализации идеи от её зарождения до запуска нового продукта на простые и понятные этапы. Модель охватывает предварительную деятельность до разработки, а также сам процесс разработки и следующую за этим коммерциализацию.</a:t>
            </a:r>
          </a:p>
        </p:txBody>
      </p:sp>
    </p:spTree>
    <p:extLst>
      <p:ext uri="{BB962C8B-B14F-4D97-AF65-F5344CB8AC3E}">
        <p14:creationId xmlns:p14="http://schemas.microsoft.com/office/powerpoint/2010/main" val="173301301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1995" y="442620"/>
            <a:ext cx="8238259" cy="679600"/>
          </a:xfrm>
        </p:spPr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PMO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109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01782" y="1367049"/>
            <a:ext cx="85759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Структурированный PMO (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проектный офис, который стандартизирует процессы управления проектами в компании, координирует работу всех заинтересованных сторон и обеспечивает согласованность решений.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Цель 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наладить эффективное управление проектами, при этом конкретный набор задач зависит от стратегии и текущих приоритетов компании.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5303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5"/>
            <a:ext cx="8238259" cy="679600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Навыки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Agile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110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01782" y="1367049"/>
            <a:ext cx="85759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Навыки, связанные с методологией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Agile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включают компетенции, необходимые для работы в условиях гибкости, адаптивности и сотрудничества.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1037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0" y="276364"/>
            <a:ext cx="8238259" cy="1067527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Старт программ ЦТ предприятия</a:t>
            </a:r>
            <a:br>
              <a:rPr lang="ru-RU" sz="4000" dirty="0">
                <a:latin typeface="Times New Roman" pitchFamily="18" charset="0"/>
                <a:cs typeface="Times New Roman" pitchFamily="18" charset="0"/>
              </a:rPr>
            </a:b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Что необходимо?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111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591907"/>
            <a:ext cx="85344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 smtClean="0">
                <a:latin typeface="Times New Roman" pitchFamily="18" charset="0"/>
                <a:cs typeface="Times New Roman" pitchFamily="18" charset="0"/>
              </a:rPr>
              <a:t>Информация с сайта: 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://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www.zyfra.com</a:t>
            </a:r>
            <a:endParaRPr lang="ru-RU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1781" y="1484993"/>
            <a:ext cx="87422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Для старта программы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ЦТ нужна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готовность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так и культуры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компании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21673" y="2315990"/>
            <a:ext cx="87283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Инструменты трансформации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культуры управления на основе данных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2381559878"/>
              </p:ext>
            </p:extLst>
          </p:nvPr>
        </p:nvGraphicFramePr>
        <p:xfrm>
          <a:off x="422562" y="3163473"/>
          <a:ext cx="8326583" cy="3555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554017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551220"/>
            <a:ext cx="7886700" cy="792672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Бенчмаркинг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-анализ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9491" y="1346108"/>
            <a:ext cx="8229599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Бенчмаркинг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-анализ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– это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возможность посмотреть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 другие компании,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которые сделали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аналогичные инвестиции, чтобы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понять преимущества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 скрытые затраты, 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также выявить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новые потенциальные эффекты.</a:t>
            </a:r>
          </a:p>
          <a:p>
            <a:pPr marL="0" indent="0" algn="just"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Такой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обмен опытом </a:t>
            </a:r>
            <a:r>
              <a:rPr lang="ru-RU">
                <a:latin typeface="Times New Roman" pitchFamily="18" charset="0"/>
                <a:cs typeface="Times New Roman" pitchFamily="18" charset="0"/>
              </a:rPr>
              <a:t>помогает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придерживаться поэтапного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итеративного подхода к </a:t>
            </a:r>
            <a:r>
              <a:rPr lang="ru-RU">
                <a:latin typeface="Times New Roman" pitchFamily="18" charset="0"/>
                <a:cs typeface="Times New Roman" pitchFamily="18" charset="0"/>
              </a:rPr>
              <a:t>инвестициям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, чтобы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обеспечить </a:t>
            </a:r>
            <a:r>
              <a:rPr lang="ru-RU">
                <a:latin typeface="Times New Roman" pitchFamily="18" charset="0"/>
                <a:cs typeface="Times New Roman" pitchFamily="18" charset="0"/>
              </a:rPr>
              <a:t>соответствие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бизнес-целям компании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6697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7167</TotalTime>
  <Words>7664</Words>
  <Application>Microsoft Office PowerPoint</Application>
  <PresentationFormat>Экран (4:3)</PresentationFormat>
  <Paragraphs>1000</Paragraphs>
  <Slides>113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113</vt:i4>
      </vt:variant>
    </vt:vector>
  </HeadingPairs>
  <TitlesOfParts>
    <vt:vector size="115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Обзор успешных практик по трансформации производственных процессов на основе беспилотных технологий. Цифровая трансформация и Индустрия 4.0</vt:lpstr>
      <vt:lpstr>План лекции</vt:lpstr>
      <vt:lpstr>1. Конкуренция и необходимость повышения эффективности производства</vt:lpstr>
      <vt:lpstr>1. Конкуренция и необходимость повышения эффективности производства</vt:lpstr>
      <vt:lpstr>1. Конкуренция и необходимость повышения эффективности производства</vt:lpstr>
      <vt:lpstr>1. Конкуренция и необходимость повышения эффективности производства</vt:lpstr>
      <vt:lpstr>1. Конкуренция и необходимость повышения эффективности производства</vt:lpstr>
      <vt:lpstr>1. Конкуренция и необходимость повышения эффективности производства</vt:lpstr>
      <vt:lpstr>Примеры</vt:lpstr>
      <vt:lpstr>1. Конкуренция и необходимость повышения эффективности производства</vt:lpstr>
      <vt:lpstr>1. Конкуренция и необходимость повышения эффективности производства</vt:lpstr>
      <vt:lpstr>1. Конкуренция и необходимость повышения эффективности производства</vt:lpstr>
      <vt:lpstr>Цифровые технологии для автоматизации производственных процессов</vt:lpstr>
      <vt:lpstr>3. Классификация технологий цифровой трансформации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 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 (по принципу действия и назначению)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</vt:lpstr>
      <vt:lpstr>Классификация технологий цифровой трансформации </vt:lpstr>
      <vt:lpstr>Классификация технологий цифровой трансформации (по принципу действия и назначению)</vt:lpstr>
      <vt:lpstr>Национальный проект «Экономика данных» и господдержка</vt:lpstr>
      <vt:lpstr>Национальный проект «Экономика данных» и господдержка</vt:lpstr>
      <vt:lpstr>2. Технологический прогресс и доступность беспилотных решений</vt:lpstr>
      <vt:lpstr>3. Логистика и складское хозяйство</vt:lpstr>
      <vt:lpstr>3. Логистика и складское хозяйство</vt:lpstr>
      <vt:lpstr>3. Логистика и складское хозяйство</vt:lpstr>
      <vt:lpstr>3. Логистика и складское хозяйство</vt:lpstr>
      <vt:lpstr>Презентация PowerPoint</vt:lpstr>
      <vt:lpstr>1. Промышленные революции</vt:lpstr>
      <vt:lpstr>1. Цифровая  революция и Индустрия 4.0</vt:lpstr>
      <vt:lpstr>McKinsey: Пять ключевых областей цифровизации в горнодобывающей промышленности с наибольшими эффектами</vt:lpstr>
      <vt:lpstr>BCG: Ключевые области цифровой трансформации горнодобывающих предприятий</vt:lpstr>
      <vt:lpstr>2. Оценка уровня цифровизации          </vt:lpstr>
      <vt:lpstr>2. Оценка уровня цифровизации          Ступени цифровизации</vt:lpstr>
      <vt:lpstr>Ступени цифровизации</vt:lpstr>
      <vt:lpstr>Ступени цифровизации</vt:lpstr>
      <vt:lpstr>Ступени цифровизации</vt:lpstr>
      <vt:lpstr>Ступени цифровизации</vt:lpstr>
      <vt:lpstr>Ступени цифровизации</vt:lpstr>
      <vt:lpstr>Ступени цифровизации</vt:lpstr>
      <vt:lpstr>Презентация PowerPoint</vt:lpstr>
      <vt:lpstr>Определение текущей ступени цифровизации</vt:lpstr>
      <vt:lpstr>Определение текущей ступени цифровизации</vt:lpstr>
      <vt:lpstr>Определение текущей ступени цифровизации</vt:lpstr>
      <vt:lpstr>Определение текущей ступени цифровизации</vt:lpstr>
      <vt:lpstr>Определение текущей ступени цифровизации</vt:lpstr>
      <vt:lpstr>Определение текущей ступени цифровизации</vt:lpstr>
      <vt:lpstr>Определение текущей ступени цифровизации</vt:lpstr>
      <vt:lpstr>3. Современные подходы и тренды по разработке и актуализации стратегии цифровой трансформации производственных процессов </vt:lpstr>
      <vt:lpstr>Портфель инициатив ЦТ</vt:lpstr>
      <vt:lpstr>Портфель инициатив ЦТ</vt:lpstr>
      <vt:lpstr>Старт программ ЦТ предприятия Что необходимо?</vt:lpstr>
      <vt:lpstr>Старт программ ЦТ предприятия Что необходимо?</vt:lpstr>
      <vt:lpstr>АСУТП АСУГР</vt:lpstr>
      <vt:lpstr>ERP MES</vt:lpstr>
      <vt:lpstr>ERP MES</vt:lpstr>
      <vt:lpstr>MES</vt:lpstr>
      <vt:lpstr>MES</vt:lpstr>
      <vt:lpstr>2. При планировании ЦТ важно продумать каналы поставок необходимого оборудования и ПО</vt:lpstr>
      <vt:lpstr>КИП</vt:lpstr>
      <vt:lpstr>КИП</vt:lpstr>
      <vt:lpstr>Data Lake </vt:lpstr>
      <vt:lpstr>Data Lake </vt:lpstr>
      <vt:lpstr>Data Lake </vt:lpstr>
      <vt:lpstr>Data Lake </vt:lpstr>
      <vt:lpstr>Data Lake </vt:lpstr>
      <vt:lpstr>Data Lake </vt:lpstr>
      <vt:lpstr>CRM</vt:lpstr>
      <vt:lpstr>CRM</vt:lpstr>
      <vt:lpstr>Старт программ ЦТ предприятия Что необходимо?</vt:lpstr>
      <vt:lpstr>Stage-Gate</vt:lpstr>
      <vt:lpstr>PMO </vt:lpstr>
      <vt:lpstr>Навыки Agile </vt:lpstr>
      <vt:lpstr>Старт программ ЦТ предприятия Что необходимо?</vt:lpstr>
      <vt:lpstr>Бенчмаркинг-анализ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425</cp:revision>
  <dcterms:created xsi:type="dcterms:W3CDTF">2015-07-29T11:14:37Z</dcterms:created>
  <dcterms:modified xsi:type="dcterms:W3CDTF">2026-06-26T20:52:13Z</dcterms:modified>
</cp:coreProperties>
</file>