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39"/>
  </p:notesMasterIdLst>
  <p:sldIdLst>
    <p:sldId id="325" r:id="rId3"/>
    <p:sldId id="293" r:id="rId4"/>
    <p:sldId id="294" r:id="rId5"/>
    <p:sldId id="326" r:id="rId6"/>
    <p:sldId id="344" r:id="rId7"/>
    <p:sldId id="327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28" r:id="rId18"/>
    <p:sldId id="329" r:id="rId19"/>
    <p:sldId id="354" r:id="rId20"/>
    <p:sldId id="330" r:id="rId21"/>
    <p:sldId id="331" r:id="rId22"/>
    <p:sldId id="333" r:id="rId23"/>
    <p:sldId id="334" r:id="rId24"/>
    <p:sldId id="335" r:id="rId25"/>
    <p:sldId id="336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55" r:id="rId34"/>
    <p:sldId id="356" r:id="rId35"/>
    <p:sldId id="357" r:id="rId36"/>
    <p:sldId id="358" r:id="rId37"/>
    <p:sldId id="264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8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BCD53B-3880-4A8B-B8CA-A6AB003C13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CDEE078-4964-45FF-A083-C3247EC4C376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Повышение эффективности использования транспорта: оптимизация маршрутов, сокращение времени простоя, увеличение количества рейсов.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5E28511-7501-49C8-959B-B1036A4215D5}" type="parTrans" cxnId="{D4DFCAB8-742C-4238-B92A-D61680B6D74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203919A-34CE-49A2-86FD-BE119014B954}" type="sibTrans" cxnId="{D4DFCAB8-742C-4238-B92A-D61680B6D74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6F99D2D-D195-46AC-8474-BF4979765327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Снижение операционных затрат: сокращение расхода топлива, оптимизация технического обслуживания и ремонта, снижение затрат на персонал.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8630C39-D617-4A05-8429-5B900D9D356C}" type="parTrans" cxnId="{E9616B04-3E74-4C90-8997-E79498A950C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68571D5-C6C8-4BF9-81D5-89EC7CEDCD6A}" type="sibTrans" cxnId="{E9616B04-3E74-4C90-8997-E79498A950C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BB7A6E6-15A1-490E-AC06-0B15987C53ED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Повышение безопасности работ: контроль скорости, предотвращение перегрузок, мониторинг технического состояния техники.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5629190-DCFE-4D72-A73F-85EB39C26399}" type="parTrans" cxnId="{E3AC3843-124E-4E3C-9002-51BB4B8556A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40FC394-BF13-4D3C-87A2-F998A32784AE}" type="sibTrans" cxnId="{E3AC3843-124E-4E3C-9002-51BB4B8556A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313DFC9-5FE1-419B-81B9-581B7A1DA75C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Улучшение управления и контроля: сбор данных в режиме реального времени, принятие обоснованных решений, оптимизация планирования.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31D3F82-1661-4734-B872-75F2A9DA2355}" type="parTrans" cxnId="{AA8C63D6-9928-4450-8153-A2E9B67E4AB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0C890C5-475A-4C0B-A2DD-D330FD4FAA94}" type="sibTrans" cxnId="{AA8C63D6-9928-4450-8153-A2E9B67E4AB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5C44E89-6307-413C-A31E-BC0033D5CC0E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Сокращение времени реагирования на внештатные ситуации.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5B12EC7-A022-403B-A541-747D1123EF7E}" type="parTrans" cxnId="{F99DB727-C370-4C2E-9849-AC8F6658581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E5B50A1-CE03-4BDD-B063-418466CE3605}" type="sibTrans" cxnId="{F99DB727-C370-4C2E-9849-AC8F6658581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6EF20E6-C250-4598-808C-ADAA6DCD76E4}" type="pres">
      <dgm:prSet presAssocID="{28BCD53B-3880-4A8B-B8CA-A6AB003C130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AD2E984-FE3E-4860-A2F2-77FB2F0562FD}" type="pres">
      <dgm:prSet presAssocID="{DCDEE078-4964-45FF-A083-C3247EC4C376}" presName="node" presStyleLbl="node1" presStyleIdx="0" presStyleCnt="5" custScaleY="13739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EC890A3-3C11-40D2-B142-2FD7748B4AED}" type="pres">
      <dgm:prSet presAssocID="{5203919A-34CE-49A2-86FD-BE119014B954}" presName="sibTrans" presStyleCnt="0"/>
      <dgm:spPr/>
    </dgm:pt>
    <dgm:pt modelId="{571FCC4F-648B-4031-A3D2-5D7627698E15}" type="pres">
      <dgm:prSet presAssocID="{76F99D2D-D195-46AC-8474-BF4979765327}" presName="node" presStyleLbl="node1" presStyleIdx="1" presStyleCnt="5" custScaleY="1356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FCDDD70-FC78-4FAE-B619-C1D0BFDBDB2E}" type="pres">
      <dgm:prSet presAssocID="{168571D5-C6C8-4BF9-81D5-89EC7CEDCD6A}" presName="sibTrans" presStyleCnt="0"/>
      <dgm:spPr/>
    </dgm:pt>
    <dgm:pt modelId="{7D293778-779A-4472-8E16-28F33B804B65}" type="pres">
      <dgm:prSet presAssocID="{3BB7A6E6-15A1-490E-AC06-0B15987C53ED}" presName="node" presStyleLbl="node1" presStyleIdx="2" presStyleCnt="5" custScaleY="13739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68321AD-E1D0-4D75-9C20-76174448C068}" type="pres">
      <dgm:prSet presAssocID="{B40FC394-BF13-4D3C-87A2-F998A32784AE}" presName="sibTrans" presStyleCnt="0"/>
      <dgm:spPr/>
    </dgm:pt>
    <dgm:pt modelId="{ACAB7387-2259-4F0D-BB77-6EC34B3AE931}" type="pres">
      <dgm:prSet presAssocID="{0313DFC9-5FE1-419B-81B9-581B7A1DA75C}" presName="node" presStyleLbl="node1" presStyleIdx="3" presStyleCnt="5" custScaleY="12124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69F8D9-F7C0-4190-83BD-561FFC678F22}" type="pres">
      <dgm:prSet presAssocID="{10C890C5-475A-4C0B-A2DD-D330FD4FAA94}" presName="sibTrans" presStyleCnt="0"/>
      <dgm:spPr/>
    </dgm:pt>
    <dgm:pt modelId="{9E40FF70-F7E1-4B9A-83A5-42DAFE315E09}" type="pres">
      <dgm:prSet presAssocID="{25C44E89-6307-413C-A31E-BC0033D5CC0E}" presName="node" presStyleLbl="node1" presStyleIdx="4" presStyleCnt="5" custScaleY="12295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9616B04-3E74-4C90-8997-E79498A950CA}" srcId="{28BCD53B-3880-4A8B-B8CA-A6AB003C1301}" destId="{76F99D2D-D195-46AC-8474-BF4979765327}" srcOrd="1" destOrd="0" parTransId="{88630C39-D617-4A05-8429-5B900D9D356C}" sibTransId="{168571D5-C6C8-4BF9-81D5-89EC7CEDCD6A}"/>
    <dgm:cxn modelId="{F9D2B3D5-1517-46EC-A972-E907B2BDF532}" type="presOf" srcId="{3BB7A6E6-15A1-490E-AC06-0B15987C53ED}" destId="{7D293778-779A-4472-8E16-28F33B804B65}" srcOrd="0" destOrd="0" presId="urn:microsoft.com/office/officeart/2005/8/layout/default"/>
    <dgm:cxn modelId="{AA8C63D6-9928-4450-8153-A2E9B67E4AB1}" srcId="{28BCD53B-3880-4A8B-B8CA-A6AB003C1301}" destId="{0313DFC9-5FE1-419B-81B9-581B7A1DA75C}" srcOrd="3" destOrd="0" parTransId="{731D3F82-1661-4734-B872-75F2A9DA2355}" sibTransId="{10C890C5-475A-4C0B-A2DD-D330FD4FAA94}"/>
    <dgm:cxn modelId="{95606420-0CD1-4599-95E2-89B4D48F863F}" type="presOf" srcId="{0313DFC9-5FE1-419B-81B9-581B7A1DA75C}" destId="{ACAB7387-2259-4F0D-BB77-6EC34B3AE931}" srcOrd="0" destOrd="0" presId="urn:microsoft.com/office/officeart/2005/8/layout/default"/>
    <dgm:cxn modelId="{E3AC3843-124E-4E3C-9002-51BB4B8556A3}" srcId="{28BCD53B-3880-4A8B-B8CA-A6AB003C1301}" destId="{3BB7A6E6-15A1-490E-AC06-0B15987C53ED}" srcOrd="2" destOrd="0" parTransId="{15629190-DCFE-4D72-A73F-85EB39C26399}" sibTransId="{B40FC394-BF13-4D3C-87A2-F998A32784AE}"/>
    <dgm:cxn modelId="{FFE44143-4EB9-4949-BAEB-7711BB817DF4}" type="presOf" srcId="{25C44E89-6307-413C-A31E-BC0033D5CC0E}" destId="{9E40FF70-F7E1-4B9A-83A5-42DAFE315E09}" srcOrd="0" destOrd="0" presId="urn:microsoft.com/office/officeart/2005/8/layout/default"/>
    <dgm:cxn modelId="{F99DB727-C370-4C2E-9849-AC8F66585814}" srcId="{28BCD53B-3880-4A8B-B8CA-A6AB003C1301}" destId="{25C44E89-6307-413C-A31E-BC0033D5CC0E}" srcOrd="4" destOrd="0" parTransId="{75B12EC7-A022-403B-A541-747D1123EF7E}" sibTransId="{1E5B50A1-CE03-4BDD-B063-418466CE3605}"/>
    <dgm:cxn modelId="{FB1D16BE-F65B-4E35-A676-D035B782AD46}" type="presOf" srcId="{76F99D2D-D195-46AC-8474-BF4979765327}" destId="{571FCC4F-648B-4031-A3D2-5D7627698E15}" srcOrd="0" destOrd="0" presId="urn:microsoft.com/office/officeart/2005/8/layout/default"/>
    <dgm:cxn modelId="{46F3E944-8BB6-4A1F-9758-B437736946A1}" type="presOf" srcId="{28BCD53B-3880-4A8B-B8CA-A6AB003C1301}" destId="{B6EF20E6-C250-4598-808C-ADAA6DCD76E4}" srcOrd="0" destOrd="0" presId="urn:microsoft.com/office/officeart/2005/8/layout/default"/>
    <dgm:cxn modelId="{297DF9C7-CA3C-4F88-A0E3-69F00F728451}" type="presOf" srcId="{DCDEE078-4964-45FF-A083-C3247EC4C376}" destId="{DAD2E984-FE3E-4860-A2F2-77FB2F0562FD}" srcOrd="0" destOrd="0" presId="urn:microsoft.com/office/officeart/2005/8/layout/default"/>
    <dgm:cxn modelId="{D4DFCAB8-742C-4238-B92A-D61680B6D74F}" srcId="{28BCD53B-3880-4A8B-B8CA-A6AB003C1301}" destId="{DCDEE078-4964-45FF-A083-C3247EC4C376}" srcOrd="0" destOrd="0" parTransId="{95E28511-7501-49C8-959B-B1036A4215D5}" sibTransId="{5203919A-34CE-49A2-86FD-BE119014B954}"/>
    <dgm:cxn modelId="{32E1D99D-C8B4-44DE-ADE9-69E9EF528A00}" type="presParOf" srcId="{B6EF20E6-C250-4598-808C-ADAA6DCD76E4}" destId="{DAD2E984-FE3E-4860-A2F2-77FB2F0562FD}" srcOrd="0" destOrd="0" presId="urn:microsoft.com/office/officeart/2005/8/layout/default"/>
    <dgm:cxn modelId="{DBB5B4A8-A5DC-4DA5-B88F-AFF04924AA57}" type="presParOf" srcId="{B6EF20E6-C250-4598-808C-ADAA6DCD76E4}" destId="{8EC890A3-3C11-40D2-B142-2FD7748B4AED}" srcOrd="1" destOrd="0" presId="urn:microsoft.com/office/officeart/2005/8/layout/default"/>
    <dgm:cxn modelId="{1BE82642-123B-452D-BF86-353E399545D4}" type="presParOf" srcId="{B6EF20E6-C250-4598-808C-ADAA6DCD76E4}" destId="{571FCC4F-648B-4031-A3D2-5D7627698E15}" srcOrd="2" destOrd="0" presId="urn:microsoft.com/office/officeart/2005/8/layout/default"/>
    <dgm:cxn modelId="{919DD335-5B01-4FBB-934B-DD8F8958E0D2}" type="presParOf" srcId="{B6EF20E6-C250-4598-808C-ADAA6DCD76E4}" destId="{1FCDDD70-FC78-4FAE-B619-C1D0BFDBDB2E}" srcOrd="3" destOrd="0" presId="urn:microsoft.com/office/officeart/2005/8/layout/default"/>
    <dgm:cxn modelId="{A9731BE7-7BB6-46AC-97BD-DBCD9A1E0432}" type="presParOf" srcId="{B6EF20E6-C250-4598-808C-ADAA6DCD76E4}" destId="{7D293778-779A-4472-8E16-28F33B804B65}" srcOrd="4" destOrd="0" presId="urn:microsoft.com/office/officeart/2005/8/layout/default"/>
    <dgm:cxn modelId="{261FDD2D-7656-435A-B0BD-6F2C030A5A4F}" type="presParOf" srcId="{B6EF20E6-C250-4598-808C-ADAA6DCD76E4}" destId="{968321AD-E1D0-4D75-9C20-76174448C068}" srcOrd="5" destOrd="0" presId="urn:microsoft.com/office/officeart/2005/8/layout/default"/>
    <dgm:cxn modelId="{BF785F73-D796-4307-93AC-D16B74BCA220}" type="presParOf" srcId="{B6EF20E6-C250-4598-808C-ADAA6DCD76E4}" destId="{ACAB7387-2259-4F0D-BB77-6EC34B3AE931}" srcOrd="6" destOrd="0" presId="urn:microsoft.com/office/officeart/2005/8/layout/default"/>
    <dgm:cxn modelId="{9B82ADAC-2E9E-4CD9-BC07-64A50F3F92A2}" type="presParOf" srcId="{B6EF20E6-C250-4598-808C-ADAA6DCD76E4}" destId="{3169F8D9-F7C0-4190-83BD-561FFC678F22}" srcOrd="7" destOrd="0" presId="urn:microsoft.com/office/officeart/2005/8/layout/default"/>
    <dgm:cxn modelId="{CD044193-98CC-48D3-BE84-B2AD30FF9E8B}" type="presParOf" srcId="{B6EF20E6-C250-4598-808C-ADAA6DCD76E4}" destId="{9E40FF70-F7E1-4B9A-83A5-42DAFE315E09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BDF4B8-0EEB-411E-BA9E-C9512E1FD5E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CD04674-65D8-40AA-9496-64B9169A9331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Сокращение времени на оформление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552D8E41-A621-4A9C-B9A0-DFCB883406E4}" type="parTrans" cxnId="{59BB9904-36B3-4556-9BF1-9E81610F871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8DF0880-3C6B-449C-BCC7-158AC6946593}" type="sibTrans" cxnId="{59BB9904-36B3-4556-9BF1-9E81610F8710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930E812-7593-4581-9060-D618DD0EFB6A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Соблюдение обязательных процедур с гарантией 100%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E9BD319-D667-4080-82A5-77EDA11D0F5F}" type="parTrans" cxnId="{32716AA9-36FA-484D-82D2-494E772427A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751F29E-4362-452A-97EB-7D2E32813389}" type="sibTrans" cxnId="{32716AA9-36FA-484D-82D2-494E772427A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EC239D0-D895-4BA9-A239-C9E3207FDC73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Возможность оперативно корректировать документ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1B9AB9C-99ED-44F1-9AB0-FA1B25ABFC9C}" type="parTrans" cxnId="{7C4A762C-C14F-4E36-A7AE-EE0F4E01BFF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96E8718-534D-4DB9-9FDA-0DDE21B58B66}" type="sibTrans" cxnId="{7C4A762C-C14F-4E36-A7AE-EE0F4E01BFF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E503C2E-6FE3-42B3-AC09-3007A0C50A8E}" type="pres">
      <dgm:prSet presAssocID="{A3BDF4B8-0EEB-411E-BA9E-C9512E1FD5E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E2B416B-2F32-43F4-AF76-F7025D2EFEC6}" type="pres">
      <dgm:prSet presAssocID="{0CD04674-65D8-40AA-9496-64B9169A9331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9E00C4C-3C68-4800-829E-E70BA36EDB02}" type="pres">
      <dgm:prSet presAssocID="{88DF0880-3C6B-449C-BCC7-158AC6946593}" presName="sibTrans" presStyleCnt="0"/>
      <dgm:spPr/>
    </dgm:pt>
    <dgm:pt modelId="{04F1FE70-AA95-4B61-920C-1A2E2A68A83B}" type="pres">
      <dgm:prSet presAssocID="{7930E812-7593-4581-9060-D618DD0EFB6A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A3EBCE9-E8E9-43B5-8A36-BA6873AB3F5F}" type="pres">
      <dgm:prSet presAssocID="{C751F29E-4362-452A-97EB-7D2E32813389}" presName="sibTrans" presStyleCnt="0"/>
      <dgm:spPr/>
    </dgm:pt>
    <dgm:pt modelId="{DDF562FF-814C-495A-A21D-A2DE2C019858}" type="pres">
      <dgm:prSet presAssocID="{DEC239D0-D895-4BA9-A239-C9E3207FDC73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F459E73-AB19-4230-9BA3-CA2C0F180C20}" type="presOf" srcId="{DEC239D0-D895-4BA9-A239-C9E3207FDC73}" destId="{DDF562FF-814C-495A-A21D-A2DE2C019858}" srcOrd="0" destOrd="0" presId="urn:microsoft.com/office/officeart/2005/8/layout/default"/>
    <dgm:cxn modelId="{012EC9D8-7DF9-40B2-8410-6DB3D3F59B34}" type="presOf" srcId="{7930E812-7593-4581-9060-D618DD0EFB6A}" destId="{04F1FE70-AA95-4B61-920C-1A2E2A68A83B}" srcOrd="0" destOrd="0" presId="urn:microsoft.com/office/officeart/2005/8/layout/default"/>
    <dgm:cxn modelId="{59BB9904-36B3-4556-9BF1-9E81610F8710}" srcId="{A3BDF4B8-0EEB-411E-BA9E-C9512E1FD5E3}" destId="{0CD04674-65D8-40AA-9496-64B9169A9331}" srcOrd="0" destOrd="0" parTransId="{552D8E41-A621-4A9C-B9A0-DFCB883406E4}" sibTransId="{88DF0880-3C6B-449C-BCC7-158AC6946593}"/>
    <dgm:cxn modelId="{32716AA9-36FA-484D-82D2-494E772427A4}" srcId="{A3BDF4B8-0EEB-411E-BA9E-C9512E1FD5E3}" destId="{7930E812-7593-4581-9060-D618DD0EFB6A}" srcOrd="1" destOrd="0" parTransId="{9E9BD319-D667-4080-82A5-77EDA11D0F5F}" sibTransId="{C751F29E-4362-452A-97EB-7D2E32813389}"/>
    <dgm:cxn modelId="{7C4A762C-C14F-4E36-A7AE-EE0F4E01BFF6}" srcId="{A3BDF4B8-0EEB-411E-BA9E-C9512E1FD5E3}" destId="{DEC239D0-D895-4BA9-A239-C9E3207FDC73}" srcOrd="2" destOrd="0" parTransId="{C1B9AB9C-99ED-44F1-9AB0-FA1B25ABFC9C}" sibTransId="{996E8718-534D-4DB9-9FDA-0DDE21B58B66}"/>
    <dgm:cxn modelId="{58E686AB-4AF8-45AE-9F3C-203850C68E6A}" type="presOf" srcId="{0CD04674-65D8-40AA-9496-64B9169A9331}" destId="{AE2B416B-2F32-43F4-AF76-F7025D2EFEC6}" srcOrd="0" destOrd="0" presId="urn:microsoft.com/office/officeart/2005/8/layout/default"/>
    <dgm:cxn modelId="{2493242E-F131-4CE0-86DF-473255ED3D70}" type="presOf" srcId="{A3BDF4B8-0EEB-411E-BA9E-C9512E1FD5E3}" destId="{9E503C2E-6FE3-42B3-AC09-3007A0C50A8E}" srcOrd="0" destOrd="0" presId="urn:microsoft.com/office/officeart/2005/8/layout/default"/>
    <dgm:cxn modelId="{82F4603B-C600-47EB-AD85-BE77FB7E1A38}" type="presParOf" srcId="{9E503C2E-6FE3-42B3-AC09-3007A0C50A8E}" destId="{AE2B416B-2F32-43F4-AF76-F7025D2EFEC6}" srcOrd="0" destOrd="0" presId="urn:microsoft.com/office/officeart/2005/8/layout/default"/>
    <dgm:cxn modelId="{5BFF92D3-79A5-4A38-9330-7EB068C7ED7B}" type="presParOf" srcId="{9E503C2E-6FE3-42B3-AC09-3007A0C50A8E}" destId="{59E00C4C-3C68-4800-829E-E70BA36EDB02}" srcOrd="1" destOrd="0" presId="urn:microsoft.com/office/officeart/2005/8/layout/default"/>
    <dgm:cxn modelId="{423C9BAC-B114-40FA-BF01-85DE78B38660}" type="presParOf" srcId="{9E503C2E-6FE3-42B3-AC09-3007A0C50A8E}" destId="{04F1FE70-AA95-4B61-920C-1A2E2A68A83B}" srcOrd="2" destOrd="0" presId="urn:microsoft.com/office/officeart/2005/8/layout/default"/>
    <dgm:cxn modelId="{768B673A-27F4-44E1-B9C9-F3A019D7F8CA}" type="presParOf" srcId="{9E503C2E-6FE3-42B3-AC09-3007A0C50A8E}" destId="{5A3EBCE9-E8E9-43B5-8A36-BA6873AB3F5F}" srcOrd="3" destOrd="0" presId="urn:microsoft.com/office/officeart/2005/8/layout/default"/>
    <dgm:cxn modelId="{3D52AE5E-089E-4085-A5D7-123CF209A1AB}" type="presParOf" srcId="{9E503C2E-6FE3-42B3-AC09-3007A0C50A8E}" destId="{DDF562FF-814C-495A-A21D-A2DE2C01985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F7C3BE-293B-474D-8CE2-A25BB228507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1BF65BA-B239-48AA-A011-5010681EB4C5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Соответствует требованиям законодательства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A75A7591-A707-4831-81A0-924BE33D366C}" type="parTrans" cxnId="{108A413C-D0F5-4D1F-BE5C-EC41D76F56C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7E5243B-CDE5-4C4E-B02C-3937EE260766}" type="sibTrans" cxnId="{108A413C-D0F5-4D1F-BE5C-EC41D76F56C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B9B2B32-6824-4ACE-8534-66027325C6AD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Учитывает риски и нарушения промышленной безопасности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D484FD74-EB4C-4881-931D-4D81CD2252BF}" type="parTrans" cxnId="{A6AE3976-52A7-49B7-9EC5-B87CDA5A866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43C7BD7-C17C-4C50-AAB9-B6643B13B035}" type="sibTrans" cxnId="{A6AE3976-52A7-49B7-9EC5-B87CDA5A866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E0BC557-22F8-4520-8A8E-60F47D548FDB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Автоматически отражает требования безопасности в зависимости от вида работ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A1B0F86-E595-4A88-B607-58112D69E7E2}" type="parTrans" cxnId="{C10DE793-7EAD-4FA7-84C7-E5184D35E68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DDFA5E6-C220-4773-9CC8-D37CAAA97997}" type="sibTrans" cxnId="{C10DE793-7EAD-4FA7-84C7-E5184D35E68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F73D869-BC1E-491A-B8AB-9A703A7688A7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Контролирует квалификации персонала перед допуском к работам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8EE5089-197F-4787-9277-7B0B342A5315}" type="parTrans" cxnId="{8F21F244-FD96-4008-948D-8E21739C60F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78BA316-3ECC-4331-824A-B1C6ACB3ED08}" type="sibTrans" cxnId="{8F21F244-FD96-4008-948D-8E21739C60F3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47265D8-C486-4A9D-B873-D1AA260C6926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Контролирует прохождение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предсменного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медицинского осмотра и инструктажей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0B8E238D-6671-4474-B88C-00A36668C168}" type="parTrans" cxnId="{83C16BD6-4FE3-4696-952B-90FB0DE759A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ACDAE1C-AC2A-4D34-A539-07918C5141C6}" type="sibTrans" cxnId="{83C16BD6-4FE3-4696-952B-90FB0DE759AD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334DB22-B9A2-42ED-B783-C106C918EB04}" type="pres">
      <dgm:prSet presAssocID="{7CF7C3BE-293B-474D-8CE2-A25BB228507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B3DDCAE-AB00-401D-B200-B6748F6DF5DF}" type="pres">
      <dgm:prSet presAssocID="{91BF65BA-B239-48AA-A011-5010681EB4C5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3E1314-EF68-42E3-882A-EA383CADEEA4}" type="pres">
      <dgm:prSet presAssocID="{D7E5243B-CDE5-4C4E-B02C-3937EE260766}" presName="sibTrans" presStyleCnt="0"/>
      <dgm:spPr/>
    </dgm:pt>
    <dgm:pt modelId="{E0281B0D-0434-4B73-853C-4BA58D694D94}" type="pres">
      <dgm:prSet presAssocID="{0B9B2B32-6824-4ACE-8534-66027325C6AD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EB86D00-A7DC-4D02-A297-6E8555304C24}" type="pres">
      <dgm:prSet presAssocID="{D43C7BD7-C17C-4C50-AAB9-B6643B13B035}" presName="sibTrans" presStyleCnt="0"/>
      <dgm:spPr/>
    </dgm:pt>
    <dgm:pt modelId="{C0B5EBE9-26D9-45F2-8556-DA0C753CDEA0}" type="pres">
      <dgm:prSet presAssocID="{DE0BC557-22F8-4520-8A8E-60F47D548FDB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9D09F2-D12D-4267-A863-17CCD3553BC8}" type="pres">
      <dgm:prSet presAssocID="{6DDFA5E6-C220-4773-9CC8-D37CAAA97997}" presName="sibTrans" presStyleCnt="0"/>
      <dgm:spPr/>
    </dgm:pt>
    <dgm:pt modelId="{85472146-4F8F-439C-AB81-FF7BAE17617F}" type="pres">
      <dgm:prSet presAssocID="{5F73D869-BC1E-491A-B8AB-9A703A7688A7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36D833C-8D94-484F-95B8-64B9A74B43AA}" type="pres">
      <dgm:prSet presAssocID="{478BA316-3ECC-4331-824A-B1C6ACB3ED08}" presName="sibTrans" presStyleCnt="0"/>
      <dgm:spPr/>
    </dgm:pt>
    <dgm:pt modelId="{02D8212F-F17F-400C-9A77-AC246A67879B}" type="pres">
      <dgm:prSet presAssocID="{847265D8-C486-4A9D-B873-D1AA260C6926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1F36FC0-F190-46E7-BF4D-862FE75082BC}" type="presOf" srcId="{5F73D869-BC1E-491A-B8AB-9A703A7688A7}" destId="{85472146-4F8F-439C-AB81-FF7BAE17617F}" srcOrd="0" destOrd="0" presId="urn:microsoft.com/office/officeart/2005/8/layout/default"/>
    <dgm:cxn modelId="{108A413C-D0F5-4D1F-BE5C-EC41D76F56C2}" srcId="{7CF7C3BE-293B-474D-8CE2-A25BB228507D}" destId="{91BF65BA-B239-48AA-A011-5010681EB4C5}" srcOrd="0" destOrd="0" parTransId="{A75A7591-A707-4831-81A0-924BE33D366C}" sibTransId="{D7E5243B-CDE5-4C4E-B02C-3937EE260766}"/>
    <dgm:cxn modelId="{8519A30C-1568-4064-AB42-CB1C86EAB98E}" type="presOf" srcId="{847265D8-C486-4A9D-B873-D1AA260C6926}" destId="{02D8212F-F17F-400C-9A77-AC246A67879B}" srcOrd="0" destOrd="0" presId="urn:microsoft.com/office/officeart/2005/8/layout/default"/>
    <dgm:cxn modelId="{5A453E99-A5F3-4116-AE1E-C2FC82D7C54C}" type="presOf" srcId="{0B9B2B32-6824-4ACE-8534-66027325C6AD}" destId="{E0281B0D-0434-4B73-853C-4BA58D694D94}" srcOrd="0" destOrd="0" presId="urn:microsoft.com/office/officeart/2005/8/layout/default"/>
    <dgm:cxn modelId="{A6AE3976-52A7-49B7-9EC5-B87CDA5A8661}" srcId="{7CF7C3BE-293B-474D-8CE2-A25BB228507D}" destId="{0B9B2B32-6824-4ACE-8534-66027325C6AD}" srcOrd="1" destOrd="0" parTransId="{D484FD74-EB4C-4881-931D-4D81CD2252BF}" sibTransId="{D43C7BD7-C17C-4C50-AAB9-B6643B13B035}"/>
    <dgm:cxn modelId="{213921A7-90C9-40AD-B658-35EEFC8F18D9}" type="presOf" srcId="{7CF7C3BE-293B-474D-8CE2-A25BB228507D}" destId="{C334DB22-B9A2-42ED-B783-C106C918EB04}" srcOrd="0" destOrd="0" presId="urn:microsoft.com/office/officeart/2005/8/layout/default"/>
    <dgm:cxn modelId="{83C16BD6-4FE3-4696-952B-90FB0DE759AD}" srcId="{7CF7C3BE-293B-474D-8CE2-A25BB228507D}" destId="{847265D8-C486-4A9D-B873-D1AA260C6926}" srcOrd="4" destOrd="0" parTransId="{0B8E238D-6671-4474-B88C-00A36668C168}" sibTransId="{AACDAE1C-AC2A-4D34-A539-07918C5141C6}"/>
    <dgm:cxn modelId="{FFE267FC-41A4-4F1A-A41F-321D6EF9F821}" type="presOf" srcId="{91BF65BA-B239-48AA-A011-5010681EB4C5}" destId="{4B3DDCAE-AB00-401D-B200-B6748F6DF5DF}" srcOrd="0" destOrd="0" presId="urn:microsoft.com/office/officeart/2005/8/layout/default"/>
    <dgm:cxn modelId="{8F21F244-FD96-4008-948D-8E21739C60F3}" srcId="{7CF7C3BE-293B-474D-8CE2-A25BB228507D}" destId="{5F73D869-BC1E-491A-B8AB-9A703A7688A7}" srcOrd="3" destOrd="0" parTransId="{98EE5089-197F-4787-9277-7B0B342A5315}" sibTransId="{478BA316-3ECC-4331-824A-B1C6ACB3ED08}"/>
    <dgm:cxn modelId="{A19C95B5-5F1F-416D-B727-34FAAB167D17}" type="presOf" srcId="{DE0BC557-22F8-4520-8A8E-60F47D548FDB}" destId="{C0B5EBE9-26D9-45F2-8556-DA0C753CDEA0}" srcOrd="0" destOrd="0" presId="urn:microsoft.com/office/officeart/2005/8/layout/default"/>
    <dgm:cxn modelId="{C10DE793-7EAD-4FA7-84C7-E5184D35E685}" srcId="{7CF7C3BE-293B-474D-8CE2-A25BB228507D}" destId="{DE0BC557-22F8-4520-8A8E-60F47D548FDB}" srcOrd="2" destOrd="0" parTransId="{7A1B0F86-E595-4A88-B607-58112D69E7E2}" sibTransId="{6DDFA5E6-C220-4773-9CC8-D37CAAA97997}"/>
    <dgm:cxn modelId="{CC21F60C-BB07-451D-A868-F61615DAADED}" type="presParOf" srcId="{C334DB22-B9A2-42ED-B783-C106C918EB04}" destId="{4B3DDCAE-AB00-401D-B200-B6748F6DF5DF}" srcOrd="0" destOrd="0" presId="urn:microsoft.com/office/officeart/2005/8/layout/default"/>
    <dgm:cxn modelId="{50DAD6FF-27A4-4965-A6F0-4E720F586397}" type="presParOf" srcId="{C334DB22-B9A2-42ED-B783-C106C918EB04}" destId="{CC3E1314-EF68-42E3-882A-EA383CADEEA4}" srcOrd="1" destOrd="0" presId="urn:microsoft.com/office/officeart/2005/8/layout/default"/>
    <dgm:cxn modelId="{6CEC7329-AD4D-477C-ADC5-93DE3F805F0D}" type="presParOf" srcId="{C334DB22-B9A2-42ED-B783-C106C918EB04}" destId="{E0281B0D-0434-4B73-853C-4BA58D694D94}" srcOrd="2" destOrd="0" presId="urn:microsoft.com/office/officeart/2005/8/layout/default"/>
    <dgm:cxn modelId="{1A87F077-EBC2-47B7-A705-7B056264FACE}" type="presParOf" srcId="{C334DB22-B9A2-42ED-B783-C106C918EB04}" destId="{8EB86D00-A7DC-4D02-A297-6E8555304C24}" srcOrd="3" destOrd="0" presId="urn:microsoft.com/office/officeart/2005/8/layout/default"/>
    <dgm:cxn modelId="{59684020-E9D4-47C3-BF73-28135E089798}" type="presParOf" srcId="{C334DB22-B9A2-42ED-B783-C106C918EB04}" destId="{C0B5EBE9-26D9-45F2-8556-DA0C753CDEA0}" srcOrd="4" destOrd="0" presId="urn:microsoft.com/office/officeart/2005/8/layout/default"/>
    <dgm:cxn modelId="{35978638-B646-45DA-9916-64923E8D8438}" type="presParOf" srcId="{C334DB22-B9A2-42ED-B783-C106C918EB04}" destId="{759D09F2-D12D-4267-A863-17CCD3553BC8}" srcOrd="5" destOrd="0" presId="urn:microsoft.com/office/officeart/2005/8/layout/default"/>
    <dgm:cxn modelId="{9106CE2B-5AB2-4ABE-8CC0-8CE18C995117}" type="presParOf" srcId="{C334DB22-B9A2-42ED-B783-C106C918EB04}" destId="{85472146-4F8F-439C-AB81-FF7BAE17617F}" srcOrd="6" destOrd="0" presId="urn:microsoft.com/office/officeart/2005/8/layout/default"/>
    <dgm:cxn modelId="{990755FB-C183-4D1F-AC7F-C127B50BD26E}" type="presParOf" srcId="{C334DB22-B9A2-42ED-B783-C106C918EB04}" destId="{D36D833C-8D94-484F-95B8-64B9A74B43AA}" srcOrd="7" destOrd="0" presId="urn:microsoft.com/office/officeart/2005/8/layout/default"/>
    <dgm:cxn modelId="{F2B38560-25BC-439A-B6AE-E0C7C9CD24AA}" type="presParOf" srcId="{C334DB22-B9A2-42ED-B783-C106C918EB04}" destId="{02D8212F-F17F-400C-9A77-AC246A67879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C78CF9D-1625-47FB-AA1B-E7DBE706417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9E4E3E9-AC87-476D-8819-E6F0D7156E31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Автоматическое формирование наряда-допуска из книги нарядов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629F4B4-826A-495B-AD15-5F19F9B63C4E}" type="parTrans" cxnId="{3436E37F-356A-4B8A-8B97-042000F59CC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76CCE27-7A3D-4CD4-9496-EA35A4483052}" type="sibTrans" cxnId="{3436E37F-356A-4B8A-8B97-042000F59CC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FD28D56-85BD-48BD-B3B0-58BA1C44CCEB}">
      <dgm:prSet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Достоверное качественное автоматизированное оформление документа</a:t>
          </a:r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134D41C-8335-464E-902D-B79747DE9716}" type="parTrans" cxnId="{D8CD1EAE-88AC-4D0B-AFF4-12318302D8E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470A74A-C804-4FCB-8364-AD840CF38B7F}" type="sibTrans" cxnId="{D8CD1EAE-88AC-4D0B-AFF4-12318302D8E4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348A511E-099B-4EF5-B280-E04AE3266111}" type="pres">
      <dgm:prSet presAssocID="{7C78CF9D-1625-47FB-AA1B-E7DBE706417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360E853-93D4-4B42-8786-0B995EA65399}" type="pres">
      <dgm:prSet presAssocID="{C9E4E3E9-AC87-476D-8819-E6F0D7156E31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E4BA0EA-523D-422E-8DEA-4F3711B641DE}" type="pres">
      <dgm:prSet presAssocID="{A76CCE27-7A3D-4CD4-9496-EA35A4483052}" presName="sibTrans" presStyleCnt="0"/>
      <dgm:spPr/>
    </dgm:pt>
    <dgm:pt modelId="{98A18721-BDCF-44AB-9556-5064829ECBB2}" type="pres">
      <dgm:prSet presAssocID="{6FD28D56-85BD-48BD-B3B0-58BA1C44CCEB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C2E54CB-0D92-4272-8704-E23697F4D561}" type="presOf" srcId="{7C78CF9D-1625-47FB-AA1B-E7DBE7064170}" destId="{348A511E-099B-4EF5-B280-E04AE3266111}" srcOrd="0" destOrd="0" presId="urn:microsoft.com/office/officeart/2005/8/layout/default"/>
    <dgm:cxn modelId="{D8CD1EAE-88AC-4D0B-AFF4-12318302D8E4}" srcId="{7C78CF9D-1625-47FB-AA1B-E7DBE7064170}" destId="{6FD28D56-85BD-48BD-B3B0-58BA1C44CCEB}" srcOrd="1" destOrd="0" parTransId="{6134D41C-8335-464E-902D-B79747DE9716}" sibTransId="{3470A74A-C804-4FCB-8364-AD840CF38B7F}"/>
    <dgm:cxn modelId="{AA004C7C-33EE-4F7E-B592-22016431F249}" type="presOf" srcId="{6FD28D56-85BD-48BD-B3B0-58BA1C44CCEB}" destId="{98A18721-BDCF-44AB-9556-5064829ECBB2}" srcOrd="0" destOrd="0" presId="urn:microsoft.com/office/officeart/2005/8/layout/default"/>
    <dgm:cxn modelId="{B0FCC4A5-7128-44AF-A31C-88CDB531430B}" type="presOf" srcId="{C9E4E3E9-AC87-476D-8819-E6F0D7156E31}" destId="{8360E853-93D4-4B42-8786-0B995EA65399}" srcOrd="0" destOrd="0" presId="urn:microsoft.com/office/officeart/2005/8/layout/default"/>
    <dgm:cxn modelId="{3436E37F-356A-4B8A-8B97-042000F59CC6}" srcId="{7C78CF9D-1625-47FB-AA1B-E7DBE7064170}" destId="{C9E4E3E9-AC87-476D-8819-E6F0D7156E31}" srcOrd="0" destOrd="0" parTransId="{9629F4B4-826A-495B-AD15-5F19F9B63C4E}" sibTransId="{A76CCE27-7A3D-4CD4-9496-EA35A4483052}"/>
    <dgm:cxn modelId="{8CD4FDAB-5E63-414F-97D1-883D658EDAB2}" type="presParOf" srcId="{348A511E-099B-4EF5-B280-E04AE3266111}" destId="{8360E853-93D4-4B42-8786-0B995EA65399}" srcOrd="0" destOrd="0" presId="urn:microsoft.com/office/officeart/2005/8/layout/default"/>
    <dgm:cxn modelId="{8D4E67AC-582B-43CA-8230-066E76F4F326}" type="presParOf" srcId="{348A511E-099B-4EF5-B280-E04AE3266111}" destId="{DE4BA0EA-523D-422E-8DEA-4F3711B641DE}" srcOrd="1" destOrd="0" presId="urn:microsoft.com/office/officeart/2005/8/layout/default"/>
    <dgm:cxn modelId="{C584CC1A-C864-4986-A0CA-16E1B25323B0}" type="presParOf" srcId="{348A511E-099B-4EF5-B280-E04AE3266111}" destId="{98A18721-BDCF-44AB-9556-5064829ECBB2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D2E984-FE3E-4860-A2F2-77FB2F0562FD}">
      <dsp:nvSpPr>
        <dsp:cNvPr id="0" name=""/>
        <dsp:cNvSpPr/>
      </dsp:nvSpPr>
      <dsp:spPr>
        <a:xfrm>
          <a:off x="0" y="600030"/>
          <a:ext cx="2788227" cy="22985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Повышение эффективности использования транспорта: оптимизация маршрутов, сокращение времени простоя, увеличение количества рейсов.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600030"/>
        <a:ext cx="2788227" cy="2298581"/>
      </dsp:txXfrm>
    </dsp:sp>
    <dsp:sp modelId="{571FCC4F-648B-4031-A3D2-5D7627698E15}">
      <dsp:nvSpPr>
        <dsp:cNvPr id="0" name=""/>
        <dsp:cNvSpPr/>
      </dsp:nvSpPr>
      <dsp:spPr>
        <a:xfrm>
          <a:off x="3067049" y="614367"/>
          <a:ext cx="2788227" cy="22699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Снижение операционных затрат: сокращение расхода топлива, оптимизация технического обслуживания и ремонта, снижение затрат на персонал.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67049" y="614367"/>
        <a:ext cx="2788227" cy="2269906"/>
      </dsp:txXfrm>
    </dsp:sp>
    <dsp:sp modelId="{7D293778-779A-4472-8E16-28F33B804B65}">
      <dsp:nvSpPr>
        <dsp:cNvPr id="0" name=""/>
        <dsp:cNvSpPr/>
      </dsp:nvSpPr>
      <dsp:spPr>
        <a:xfrm>
          <a:off x="6134099" y="600030"/>
          <a:ext cx="2788227" cy="22985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Повышение безопасности работ: контроль скорости, предотвращение перегрузок, мониторинг технического состояния техники.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134099" y="600030"/>
        <a:ext cx="2788227" cy="2298581"/>
      </dsp:txXfrm>
    </dsp:sp>
    <dsp:sp modelId="{ACAB7387-2259-4F0D-BB77-6EC34B3AE931}">
      <dsp:nvSpPr>
        <dsp:cNvPr id="0" name=""/>
        <dsp:cNvSpPr/>
      </dsp:nvSpPr>
      <dsp:spPr>
        <a:xfrm>
          <a:off x="1533524" y="3191762"/>
          <a:ext cx="2788227" cy="20283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Улучшение управления и контроля: сбор данных в режиме реального времени, принятие обоснованных решений, оптимизация планирования.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533524" y="3191762"/>
        <a:ext cx="2788227" cy="2028318"/>
      </dsp:txXfrm>
    </dsp:sp>
    <dsp:sp modelId="{9E40FF70-F7E1-4B9A-83A5-42DAFE315E09}">
      <dsp:nvSpPr>
        <dsp:cNvPr id="0" name=""/>
        <dsp:cNvSpPr/>
      </dsp:nvSpPr>
      <dsp:spPr>
        <a:xfrm>
          <a:off x="4600574" y="3177434"/>
          <a:ext cx="2788227" cy="2056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>
              <a:latin typeface="Times New Roman" pitchFamily="18" charset="0"/>
              <a:cs typeface="Times New Roman" pitchFamily="18" charset="0"/>
            </a:rPr>
            <a:t>Сокращение времени реагирования на внештатные ситуации.</a:t>
          </a:r>
          <a:endParaRPr lang="ru-RU" sz="1900" kern="1200">
            <a:latin typeface="Times New Roman" pitchFamily="18" charset="0"/>
            <a:cs typeface="Times New Roman" pitchFamily="18" charset="0"/>
          </a:endParaRPr>
        </a:p>
      </dsp:txBody>
      <dsp:txXfrm>
        <a:off x="4600574" y="3177434"/>
        <a:ext cx="2788227" cy="20569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B416B-2F32-43F4-AF76-F7025D2EFEC6}">
      <dsp:nvSpPr>
        <dsp:cNvPr id="0" name=""/>
        <dsp:cNvSpPr/>
      </dsp:nvSpPr>
      <dsp:spPr>
        <a:xfrm>
          <a:off x="304340" y="2024"/>
          <a:ext cx="3417891" cy="20507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dirty="0" smtClean="0">
              <a:latin typeface="Times New Roman" pitchFamily="18" charset="0"/>
              <a:cs typeface="Times New Roman" pitchFamily="18" charset="0"/>
            </a:rPr>
            <a:t>Сокращение времени на оформление</a:t>
          </a:r>
          <a:endParaRPr lang="ru-RU" sz="3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4340" y="2024"/>
        <a:ext cx="3417891" cy="2050735"/>
      </dsp:txXfrm>
    </dsp:sp>
    <dsp:sp modelId="{04F1FE70-AA95-4B61-920C-1A2E2A68A83B}">
      <dsp:nvSpPr>
        <dsp:cNvPr id="0" name=""/>
        <dsp:cNvSpPr/>
      </dsp:nvSpPr>
      <dsp:spPr>
        <a:xfrm>
          <a:off x="4064021" y="2024"/>
          <a:ext cx="3417891" cy="20507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smtClean="0">
              <a:latin typeface="Times New Roman" pitchFamily="18" charset="0"/>
              <a:cs typeface="Times New Roman" pitchFamily="18" charset="0"/>
            </a:rPr>
            <a:t>Соблюдение обязательных процедур с гарантией 100%</a:t>
          </a:r>
          <a:endParaRPr lang="ru-RU" sz="3400" kern="1200">
            <a:latin typeface="Times New Roman" pitchFamily="18" charset="0"/>
            <a:cs typeface="Times New Roman" pitchFamily="18" charset="0"/>
          </a:endParaRPr>
        </a:p>
      </dsp:txBody>
      <dsp:txXfrm>
        <a:off x="4064021" y="2024"/>
        <a:ext cx="3417891" cy="2050735"/>
      </dsp:txXfrm>
    </dsp:sp>
    <dsp:sp modelId="{DDF562FF-814C-495A-A21D-A2DE2C019858}">
      <dsp:nvSpPr>
        <dsp:cNvPr id="0" name=""/>
        <dsp:cNvSpPr/>
      </dsp:nvSpPr>
      <dsp:spPr>
        <a:xfrm>
          <a:off x="2184181" y="2394549"/>
          <a:ext cx="3417891" cy="20507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400" kern="1200" smtClean="0">
              <a:latin typeface="Times New Roman" pitchFamily="18" charset="0"/>
              <a:cs typeface="Times New Roman" pitchFamily="18" charset="0"/>
            </a:rPr>
            <a:t>Возможность оперативно корректировать документ</a:t>
          </a:r>
          <a:endParaRPr lang="ru-RU" sz="3400" kern="1200">
            <a:latin typeface="Times New Roman" pitchFamily="18" charset="0"/>
            <a:cs typeface="Times New Roman" pitchFamily="18" charset="0"/>
          </a:endParaRPr>
        </a:p>
      </dsp:txBody>
      <dsp:txXfrm>
        <a:off x="2184181" y="2394549"/>
        <a:ext cx="3417891" cy="20507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3DDCAE-AB00-401D-B200-B6748F6DF5DF}">
      <dsp:nvSpPr>
        <dsp:cNvPr id="0" name=""/>
        <dsp:cNvSpPr/>
      </dsp:nvSpPr>
      <dsp:spPr>
        <a:xfrm>
          <a:off x="0" y="805484"/>
          <a:ext cx="2671329" cy="16027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Соответствует требованиям законодательства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805484"/>
        <a:ext cx="2671329" cy="1602797"/>
      </dsp:txXfrm>
    </dsp:sp>
    <dsp:sp modelId="{E0281B0D-0434-4B73-853C-4BA58D694D94}">
      <dsp:nvSpPr>
        <dsp:cNvPr id="0" name=""/>
        <dsp:cNvSpPr/>
      </dsp:nvSpPr>
      <dsp:spPr>
        <a:xfrm>
          <a:off x="2938462" y="805484"/>
          <a:ext cx="2671329" cy="16027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Учитывает риски и нарушения промышленной безопасности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938462" y="805484"/>
        <a:ext cx="2671329" cy="1602797"/>
      </dsp:txXfrm>
    </dsp:sp>
    <dsp:sp modelId="{C0B5EBE9-26D9-45F2-8556-DA0C753CDEA0}">
      <dsp:nvSpPr>
        <dsp:cNvPr id="0" name=""/>
        <dsp:cNvSpPr/>
      </dsp:nvSpPr>
      <dsp:spPr>
        <a:xfrm>
          <a:off x="5876925" y="805484"/>
          <a:ext cx="2671329" cy="16027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Автоматически отражает требования безопасности в зависимости от вида работ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876925" y="805484"/>
        <a:ext cx="2671329" cy="1602797"/>
      </dsp:txXfrm>
    </dsp:sp>
    <dsp:sp modelId="{85472146-4F8F-439C-AB81-FF7BAE17617F}">
      <dsp:nvSpPr>
        <dsp:cNvPr id="0" name=""/>
        <dsp:cNvSpPr/>
      </dsp:nvSpPr>
      <dsp:spPr>
        <a:xfrm>
          <a:off x="1469231" y="2675415"/>
          <a:ext cx="2671329" cy="16027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Контролирует квалификации персонала перед допуском к работам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469231" y="2675415"/>
        <a:ext cx="2671329" cy="1602797"/>
      </dsp:txXfrm>
    </dsp:sp>
    <dsp:sp modelId="{02D8212F-F17F-400C-9A77-AC246A67879B}">
      <dsp:nvSpPr>
        <dsp:cNvPr id="0" name=""/>
        <dsp:cNvSpPr/>
      </dsp:nvSpPr>
      <dsp:spPr>
        <a:xfrm>
          <a:off x="4407693" y="2675415"/>
          <a:ext cx="2671329" cy="16027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Контролирует прохождение 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предсменного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 медицинского осмотра и инструктажей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07693" y="2675415"/>
        <a:ext cx="2671329" cy="16027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0E853-93D4-4B42-8786-0B995EA65399}">
      <dsp:nvSpPr>
        <dsp:cNvPr id="0" name=""/>
        <dsp:cNvSpPr/>
      </dsp:nvSpPr>
      <dsp:spPr>
        <a:xfrm>
          <a:off x="1306710" y="2696"/>
          <a:ext cx="3482578" cy="20895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>
              <a:latin typeface="Times New Roman" pitchFamily="18" charset="0"/>
              <a:cs typeface="Times New Roman" pitchFamily="18" charset="0"/>
            </a:rPr>
            <a:t>Автоматическое формирование наряда-допуска из книги нарядов</a:t>
          </a:r>
          <a:endParaRPr lang="ru-RU" sz="2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306710" y="2696"/>
        <a:ext cx="3482578" cy="2089546"/>
      </dsp:txXfrm>
    </dsp:sp>
    <dsp:sp modelId="{98A18721-BDCF-44AB-9556-5064829ECBB2}">
      <dsp:nvSpPr>
        <dsp:cNvPr id="0" name=""/>
        <dsp:cNvSpPr/>
      </dsp:nvSpPr>
      <dsp:spPr>
        <a:xfrm>
          <a:off x="1306710" y="2440501"/>
          <a:ext cx="3482578" cy="20895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smtClean="0">
              <a:latin typeface="Times New Roman" pitchFamily="18" charset="0"/>
              <a:cs typeface="Times New Roman" pitchFamily="18" charset="0"/>
            </a:rPr>
            <a:t>Достоверное качественное автоматизированное оформление документа</a:t>
          </a:r>
          <a:endParaRPr lang="ru-RU" sz="2800" kern="1200">
            <a:latin typeface="Times New Roman" pitchFamily="18" charset="0"/>
            <a:cs typeface="Times New Roman" pitchFamily="18" charset="0"/>
          </a:endParaRPr>
        </a:p>
      </dsp:txBody>
      <dsp:txXfrm>
        <a:off x="1306710" y="2440501"/>
        <a:ext cx="3482578" cy="2089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=""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=""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=""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="" xmlns:a16="http://schemas.microsoft.com/office/drawing/2014/main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2055" y="2036619"/>
            <a:ext cx="7372350" cy="2525062"/>
          </a:xfrm>
        </p:spPr>
        <p:txBody>
          <a:bodyPr/>
          <a:lstStyle/>
          <a:p>
            <a:r>
              <a:rPr lang="ru-RU" sz="4400" b="0" dirty="0" smtClean="0">
                <a:latin typeface="Times New Roman" pitchFamily="18" charset="0"/>
                <a:cs typeface="Times New Roman" pitchFamily="18" charset="0"/>
              </a:rPr>
              <a:t>Информационная система </a:t>
            </a:r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«Автоматизированная система диспетчеризации» 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="" xmlns:a16="http://schemas.microsoft.com/office/drawing/2014/main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1. Автоматизация процесса выдачи заданий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 Автоматизация процесса планирования ездок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3. Автоматизация сбора информации о самосвале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4. Планирование с учетом готовности экскаваторов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5. Синхронизация работы системы (расписание)</a:t>
            </a:r>
          </a:p>
          <a:p>
            <a:pPr marL="0" indent="45720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Автоматизированная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система диспетчеризации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(АСД)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8540" y="1728834"/>
            <a:ext cx="8085859" cy="4533421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АСД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– это не просто программное обеспечение, а комплексное решение, объединяющее аппаратные и программные компоненты, предназначенное для автоматизации, оптимизации и контроля процессов управления транспортными средствами в режиме реального времени.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контексте работы самосвалов, например, в горнодобывающей промышленности, АСД становится незаменимым инструментом, позволяющим повысить производительность, снизить затраты и обеспечить безопасность.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1190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1159" y="373347"/>
            <a:ext cx="7886700" cy="638036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Определения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3959" y="1011383"/>
            <a:ext cx="8343900" cy="5469315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Наряд-задание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наряд на работы, содержащий их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перечисление 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условия выполнения. Создается и учитывается в книге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выдачи нарядов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смену.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Наряд-допуск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наряд, формируемый на работы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повышенной опасности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Определяет место выполнения, а также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содержание деятельности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 зонах с повышенной опасностью и условия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ее безопасного проведения.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Электронная цифровая подпись (ЭЦП)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USB-ключ либо карта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которая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необходима для идентификации личности. Позволяет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вести электронный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документооборот внутри компании или с ее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внешними контрагентами.</a:t>
            </a:r>
          </a:p>
          <a:p>
            <a:pPr marL="0" indent="0"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3480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373347"/>
            <a:ext cx="7886700" cy="638036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Цели внедрения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АСД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1730543503"/>
              </p:ext>
            </p:extLst>
          </p:nvPr>
        </p:nvGraphicFramePr>
        <p:xfrm>
          <a:off x="124690" y="1011383"/>
          <a:ext cx="8922327" cy="5834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5462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3" y="373346"/>
            <a:ext cx="7886700" cy="7211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Предпосылки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193706"/>
            <a:ext cx="7886700" cy="365321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Информация переходит в цифровой вид.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том числе для оформления нарядной системы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и наряд-допусков.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Взаимодействие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цифровом пространстве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помогает легко отслеживать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контролировать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актуальность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данных.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1339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8" y="373346"/>
            <a:ext cx="7886700" cy="1081381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Выгоды от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перевода документооборота в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цифровой формат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1500895380"/>
              </p:ext>
            </p:extLst>
          </p:nvPr>
        </p:nvGraphicFramePr>
        <p:xfrm>
          <a:off x="734291" y="1690254"/>
          <a:ext cx="7786254" cy="4447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2745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3" y="165528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Выдача и согласование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наряд-задания в цифровом виде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262261882"/>
              </p:ext>
            </p:extLst>
          </p:nvPr>
        </p:nvGraphicFramePr>
        <p:xfrm>
          <a:off x="415636" y="1397000"/>
          <a:ext cx="8548255" cy="5083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0414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1995" y="373346"/>
            <a:ext cx="7886700" cy="67959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Получение наряда работником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13163"/>
            <a:ext cx="7886700" cy="3653219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Прохождение турникета при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входе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территорию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предприятия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Прохождение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предсменного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медицинского осмотра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Получение наряд-задания на участке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Отметка в табельной об убытии на объект</a:t>
            </a:r>
          </a:p>
          <a:p>
            <a:pPr marL="514350" indent="-514350">
              <a:buAutoNum type="arabicPeriod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По прибытии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объект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отметка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начало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работы</a:t>
            </a:r>
          </a:p>
          <a:p>
            <a:pPr marL="514350" indent="-514350">
              <a:buAutoNum type="arabicPeriod"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566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1996" y="29021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Управление цифровыми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наряд-допусками: плюсы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311647246"/>
              </p:ext>
            </p:extLst>
          </p:nvPr>
        </p:nvGraphicFramePr>
        <p:xfrm>
          <a:off x="1524000" y="1840345"/>
          <a:ext cx="6096000" cy="4532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976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6" y="207098"/>
            <a:ext cx="7886700" cy="887418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Изменение наряда в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смене и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фиксация информации о ходе процессов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2509" y="1221426"/>
            <a:ext cx="8478982" cy="520386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Нарушения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Внесение информации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через мобильное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приложение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обнаружении отклонения/нарушения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Изменение наряда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Оперативное согласование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утверждение измененного наряда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 помощью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цифрового мобильного устройства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Информация </a:t>
            </a:r>
            <a:endParaRPr lang="ru-RU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Информация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режиме онлайн доступна любому уровню управления (без передаточных звеньев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ЭЦП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Проставление подписей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изменении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наряда с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помощью цифрового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мобильного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устройства 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применения ЭЦП сотрудников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1706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2" y="373346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Использование электронной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цифровой подписи (ЭЦП)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5632" y="2135815"/>
            <a:ext cx="7886700" cy="3653219"/>
          </a:xfrm>
        </p:spPr>
        <p:txBody>
          <a:bodyPr/>
          <a:lstStyle/>
          <a:p>
            <a:pPr marL="0" indent="0" algn="ctr">
              <a:buNone/>
            </a:pPr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ЭЦП применяют в соответствии с Федеральным законом от 6 апреля 2011 года </a:t>
            </a:r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N63-ФЗ </a:t>
            </a:r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«Об электронной подписи» </a:t>
            </a:r>
            <a:endParaRPr lang="ru-RU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Участники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системы документооборота должны договориться об условиях, при выполнении которых они будут принимать документы, удостоверенные ЭЦП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162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373347"/>
            <a:ext cx="7886700" cy="735018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Процедура внедрения ЭЦП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7814" y="1318399"/>
            <a:ext cx="8113568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Внести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корректировки в Положение о нарядной системе на предприятии о применении ЭЦП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2. Выбрать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удостоверяющий центр: внешний или организовать внутренний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3. Выдать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сотрудникам ЭЦП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3550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193237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Формирование электронного</a:t>
            </a:r>
            <a:br>
              <a:rPr lang="ru-RU" dirty="0">
                <a:latin typeface="Times New Roman" pitchFamily="18" charset="0"/>
                <a:cs typeface="Times New Roman" pitchFamily="18" charset="0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</a:rPr>
              <a:t>документооборота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484783"/>
            <a:ext cx="7886700" cy="441130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Цифровые инструменты: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98764" y="2055397"/>
            <a:ext cx="3906981" cy="1200329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Кадровые системы (карточка сотрудника, учет средств индивидуальной защиты, квалификация)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188527" y="2041542"/>
            <a:ext cx="3525982" cy="1200329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оценки и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контроля компетенций,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пройденные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инструктажи</a:t>
            </a:r>
          </a:p>
          <a:p>
            <a:pPr algn="ctr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98764" y="3752165"/>
            <a:ext cx="3906981" cy="64633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управления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контролем доступа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188527" y="3781968"/>
            <a:ext cx="3525982" cy="64633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dirty="0" err="1">
                <a:latin typeface="Times New Roman" pitchFamily="18" charset="0"/>
                <a:cs typeface="Times New Roman" pitchFamily="18" charset="0"/>
              </a:rPr>
              <a:t>Предсменные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медицинские осмотры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98764" y="4770476"/>
            <a:ext cx="3906981" cy="64633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планирования</a:t>
            </a:r>
          </a:p>
          <a:p>
            <a:pPr algn="ctr"/>
            <a:r>
              <a:rPr lang="ru-RU" dirty="0">
                <a:latin typeface="Times New Roman" pitchFamily="18" charset="0"/>
                <a:cs typeface="Times New Roman" pitchFamily="18" charset="0"/>
              </a:rPr>
              <a:t>производства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ТОиР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53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373347"/>
            <a:ext cx="7886700" cy="638036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Обзор компонентов АСД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49" y="1553925"/>
            <a:ext cx="8072005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1. Центральный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сервер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ядро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системы, отвечающее за обработку данных, хранение информации, управление базой данных и координацию работы всех компонентов.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6827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373347"/>
            <a:ext cx="7886700" cy="638036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Обзор компонентов АСД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53925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2. Диспетчерский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пункт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рабочее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место диспетчера, оснащенное компьютерами, мониторами и специализированным программным обеспечением, обеспечивающее визуализацию данных, управление транспортными средствами и взаимодействие с водителями.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280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276362"/>
            <a:ext cx="7886700" cy="582618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Центральный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пункт управления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4573" y="999744"/>
            <a:ext cx="8380268" cy="531792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основе диспетчеризации лежит центральный пункт управления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пульт диспетчера.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нему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подключаются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сотни различных датчиков и контроллеров, которые установлены по всему зданию: в котельных, на вентиляционных установках, насосных станциях,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электрощитовом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оборудовании и др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Эти устройства непрерывно собирают данные о состоянии инженерных систем и передают их в программное обеспечение диспетчеризации. ПО обрабатывает информацию, визуализирует её в виде графиков, таблиц, цветных индикаторов и оповещений, позволяя мгновенно оценить ситуацию.</a:t>
            </a: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Дополнительно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система может автоматически выполнять команды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например, отключать неисправное оборудование, переключать на резервные режимы или запускать аварийные процедуры.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3666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5850" y="290217"/>
            <a:ext cx="7886700" cy="638036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Обзор компонентов АСД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011383"/>
            <a:ext cx="7886700" cy="5165530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3. Бортовое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оборудование (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On-Board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Unit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- OBU):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Устанавливается на каждом транспортном средстве (самосвале) и включает в себя: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GPS/ГЛОНАСС модуль: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определение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местоположения и скорости движения.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Модуль связи (GSM/GPRS/LTE):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передача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данных на центральный сервер.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Датчики: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сбор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данных о расходе топлива, загрузке, температуре двигателя, давлении в шинах и других параметрах.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Интерфейс с водителем (опционально):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дисплей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клавиатура или сенсорный экран для обмена информацией с диспетчером.</a:t>
            </a:r>
            <a:endParaRPr lang="ru-RU" i="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656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373346"/>
            <a:ext cx="7886700" cy="707309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Обзор компонентов АСД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5632" y="958180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4. Программное </a:t>
            </a:r>
            <a:r>
              <a:rPr lang="ru-RU" sz="2400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обеспечение (ПО):</a:t>
            </a:r>
            <a:r>
              <a:rPr lang="ru-RU" sz="24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Специализированное ПО, установленное на сервере и диспетчерских компьютерах, обеспечивающее: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Геоинформационную систему (ГИС):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отображение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карт местности, построение маршрутов, анализ дорожных условий.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Модуль управления заданиями: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формирование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, распределение и контроль выполнения заданий.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Модуль мониторинга транспорта: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отображение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местоположения, скорости, расхода топлива и других параметров.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Модуль аналитики и отчетности: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сбор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и анализ данных, формирование отчетов, визуализация информации.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Модуль интеграции: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обеспечение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взаимодействия с другими системами (ERP, CRM и т.д.).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5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207092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1. Автоматизация процесса выдачи заданий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7814" y="1424033"/>
            <a:ext cx="8293678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Автоматизация выдачи заданий в АСД – это сложный процесс, требующий интеграции различных модулей и учета множества факторов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Алгоритмы распределения заданий: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АСД использует различные алгоритмы для распределения заданий между самосвалами, такие как: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Алгоритм ближайшего соседа: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задание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назначается ближайшему свободному самосвалу.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Алгоритм наименьшей нагрузки: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задание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назначается самосвалу с наименьшей текущей загрузкой.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Алгоритм приоритета: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задание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назначается самосвалу с наивысшим приоритетом.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Комбинированные алгоритмы: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использование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нескольких алгоритмов одновременно для оптимизации распределения заданий.</a:t>
            </a:r>
          </a:p>
          <a:p>
            <a:pPr marL="0" indent="0" algn="just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170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207092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1. Автоматизация процесса выдачи заданий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7814" y="1424033"/>
            <a:ext cx="8293678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Автоматизация выдачи заданий в АСД – это сложный процесс, требующий интеграции различных модулей и учета множества факторов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Критерии выбора самосвала: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выборе самосвала для выполнения задания учитываются следующие критерии: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Местоположение: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расстояние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до точки погрузки.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Техническое состояние: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наличие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неисправностей, необходимость технического обслуживания.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Грузоподъемность: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соответствие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грузоподъемности самосвала объему груза.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Тип кузова: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соответствие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типа кузова типу груза.</a:t>
            </a:r>
          </a:p>
          <a:p>
            <a:pPr marL="742950" lvl="1" indent="-285750" algn="just">
              <a:buFont typeface="Arial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Квалификация водителя: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соответствие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квалификации водителя типу транспортного средства и сложности задания.</a:t>
            </a:r>
          </a:p>
          <a:p>
            <a:pPr marL="0" indent="0" algn="just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0437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207092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1. Автоматизация процесса выдачи заданий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7814" y="1424033"/>
            <a:ext cx="8293678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Автоматизация выдачи заданий в АСД – это сложный процесс, требующий интеграции различных модулей и учета множества факторов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Интеграция с системой управления ресурсами предприятия (ERP):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получение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информации о наличии материалов, планах производства, потребностях в транспорте.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Автоматическое уведомление водителей: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отправка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сообщений на бортовой компьютер или мобильное приложение.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Подтверждение получения задания водителем.</a:t>
            </a: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контроль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начала и окончания выполнения задания.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1644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2" y="193239"/>
            <a:ext cx="7886700" cy="457927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2. Автоматизация процесса планирования ездок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2396" y="673675"/>
            <a:ext cx="8427026" cy="6172148"/>
          </a:xfrm>
        </p:spPr>
        <p:txBody>
          <a:bodyPr/>
          <a:lstStyle/>
          <a:p>
            <a:pPr marL="0" indent="0" algn="just"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ru-RU" sz="1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Автоматизация </a:t>
            </a:r>
            <a:r>
              <a:rPr lang="ru-RU" sz="1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планирования ездок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– это ключевой элемент оптимизации работы самосвалов.</a:t>
            </a:r>
          </a:p>
          <a:p>
            <a:pPr marL="0" indent="0" algn="just"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1. Использование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ГИС: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построение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оптимальных маршрутов с учетом:</a:t>
            </a:r>
          </a:p>
          <a:p>
            <a:pPr marL="457200" lvl="1" indent="0" algn="just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Дорожных условий: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выбор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маршрута с наилучшим покрытием, наименьшей загруженностью.</a:t>
            </a:r>
          </a:p>
          <a:p>
            <a:pPr marL="457200" lvl="1" indent="0" algn="just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Ограничений по скорости: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соблюдение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правил дорожного движения.</a:t>
            </a:r>
          </a:p>
          <a:p>
            <a:pPr marL="457200" lvl="1" indent="0" algn="just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Платности дорог: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минимизация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затрат на платные дороги.</a:t>
            </a:r>
          </a:p>
          <a:p>
            <a:pPr marL="457200" lvl="1" indent="0" algn="just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Наличия мостов и тоннелей: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учет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ограничений по высоте и весу.</a:t>
            </a:r>
          </a:p>
          <a:p>
            <a:pPr marL="457200" lvl="1" indent="0" algn="just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Времени года и погодных условий: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учет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влияния погоды на дорожные условия.</a:t>
            </a:r>
          </a:p>
          <a:p>
            <a:pPr marL="0" indent="0" algn="just"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2. Прогнозирование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времени в пути: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учет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lvl="1" indent="0" algn="just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Исторических данных о времени в пути: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анализ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данных за предыдущие периоды.</a:t>
            </a:r>
          </a:p>
          <a:p>
            <a:pPr marL="457200" lvl="1" indent="0" algn="just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Текущих дорожных условий: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информация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о пробках, авариях и других событиях.</a:t>
            </a:r>
          </a:p>
          <a:p>
            <a:pPr marL="457200" lvl="1" indent="0" algn="just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Прогноза погоды: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учет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влияния погоды на скорость движения.</a:t>
            </a:r>
          </a:p>
          <a:p>
            <a:pPr marL="0" indent="0" algn="just"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3. Оптимизация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загрузки: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расчет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оптимальной загрузки самосвала с учетом:</a:t>
            </a:r>
          </a:p>
          <a:p>
            <a:pPr marL="457200" lvl="1" indent="0" algn="just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Грузоподъемности самосвала.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 algn="just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Объема груза.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 algn="just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Типа груза.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 algn="just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Ограничений по весу на дорогах.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1800" b="1" dirty="0" smtClean="0">
                <a:latin typeface="Times New Roman" pitchFamily="18" charset="0"/>
                <a:cs typeface="Times New Roman" pitchFamily="18" charset="0"/>
              </a:rPr>
              <a:t>4. Планирование </a:t>
            </a:r>
            <a:r>
              <a:rPr lang="ru-RU" sz="1800" b="1" dirty="0">
                <a:latin typeface="Times New Roman" pitchFamily="18" charset="0"/>
                <a:cs typeface="Times New Roman" pitchFamily="18" charset="0"/>
              </a:rPr>
              <a:t>технического обслуживания: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 АСД может интегрироваться с системой управления техническим обслуживанием и планировать техническое обслуживание самосвалов с учетом их пробега и срока службы.</a:t>
            </a:r>
          </a:p>
          <a:p>
            <a:pPr marL="0" indent="0" algn="just">
              <a:buNone/>
            </a:pP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133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3" y="373346"/>
            <a:ext cx="7886700" cy="457927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3. Автоматизация сбора информации о самосвале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8317" y="861198"/>
            <a:ext cx="8352559" cy="3653219"/>
          </a:xfrm>
        </p:spPr>
        <p:txBody>
          <a:bodyPr/>
          <a:lstStyle/>
          <a:p>
            <a:pPr marL="0" indent="0">
              <a:buNone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Автоматический </a:t>
            </a:r>
            <a:r>
              <a:rPr lang="ru-RU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сбор информации о самосвалах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позволяет диспетчеру иметь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полную картину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о состоянии техники и оперативно реагировать на любые отклонения.</a:t>
            </a:r>
          </a:p>
          <a:p>
            <a:pPr marL="0" indent="0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Интеграция с бортовыми системами диагностики (OBD):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получение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данных о:</a:t>
            </a:r>
          </a:p>
          <a:p>
            <a:pPr marL="457200" lvl="1" indent="0">
              <a:buNone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Оборотах двигателя.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Температуре охлаждающей жидкости.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Давлении масла.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Напряжении в бортовой сети.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Кодах ошибок.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Датчики контроля топлива (расходомеры, датчики уровня топлива):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Измерение расхода топлива в режиме реального времени.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Обнаружение несанкционированного слива топлива.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Датчики контроля загрузки (</a:t>
            </a:r>
            <a:r>
              <a:rPr lang="ru-RU" sz="1600" b="1" dirty="0" err="1">
                <a:latin typeface="Times New Roman" pitchFamily="18" charset="0"/>
                <a:cs typeface="Times New Roman" pitchFamily="18" charset="0"/>
              </a:rPr>
              <a:t>тензодатчики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, ультразвуковые датчики):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Измерение веса груза.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Предотвращение перегрузок.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Датчики контроля давления в шинах (TPMS):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Измерение давления в шинах.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Предотвращение повреждений шин.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Тревожные кнопки: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водитель 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может отправить сигнал тревоги в случае возникновения аварии или другой чрезвычайной ситуации.</a:t>
            </a:r>
          </a:p>
          <a:p>
            <a:pPr marL="0" indent="0">
              <a:buNone/>
            </a:pPr>
            <a:r>
              <a:rPr lang="ru-RU" sz="1600" b="1" dirty="0" err="1">
                <a:latin typeface="Times New Roman" pitchFamily="18" charset="0"/>
                <a:cs typeface="Times New Roman" pitchFamily="18" charset="0"/>
              </a:rPr>
              <a:t>Видеомониторинг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камеры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, установленные в кабине и на кузове самосвала, позволяют диспетчеру видеть, что происходит вокруг транспортного средства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6030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373347"/>
            <a:ext cx="7886700" cy="430218"/>
          </a:xfrm>
        </p:spPr>
        <p:txBody>
          <a:bodyPr/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4. Планирование с учетом готовности экскаваторов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833490"/>
            <a:ext cx="7886700" cy="3653219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Синхронизация 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работы самосвалов и экскаваторов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это важный фактор повышения производительности.</a:t>
            </a:r>
          </a:p>
          <a:p>
            <a:pPr marL="0" indent="0"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Онлайн-мониторинг состояния экскаваторов: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Получение информации о:</a:t>
            </a:r>
          </a:p>
          <a:p>
            <a:pPr marL="457200" lvl="1" indent="0"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Рабочем состоянии (работает, простаивает, на ремонте).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Производительности (тонн/час).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Типе погружаемого материала.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Автоматическое перенаправление самосвалов: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случае выхода из строя экскаватора.</a:t>
            </a:r>
          </a:p>
          <a:p>
            <a:pPr marL="0" indent="0"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Алгоритмы оптимизации последовательности погрузки: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минимизация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времени ожидания самосвалов.</a:t>
            </a:r>
          </a:p>
          <a:p>
            <a:pPr marL="0" indent="0">
              <a:buNone/>
            </a:pP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Интеграция с системой управления материалами: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получение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информации о наличии материалов на складе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702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4287" y="260275"/>
            <a:ext cx="7886700" cy="460162"/>
          </a:xfrm>
        </p:spPr>
        <p:txBody>
          <a:bodyPr/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5. Синхронизация работы системы (расписание)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49" y="750362"/>
            <a:ext cx="8072005" cy="573033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Координация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работы всех элементов системы для достижения максимальной эффективности.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Гибкое расписание: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возможность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быстрой корректировки расписания в случае изменения обстоятельств.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Автоматическое уведомление: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всех изменениях в расписании.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Интеграция с личными кабинетами водителей: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отображения графика работы и получения заданий.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Интеграция с системами управления персоналом: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автоматического учета рабочего времени.</a:t>
            </a:r>
          </a:p>
          <a:p>
            <a:pPr marL="0" indent="0"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6161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3450" y="274128"/>
            <a:ext cx="7886700" cy="515581"/>
          </a:xfrm>
        </p:spPr>
        <p:txBody>
          <a:bodyPr/>
          <a:lstStyle/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6. Интеграция АСД с другими системами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027452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ERP (</a:t>
            </a:r>
            <a:r>
              <a:rPr lang="ru-RU" b="1" dirty="0" err="1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Enterprise</a:t>
            </a: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Resource</a:t>
            </a: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Planning</a:t>
            </a: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):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планирование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ресурсов предприятия, управление финансами, запасами, персоналом.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CRM (</a:t>
            </a:r>
            <a:r>
              <a:rPr lang="ru-RU" b="1" dirty="0" err="1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Customer</a:t>
            </a: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Relationship</a:t>
            </a: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):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управление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взаимоотношениями с клиентами.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Система управления складом (WMS):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контроль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перемещения материалов.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Система управления техническим обслуживанием и ремонтом (</a:t>
            </a:r>
            <a:r>
              <a:rPr lang="ru-RU" b="1" dirty="0" err="1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ТОиР</a:t>
            </a: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):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планирование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и учет технического обслуживания техники.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Система контроля доступа: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управление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доступом на территорию предприятия.</a:t>
            </a:r>
          </a:p>
          <a:p>
            <a:pPr marL="0" indent="0"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9384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7304" y="373347"/>
            <a:ext cx="7886700" cy="596472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7. Анализ данных и отчетность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49" y="1179852"/>
            <a:ext cx="8044295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Сбор данных: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автоматический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сбор данных обо всех аспектах работы системы.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Анализ данных: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выявление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закономерностей, тенденций и проблемных зон.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Отчетность: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формирование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отчетов о производительности, расходе топлива, техническом состоянии техники и других параметрах.</a:t>
            </a:r>
          </a:p>
          <a:p>
            <a:pPr marL="0" indent="0" algn="just">
              <a:buNone/>
            </a:pPr>
            <a:r>
              <a:rPr lang="ru-RU" b="1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Визуализация данных: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представление </a:t>
            </a:r>
            <a:r>
              <a:rPr lang="ru-RU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данных в виде графиков, диаграмм и карт.</a:t>
            </a:r>
          </a:p>
          <a:p>
            <a:pPr marL="0" indent="0" algn="just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4259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0432" y="373347"/>
            <a:ext cx="8113568" cy="58261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8. Обеспечение безопасности в АСД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2618" y="1124433"/>
            <a:ext cx="8215746" cy="5567312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Контроль скорости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автоматическое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ограничение скорости движения.</a:t>
            </a:r>
          </a:p>
          <a:p>
            <a:pPr marL="0" indent="0" algn="just">
              <a:buNone/>
            </a:pP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Геозоны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установка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виртуальных границ, при пересечении которых система отправляет уведомление.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Контроль усталости водителей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анализ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стиля вождения и предупреждение о необходимости отдыха.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Системы предупреждения столкновений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предотвращение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аварий.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Интеграция с системами видеонаблюдения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контроля обстановки вокруг транспортного средства.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6570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7304" y="373347"/>
            <a:ext cx="7886700" cy="651890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9. Тенденции развития АСД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025237"/>
            <a:ext cx="8205354" cy="5455461"/>
          </a:xfrm>
        </p:spPr>
        <p:txBody>
          <a:bodyPr/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Использование искусственного интеллекта (ИИ) и машинного обучения (МО):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прогнозирования поломок, оптимизации маршрутов и повышения безопасности.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Развитие автономного транспорта: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автоматизация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управления транспортными средствами.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Интеграция с технологиями "Интернет вещей" (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IoT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):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сбора большего количества данных о состоянии техники и окружающей среде.</a:t>
            </a:r>
          </a:p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Развитие облачных решений: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обеспечения доступа к системе из любого места и в любое время.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0365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868" y="373347"/>
            <a:ext cx="7886700" cy="693454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Виды систем диспетчеризации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1056" y="1110580"/>
            <a:ext cx="8044294" cy="801347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зависимости от масштабов и специфики объекта диспетчеризация может быть: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71056" y="2108768"/>
            <a:ext cx="829887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Локальной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управляет системами одного здания или небольшого объекта, например, жилого комплекса или офиса.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Распределённой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объединяет несколько зданий или объектов в единую сеть, что удобно для крупных предприятий, торговых центров и производственных комплексов.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Облачной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современные решения, позволяющие контролировать и управлять объектами удалённо через интернет с любого устройства, где бы вы ни находились.</a:t>
            </a:r>
          </a:p>
        </p:txBody>
      </p:sp>
    </p:spTree>
    <p:extLst>
      <p:ext uri="{BB962C8B-B14F-4D97-AF65-F5344CB8AC3E}">
        <p14:creationId xmlns:p14="http://schemas.microsoft.com/office/powerpoint/2010/main" val="15884239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207093"/>
            <a:ext cx="8168986" cy="116450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Отличия и взаимодействие автоматизации и диспетчеризации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9994" y="1415380"/>
            <a:ext cx="8529205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Автоматизация и диспетчеризация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два взаимодополняющих процесса, которые вместе создают полноценную систему управления инженерными комплексами современного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здания.</a:t>
            </a: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Несмотря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на тесную связь, эти понятия выполняют разные функции и играют разные роли в обеспечении эффективной работы инженерных систем.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3093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373347"/>
            <a:ext cx="7886700" cy="748872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Автоматизация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1558" y="1304543"/>
            <a:ext cx="8390659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Автоматизация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способность инженерных систем выполнять необходимые операции самостоятельно, без участия человека.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программно-технический комплекс, который управляет оборудованием в соответствии с заданными алгоритмами, автоматически регулирует параметры, корректирует работу систем в зависимости от изменений внешних и внутренних условий.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Примеры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автоматическая регулировка температуры отопления, управление вентиляцией в зависимости от качества воздуха, включение освещения по датчикам движения.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3398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1887" y="373346"/>
            <a:ext cx="7886700" cy="7211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Диспетчеризация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2282" y="1318397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Диспетчеризация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это система контроля и мониторинга, которая собирает данные с автоматизированных систем и предоставляет их в удобном виде оператору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диспетчеру.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как «глаз и ухо» персонала, позволяющие следить за состоянием инженерных комплексов в режиме реального времени, получать оповещения о неполадках, анализировать тренды и принимать управленческие решения.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53853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6135</TotalTime>
  <Words>2211</Words>
  <Application>Microsoft Office PowerPoint</Application>
  <PresentationFormat>Экран (4:3)</PresentationFormat>
  <Paragraphs>245</Paragraphs>
  <Slides>36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36</vt:i4>
      </vt:variant>
    </vt:vector>
  </HeadingPairs>
  <TitlesOfParts>
    <vt:vector size="38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Информационная система «Автоматизированная система диспетчеризации» </vt:lpstr>
      <vt:lpstr>План лекции</vt:lpstr>
      <vt:lpstr>Автоматизированная система диспетчеризации (АСД)</vt:lpstr>
      <vt:lpstr>Определения</vt:lpstr>
      <vt:lpstr>Цели внедрения АСД</vt:lpstr>
      <vt:lpstr>Предпосылки</vt:lpstr>
      <vt:lpstr>Выгоды от перевода документооборота в цифровой формат</vt:lpstr>
      <vt:lpstr>Выдача и согласование наряд-задания в цифровом виде</vt:lpstr>
      <vt:lpstr>Получение наряда работником</vt:lpstr>
      <vt:lpstr>Управление цифровыми наряд-допусками: плюсы</vt:lpstr>
      <vt:lpstr>Изменение наряда в смене и фиксация информации о ходе процессов</vt:lpstr>
      <vt:lpstr>Использование электронной цифровой подписи (ЭЦП)</vt:lpstr>
      <vt:lpstr>Процедура внедрения ЭЦП</vt:lpstr>
      <vt:lpstr>Формирование электронного документооборота</vt:lpstr>
      <vt:lpstr>Обзор компонентов АСД</vt:lpstr>
      <vt:lpstr>Обзор компонентов АСД</vt:lpstr>
      <vt:lpstr>Центральный пункт управления</vt:lpstr>
      <vt:lpstr>Обзор компонентов АСД</vt:lpstr>
      <vt:lpstr>Обзор компонентов АСД</vt:lpstr>
      <vt:lpstr>1. Автоматизация процесса выдачи заданий</vt:lpstr>
      <vt:lpstr>1. Автоматизация процесса выдачи заданий</vt:lpstr>
      <vt:lpstr>1. Автоматизация процесса выдачи заданий</vt:lpstr>
      <vt:lpstr>2. Автоматизация процесса планирования ездок</vt:lpstr>
      <vt:lpstr>3. Автоматизация сбора информации о самосвале</vt:lpstr>
      <vt:lpstr>4. Планирование с учетом готовности экскаваторов</vt:lpstr>
      <vt:lpstr>5. Синхронизация работы системы (расписание)</vt:lpstr>
      <vt:lpstr>6. Интеграция АСД с другими системами</vt:lpstr>
      <vt:lpstr>7. Анализ данных и отчетность</vt:lpstr>
      <vt:lpstr>8. Обеспечение безопасности в АСД</vt:lpstr>
      <vt:lpstr>9. Тенденции развития АСД</vt:lpstr>
      <vt:lpstr>Виды систем диспетчеризации</vt:lpstr>
      <vt:lpstr>Отличия и взаимодействие автоматизации и диспетчеризации</vt:lpstr>
      <vt:lpstr>Автоматизация</vt:lpstr>
      <vt:lpstr>Диспетчеризация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366</cp:revision>
  <dcterms:created xsi:type="dcterms:W3CDTF">2015-07-29T11:14:37Z</dcterms:created>
  <dcterms:modified xsi:type="dcterms:W3CDTF">2026-06-26T21:14:58Z</dcterms:modified>
</cp:coreProperties>
</file>