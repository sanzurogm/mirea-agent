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1" r:id="rId1"/>
    <p:sldMasterId id="2147483673" r:id="rId2"/>
  </p:sldMasterIdLst>
  <p:notesMasterIdLst>
    <p:notesMasterId r:id="rId47"/>
  </p:notesMasterIdLst>
  <p:sldIdLst>
    <p:sldId id="325" r:id="rId3"/>
    <p:sldId id="293" r:id="rId4"/>
    <p:sldId id="294" r:id="rId5"/>
    <p:sldId id="326" r:id="rId6"/>
    <p:sldId id="327" r:id="rId7"/>
    <p:sldId id="328" r:id="rId8"/>
    <p:sldId id="329" r:id="rId9"/>
    <p:sldId id="330" r:id="rId10"/>
    <p:sldId id="331" r:id="rId11"/>
    <p:sldId id="345" r:id="rId12"/>
    <p:sldId id="346" r:id="rId13"/>
    <p:sldId id="347" r:id="rId14"/>
    <p:sldId id="348" r:id="rId15"/>
    <p:sldId id="349" r:id="rId16"/>
    <p:sldId id="350" r:id="rId17"/>
    <p:sldId id="351" r:id="rId18"/>
    <p:sldId id="332" r:id="rId19"/>
    <p:sldId id="333" r:id="rId20"/>
    <p:sldId id="353" r:id="rId21"/>
    <p:sldId id="354" r:id="rId22"/>
    <p:sldId id="352" r:id="rId23"/>
    <p:sldId id="355" r:id="rId24"/>
    <p:sldId id="356" r:id="rId25"/>
    <p:sldId id="357" r:id="rId26"/>
    <p:sldId id="358" r:id="rId27"/>
    <p:sldId id="359" r:id="rId28"/>
    <p:sldId id="360" r:id="rId29"/>
    <p:sldId id="361" r:id="rId30"/>
    <p:sldId id="362" r:id="rId31"/>
    <p:sldId id="363" r:id="rId32"/>
    <p:sldId id="364" r:id="rId33"/>
    <p:sldId id="365" r:id="rId34"/>
    <p:sldId id="334" r:id="rId35"/>
    <p:sldId id="335" r:id="rId36"/>
    <p:sldId id="336" r:id="rId37"/>
    <p:sldId id="337" r:id="rId38"/>
    <p:sldId id="338" r:id="rId39"/>
    <p:sldId id="339" r:id="rId40"/>
    <p:sldId id="340" r:id="rId41"/>
    <p:sldId id="341" r:id="rId42"/>
    <p:sldId id="342" r:id="rId43"/>
    <p:sldId id="343" r:id="rId44"/>
    <p:sldId id="344" r:id="rId45"/>
    <p:sldId id="264" r:id="rId4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82C1"/>
    <a:srgbClr val="295CA8"/>
    <a:srgbClr val="C60A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808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-190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55DAA9F-C8DB-42FC-A22E-C4D847CE8354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F13DB03F-3752-4D06-BD83-3DF6344EE261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1. Итеративность. </a:t>
          </a:r>
        </a:p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Работа над проектом делится на короткие циклы, или итерации (обычно 1−4 недели), в конце каждой из которых команда выпускает работоспособную часть продукта. Это позволяет получать обратную связь от заказчика и вносить изменения на ранних этапах.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3832B258-087A-4D16-BD61-2EFBEF9EBB73}" type="parTrans" cxnId="{D52F82ED-BA84-4AC1-A63F-7E5A3FDAF187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F6A702EA-000B-46FB-9FDB-67C3D8E09419}" type="sibTrans" cxnId="{D52F82ED-BA84-4AC1-A63F-7E5A3FDAF187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1F1633D8-6783-4F7B-9015-45D39F8EC0FA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2. Адаптивность. </a:t>
          </a:r>
        </a:p>
        <a:p>
          <a:r>
            <a:rPr lang="ru-RU" dirty="0" err="1" smtClean="0">
              <a:latin typeface="Times New Roman" pitchFamily="18" charset="0"/>
              <a:cs typeface="Times New Roman" pitchFamily="18" charset="0"/>
            </a:rPr>
            <a:t>Agile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-подход приветствует изменения даже на поздних стадиях разработки. Вместо строгого следования первоначальному плану, команда готова адаптироваться к новым требованиям и условиям рынка.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2077030E-7931-4823-9378-7E4C71EBB619}" type="parTrans" cxnId="{7111AA6B-A7B1-463C-9FA2-C16F22DF5C07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988B46B3-53F8-488E-BEC1-A89C1C8C7801}" type="sibTrans" cxnId="{7111AA6B-A7B1-463C-9FA2-C16F22DF5C07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BC0137F-DC88-44AB-8DD3-9538AA55F140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3. Фокус на результате. </a:t>
          </a:r>
        </a:p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Главный приоритет — поставка ценного, рабочего продукта, а не исчерпывающей документации. Качество продукта и удовлетворенность заказчика стоят на первом месте.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BBFEAAA8-5208-4DB3-BE34-3330FA8C38A0}" type="parTrans" cxnId="{12066DCA-D912-4B4A-A360-ED52DA29A7EB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EB72C930-336F-4312-A052-4F9A2393B95C}" type="sibTrans" cxnId="{12066DCA-D912-4B4A-A360-ED52DA29A7EB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6686BFD0-1B59-4A3B-B7EC-0DB0AB17B87B}" type="pres">
      <dgm:prSet presAssocID="{F55DAA9F-C8DB-42FC-A22E-C4D847CE8354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3160602E-9781-4267-A58E-E23222C1729C}" type="pres">
      <dgm:prSet presAssocID="{F13DB03F-3752-4D06-BD83-3DF6344EE261}" presName="node" presStyleLbl="node1" presStyleIdx="0" presStyleCnt="3" custScaleY="14222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8EAAE12-2B6D-4F94-A3AD-8334D1AD4EF3}" type="pres">
      <dgm:prSet presAssocID="{F6A702EA-000B-46FB-9FDB-67C3D8E09419}" presName="sibTrans" presStyleCnt="0"/>
      <dgm:spPr/>
    </dgm:pt>
    <dgm:pt modelId="{D53F5F03-748D-4AD0-A62F-62B4936FBE11}" type="pres">
      <dgm:prSet presAssocID="{1F1633D8-6783-4F7B-9015-45D39F8EC0FA}" presName="node" presStyleLbl="node1" presStyleIdx="1" presStyleCnt="3" custScaleY="14222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C269AB0-5040-48EB-BBD7-43DDACA4D25E}" type="pres">
      <dgm:prSet presAssocID="{988B46B3-53F8-488E-BEC1-A89C1C8C7801}" presName="sibTrans" presStyleCnt="0"/>
      <dgm:spPr/>
    </dgm:pt>
    <dgm:pt modelId="{EC4E8346-5738-48D7-82C8-F16710D86C20}" type="pres">
      <dgm:prSet presAssocID="{CBC0137F-DC88-44AB-8DD3-9538AA55F140}" presName="node" presStyleLbl="node1" presStyleIdx="2" presStyleCnt="3" custScaleY="14222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D52F82ED-BA84-4AC1-A63F-7E5A3FDAF187}" srcId="{F55DAA9F-C8DB-42FC-A22E-C4D847CE8354}" destId="{F13DB03F-3752-4D06-BD83-3DF6344EE261}" srcOrd="0" destOrd="0" parTransId="{3832B258-087A-4D16-BD61-2EFBEF9EBB73}" sibTransId="{F6A702EA-000B-46FB-9FDB-67C3D8E09419}"/>
    <dgm:cxn modelId="{A2EFA312-87EF-4DDF-BCD7-238EBCB2F9BA}" type="presOf" srcId="{F13DB03F-3752-4D06-BD83-3DF6344EE261}" destId="{3160602E-9781-4267-A58E-E23222C1729C}" srcOrd="0" destOrd="0" presId="urn:microsoft.com/office/officeart/2005/8/layout/default"/>
    <dgm:cxn modelId="{DFB45B00-4932-46C7-8D48-354961F4625D}" type="presOf" srcId="{F55DAA9F-C8DB-42FC-A22E-C4D847CE8354}" destId="{6686BFD0-1B59-4A3B-B7EC-0DB0AB17B87B}" srcOrd="0" destOrd="0" presId="urn:microsoft.com/office/officeart/2005/8/layout/default"/>
    <dgm:cxn modelId="{D8C65EE6-1928-4D20-9C1B-ADC044F8BB2E}" type="presOf" srcId="{1F1633D8-6783-4F7B-9015-45D39F8EC0FA}" destId="{D53F5F03-748D-4AD0-A62F-62B4936FBE11}" srcOrd="0" destOrd="0" presId="urn:microsoft.com/office/officeart/2005/8/layout/default"/>
    <dgm:cxn modelId="{12066DCA-D912-4B4A-A360-ED52DA29A7EB}" srcId="{F55DAA9F-C8DB-42FC-A22E-C4D847CE8354}" destId="{CBC0137F-DC88-44AB-8DD3-9538AA55F140}" srcOrd="2" destOrd="0" parTransId="{BBFEAAA8-5208-4DB3-BE34-3330FA8C38A0}" sibTransId="{EB72C930-336F-4312-A052-4F9A2393B95C}"/>
    <dgm:cxn modelId="{003A2EE2-E9EB-41A3-A1BE-97AB39FA0D94}" type="presOf" srcId="{CBC0137F-DC88-44AB-8DD3-9538AA55F140}" destId="{EC4E8346-5738-48D7-82C8-F16710D86C20}" srcOrd="0" destOrd="0" presId="urn:microsoft.com/office/officeart/2005/8/layout/default"/>
    <dgm:cxn modelId="{7111AA6B-A7B1-463C-9FA2-C16F22DF5C07}" srcId="{F55DAA9F-C8DB-42FC-A22E-C4D847CE8354}" destId="{1F1633D8-6783-4F7B-9015-45D39F8EC0FA}" srcOrd="1" destOrd="0" parTransId="{2077030E-7931-4823-9378-7E4C71EBB619}" sibTransId="{988B46B3-53F8-488E-BEC1-A89C1C8C7801}"/>
    <dgm:cxn modelId="{22B8C359-07D1-4866-8A72-108418A4CA4B}" type="presParOf" srcId="{6686BFD0-1B59-4A3B-B7EC-0DB0AB17B87B}" destId="{3160602E-9781-4267-A58E-E23222C1729C}" srcOrd="0" destOrd="0" presId="urn:microsoft.com/office/officeart/2005/8/layout/default"/>
    <dgm:cxn modelId="{83DA090C-D385-484D-AB32-BDA379275828}" type="presParOf" srcId="{6686BFD0-1B59-4A3B-B7EC-0DB0AB17B87B}" destId="{98EAAE12-2B6D-4F94-A3AD-8334D1AD4EF3}" srcOrd="1" destOrd="0" presId="urn:microsoft.com/office/officeart/2005/8/layout/default"/>
    <dgm:cxn modelId="{3CCF9A4B-8E7B-4DED-BE0F-4809B136A98B}" type="presParOf" srcId="{6686BFD0-1B59-4A3B-B7EC-0DB0AB17B87B}" destId="{D53F5F03-748D-4AD0-A62F-62B4936FBE11}" srcOrd="2" destOrd="0" presId="urn:microsoft.com/office/officeart/2005/8/layout/default"/>
    <dgm:cxn modelId="{96BA3838-C118-46FA-8F48-759F1D7A0927}" type="presParOf" srcId="{6686BFD0-1B59-4A3B-B7EC-0DB0AB17B87B}" destId="{4C269AB0-5040-48EB-BBD7-43DDACA4D25E}" srcOrd="3" destOrd="0" presId="urn:microsoft.com/office/officeart/2005/8/layout/default"/>
    <dgm:cxn modelId="{978AAFE9-CEB6-4AF3-9892-855C85AF8326}" type="presParOf" srcId="{6686BFD0-1B59-4A3B-B7EC-0DB0AB17B87B}" destId="{EC4E8346-5738-48D7-82C8-F16710D86C20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29017B0-F141-4C2B-8480-45A216BC96CA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3094E55E-99A3-491A-A3FE-9606BF5C153E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1. Люди и взаимодействие важнее процессов и инструментов. </a:t>
          </a:r>
        </a:p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Эта ценность подчеркивает, что успешность проекта в первую очередь зависит от эффективного общения и сотрудничества между людьми, а не от строгого следования заранее определенным процессам или использования сложных инструментов.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09C14EE9-0571-4B0F-9C3F-28CBA7FD4ACE}" type="parTrans" cxnId="{CA73FA47-94AB-4DA1-A943-64A352B5A30D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71553BD9-974A-457F-A895-306D398565FC}" type="sibTrans" cxnId="{CA73FA47-94AB-4DA1-A943-64A352B5A30D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991BCE63-55F4-45BD-8364-AF4F2EFDCF41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2. Работающий продукт важнее исчерпывающей документации. </a:t>
          </a:r>
        </a:p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Вместо того чтобы тратить много времени на создание подробной документации, </a:t>
          </a:r>
          <a:r>
            <a:rPr lang="ru-RU" dirty="0" err="1" smtClean="0">
              <a:latin typeface="Times New Roman" pitchFamily="18" charset="0"/>
              <a:cs typeface="Times New Roman" pitchFamily="18" charset="0"/>
            </a:rPr>
            <a:t>Agile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-подход фокусируется на регулярной поставке рабочего продукта. Это позволяет заказчику быстрее увидеть результаты и дать обратную связь.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BA957712-9062-4AC5-AF65-F2C3380C87F8}" type="parTrans" cxnId="{43E0C77A-A48A-4AC5-A858-11EF66219873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36794B20-A946-4CCD-A591-4158979D7A20}" type="sibTrans" cxnId="{43E0C77A-A48A-4AC5-A858-11EF66219873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9FAADABD-57C0-4A28-BFC2-953883DC1968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3. Сотрудничество с заказчиком важнее согласования условий контракта. </a:t>
          </a:r>
        </a:p>
        <a:p>
          <a:r>
            <a:rPr lang="ru-RU" dirty="0" err="1" smtClean="0">
              <a:latin typeface="Times New Roman" pitchFamily="18" charset="0"/>
              <a:cs typeface="Times New Roman" pitchFamily="18" charset="0"/>
            </a:rPr>
            <a:t>Agile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 предполагает постоянное и тесное взаимодействие с заказчиком на протяжении всего проекта. Это помогает команде лучше понять его потребности и ожидания.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B723E165-E250-43F2-9E20-45B834DC3CE2}" type="parTrans" cxnId="{11355BD6-C604-4762-874A-B4E494FA191A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B21A1CAD-DAD0-47EE-A0B0-099BB02B14F9}" type="sibTrans" cxnId="{11355BD6-C604-4762-874A-B4E494FA191A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496E322B-422C-4E73-AE40-878E66E884B5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4. Готовность к изменениям важнее следования первоначальному плану. </a:t>
          </a:r>
        </a:p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В быстро меняющемся мире невозможно предсказать все заранее. </a:t>
          </a:r>
          <a:r>
            <a:rPr lang="ru-RU" dirty="0" err="1" smtClean="0">
              <a:latin typeface="Times New Roman" pitchFamily="18" charset="0"/>
              <a:cs typeface="Times New Roman" pitchFamily="18" charset="0"/>
            </a:rPr>
            <a:t>Agile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-подход признает неизбежность изменений и учит команды принимать их как возможность для улучшения продукта.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A00AC287-AEF5-41C6-9127-18A71FB0E73A}" type="parTrans" cxnId="{F5DE2926-752F-4A12-A08A-7D6DB0E10062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AAC7E1AD-282F-473A-9DD9-486E1F30A391}" type="sibTrans" cxnId="{F5DE2926-752F-4A12-A08A-7D6DB0E10062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F251DBD9-8DC3-47DA-BCD0-51231B3B193D}" type="pres">
      <dgm:prSet presAssocID="{329017B0-F141-4C2B-8480-45A216BC96CA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17A78A1-B1B7-4A0C-B273-02C185778FF9}" type="pres">
      <dgm:prSet presAssocID="{3094E55E-99A3-491A-A3FE-9606BF5C153E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AD313F9-846E-4B7B-9865-3308361B7BFA}" type="pres">
      <dgm:prSet presAssocID="{71553BD9-974A-457F-A895-306D398565FC}" presName="sibTrans" presStyleCnt="0"/>
      <dgm:spPr/>
    </dgm:pt>
    <dgm:pt modelId="{DD0BFF1F-B23C-478A-B11C-59D0312A555F}" type="pres">
      <dgm:prSet presAssocID="{991BCE63-55F4-45BD-8364-AF4F2EFDCF41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7810B31-94CB-4ADF-B7D6-8EACFB016058}" type="pres">
      <dgm:prSet presAssocID="{36794B20-A946-4CCD-A591-4158979D7A20}" presName="sibTrans" presStyleCnt="0"/>
      <dgm:spPr/>
    </dgm:pt>
    <dgm:pt modelId="{D0715B35-D515-407A-8FC4-9B62571452E7}" type="pres">
      <dgm:prSet presAssocID="{9FAADABD-57C0-4A28-BFC2-953883DC1968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6627EDB-3825-43DC-BC85-13C732609B70}" type="pres">
      <dgm:prSet presAssocID="{B21A1CAD-DAD0-47EE-A0B0-099BB02B14F9}" presName="sibTrans" presStyleCnt="0"/>
      <dgm:spPr/>
    </dgm:pt>
    <dgm:pt modelId="{05C53690-AF97-4DD2-A710-45A9708B4462}" type="pres">
      <dgm:prSet presAssocID="{496E322B-422C-4E73-AE40-878E66E884B5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11355BD6-C604-4762-874A-B4E494FA191A}" srcId="{329017B0-F141-4C2B-8480-45A216BC96CA}" destId="{9FAADABD-57C0-4A28-BFC2-953883DC1968}" srcOrd="2" destOrd="0" parTransId="{B723E165-E250-43F2-9E20-45B834DC3CE2}" sibTransId="{B21A1CAD-DAD0-47EE-A0B0-099BB02B14F9}"/>
    <dgm:cxn modelId="{43E0C77A-A48A-4AC5-A858-11EF66219873}" srcId="{329017B0-F141-4C2B-8480-45A216BC96CA}" destId="{991BCE63-55F4-45BD-8364-AF4F2EFDCF41}" srcOrd="1" destOrd="0" parTransId="{BA957712-9062-4AC5-AF65-F2C3380C87F8}" sibTransId="{36794B20-A946-4CCD-A591-4158979D7A20}"/>
    <dgm:cxn modelId="{B542CF7F-75FB-47D9-9C18-2A3886DA4689}" type="presOf" srcId="{9FAADABD-57C0-4A28-BFC2-953883DC1968}" destId="{D0715B35-D515-407A-8FC4-9B62571452E7}" srcOrd="0" destOrd="0" presId="urn:microsoft.com/office/officeart/2005/8/layout/default"/>
    <dgm:cxn modelId="{C3C1CB32-AD62-419B-B9A9-9126DEBB7437}" type="presOf" srcId="{496E322B-422C-4E73-AE40-878E66E884B5}" destId="{05C53690-AF97-4DD2-A710-45A9708B4462}" srcOrd="0" destOrd="0" presId="urn:microsoft.com/office/officeart/2005/8/layout/default"/>
    <dgm:cxn modelId="{F5DE2926-752F-4A12-A08A-7D6DB0E10062}" srcId="{329017B0-F141-4C2B-8480-45A216BC96CA}" destId="{496E322B-422C-4E73-AE40-878E66E884B5}" srcOrd="3" destOrd="0" parTransId="{A00AC287-AEF5-41C6-9127-18A71FB0E73A}" sibTransId="{AAC7E1AD-282F-473A-9DD9-486E1F30A391}"/>
    <dgm:cxn modelId="{CDE351A5-64F5-414B-99F5-594EFF66DD76}" type="presOf" srcId="{3094E55E-99A3-491A-A3FE-9606BF5C153E}" destId="{717A78A1-B1B7-4A0C-B273-02C185778FF9}" srcOrd="0" destOrd="0" presId="urn:microsoft.com/office/officeart/2005/8/layout/default"/>
    <dgm:cxn modelId="{CA73FA47-94AB-4DA1-A943-64A352B5A30D}" srcId="{329017B0-F141-4C2B-8480-45A216BC96CA}" destId="{3094E55E-99A3-491A-A3FE-9606BF5C153E}" srcOrd="0" destOrd="0" parTransId="{09C14EE9-0571-4B0F-9C3F-28CBA7FD4ACE}" sibTransId="{71553BD9-974A-457F-A895-306D398565FC}"/>
    <dgm:cxn modelId="{C4ED2468-EE1D-4744-97DE-4BE42DAA0C54}" type="presOf" srcId="{991BCE63-55F4-45BD-8364-AF4F2EFDCF41}" destId="{DD0BFF1F-B23C-478A-B11C-59D0312A555F}" srcOrd="0" destOrd="0" presId="urn:microsoft.com/office/officeart/2005/8/layout/default"/>
    <dgm:cxn modelId="{1567CD73-C483-4445-91E2-CFE752A1C30F}" type="presOf" srcId="{329017B0-F141-4C2B-8480-45A216BC96CA}" destId="{F251DBD9-8DC3-47DA-BCD0-51231B3B193D}" srcOrd="0" destOrd="0" presId="urn:microsoft.com/office/officeart/2005/8/layout/default"/>
    <dgm:cxn modelId="{5607A200-F6C1-48ED-8266-AF399ECB1D08}" type="presParOf" srcId="{F251DBD9-8DC3-47DA-BCD0-51231B3B193D}" destId="{717A78A1-B1B7-4A0C-B273-02C185778FF9}" srcOrd="0" destOrd="0" presId="urn:microsoft.com/office/officeart/2005/8/layout/default"/>
    <dgm:cxn modelId="{FA7C9DEF-1FD9-4922-B48B-BAF15F7F3B50}" type="presParOf" srcId="{F251DBD9-8DC3-47DA-BCD0-51231B3B193D}" destId="{EAD313F9-846E-4B7B-9865-3308361B7BFA}" srcOrd="1" destOrd="0" presId="urn:microsoft.com/office/officeart/2005/8/layout/default"/>
    <dgm:cxn modelId="{8548F6E9-A48C-49CC-B13E-FC7FEF6DBB87}" type="presParOf" srcId="{F251DBD9-8DC3-47DA-BCD0-51231B3B193D}" destId="{DD0BFF1F-B23C-478A-B11C-59D0312A555F}" srcOrd="2" destOrd="0" presId="urn:microsoft.com/office/officeart/2005/8/layout/default"/>
    <dgm:cxn modelId="{FB13B4C0-DEEE-4F23-9235-8E9A9A9D51C3}" type="presParOf" srcId="{F251DBD9-8DC3-47DA-BCD0-51231B3B193D}" destId="{17810B31-94CB-4ADF-B7D6-8EACFB016058}" srcOrd="3" destOrd="0" presId="urn:microsoft.com/office/officeart/2005/8/layout/default"/>
    <dgm:cxn modelId="{04D75F45-927E-417A-B6AC-D3DA616F3228}" type="presParOf" srcId="{F251DBD9-8DC3-47DA-BCD0-51231B3B193D}" destId="{D0715B35-D515-407A-8FC4-9B62571452E7}" srcOrd="4" destOrd="0" presId="urn:microsoft.com/office/officeart/2005/8/layout/default"/>
    <dgm:cxn modelId="{35FF4601-B135-4DAF-A5C0-B4FFE212F877}" type="presParOf" srcId="{F251DBD9-8DC3-47DA-BCD0-51231B3B193D}" destId="{66627EDB-3825-43DC-BC85-13C732609B70}" srcOrd="5" destOrd="0" presId="urn:microsoft.com/office/officeart/2005/8/layout/default"/>
    <dgm:cxn modelId="{0ED9A8B3-D2E4-47D9-8190-3514D3268CFD}" type="presParOf" srcId="{F251DBD9-8DC3-47DA-BCD0-51231B3B193D}" destId="{05C53690-AF97-4DD2-A710-45A9708B4462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2F41B23-A037-42BD-A6AD-C2113A098933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D9BC77E-2270-47F1-A65B-5AF535F7764C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1. Роли. </a:t>
          </a:r>
        </a:p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Владелец продукта (</a:t>
          </a:r>
          <a:r>
            <a:rPr lang="en-US" dirty="0" smtClean="0">
              <a:latin typeface="Times New Roman" pitchFamily="18" charset="0"/>
              <a:cs typeface="Times New Roman" pitchFamily="18" charset="0"/>
            </a:rPr>
            <a:t>Product Owner), Scrum-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мастер (</a:t>
          </a:r>
          <a:r>
            <a:rPr lang="en-US" dirty="0" smtClean="0">
              <a:latin typeface="Times New Roman" pitchFamily="18" charset="0"/>
              <a:cs typeface="Times New Roman" pitchFamily="18" charset="0"/>
            </a:rPr>
            <a:t>Scrum Master) 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и Команда разработки (</a:t>
          </a:r>
          <a:r>
            <a:rPr lang="en-US" dirty="0" smtClean="0">
              <a:latin typeface="Times New Roman" pitchFamily="18" charset="0"/>
              <a:cs typeface="Times New Roman" pitchFamily="18" charset="0"/>
            </a:rPr>
            <a:t>Development Team).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43C1F348-29A1-4896-9F4E-D9326E2D0017}" type="parTrans" cxnId="{1DBE191E-BE08-4EFF-8821-5C112690D126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90B94B25-F374-411D-B63E-6DB417BA5D86}" type="sibTrans" cxnId="{1DBE191E-BE08-4EFF-8821-5C112690D126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59C4630A-122C-45DB-B069-05A991EE3EAC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2. Спринты. </a:t>
          </a:r>
        </a:p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Короткие, фиксированные по времени итерации, в течение которых команда создает инкремент продукта.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141E40C5-77FB-4786-8CA5-8A72C7F2DEBB}" type="parTrans" cxnId="{8A040C37-BB33-4227-A4E8-13DD0A42F42A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D0092E0D-BEA1-4C5F-AB25-3DF99340A240}" type="sibTrans" cxnId="{8A040C37-BB33-4227-A4E8-13DD0A42F42A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7E5D84F4-E4B4-4CD1-AEF3-9C188E42137F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3. </a:t>
          </a:r>
          <a:r>
            <a:rPr lang="ru-RU" dirty="0" err="1" smtClean="0">
              <a:latin typeface="Times New Roman" pitchFamily="18" charset="0"/>
              <a:cs typeface="Times New Roman" pitchFamily="18" charset="0"/>
            </a:rPr>
            <a:t>Бэклог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 продукта (</a:t>
          </a:r>
          <a:r>
            <a:rPr lang="ru-RU" dirty="0" err="1" smtClean="0">
              <a:latin typeface="Times New Roman" pitchFamily="18" charset="0"/>
              <a:cs typeface="Times New Roman" pitchFamily="18" charset="0"/>
            </a:rPr>
            <a:t>Product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dirty="0" err="1" smtClean="0">
              <a:latin typeface="Times New Roman" pitchFamily="18" charset="0"/>
              <a:cs typeface="Times New Roman" pitchFamily="18" charset="0"/>
            </a:rPr>
            <a:t>Backlog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). </a:t>
          </a:r>
        </a:p>
        <a:p>
          <a:r>
            <a:rPr lang="ru-RU" dirty="0" err="1" smtClean="0">
              <a:latin typeface="Times New Roman" pitchFamily="18" charset="0"/>
              <a:cs typeface="Times New Roman" pitchFamily="18" charset="0"/>
            </a:rPr>
            <a:t>Приоритизированный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 список всех требований к продукту.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C18CE4BB-F241-4827-8842-2806335A0D4D}" type="parTrans" cxnId="{A54324C4-6221-4645-B1F1-FBB5369D1DF0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148B32C9-56A6-47D1-BC15-A999EAE6541F}" type="sibTrans" cxnId="{A54324C4-6221-4645-B1F1-FBB5369D1DF0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92B23063-13FD-4842-84B4-A8451F4015F2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4. Ежедневные </a:t>
          </a:r>
          <a:r>
            <a:rPr lang="ru-RU" dirty="0" err="1" smtClean="0">
              <a:latin typeface="Times New Roman" pitchFamily="18" charset="0"/>
              <a:cs typeface="Times New Roman" pitchFamily="18" charset="0"/>
            </a:rPr>
            <a:t>стендапы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 (</a:t>
          </a:r>
          <a:r>
            <a:rPr lang="ru-RU" dirty="0" err="1" smtClean="0">
              <a:latin typeface="Times New Roman" pitchFamily="18" charset="0"/>
              <a:cs typeface="Times New Roman" pitchFamily="18" charset="0"/>
            </a:rPr>
            <a:t>Daily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dirty="0" err="1" smtClean="0">
              <a:latin typeface="Times New Roman" pitchFamily="18" charset="0"/>
              <a:cs typeface="Times New Roman" pitchFamily="18" charset="0"/>
            </a:rPr>
            <a:t>Scrum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). </a:t>
          </a:r>
        </a:p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Короткие ежедневные встречи, на которых команда синхронизирует свою работу и планирует следующий день.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5068EEEF-E219-41FD-9E73-DE0EA0229A6E}" type="parTrans" cxnId="{5D1AB46B-D417-4E34-809A-646228FACBE2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6DFDD4FB-F80D-4019-BC39-B039F0BA9427}" type="sibTrans" cxnId="{5D1AB46B-D417-4E34-809A-646228FACBE2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AE60C992-3A6D-4BA9-B7BB-3A12ED12B84B}" type="pres">
      <dgm:prSet presAssocID="{52F41B23-A037-42BD-A6AD-C2113A09893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F4891AB9-A5A1-4108-90DC-1EFB294645FD}" type="pres">
      <dgm:prSet presAssocID="{DD9BC77E-2270-47F1-A65B-5AF535F7764C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6819E6F-9353-43AB-85A6-71E2D06891EC}" type="pres">
      <dgm:prSet presAssocID="{90B94B25-F374-411D-B63E-6DB417BA5D86}" presName="sibTrans" presStyleCnt="0"/>
      <dgm:spPr/>
    </dgm:pt>
    <dgm:pt modelId="{1E29B35A-C8A8-4F0D-89BA-61A1E772DEA3}" type="pres">
      <dgm:prSet presAssocID="{59C4630A-122C-45DB-B069-05A991EE3EAC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9B381F0-179F-4462-B87D-B0ABB049A6FB}" type="pres">
      <dgm:prSet presAssocID="{D0092E0D-BEA1-4C5F-AB25-3DF99340A240}" presName="sibTrans" presStyleCnt="0"/>
      <dgm:spPr/>
    </dgm:pt>
    <dgm:pt modelId="{A61FA691-F720-4458-BA52-23CB5D340AAC}" type="pres">
      <dgm:prSet presAssocID="{7E5D84F4-E4B4-4CD1-AEF3-9C188E42137F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8CAEFAD-81C0-4132-9CC2-520D9E94F110}" type="pres">
      <dgm:prSet presAssocID="{148B32C9-56A6-47D1-BC15-A999EAE6541F}" presName="sibTrans" presStyleCnt="0"/>
      <dgm:spPr/>
    </dgm:pt>
    <dgm:pt modelId="{B6261992-A8F0-45B2-96DD-EC390D43A5DA}" type="pres">
      <dgm:prSet presAssocID="{92B23063-13FD-4842-84B4-A8451F4015F2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A54324C4-6221-4645-B1F1-FBB5369D1DF0}" srcId="{52F41B23-A037-42BD-A6AD-C2113A098933}" destId="{7E5D84F4-E4B4-4CD1-AEF3-9C188E42137F}" srcOrd="2" destOrd="0" parTransId="{C18CE4BB-F241-4827-8842-2806335A0D4D}" sibTransId="{148B32C9-56A6-47D1-BC15-A999EAE6541F}"/>
    <dgm:cxn modelId="{73A6EDA3-C90E-4F68-A70D-1808E52F23F4}" type="presOf" srcId="{92B23063-13FD-4842-84B4-A8451F4015F2}" destId="{B6261992-A8F0-45B2-96DD-EC390D43A5DA}" srcOrd="0" destOrd="0" presId="urn:microsoft.com/office/officeart/2005/8/layout/default"/>
    <dgm:cxn modelId="{5D1AB46B-D417-4E34-809A-646228FACBE2}" srcId="{52F41B23-A037-42BD-A6AD-C2113A098933}" destId="{92B23063-13FD-4842-84B4-A8451F4015F2}" srcOrd="3" destOrd="0" parTransId="{5068EEEF-E219-41FD-9E73-DE0EA0229A6E}" sibTransId="{6DFDD4FB-F80D-4019-BC39-B039F0BA9427}"/>
    <dgm:cxn modelId="{0C015947-82A0-4CFA-A699-2F64B8E9AB73}" type="presOf" srcId="{DD9BC77E-2270-47F1-A65B-5AF535F7764C}" destId="{F4891AB9-A5A1-4108-90DC-1EFB294645FD}" srcOrd="0" destOrd="0" presId="urn:microsoft.com/office/officeart/2005/8/layout/default"/>
    <dgm:cxn modelId="{CB3716FF-01A4-482A-9D6C-604716FBB982}" type="presOf" srcId="{59C4630A-122C-45DB-B069-05A991EE3EAC}" destId="{1E29B35A-C8A8-4F0D-89BA-61A1E772DEA3}" srcOrd="0" destOrd="0" presId="urn:microsoft.com/office/officeart/2005/8/layout/default"/>
    <dgm:cxn modelId="{8A040C37-BB33-4227-A4E8-13DD0A42F42A}" srcId="{52F41B23-A037-42BD-A6AD-C2113A098933}" destId="{59C4630A-122C-45DB-B069-05A991EE3EAC}" srcOrd="1" destOrd="0" parTransId="{141E40C5-77FB-4786-8CA5-8A72C7F2DEBB}" sibTransId="{D0092E0D-BEA1-4C5F-AB25-3DF99340A240}"/>
    <dgm:cxn modelId="{1DBE191E-BE08-4EFF-8821-5C112690D126}" srcId="{52F41B23-A037-42BD-A6AD-C2113A098933}" destId="{DD9BC77E-2270-47F1-A65B-5AF535F7764C}" srcOrd="0" destOrd="0" parTransId="{43C1F348-29A1-4896-9F4E-D9326E2D0017}" sibTransId="{90B94B25-F374-411D-B63E-6DB417BA5D86}"/>
    <dgm:cxn modelId="{4CCC0AB5-E0E0-4E3D-8B4C-F900409F3A07}" type="presOf" srcId="{52F41B23-A037-42BD-A6AD-C2113A098933}" destId="{AE60C992-3A6D-4BA9-B7BB-3A12ED12B84B}" srcOrd="0" destOrd="0" presId="urn:microsoft.com/office/officeart/2005/8/layout/default"/>
    <dgm:cxn modelId="{855C5FEE-7B5B-4420-82E3-98FE536F0C63}" type="presOf" srcId="{7E5D84F4-E4B4-4CD1-AEF3-9C188E42137F}" destId="{A61FA691-F720-4458-BA52-23CB5D340AAC}" srcOrd="0" destOrd="0" presId="urn:microsoft.com/office/officeart/2005/8/layout/default"/>
    <dgm:cxn modelId="{BCADF107-84E7-4F0F-941A-E0A31976DB16}" type="presParOf" srcId="{AE60C992-3A6D-4BA9-B7BB-3A12ED12B84B}" destId="{F4891AB9-A5A1-4108-90DC-1EFB294645FD}" srcOrd="0" destOrd="0" presId="urn:microsoft.com/office/officeart/2005/8/layout/default"/>
    <dgm:cxn modelId="{3EFF15F2-E68C-4C62-B8D3-B39B1D9BA363}" type="presParOf" srcId="{AE60C992-3A6D-4BA9-B7BB-3A12ED12B84B}" destId="{F6819E6F-9353-43AB-85A6-71E2D06891EC}" srcOrd="1" destOrd="0" presId="urn:microsoft.com/office/officeart/2005/8/layout/default"/>
    <dgm:cxn modelId="{F2A9789C-0386-48E3-A37D-2E15CDF9718E}" type="presParOf" srcId="{AE60C992-3A6D-4BA9-B7BB-3A12ED12B84B}" destId="{1E29B35A-C8A8-4F0D-89BA-61A1E772DEA3}" srcOrd="2" destOrd="0" presId="urn:microsoft.com/office/officeart/2005/8/layout/default"/>
    <dgm:cxn modelId="{CD207E86-F13E-4E5A-88BD-ACE27C459E7B}" type="presParOf" srcId="{AE60C992-3A6D-4BA9-B7BB-3A12ED12B84B}" destId="{89B381F0-179F-4462-B87D-B0ABB049A6FB}" srcOrd="3" destOrd="0" presId="urn:microsoft.com/office/officeart/2005/8/layout/default"/>
    <dgm:cxn modelId="{CEA8A3D8-C628-4E16-92CC-228588BA9328}" type="presParOf" srcId="{AE60C992-3A6D-4BA9-B7BB-3A12ED12B84B}" destId="{A61FA691-F720-4458-BA52-23CB5D340AAC}" srcOrd="4" destOrd="0" presId="urn:microsoft.com/office/officeart/2005/8/layout/default"/>
    <dgm:cxn modelId="{1DBFF881-8971-4E95-9016-9D0BA42C05BD}" type="presParOf" srcId="{AE60C992-3A6D-4BA9-B7BB-3A12ED12B84B}" destId="{08CAEFAD-81C0-4132-9CC2-520D9E94F110}" srcOrd="5" destOrd="0" presId="urn:microsoft.com/office/officeart/2005/8/layout/default"/>
    <dgm:cxn modelId="{C8760671-E028-47C4-8635-954664273B7E}" type="presParOf" srcId="{AE60C992-3A6D-4BA9-B7BB-3A12ED12B84B}" destId="{B6261992-A8F0-45B2-96DD-EC390D43A5DA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24ABF52-ECE7-4A66-B241-1C3A9C152258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574EC8D6-F6AF-4911-B098-E470A46E8607}">
      <dgm:prSet phldrT="[Текст]" custT="1"/>
      <dgm:spPr/>
      <dgm:t>
        <a:bodyPr/>
        <a:lstStyle/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1. Визуализация задач. </a:t>
          </a:r>
        </a:p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Работа отображается на </a:t>
          </a:r>
          <a:r>
            <a:rPr lang="ru-RU" sz="1800" dirty="0" err="1" smtClean="0">
              <a:latin typeface="Times New Roman" pitchFamily="18" charset="0"/>
              <a:cs typeface="Times New Roman" pitchFamily="18" charset="0"/>
            </a:rPr>
            <a:t>Kanban</a:t>
          </a:r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-доске с колонками, представляющими этапы процесса (например, «К выполнению», «В работе», «Готово»). Это обеспечивает прозрачность и помогает выявлять узкие места.</a:t>
          </a:r>
          <a:endParaRPr lang="ru-RU" sz="1800" dirty="0">
            <a:latin typeface="Times New Roman" pitchFamily="18" charset="0"/>
            <a:cs typeface="Times New Roman" pitchFamily="18" charset="0"/>
          </a:endParaRPr>
        </a:p>
      </dgm:t>
    </dgm:pt>
    <dgm:pt modelId="{EC59698D-D9E7-4ABB-AEC6-7E7A6A9D9839}" type="parTrans" cxnId="{CA603C29-A4D3-4EAD-B87C-404B5477A92C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161FD31E-B2E0-4D7D-866C-2BC11C425352}" type="sibTrans" cxnId="{CA603C29-A4D3-4EAD-B87C-404B5477A92C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8F2048BB-E40B-402F-ABDA-07CB0839EE96}">
      <dgm:prSet custT="1"/>
      <dgm:spPr/>
      <dgm:t>
        <a:bodyPr/>
        <a:lstStyle/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2. Ограничение работы в процессе. </a:t>
          </a:r>
        </a:p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Устанавливаются лимиты на количество задач, которые могут находиться в каждой колонке одновременно.</a:t>
          </a:r>
          <a:endParaRPr lang="ru-RU" sz="1800" dirty="0">
            <a:latin typeface="Times New Roman" pitchFamily="18" charset="0"/>
            <a:cs typeface="Times New Roman" pitchFamily="18" charset="0"/>
          </a:endParaRPr>
        </a:p>
      </dgm:t>
    </dgm:pt>
    <dgm:pt modelId="{A396C5F0-7B78-4AE6-A871-904CE763345B}" type="parTrans" cxnId="{03CDF3DA-ACFC-4CEE-84A3-C0F4D7A32DA9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BD27527E-918E-4933-A9BA-FA985D78ADED}" type="sibTrans" cxnId="{03CDF3DA-ACFC-4CEE-84A3-C0F4D7A32DA9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F7D99A68-A98F-45B2-A0F0-BE750B660E22}">
      <dgm:prSet custT="1"/>
      <dgm:spPr/>
      <dgm:t>
        <a:bodyPr/>
        <a:lstStyle/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3. Непрерывный поток. </a:t>
          </a:r>
        </a:p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Цель </a:t>
          </a:r>
          <a:r>
            <a:rPr lang="ru-RU" sz="1800" dirty="0" err="1" smtClean="0">
              <a:latin typeface="Times New Roman" pitchFamily="18" charset="0"/>
              <a:cs typeface="Times New Roman" pitchFamily="18" charset="0"/>
            </a:rPr>
            <a:t>Kanban</a:t>
          </a:r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 — обеспечить плавный и непрерывный поток работы от начала до конца, </a:t>
          </a:r>
          <a:r>
            <a:rPr lang="ru-RU" sz="1800" dirty="0" err="1" smtClean="0">
              <a:latin typeface="Times New Roman" pitchFamily="18" charset="0"/>
              <a:cs typeface="Times New Roman" pitchFamily="18" charset="0"/>
            </a:rPr>
            <a:t>минимизируя</a:t>
          </a:r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 задержки и простои.</a:t>
          </a:r>
          <a:endParaRPr lang="ru-RU" sz="1800" dirty="0">
            <a:latin typeface="Times New Roman" pitchFamily="18" charset="0"/>
            <a:cs typeface="Times New Roman" pitchFamily="18" charset="0"/>
          </a:endParaRPr>
        </a:p>
      </dgm:t>
    </dgm:pt>
    <dgm:pt modelId="{E5B76201-5632-4D38-8B8F-1E603DE61B5A}" type="parTrans" cxnId="{C2E1AE8A-4A90-4806-9EAC-98ED638CA0B4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6603EA59-95A4-4ABF-AB45-AF2D7D761444}" type="sibTrans" cxnId="{C2E1AE8A-4A90-4806-9EAC-98ED638CA0B4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14986364-ABB0-4755-84B2-EBADA32A7C28}" type="pres">
      <dgm:prSet presAssocID="{524ABF52-ECE7-4A66-B241-1C3A9C152258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377DEDC5-BC82-43FF-B5FF-C0024E472406}" type="pres">
      <dgm:prSet presAssocID="{574EC8D6-F6AF-4911-B098-E470A46E8607}" presName="node" presStyleLbl="node1" presStyleIdx="0" presStyleCnt="3" custScaleX="13662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99B0C8A-C2DD-4242-8A9B-6F1297FD8553}" type="pres">
      <dgm:prSet presAssocID="{161FD31E-B2E0-4D7D-866C-2BC11C425352}" presName="sibTrans" presStyleCnt="0"/>
      <dgm:spPr/>
    </dgm:pt>
    <dgm:pt modelId="{CF08A5E4-D77A-4A73-BECE-16E9DA902D95}" type="pres">
      <dgm:prSet presAssocID="{8F2048BB-E40B-402F-ABDA-07CB0839EE96}" presName="node" presStyleLbl="node1" presStyleIdx="1" presStyleCnt="3" custScaleX="12463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01B537D-824A-4E49-A818-09B3172B492E}" type="pres">
      <dgm:prSet presAssocID="{BD27527E-918E-4933-A9BA-FA985D78ADED}" presName="sibTrans" presStyleCnt="0"/>
      <dgm:spPr/>
    </dgm:pt>
    <dgm:pt modelId="{4DD380C2-6B20-4159-830B-7DD1D0D1DDD0}" type="pres">
      <dgm:prSet presAssocID="{F7D99A68-A98F-45B2-A0F0-BE750B660E22}" presName="node" presStyleLbl="node1" presStyleIdx="2" presStyleCnt="3" custScaleX="12465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03CDF3DA-ACFC-4CEE-84A3-C0F4D7A32DA9}" srcId="{524ABF52-ECE7-4A66-B241-1C3A9C152258}" destId="{8F2048BB-E40B-402F-ABDA-07CB0839EE96}" srcOrd="1" destOrd="0" parTransId="{A396C5F0-7B78-4AE6-A871-904CE763345B}" sibTransId="{BD27527E-918E-4933-A9BA-FA985D78ADED}"/>
    <dgm:cxn modelId="{C2E1AE8A-4A90-4806-9EAC-98ED638CA0B4}" srcId="{524ABF52-ECE7-4A66-B241-1C3A9C152258}" destId="{F7D99A68-A98F-45B2-A0F0-BE750B660E22}" srcOrd="2" destOrd="0" parTransId="{E5B76201-5632-4D38-8B8F-1E603DE61B5A}" sibTransId="{6603EA59-95A4-4ABF-AB45-AF2D7D761444}"/>
    <dgm:cxn modelId="{7DEE0BB7-9072-44BA-A13A-96BB8700EC1A}" type="presOf" srcId="{8F2048BB-E40B-402F-ABDA-07CB0839EE96}" destId="{CF08A5E4-D77A-4A73-BECE-16E9DA902D95}" srcOrd="0" destOrd="0" presId="urn:microsoft.com/office/officeart/2005/8/layout/default"/>
    <dgm:cxn modelId="{CA603C29-A4D3-4EAD-B87C-404B5477A92C}" srcId="{524ABF52-ECE7-4A66-B241-1C3A9C152258}" destId="{574EC8D6-F6AF-4911-B098-E470A46E8607}" srcOrd="0" destOrd="0" parTransId="{EC59698D-D9E7-4ABB-AEC6-7E7A6A9D9839}" sibTransId="{161FD31E-B2E0-4D7D-866C-2BC11C425352}"/>
    <dgm:cxn modelId="{1E96158E-3358-4003-84A5-05D66F16C48B}" type="presOf" srcId="{574EC8D6-F6AF-4911-B098-E470A46E8607}" destId="{377DEDC5-BC82-43FF-B5FF-C0024E472406}" srcOrd="0" destOrd="0" presId="urn:microsoft.com/office/officeart/2005/8/layout/default"/>
    <dgm:cxn modelId="{87BD5B41-E7FD-4999-9F80-3B3DE629D1D7}" type="presOf" srcId="{F7D99A68-A98F-45B2-A0F0-BE750B660E22}" destId="{4DD380C2-6B20-4159-830B-7DD1D0D1DDD0}" srcOrd="0" destOrd="0" presId="urn:microsoft.com/office/officeart/2005/8/layout/default"/>
    <dgm:cxn modelId="{D5C3819A-9CAC-4D33-AF19-5831521B98AE}" type="presOf" srcId="{524ABF52-ECE7-4A66-B241-1C3A9C152258}" destId="{14986364-ABB0-4755-84B2-EBADA32A7C28}" srcOrd="0" destOrd="0" presId="urn:microsoft.com/office/officeart/2005/8/layout/default"/>
    <dgm:cxn modelId="{ED65FCD2-3FE3-4B0A-915B-F014D765C813}" type="presParOf" srcId="{14986364-ABB0-4755-84B2-EBADA32A7C28}" destId="{377DEDC5-BC82-43FF-B5FF-C0024E472406}" srcOrd="0" destOrd="0" presId="urn:microsoft.com/office/officeart/2005/8/layout/default"/>
    <dgm:cxn modelId="{0F55044D-3A05-457B-A04F-3E341A56ABA6}" type="presParOf" srcId="{14986364-ABB0-4755-84B2-EBADA32A7C28}" destId="{F99B0C8A-C2DD-4242-8A9B-6F1297FD8553}" srcOrd="1" destOrd="0" presId="urn:microsoft.com/office/officeart/2005/8/layout/default"/>
    <dgm:cxn modelId="{434A31F3-2B65-4FF7-ADF0-63DAFC69198C}" type="presParOf" srcId="{14986364-ABB0-4755-84B2-EBADA32A7C28}" destId="{CF08A5E4-D77A-4A73-BECE-16E9DA902D95}" srcOrd="2" destOrd="0" presId="urn:microsoft.com/office/officeart/2005/8/layout/default"/>
    <dgm:cxn modelId="{7EF97EE4-A347-4A9B-B235-B6D1DB3D96C1}" type="presParOf" srcId="{14986364-ABB0-4755-84B2-EBADA32A7C28}" destId="{F01B537D-824A-4E49-A818-09B3172B492E}" srcOrd="3" destOrd="0" presId="urn:microsoft.com/office/officeart/2005/8/layout/default"/>
    <dgm:cxn modelId="{3CF8017E-D7B6-4641-97B3-69E899781CEA}" type="presParOf" srcId="{14986364-ABB0-4755-84B2-EBADA32A7C28}" destId="{4DD380C2-6B20-4159-830B-7DD1D0D1DDD0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24ABF52-ECE7-4A66-B241-1C3A9C152258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574EC8D6-F6AF-4911-B098-E470A46E8607}">
      <dgm:prSet phldrT="[Текст]" custT="1"/>
      <dgm:spPr/>
      <dgm:t>
        <a:bodyPr/>
        <a:lstStyle/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1. Визуализация рабочего процесса - все задачи должны быть видны на доске, что позволяет команде быстро оценить статус каждого проекта. </a:t>
          </a:r>
          <a:endParaRPr lang="ru-RU" sz="1800" dirty="0">
            <a:latin typeface="Times New Roman" pitchFamily="18" charset="0"/>
            <a:cs typeface="Times New Roman" pitchFamily="18" charset="0"/>
          </a:endParaRPr>
        </a:p>
      </dgm:t>
    </dgm:pt>
    <dgm:pt modelId="{EC59698D-D9E7-4ABB-AEC6-7E7A6A9D9839}" type="parTrans" cxnId="{CA603C29-A4D3-4EAD-B87C-404B5477A92C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161FD31E-B2E0-4D7D-866C-2BC11C425352}" type="sibTrans" cxnId="{CA603C29-A4D3-4EAD-B87C-404B5477A92C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4F26BF9B-A706-41D4-B318-44365344FDE2}">
      <dgm:prSet custT="1"/>
      <dgm:spPr/>
      <dgm:t>
        <a:bodyPr/>
        <a:lstStyle/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2. Ограничение незавершённой работы (WIP-лимиты) - для каждого этапа работы устанавливается лимит задач, которые могут находиться в работе одновременно. Это предотвращает перегрузку команды и помогает сосредоточиться на том, чтобы завершить начатые задачи, прежде чем браться за новые. </a:t>
          </a:r>
        </a:p>
      </dgm:t>
    </dgm:pt>
    <dgm:pt modelId="{124F53BF-EA43-42FF-BDCB-30300F9BFBF0}" type="parTrans" cxnId="{1C8741AC-8443-453A-9018-CD14A03B3C66}">
      <dgm:prSet/>
      <dgm:spPr/>
      <dgm:t>
        <a:bodyPr/>
        <a:lstStyle/>
        <a:p>
          <a:endParaRPr lang="ru-RU"/>
        </a:p>
      </dgm:t>
    </dgm:pt>
    <dgm:pt modelId="{CF3BD61C-C1F8-41AC-9925-591B5EB96CB6}" type="sibTrans" cxnId="{1C8741AC-8443-453A-9018-CD14A03B3C66}">
      <dgm:prSet/>
      <dgm:spPr/>
      <dgm:t>
        <a:bodyPr/>
        <a:lstStyle/>
        <a:p>
          <a:endParaRPr lang="ru-RU"/>
        </a:p>
      </dgm:t>
    </dgm:pt>
    <dgm:pt modelId="{8716045C-C33E-4D33-8243-D01ABA94F1DF}">
      <dgm:prSet custT="1"/>
      <dgm:spPr/>
      <dgm:t>
        <a:bodyPr/>
        <a:lstStyle/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3. Управление потоком - команда отслеживает, как задачи перемещаются по доске, и устраняет препятствия. Это позволяет добиться равномерного темпа работы и избежать ситуаций, когда задачи подолгу застревают на одном этапе. </a:t>
          </a:r>
        </a:p>
      </dgm:t>
    </dgm:pt>
    <dgm:pt modelId="{98F258D6-3ABD-41E5-8719-C151DD1B409E}" type="parTrans" cxnId="{E6D19B12-6E36-45D6-838E-F42F163EE786}">
      <dgm:prSet/>
      <dgm:spPr/>
      <dgm:t>
        <a:bodyPr/>
        <a:lstStyle/>
        <a:p>
          <a:endParaRPr lang="ru-RU"/>
        </a:p>
      </dgm:t>
    </dgm:pt>
    <dgm:pt modelId="{9FA3392E-4E51-4EE8-BF35-4B0D75CE9287}" type="sibTrans" cxnId="{E6D19B12-6E36-45D6-838E-F42F163EE786}">
      <dgm:prSet/>
      <dgm:spPr/>
      <dgm:t>
        <a:bodyPr/>
        <a:lstStyle/>
        <a:p>
          <a:endParaRPr lang="ru-RU"/>
        </a:p>
      </dgm:t>
    </dgm:pt>
    <dgm:pt modelId="{14223C30-F0D8-40DC-8CB4-EB9396D74108}">
      <dgm:prSet custT="1"/>
      <dgm:spPr/>
      <dgm:t>
        <a:bodyPr/>
        <a:lstStyle/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4. Повышение прозрачности - правила работы с доской должны быть ясными и понятными для всех участников процесса.</a:t>
          </a:r>
        </a:p>
      </dgm:t>
    </dgm:pt>
    <dgm:pt modelId="{3047FC53-CFF1-4F26-968F-C5E6719A2C1B}" type="parTrans" cxnId="{1BDE6274-93CE-415E-B6C8-6F1439E29109}">
      <dgm:prSet/>
      <dgm:spPr/>
      <dgm:t>
        <a:bodyPr/>
        <a:lstStyle/>
        <a:p>
          <a:endParaRPr lang="ru-RU"/>
        </a:p>
      </dgm:t>
    </dgm:pt>
    <dgm:pt modelId="{5C7B0031-9C64-4490-B3E2-189B093274AD}" type="sibTrans" cxnId="{1BDE6274-93CE-415E-B6C8-6F1439E29109}">
      <dgm:prSet/>
      <dgm:spPr/>
      <dgm:t>
        <a:bodyPr/>
        <a:lstStyle/>
        <a:p>
          <a:endParaRPr lang="ru-RU"/>
        </a:p>
      </dgm:t>
    </dgm:pt>
    <dgm:pt modelId="{14986364-ABB0-4755-84B2-EBADA32A7C28}" type="pres">
      <dgm:prSet presAssocID="{524ABF52-ECE7-4A66-B241-1C3A9C152258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377DEDC5-BC82-43FF-B5FF-C0024E472406}" type="pres">
      <dgm:prSet presAssocID="{574EC8D6-F6AF-4911-B098-E470A46E8607}" presName="node" presStyleLbl="node1" presStyleIdx="0" presStyleCnt="4" custScaleX="114886" custScaleY="122669" custLinFactNeighborX="-16771" custLinFactNeighborY="-7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99B0C8A-C2DD-4242-8A9B-6F1297FD8553}" type="pres">
      <dgm:prSet presAssocID="{161FD31E-B2E0-4D7D-866C-2BC11C425352}" presName="sibTrans" presStyleCnt="0"/>
      <dgm:spPr/>
    </dgm:pt>
    <dgm:pt modelId="{4A0B1D03-F804-4435-B00E-BDE746FDDD2B}" type="pres">
      <dgm:prSet presAssocID="{4F26BF9B-A706-41D4-B318-44365344FDE2}" presName="node" presStyleLbl="node1" presStyleIdx="1" presStyleCnt="4" custScaleX="188258" custScaleY="12117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BEC0251-C40D-4519-9123-E98E98AC062D}" type="pres">
      <dgm:prSet presAssocID="{CF3BD61C-C1F8-41AC-9925-591B5EB96CB6}" presName="sibTrans" presStyleCnt="0"/>
      <dgm:spPr/>
    </dgm:pt>
    <dgm:pt modelId="{412A222A-F130-42B8-9DF4-C878CB075310}" type="pres">
      <dgm:prSet presAssocID="{8716045C-C33E-4D33-8243-D01ABA94F1DF}" presName="node" presStyleLbl="node1" presStyleIdx="2" presStyleCnt="4" custScaleX="153990" custScaleY="13245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C8C9BB4-4C81-4BD8-BE7F-84078E394E28}" type="pres">
      <dgm:prSet presAssocID="{9FA3392E-4E51-4EE8-BF35-4B0D75CE9287}" presName="sibTrans" presStyleCnt="0"/>
      <dgm:spPr/>
    </dgm:pt>
    <dgm:pt modelId="{3949F750-6578-4FA6-85ED-AC2038AD20F3}" type="pres">
      <dgm:prSet presAssocID="{14223C30-F0D8-40DC-8CB4-EB9396D74108}" presName="node" presStyleLbl="node1" presStyleIdx="3" presStyleCnt="4" custScaleX="119254" custScaleY="13245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D8E54DEF-7DF0-4F9E-A0A3-245FD6882543}" type="presOf" srcId="{14223C30-F0D8-40DC-8CB4-EB9396D74108}" destId="{3949F750-6578-4FA6-85ED-AC2038AD20F3}" srcOrd="0" destOrd="0" presId="urn:microsoft.com/office/officeart/2005/8/layout/default"/>
    <dgm:cxn modelId="{A5D99D56-D8AA-4E80-BC15-68AE90EF2E57}" type="presOf" srcId="{8716045C-C33E-4D33-8243-D01ABA94F1DF}" destId="{412A222A-F130-42B8-9DF4-C878CB075310}" srcOrd="0" destOrd="0" presId="urn:microsoft.com/office/officeart/2005/8/layout/default"/>
    <dgm:cxn modelId="{1C8741AC-8443-453A-9018-CD14A03B3C66}" srcId="{524ABF52-ECE7-4A66-B241-1C3A9C152258}" destId="{4F26BF9B-A706-41D4-B318-44365344FDE2}" srcOrd="1" destOrd="0" parTransId="{124F53BF-EA43-42FF-BDCB-30300F9BFBF0}" sibTransId="{CF3BD61C-C1F8-41AC-9925-591B5EB96CB6}"/>
    <dgm:cxn modelId="{CA603C29-A4D3-4EAD-B87C-404B5477A92C}" srcId="{524ABF52-ECE7-4A66-B241-1C3A9C152258}" destId="{574EC8D6-F6AF-4911-B098-E470A46E8607}" srcOrd="0" destOrd="0" parTransId="{EC59698D-D9E7-4ABB-AEC6-7E7A6A9D9839}" sibTransId="{161FD31E-B2E0-4D7D-866C-2BC11C425352}"/>
    <dgm:cxn modelId="{A620D0E2-873A-4382-9C8C-D5A8B0296E27}" type="presOf" srcId="{524ABF52-ECE7-4A66-B241-1C3A9C152258}" destId="{14986364-ABB0-4755-84B2-EBADA32A7C28}" srcOrd="0" destOrd="0" presId="urn:microsoft.com/office/officeart/2005/8/layout/default"/>
    <dgm:cxn modelId="{37E60DDD-6FB7-469E-BF87-8E92FBD6BFC4}" type="presOf" srcId="{574EC8D6-F6AF-4911-B098-E470A46E8607}" destId="{377DEDC5-BC82-43FF-B5FF-C0024E472406}" srcOrd="0" destOrd="0" presId="urn:microsoft.com/office/officeart/2005/8/layout/default"/>
    <dgm:cxn modelId="{1BDE6274-93CE-415E-B6C8-6F1439E29109}" srcId="{524ABF52-ECE7-4A66-B241-1C3A9C152258}" destId="{14223C30-F0D8-40DC-8CB4-EB9396D74108}" srcOrd="3" destOrd="0" parTransId="{3047FC53-CFF1-4F26-968F-C5E6719A2C1B}" sibTransId="{5C7B0031-9C64-4490-B3E2-189B093274AD}"/>
    <dgm:cxn modelId="{A16E9ACB-69ED-4A84-B309-3D2916E256A8}" type="presOf" srcId="{4F26BF9B-A706-41D4-B318-44365344FDE2}" destId="{4A0B1D03-F804-4435-B00E-BDE746FDDD2B}" srcOrd="0" destOrd="0" presId="urn:microsoft.com/office/officeart/2005/8/layout/default"/>
    <dgm:cxn modelId="{E6D19B12-6E36-45D6-838E-F42F163EE786}" srcId="{524ABF52-ECE7-4A66-B241-1C3A9C152258}" destId="{8716045C-C33E-4D33-8243-D01ABA94F1DF}" srcOrd="2" destOrd="0" parTransId="{98F258D6-3ABD-41E5-8719-C151DD1B409E}" sibTransId="{9FA3392E-4E51-4EE8-BF35-4B0D75CE9287}"/>
    <dgm:cxn modelId="{B5522784-9C46-40E6-9E59-A47341B1BECD}" type="presParOf" srcId="{14986364-ABB0-4755-84B2-EBADA32A7C28}" destId="{377DEDC5-BC82-43FF-B5FF-C0024E472406}" srcOrd="0" destOrd="0" presId="urn:microsoft.com/office/officeart/2005/8/layout/default"/>
    <dgm:cxn modelId="{4A4F1B3B-6FF7-4329-B037-073BDC588326}" type="presParOf" srcId="{14986364-ABB0-4755-84B2-EBADA32A7C28}" destId="{F99B0C8A-C2DD-4242-8A9B-6F1297FD8553}" srcOrd="1" destOrd="0" presId="urn:microsoft.com/office/officeart/2005/8/layout/default"/>
    <dgm:cxn modelId="{E7D266B0-47FC-4297-8C2F-C29D1714C74D}" type="presParOf" srcId="{14986364-ABB0-4755-84B2-EBADA32A7C28}" destId="{4A0B1D03-F804-4435-B00E-BDE746FDDD2B}" srcOrd="2" destOrd="0" presId="urn:microsoft.com/office/officeart/2005/8/layout/default"/>
    <dgm:cxn modelId="{2F2181C8-31DF-4A74-AC76-50A96939E43F}" type="presParOf" srcId="{14986364-ABB0-4755-84B2-EBADA32A7C28}" destId="{CBEC0251-C40D-4519-9123-E98E98AC062D}" srcOrd="3" destOrd="0" presId="urn:microsoft.com/office/officeart/2005/8/layout/default"/>
    <dgm:cxn modelId="{8E1D11C1-68E5-47A2-81F6-3C62942EF81B}" type="presParOf" srcId="{14986364-ABB0-4755-84B2-EBADA32A7C28}" destId="{412A222A-F130-42B8-9DF4-C878CB075310}" srcOrd="4" destOrd="0" presId="urn:microsoft.com/office/officeart/2005/8/layout/default"/>
    <dgm:cxn modelId="{77DA8030-3A82-49DD-B9D5-CC8CD0280E64}" type="presParOf" srcId="{14986364-ABB0-4755-84B2-EBADA32A7C28}" destId="{4C8C9BB4-4C81-4BD8-BE7F-84078E394E28}" srcOrd="5" destOrd="0" presId="urn:microsoft.com/office/officeart/2005/8/layout/default"/>
    <dgm:cxn modelId="{3B1DB4B3-4DE5-4BC7-BE6D-3C669EEDC673}" type="presParOf" srcId="{14986364-ABB0-4755-84B2-EBADA32A7C28}" destId="{3949F750-6578-4FA6-85ED-AC2038AD20F3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E2CCA3B-7524-43EB-876F-5DF635B8896E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CB5B62CF-1D9D-4284-80DD-F05FBD584797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Создание карточек — на них записывают задачи, ответственных, сроки и приоритеты.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64C09F62-F189-4FF6-AE4D-1BED03555C9A}" type="parTrans" cxnId="{4AD8F72C-9085-4E46-9AC8-107F81FF7020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96FA5936-43B1-4058-A51B-089390B5A396}" type="sibTrans" cxnId="{4AD8F72C-9085-4E46-9AC8-107F81FF7020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E4DD544-ED2F-4EDA-A770-73785C12D68B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Перемещение карточек — когда наступает новый этап выполнения задачи, карточку перемещают в следующую колонку. Например, когда появляется новая задача, она попадает в колонку «Запланировано», как только кто-то начинает работать над ней, карточку переносят в «В работе», а по завершении — в «Готово».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7DC1D38E-D196-4A8C-A382-232EADC03EB9}" type="parTrans" cxnId="{712A5AA1-EBFA-4864-8551-C1BA810CD997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9C551D18-A131-4774-B3D3-326EFB08E5DF}" type="sibTrans" cxnId="{712A5AA1-EBFA-4864-8551-C1BA810CD997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FB1AA4FA-570D-47FF-94D1-D12ED344C1FC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Регулярные встречи для обсуждения прогресса — они позволяют команде синхронизироваться, обсудить возникшие проблемы и скорректировать планы при необходимости.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F630FAC5-D470-4045-907A-BC2F0E5F3EF9}" type="parTrans" cxnId="{D627D689-DFB0-43F4-A7E3-8B9FE310BBEF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6C5B70F7-7F0B-4151-8D75-73F8EAE75ED7}" type="sibTrans" cxnId="{D627D689-DFB0-43F4-A7E3-8B9FE310BBEF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617DD1B7-000B-45F5-8528-42570CD1AA67}" type="pres">
      <dgm:prSet presAssocID="{8E2CCA3B-7524-43EB-876F-5DF635B8896E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82D85F66-600F-4E2C-B074-A25611C2CD13}" type="pres">
      <dgm:prSet presAssocID="{CB5B62CF-1D9D-4284-80DD-F05FBD584797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F301A4F-E765-46A6-810C-8CE45A001F1C}" type="pres">
      <dgm:prSet presAssocID="{96FA5936-43B1-4058-A51B-089390B5A396}" presName="sibTrans" presStyleCnt="0"/>
      <dgm:spPr/>
    </dgm:pt>
    <dgm:pt modelId="{064C9A88-7778-47C1-A308-D146E2E511F5}" type="pres">
      <dgm:prSet presAssocID="{0E4DD544-ED2F-4EDA-A770-73785C12D68B}" presName="node" presStyleLbl="node1" presStyleIdx="1" presStyleCnt="3" custScaleX="12759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BE1307C-FF24-4EA7-A0E8-C905411BDF0C}" type="pres">
      <dgm:prSet presAssocID="{9C551D18-A131-4774-B3D3-326EFB08E5DF}" presName="sibTrans" presStyleCnt="0"/>
      <dgm:spPr/>
    </dgm:pt>
    <dgm:pt modelId="{EBFD4553-9F4C-40E4-8A12-83EDF11C5DE1}" type="pres">
      <dgm:prSet presAssocID="{FB1AA4FA-570D-47FF-94D1-D12ED344C1FC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01362875-E82B-4159-B479-0AC1CA1B772B}" type="presOf" srcId="{CB5B62CF-1D9D-4284-80DD-F05FBD584797}" destId="{82D85F66-600F-4E2C-B074-A25611C2CD13}" srcOrd="0" destOrd="0" presId="urn:microsoft.com/office/officeart/2005/8/layout/default"/>
    <dgm:cxn modelId="{2168F745-E8D1-4D4A-AFD3-5E2C766F8212}" type="presOf" srcId="{FB1AA4FA-570D-47FF-94D1-D12ED344C1FC}" destId="{EBFD4553-9F4C-40E4-8A12-83EDF11C5DE1}" srcOrd="0" destOrd="0" presId="urn:microsoft.com/office/officeart/2005/8/layout/default"/>
    <dgm:cxn modelId="{D627D689-DFB0-43F4-A7E3-8B9FE310BBEF}" srcId="{8E2CCA3B-7524-43EB-876F-5DF635B8896E}" destId="{FB1AA4FA-570D-47FF-94D1-D12ED344C1FC}" srcOrd="2" destOrd="0" parTransId="{F630FAC5-D470-4045-907A-BC2F0E5F3EF9}" sibTransId="{6C5B70F7-7F0B-4151-8D75-73F8EAE75ED7}"/>
    <dgm:cxn modelId="{712A5AA1-EBFA-4864-8551-C1BA810CD997}" srcId="{8E2CCA3B-7524-43EB-876F-5DF635B8896E}" destId="{0E4DD544-ED2F-4EDA-A770-73785C12D68B}" srcOrd="1" destOrd="0" parTransId="{7DC1D38E-D196-4A8C-A382-232EADC03EB9}" sibTransId="{9C551D18-A131-4774-B3D3-326EFB08E5DF}"/>
    <dgm:cxn modelId="{9093EED2-44E4-42CA-B61D-F8789915D442}" type="presOf" srcId="{8E2CCA3B-7524-43EB-876F-5DF635B8896E}" destId="{617DD1B7-000B-45F5-8528-42570CD1AA67}" srcOrd="0" destOrd="0" presId="urn:microsoft.com/office/officeart/2005/8/layout/default"/>
    <dgm:cxn modelId="{864E5E50-BBF1-42D4-BA9E-232E813AC1D4}" type="presOf" srcId="{0E4DD544-ED2F-4EDA-A770-73785C12D68B}" destId="{064C9A88-7778-47C1-A308-D146E2E511F5}" srcOrd="0" destOrd="0" presId="urn:microsoft.com/office/officeart/2005/8/layout/default"/>
    <dgm:cxn modelId="{4AD8F72C-9085-4E46-9AC8-107F81FF7020}" srcId="{8E2CCA3B-7524-43EB-876F-5DF635B8896E}" destId="{CB5B62CF-1D9D-4284-80DD-F05FBD584797}" srcOrd="0" destOrd="0" parTransId="{64C09F62-F189-4FF6-AE4D-1BED03555C9A}" sibTransId="{96FA5936-43B1-4058-A51B-089390B5A396}"/>
    <dgm:cxn modelId="{D627DCEA-E079-4DAD-A2E7-EE744CAC1401}" type="presParOf" srcId="{617DD1B7-000B-45F5-8528-42570CD1AA67}" destId="{82D85F66-600F-4E2C-B074-A25611C2CD13}" srcOrd="0" destOrd="0" presId="urn:microsoft.com/office/officeart/2005/8/layout/default"/>
    <dgm:cxn modelId="{7F155104-688F-4143-AFD2-4C07C92C67FE}" type="presParOf" srcId="{617DD1B7-000B-45F5-8528-42570CD1AA67}" destId="{DF301A4F-E765-46A6-810C-8CE45A001F1C}" srcOrd="1" destOrd="0" presId="urn:microsoft.com/office/officeart/2005/8/layout/default"/>
    <dgm:cxn modelId="{129F7EFA-C376-4273-9108-8AAD0FB3B8BC}" type="presParOf" srcId="{617DD1B7-000B-45F5-8528-42570CD1AA67}" destId="{064C9A88-7778-47C1-A308-D146E2E511F5}" srcOrd="2" destOrd="0" presId="urn:microsoft.com/office/officeart/2005/8/layout/default"/>
    <dgm:cxn modelId="{43352D8B-4B8E-448B-8443-0C93A9A60277}" type="presParOf" srcId="{617DD1B7-000B-45F5-8528-42570CD1AA67}" destId="{BBE1307C-FF24-4EA7-A0E8-C905411BDF0C}" srcOrd="3" destOrd="0" presId="urn:microsoft.com/office/officeart/2005/8/layout/default"/>
    <dgm:cxn modelId="{9B85ECBD-10B9-4F59-9A1F-1CEF75428D36}" type="presParOf" srcId="{617DD1B7-000B-45F5-8528-42570CD1AA67}" destId="{EBFD4553-9F4C-40E4-8A12-83EDF11C5DE1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BBE2CF6-2425-4E61-9936-D174D127717C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87A791E5-7FD5-4474-938C-42E17699FB63}">
      <dgm:prSet phldrT="[Текст]" custT="1"/>
      <dgm:spPr/>
      <dgm:t>
        <a:bodyPr/>
        <a:lstStyle/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Физические доски. </a:t>
          </a:r>
        </a:p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Белые доски, </a:t>
          </a:r>
          <a:r>
            <a:rPr lang="ru-RU" sz="2000" dirty="0" err="1" smtClean="0">
              <a:latin typeface="Times New Roman" pitchFamily="18" charset="0"/>
              <a:cs typeface="Times New Roman" pitchFamily="18" charset="0"/>
            </a:rPr>
            <a:t>стикеры</a:t>
          </a:r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, маркеры - простые и наглядные инструменты для небольших команд;</a:t>
          </a:r>
          <a:endParaRPr lang="ru-RU" sz="2000" dirty="0">
            <a:latin typeface="Times New Roman" pitchFamily="18" charset="0"/>
            <a:cs typeface="Times New Roman" pitchFamily="18" charset="0"/>
          </a:endParaRPr>
        </a:p>
      </dgm:t>
    </dgm:pt>
    <dgm:pt modelId="{1A9DA504-DF4D-4A04-810A-D8E20AB2CCA4}" type="parTrans" cxnId="{AADEBA3F-6856-4010-B292-D4A6134EB4E6}">
      <dgm:prSet/>
      <dgm:spPr/>
      <dgm:t>
        <a:bodyPr/>
        <a:lstStyle/>
        <a:p>
          <a:endParaRPr lang="ru-RU" sz="1800">
            <a:latin typeface="Times New Roman" pitchFamily="18" charset="0"/>
            <a:cs typeface="Times New Roman" pitchFamily="18" charset="0"/>
          </a:endParaRPr>
        </a:p>
      </dgm:t>
    </dgm:pt>
    <dgm:pt modelId="{7828D933-9228-4E3A-84D1-AD8222CE237B}" type="sibTrans" cxnId="{AADEBA3F-6856-4010-B292-D4A6134EB4E6}">
      <dgm:prSet/>
      <dgm:spPr/>
      <dgm:t>
        <a:bodyPr/>
        <a:lstStyle/>
        <a:p>
          <a:endParaRPr lang="ru-RU" sz="1800">
            <a:latin typeface="Times New Roman" pitchFamily="18" charset="0"/>
            <a:cs typeface="Times New Roman" pitchFamily="18" charset="0"/>
          </a:endParaRPr>
        </a:p>
      </dgm:t>
    </dgm:pt>
    <dgm:pt modelId="{79D211D9-E2A2-4537-B0B4-443CBD0D67F4}">
      <dgm:prSet custT="1"/>
      <dgm:spPr/>
      <dgm:t>
        <a:bodyPr/>
        <a:lstStyle/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Цифровые доски. </a:t>
          </a:r>
        </a:p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Онлайн-платформы, такие как WEEEK, </a:t>
          </a:r>
          <a:r>
            <a:rPr lang="ru-RU" sz="2000" dirty="0" err="1" smtClean="0">
              <a:latin typeface="Times New Roman" pitchFamily="18" charset="0"/>
              <a:cs typeface="Times New Roman" pitchFamily="18" charset="0"/>
            </a:rPr>
            <a:t>Kaiten</a:t>
          </a:r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, </a:t>
          </a:r>
          <a:r>
            <a:rPr lang="ru-RU" sz="2000" dirty="0" err="1" smtClean="0">
              <a:latin typeface="Times New Roman" pitchFamily="18" charset="0"/>
              <a:cs typeface="Times New Roman" pitchFamily="18" charset="0"/>
            </a:rPr>
            <a:t>Monday</a:t>
          </a:r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. </a:t>
          </a:r>
        </a:p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Они предлагают широкие возможности для удаленной работы, интеграции с другими сервисами и автоматизации.</a:t>
          </a:r>
          <a:endParaRPr lang="ru-RU" sz="2000" dirty="0">
            <a:latin typeface="Times New Roman" pitchFamily="18" charset="0"/>
            <a:cs typeface="Times New Roman" pitchFamily="18" charset="0"/>
          </a:endParaRPr>
        </a:p>
      </dgm:t>
    </dgm:pt>
    <dgm:pt modelId="{272EF826-6F52-459E-A295-91B217A3EAAE}" type="parTrans" cxnId="{480B6DC0-4DF1-4BC3-82B2-A0AC0926B56C}">
      <dgm:prSet/>
      <dgm:spPr/>
      <dgm:t>
        <a:bodyPr/>
        <a:lstStyle/>
        <a:p>
          <a:endParaRPr lang="ru-RU" sz="1800">
            <a:latin typeface="Times New Roman" pitchFamily="18" charset="0"/>
            <a:cs typeface="Times New Roman" pitchFamily="18" charset="0"/>
          </a:endParaRPr>
        </a:p>
      </dgm:t>
    </dgm:pt>
    <dgm:pt modelId="{43049DBB-7DC4-43D6-9015-792C6CFC38EF}" type="sibTrans" cxnId="{480B6DC0-4DF1-4BC3-82B2-A0AC0926B56C}">
      <dgm:prSet/>
      <dgm:spPr/>
      <dgm:t>
        <a:bodyPr/>
        <a:lstStyle/>
        <a:p>
          <a:endParaRPr lang="ru-RU" sz="1800">
            <a:latin typeface="Times New Roman" pitchFamily="18" charset="0"/>
            <a:cs typeface="Times New Roman" pitchFamily="18" charset="0"/>
          </a:endParaRPr>
        </a:p>
      </dgm:t>
    </dgm:pt>
    <dgm:pt modelId="{FC0E6A8B-DC31-4E94-BFB2-0823CA8D4F6B}" type="pres">
      <dgm:prSet presAssocID="{9BBE2CF6-2425-4E61-9936-D174D127717C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A452768D-4D44-44E1-A216-B803EB38C5FA}" type="pres">
      <dgm:prSet presAssocID="{87A791E5-7FD5-4474-938C-42E17699FB63}" presName="node" presStyleLbl="node1" presStyleIdx="0" presStyleCnt="2" custScaleY="16235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0092578-1EB8-450B-9A4D-CFD99BBDD2E4}" type="pres">
      <dgm:prSet presAssocID="{7828D933-9228-4E3A-84D1-AD8222CE237B}" presName="sibTrans" presStyleCnt="0"/>
      <dgm:spPr/>
    </dgm:pt>
    <dgm:pt modelId="{A92A40ED-E64F-4D04-BFAB-64FE967947DA}" type="pres">
      <dgm:prSet presAssocID="{79D211D9-E2A2-4537-B0B4-443CBD0D67F4}" presName="node" presStyleLbl="node1" presStyleIdx="1" presStyleCnt="2" custScaleY="16235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86390425-5C56-407A-858F-EC06CFC4A358}" type="presOf" srcId="{9BBE2CF6-2425-4E61-9936-D174D127717C}" destId="{FC0E6A8B-DC31-4E94-BFB2-0823CA8D4F6B}" srcOrd="0" destOrd="0" presId="urn:microsoft.com/office/officeart/2005/8/layout/default"/>
    <dgm:cxn modelId="{AADEBA3F-6856-4010-B292-D4A6134EB4E6}" srcId="{9BBE2CF6-2425-4E61-9936-D174D127717C}" destId="{87A791E5-7FD5-4474-938C-42E17699FB63}" srcOrd="0" destOrd="0" parTransId="{1A9DA504-DF4D-4A04-810A-D8E20AB2CCA4}" sibTransId="{7828D933-9228-4E3A-84D1-AD8222CE237B}"/>
    <dgm:cxn modelId="{480B6DC0-4DF1-4BC3-82B2-A0AC0926B56C}" srcId="{9BBE2CF6-2425-4E61-9936-D174D127717C}" destId="{79D211D9-E2A2-4537-B0B4-443CBD0D67F4}" srcOrd="1" destOrd="0" parTransId="{272EF826-6F52-459E-A295-91B217A3EAAE}" sibTransId="{43049DBB-7DC4-43D6-9015-792C6CFC38EF}"/>
    <dgm:cxn modelId="{08C86F90-861C-4375-B55F-83F2C004A96E}" type="presOf" srcId="{79D211D9-E2A2-4537-B0B4-443CBD0D67F4}" destId="{A92A40ED-E64F-4D04-BFAB-64FE967947DA}" srcOrd="0" destOrd="0" presId="urn:microsoft.com/office/officeart/2005/8/layout/default"/>
    <dgm:cxn modelId="{CC7A8DA7-E2B1-4914-BC30-07E20802EA2D}" type="presOf" srcId="{87A791E5-7FD5-4474-938C-42E17699FB63}" destId="{A452768D-4D44-44E1-A216-B803EB38C5FA}" srcOrd="0" destOrd="0" presId="urn:microsoft.com/office/officeart/2005/8/layout/default"/>
    <dgm:cxn modelId="{5F3B3B44-E40A-4BCE-B32E-01432FE02FAC}" type="presParOf" srcId="{FC0E6A8B-DC31-4E94-BFB2-0823CA8D4F6B}" destId="{A452768D-4D44-44E1-A216-B803EB38C5FA}" srcOrd="0" destOrd="0" presId="urn:microsoft.com/office/officeart/2005/8/layout/default"/>
    <dgm:cxn modelId="{B24D31B7-FE51-42FD-9770-06619B7EDD6D}" type="presParOf" srcId="{FC0E6A8B-DC31-4E94-BFB2-0823CA8D4F6B}" destId="{20092578-1EB8-450B-9A4D-CFD99BBDD2E4}" srcOrd="1" destOrd="0" presId="urn:microsoft.com/office/officeart/2005/8/layout/default"/>
    <dgm:cxn modelId="{F6F6BFC0-0F01-496D-8DFA-20AD52A1EAF7}" type="presParOf" srcId="{FC0E6A8B-DC31-4E94-BFB2-0823CA8D4F6B}" destId="{A92A40ED-E64F-4D04-BFAB-64FE967947DA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523A651-47D4-49D9-A1AB-05B59D7416E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8E5B913-5173-46FF-B105-A169C2B8CDB7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IT и разработка ПО. </a:t>
          </a:r>
        </a:p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Это естественная среда для </a:t>
          </a:r>
          <a:r>
            <a:rPr lang="ru-RU" dirty="0" err="1" smtClean="0">
              <a:latin typeface="Times New Roman" pitchFamily="18" charset="0"/>
              <a:cs typeface="Times New Roman" pitchFamily="18" charset="0"/>
            </a:rPr>
            <a:t>Agile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. Здесь он используется для разработки новых продуктов, обновления существующих систем, создания мобильных приложений и веб-сервисов.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D1AB4623-ADDB-459E-8AA0-EE0BDAE9D8FC}" type="parTrans" cxnId="{9E0BA87B-CB21-4FC5-8458-7121E1A7125F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174602A8-0D0B-420C-9B36-AAC3B7DEA666}" type="sibTrans" cxnId="{9E0BA87B-CB21-4FC5-8458-7121E1A7125F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AF467D9E-B5AC-4B1E-AB3A-0C82DD94E904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Маркетинг. </a:t>
          </a:r>
        </a:p>
        <a:p>
          <a:r>
            <a:rPr lang="ru-RU" dirty="0" err="1" smtClean="0">
              <a:latin typeface="Times New Roman" pitchFamily="18" charset="0"/>
              <a:cs typeface="Times New Roman" pitchFamily="18" charset="0"/>
            </a:rPr>
            <a:t>Agile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-маркетинг помогает командам быстро запускать кампании, тестировать гипотезы, анализировать результаты и оперативно вносить изменения.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C772EC1A-43A6-405A-93B4-4C72549FD011}" type="parTrans" cxnId="{F8DF9290-EE53-453C-B3AF-D184801DAE1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46638AD6-F0E4-4015-B83C-392BEA5837C7}" type="sibTrans" cxnId="{F8DF9290-EE53-453C-B3AF-D184801DAE1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160017DD-A014-4CE2-B8AD-4CF555F6BE88}">
      <dgm:prSet/>
      <dgm:spPr/>
      <dgm:t>
        <a:bodyPr/>
        <a:lstStyle/>
        <a:p>
          <a:r>
            <a:rPr lang="ru-RU" dirty="0" err="1" smtClean="0">
              <a:latin typeface="Times New Roman" pitchFamily="18" charset="0"/>
              <a:cs typeface="Times New Roman" pitchFamily="18" charset="0"/>
            </a:rPr>
            <a:t>Стартапы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. </a:t>
          </a:r>
        </a:p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Для </a:t>
          </a:r>
          <a:r>
            <a:rPr lang="ru-RU" dirty="0" err="1" smtClean="0">
              <a:latin typeface="Times New Roman" pitchFamily="18" charset="0"/>
              <a:cs typeface="Times New Roman" pitchFamily="18" charset="0"/>
            </a:rPr>
            <a:t>стартапов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, работающих в условиях высокой неопределенности и ограниченных ресурсов, </a:t>
          </a:r>
          <a:r>
            <a:rPr lang="ru-RU" dirty="0" err="1" smtClean="0">
              <a:latin typeface="Times New Roman" pitchFamily="18" charset="0"/>
              <a:cs typeface="Times New Roman" pitchFamily="18" charset="0"/>
            </a:rPr>
            <a:t>Agile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 является идеальным подходом. Он позволяет быстро проверять идеи, создавать минимально жизнеспособные продукты (MVP) и адаптироваться к потребностям рынка.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09626F81-6BD1-427C-99FD-5248466EB56A}" type="parTrans" cxnId="{03C4B451-614D-4E89-BCEB-1CD38F9E7853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8C8E6A14-E775-4102-A7CB-6999A2C7FE47}" type="sibTrans" cxnId="{03C4B451-614D-4E89-BCEB-1CD38F9E7853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11F51211-FEAC-4819-BE93-0C1CC38150E0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Производство. </a:t>
          </a:r>
        </a:p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Принципы </a:t>
          </a:r>
          <a:r>
            <a:rPr lang="ru-RU" dirty="0" err="1" smtClean="0">
              <a:latin typeface="Times New Roman" pitchFamily="18" charset="0"/>
              <a:cs typeface="Times New Roman" pitchFamily="18" charset="0"/>
            </a:rPr>
            <a:t>Lean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 (бережливого производства), которые являются частью </a:t>
          </a:r>
          <a:r>
            <a:rPr lang="ru-RU" dirty="0" err="1" smtClean="0">
              <a:latin typeface="Times New Roman" pitchFamily="18" charset="0"/>
              <a:cs typeface="Times New Roman" pitchFamily="18" charset="0"/>
            </a:rPr>
            <a:t>Agile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, давно применяются в производственной сфере для оптимизации процессов, сокращения потерь и повышения эффективности.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83FCD55D-E9F4-46C9-8FE0-8DFA30A9FCF4}" type="parTrans" cxnId="{AC323782-E8A2-434C-A0CA-1AD37BAFBEE8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A6950A21-4117-4EDA-94B2-08F5176A0AA5}" type="sibTrans" cxnId="{AC323782-E8A2-434C-A0CA-1AD37BAFBEE8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5B8F13E-FD8F-489B-8FCE-4F454D150FF1}" type="pres">
      <dgm:prSet presAssocID="{A523A651-47D4-49D9-A1AB-05B59D7416E1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92DDE88-887E-4DC7-9BA6-59980D39670B}" type="pres">
      <dgm:prSet presAssocID="{18E5B913-5173-46FF-B105-A169C2B8CDB7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95A269E-CE79-4B7A-9501-C9982F99750E}" type="pres">
      <dgm:prSet presAssocID="{174602A8-0D0B-420C-9B36-AAC3B7DEA666}" presName="sibTrans" presStyleCnt="0"/>
      <dgm:spPr/>
    </dgm:pt>
    <dgm:pt modelId="{6BA4252D-04DA-4782-A374-EDAF1CA63BDA}" type="pres">
      <dgm:prSet presAssocID="{AF467D9E-B5AC-4B1E-AB3A-0C82DD94E904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9C6A21E-73AD-4887-8C9D-EB1C534907E2}" type="pres">
      <dgm:prSet presAssocID="{46638AD6-F0E4-4015-B83C-392BEA5837C7}" presName="sibTrans" presStyleCnt="0"/>
      <dgm:spPr/>
    </dgm:pt>
    <dgm:pt modelId="{83E8EE12-8F60-4F1B-91E2-348E01339C5C}" type="pres">
      <dgm:prSet presAssocID="{160017DD-A014-4CE2-B8AD-4CF555F6BE88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A3078E1-E2CB-4102-8287-659FBC32784F}" type="pres">
      <dgm:prSet presAssocID="{8C8E6A14-E775-4102-A7CB-6999A2C7FE47}" presName="sibTrans" presStyleCnt="0"/>
      <dgm:spPr/>
    </dgm:pt>
    <dgm:pt modelId="{EE881ABC-AB68-4D4D-B856-0704A7F792C0}" type="pres">
      <dgm:prSet presAssocID="{11F51211-FEAC-4819-BE93-0C1CC38150E0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F8DF9290-EE53-453C-B3AF-D184801DAE11}" srcId="{A523A651-47D4-49D9-A1AB-05B59D7416E1}" destId="{AF467D9E-B5AC-4B1E-AB3A-0C82DD94E904}" srcOrd="1" destOrd="0" parTransId="{C772EC1A-43A6-405A-93B4-4C72549FD011}" sibTransId="{46638AD6-F0E4-4015-B83C-392BEA5837C7}"/>
    <dgm:cxn modelId="{BBD89E25-37B0-4B69-84CD-DAFCF207D5F8}" type="presOf" srcId="{160017DD-A014-4CE2-B8AD-4CF555F6BE88}" destId="{83E8EE12-8F60-4F1B-91E2-348E01339C5C}" srcOrd="0" destOrd="0" presId="urn:microsoft.com/office/officeart/2005/8/layout/default"/>
    <dgm:cxn modelId="{34D6906D-60BC-4B3C-B1DA-B264863E56AA}" type="presOf" srcId="{AF467D9E-B5AC-4B1E-AB3A-0C82DD94E904}" destId="{6BA4252D-04DA-4782-A374-EDAF1CA63BDA}" srcOrd="0" destOrd="0" presId="urn:microsoft.com/office/officeart/2005/8/layout/default"/>
    <dgm:cxn modelId="{7D4B3AC2-F113-4235-B4CB-F3E9829C9D35}" type="presOf" srcId="{11F51211-FEAC-4819-BE93-0C1CC38150E0}" destId="{EE881ABC-AB68-4D4D-B856-0704A7F792C0}" srcOrd="0" destOrd="0" presId="urn:microsoft.com/office/officeart/2005/8/layout/default"/>
    <dgm:cxn modelId="{9E0BA87B-CB21-4FC5-8458-7121E1A7125F}" srcId="{A523A651-47D4-49D9-A1AB-05B59D7416E1}" destId="{18E5B913-5173-46FF-B105-A169C2B8CDB7}" srcOrd="0" destOrd="0" parTransId="{D1AB4623-ADDB-459E-8AA0-EE0BDAE9D8FC}" sibTransId="{174602A8-0D0B-420C-9B36-AAC3B7DEA666}"/>
    <dgm:cxn modelId="{AC323782-E8A2-434C-A0CA-1AD37BAFBEE8}" srcId="{A523A651-47D4-49D9-A1AB-05B59D7416E1}" destId="{11F51211-FEAC-4819-BE93-0C1CC38150E0}" srcOrd="3" destOrd="0" parTransId="{83FCD55D-E9F4-46C9-8FE0-8DFA30A9FCF4}" sibTransId="{A6950A21-4117-4EDA-94B2-08F5176A0AA5}"/>
    <dgm:cxn modelId="{03C4B451-614D-4E89-BCEB-1CD38F9E7853}" srcId="{A523A651-47D4-49D9-A1AB-05B59D7416E1}" destId="{160017DD-A014-4CE2-B8AD-4CF555F6BE88}" srcOrd="2" destOrd="0" parTransId="{09626F81-6BD1-427C-99FD-5248466EB56A}" sibTransId="{8C8E6A14-E775-4102-A7CB-6999A2C7FE47}"/>
    <dgm:cxn modelId="{B0E2F880-8548-4303-A8D8-08A3C03117CB}" type="presOf" srcId="{18E5B913-5173-46FF-B105-A169C2B8CDB7}" destId="{792DDE88-887E-4DC7-9BA6-59980D39670B}" srcOrd="0" destOrd="0" presId="urn:microsoft.com/office/officeart/2005/8/layout/default"/>
    <dgm:cxn modelId="{0E243DA7-1909-4433-BEBC-B479A505EAE8}" type="presOf" srcId="{A523A651-47D4-49D9-A1AB-05B59D7416E1}" destId="{C5B8F13E-FD8F-489B-8FCE-4F454D150FF1}" srcOrd="0" destOrd="0" presId="urn:microsoft.com/office/officeart/2005/8/layout/default"/>
    <dgm:cxn modelId="{A2F54F71-FF17-40F8-899E-969FC0A3AA9F}" type="presParOf" srcId="{C5B8F13E-FD8F-489B-8FCE-4F454D150FF1}" destId="{792DDE88-887E-4DC7-9BA6-59980D39670B}" srcOrd="0" destOrd="0" presId="urn:microsoft.com/office/officeart/2005/8/layout/default"/>
    <dgm:cxn modelId="{F3C5B31F-CCDD-4DDD-A84F-FB7C5DCDC67C}" type="presParOf" srcId="{C5B8F13E-FD8F-489B-8FCE-4F454D150FF1}" destId="{195A269E-CE79-4B7A-9501-C9982F99750E}" srcOrd="1" destOrd="0" presId="urn:microsoft.com/office/officeart/2005/8/layout/default"/>
    <dgm:cxn modelId="{BEC895A4-BD31-4DA1-9EED-914D25D06D3C}" type="presParOf" srcId="{C5B8F13E-FD8F-489B-8FCE-4F454D150FF1}" destId="{6BA4252D-04DA-4782-A374-EDAF1CA63BDA}" srcOrd="2" destOrd="0" presId="urn:microsoft.com/office/officeart/2005/8/layout/default"/>
    <dgm:cxn modelId="{16FEF881-7A59-4256-A4A4-138373D6CDDB}" type="presParOf" srcId="{C5B8F13E-FD8F-489B-8FCE-4F454D150FF1}" destId="{89C6A21E-73AD-4887-8C9D-EB1C534907E2}" srcOrd="3" destOrd="0" presId="urn:microsoft.com/office/officeart/2005/8/layout/default"/>
    <dgm:cxn modelId="{829695FC-1855-40EF-BF28-3135809D28D2}" type="presParOf" srcId="{C5B8F13E-FD8F-489B-8FCE-4F454D150FF1}" destId="{83E8EE12-8F60-4F1B-91E2-348E01339C5C}" srcOrd="4" destOrd="0" presId="urn:microsoft.com/office/officeart/2005/8/layout/default"/>
    <dgm:cxn modelId="{2F029C74-AE2A-4EBE-8BE2-4E4DBB2094DF}" type="presParOf" srcId="{C5B8F13E-FD8F-489B-8FCE-4F454D150FF1}" destId="{4A3078E1-E2CB-4102-8287-659FBC32784F}" srcOrd="5" destOrd="0" presId="urn:microsoft.com/office/officeart/2005/8/layout/default"/>
    <dgm:cxn modelId="{3F2BD93E-61BE-4589-A6DB-4DE7293D67D2}" type="presParOf" srcId="{C5B8F13E-FD8F-489B-8FCE-4F454D150FF1}" destId="{EE881ABC-AB68-4D4D-B856-0704A7F792C0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5A3BEA2-16B6-45C6-B4A9-FE4466248C9C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4D1B5246-C7CA-4AE9-8A5E-1E7CFFADC89F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Сбор требований и формирование ТЗ - детально описывается план будущих работ, определяются функциональные и нефункциональные требования, роли для каждого сотрудника, планируется время на выполнение и оцениваются возможные риски.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43E4B770-E6AB-4AF1-B3B7-E4C400538900}" type="parTrans" cxnId="{8D21D725-2D4C-4980-A6CD-5A935E46D23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4FE7FFC0-0C30-4F8F-ADFA-BD53DC4BF8A2}" type="sibTrans" cxnId="{8D21D725-2D4C-4980-A6CD-5A935E46D23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990000D1-50A8-4ADD-BB5B-8BC55097DF14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Проектирование - разрабатывается архитектура и логика будущего решения, определяются необходимые технологии, языки программирования и другие инструменты для реализации проекта согласно требованиям.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DF0EA15B-093C-4C98-94F4-347BC1E128C9}" type="parTrans" cxnId="{64A22B35-6DA1-4C6E-9C76-C250F5BD5017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4413489D-FB65-40E7-9EAE-EFF1EDFBC8DA}" type="sibTrans" cxnId="{64A22B35-6DA1-4C6E-9C76-C250F5BD5017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2BD03330-402C-46EA-84ED-BE0633853719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Разработка (реализация) - происходит создание продукта строго в соответствии с утверждённым ТЗ и проектной документацией. Любое отступление от плана требует формального согласования или не допускается.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29FCEA6E-9D1A-4051-9296-EBB4B84B7C35}" type="parTrans" cxnId="{9EE58871-9339-45E6-A323-0A7913728BBE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2908E806-C1A6-4453-8E8A-338F4D9C6323}" type="sibTrans" cxnId="{9EE58871-9339-45E6-A323-0A7913728BBE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2C1E8F55-24C4-406C-B6D6-44D608119761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Тестирование - готовый продукт тщательно проверяется на работоспособность, соответствие требованиям ТЗ и наличие багов перед его выпуском.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01B4FD98-3337-45B3-80CE-97829266A3E0}" type="parTrans" cxnId="{69079545-53B3-42D7-9F64-291773080D29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75943D0D-8C20-44FB-BCC6-F005A170C568}" type="sibTrans" cxnId="{69079545-53B3-42D7-9F64-291773080D29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909F1BA-93B1-49D8-8106-D701F24572E9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Внедрение и поддержка -готовое решение развёртывается (публикуется), и начинается его эксплуатация и поддержка. Затем собирается обратная связь от пользователей, и на её основе планируется оптимизация продукта — внедрение новых функций или улучшение старых.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9D766AA5-9B6D-4F22-A9CC-67A1A1A36043}" type="parTrans" cxnId="{4506554B-6D2F-40E4-8E7B-A11A69FF0773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D272671F-1B93-42E2-AB0D-0317F66CDFDF}" type="sibTrans" cxnId="{4506554B-6D2F-40E4-8E7B-A11A69FF0773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6E3E9AE-A2D1-46ED-A1D3-0A30869A856F}" type="pres">
      <dgm:prSet presAssocID="{15A3BEA2-16B6-45C6-B4A9-FE4466248C9C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A9493831-7B3C-43BD-9DA1-1526BCC03692}" type="pres">
      <dgm:prSet presAssocID="{4D1B5246-C7CA-4AE9-8A5E-1E7CFFADC89F}" presName="node" presStyleLbl="node1" presStyleIdx="0" presStyleCnt="5" custScaleY="15074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3CB7679-C74C-45EE-A4C7-AB574BB4ED58}" type="pres">
      <dgm:prSet presAssocID="{4FE7FFC0-0C30-4F8F-ADFA-BD53DC4BF8A2}" presName="sibTrans" presStyleCnt="0"/>
      <dgm:spPr/>
    </dgm:pt>
    <dgm:pt modelId="{62920585-128E-4360-AB05-7E261A9D4221}" type="pres">
      <dgm:prSet presAssocID="{990000D1-50A8-4ADD-BB5B-8BC55097DF14}" presName="node" presStyleLbl="node1" presStyleIdx="1" presStyleCnt="5" custScaleY="14734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E9AF136-8A53-473E-AB40-8F819886AAE2}" type="pres">
      <dgm:prSet presAssocID="{4413489D-FB65-40E7-9EAE-EFF1EDFBC8DA}" presName="sibTrans" presStyleCnt="0"/>
      <dgm:spPr/>
    </dgm:pt>
    <dgm:pt modelId="{1C7A899A-255A-45D7-B281-BA181868FD14}" type="pres">
      <dgm:prSet presAssocID="{2BD03330-402C-46EA-84ED-BE0633853719}" presName="node" presStyleLbl="node1" presStyleIdx="2" presStyleCnt="5" custScaleY="14904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F4A42F5-CE2C-4649-B521-FDD2CCA4999F}" type="pres">
      <dgm:prSet presAssocID="{2908E806-C1A6-4453-8E8A-338F4D9C6323}" presName="sibTrans" presStyleCnt="0"/>
      <dgm:spPr/>
    </dgm:pt>
    <dgm:pt modelId="{24CE3E66-D389-4B21-9B63-62D89628F8EF}" type="pres">
      <dgm:prSet presAssocID="{2C1E8F55-24C4-406C-B6D6-44D608119761}" presName="node" presStyleLbl="node1" presStyleIdx="3" presStyleCnt="5" custScaleY="14694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4E54341-A684-453A-9257-088F592C7EB5}" type="pres">
      <dgm:prSet presAssocID="{75943D0D-8C20-44FB-BCC6-F005A170C568}" presName="sibTrans" presStyleCnt="0"/>
      <dgm:spPr/>
    </dgm:pt>
    <dgm:pt modelId="{EF8E5CC3-72C6-4166-872A-EAE07CB825C5}" type="pres">
      <dgm:prSet presAssocID="{C909F1BA-93B1-49D8-8106-D701F24572E9}" presName="node" presStyleLbl="node1" presStyleIdx="4" presStyleCnt="5" custScaleY="14694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64A22B35-6DA1-4C6E-9C76-C250F5BD5017}" srcId="{15A3BEA2-16B6-45C6-B4A9-FE4466248C9C}" destId="{990000D1-50A8-4ADD-BB5B-8BC55097DF14}" srcOrd="1" destOrd="0" parTransId="{DF0EA15B-093C-4C98-94F4-347BC1E128C9}" sibTransId="{4413489D-FB65-40E7-9EAE-EFF1EDFBC8DA}"/>
    <dgm:cxn modelId="{69079545-53B3-42D7-9F64-291773080D29}" srcId="{15A3BEA2-16B6-45C6-B4A9-FE4466248C9C}" destId="{2C1E8F55-24C4-406C-B6D6-44D608119761}" srcOrd="3" destOrd="0" parTransId="{01B4FD98-3337-45B3-80CE-97829266A3E0}" sibTransId="{75943D0D-8C20-44FB-BCC6-F005A170C568}"/>
    <dgm:cxn modelId="{7F22C9AE-A731-4010-92F9-664C71EB68D6}" type="presOf" srcId="{990000D1-50A8-4ADD-BB5B-8BC55097DF14}" destId="{62920585-128E-4360-AB05-7E261A9D4221}" srcOrd="0" destOrd="0" presId="urn:microsoft.com/office/officeart/2005/8/layout/default"/>
    <dgm:cxn modelId="{7D1BE95D-ACC4-4FC1-B625-13343F4CC7A4}" type="presOf" srcId="{C909F1BA-93B1-49D8-8106-D701F24572E9}" destId="{EF8E5CC3-72C6-4166-872A-EAE07CB825C5}" srcOrd="0" destOrd="0" presId="urn:microsoft.com/office/officeart/2005/8/layout/default"/>
    <dgm:cxn modelId="{D762353C-8FD7-4BF7-B65F-579F57667EA0}" type="presOf" srcId="{2C1E8F55-24C4-406C-B6D6-44D608119761}" destId="{24CE3E66-D389-4B21-9B63-62D89628F8EF}" srcOrd="0" destOrd="0" presId="urn:microsoft.com/office/officeart/2005/8/layout/default"/>
    <dgm:cxn modelId="{4506554B-6D2F-40E4-8E7B-A11A69FF0773}" srcId="{15A3BEA2-16B6-45C6-B4A9-FE4466248C9C}" destId="{C909F1BA-93B1-49D8-8106-D701F24572E9}" srcOrd="4" destOrd="0" parTransId="{9D766AA5-9B6D-4F22-A9CC-67A1A1A36043}" sibTransId="{D272671F-1B93-42E2-AB0D-0317F66CDFDF}"/>
    <dgm:cxn modelId="{9EE58871-9339-45E6-A323-0A7913728BBE}" srcId="{15A3BEA2-16B6-45C6-B4A9-FE4466248C9C}" destId="{2BD03330-402C-46EA-84ED-BE0633853719}" srcOrd="2" destOrd="0" parTransId="{29FCEA6E-9D1A-4051-9296-EBB4B84B7C35}" sibTransId="{2908E806-C1A6-4453-8E8A-338F4D9C6323}"/>
    <dgm:cxn modelId="{52C8B643-F81C-4213-90D1-D24F0159ABAC}" type="presOf" srcId="{4D1B5246-C7CA-4AE9-8A5E-1E7CFFADC89F}" destId="{A9493831-7B3C-43BD-9DA1-1526BCC03692}" srcOrd="0" destOrd="0" presId="urn:microsoft.com/office/officeart/2005/8/layout/default"/>
    <dgm:cxn modelId="{8D21D725-2D4C-4980-A6CD-5A935E46D231}" srcId="{15A3BEA2-16B6-45C6-B4A9-FE4466248C9C}" destId="{4D1B5246-C7CA-4AE9-8A5E-1E7CFFADC89F}" srcOrd="0" destOrd="0" parTransId="{43E4B770-E6AB-4AF1-B3B7-E4C400538900}" sibTransId="{4FE7FFC0-0C30-4F8F-ADFA-BD53DC4BF8A2}"/>
    <dgm:cxn modelId="{20B72B2B-57DC-4923-B4E1-4884B12A0614}" type="presOf" srcId="{15A3BEA2-16B6-45C6-B4A9-FE4466248C9C}" destId="{C6E3E9AE-A2D1-46ED-A1D3-0A30869A856F}" srcOrd="0" destOrd="0" presId="urn:microsoft.com/office/officeart/2005/8/layout/default"/>
    <dgm:cxn modelId="{46F04791-885E-4160-B6E6-EA6894FEBB5E}" type="presOf" srcId="{2BD03330-402C-46EA-84ED-BE0633853719}" destId="{1C7A899A-255A-45D7-B281-BA181868FD14}" srcOrd="0" destOrd="0" presId="urn:microsoft.com/office/officeart/2005/8/layout/default"/>
    <dgm:cxn modelId="{7D7748BC-A85F-4FED-879B-2B74E81BF47D}" type="presParOf" srcId="{C6E3E9AE-A2D1-46ED-A1D3-0A30869A856F}" destId="{A9493831-7B3C-43BD-9DA1-1526BCC03692}" srcOrd="0" destOrd="0" presId="urn:microsoft.com/office/officeart/2005/8/layout/default"/>
    <dgm:cxn modelId="{1E3EDF0A-EDDE-4B63-889A-7D40579C5969}" type="presParOf" srcId="{C6E3E9AE-A2D1-46ED-A1D3-0A30869A856F}" destId="{83CB7679-C74C-45EE-A4C7-AB574BB4ED58}" srcOrd="1" destOrd="0" presId="urn:microsoft.com/office/officeart/2005/8/layout/default"/>
    <dgm:cxn modelId="{0A5DCD59-8ADC-4A1C-A599-5C7B8EB842D5}" type="presParOf" srcId="{C6E3E9AE-A2D1-46ED-A1D3-0A30869A856F}" destId="{62920585-128E-4360-AB05-7E261A9D4221}" srcOrd="2" destOrd="0" presId="urn:microsoft.com/office/officeart/2005/8/layout/default"/>
    <dgm:cxn modelId="{A5F9247F-240F-47B0-8BB4-AD52DFE9A09B}" type="presParOf" srcId="{C6E3E9AE-A2D1-46ED-A1D3-0A30869A856F}" destId="{EE9AF136-8A53-473E-AB40-8F819886AAE2}" srcOrd="3" destOrd="0" presId="urn:microsoft.com/office/officeart/2005/8/layout/default"/>
    <dgm:cxn modelId="{1F30F346-F4AF-42E2-8C8A-09CC0AD3720E}" type="presParOf" srcId="{C6E3E9AE-A2D1-46ED-A1D3-0A30869A856F}" destId="{1C7A899A-255A-45D7-B281-BA181868FD14}" srcOrd="4" destOrd="0" presId="urn:microsoft.com/office/officeart/2005/8/layout/default"/>
    <dgm:cxn modelId="{645AB219-873B-40DE-BD35-9B92FC047601}" type="presParOf" srcId="{C6E3E9AE-A2D1-46ED-A1D3-0A30869A856F}" destId="{2F4A42F5-CE2C-4649-B521-FDD2CCA4999F}" srcOrd="5" destOrd="0" presId="urn:microsoft.com/office/officeart/2005/8/layout/default"/>
    <dgm:cxn modelId="{5D18FF5B-EAA9-451C-8B32-3A0608A57634}" type="presParOf" srcId="{C6E3E9AE-A2D1-46ED-A1D3-0A30869A856F}" destId="{24CE3E66-D389-4B21-9B63-62D89628F8EF}" srcOrd="6" destOrd="0" presId="urn:microsoft.com/office/officeart/2005/8/layout/default"/>
    <dgm:cxn modelId="{8CAE4CE8-F68A-4609-96E4-42271F981B31}" type="presParOf" srcId="{C6E3E9AE-A2D1-46ED-A1D3-0A30869A856F}" destId="{A4E54341-A684-453A-9257-088F592C7EB5}" srcOrd="7" destOrd="0" presId="urn:microsoft.com/office/officeart/2005/8/layout/default"/>
    <dgm:cxn modelId="{5F5C8FFA-D69E-4C8D-A436-9A9752A7A549}" type="presParOf" srcId="{C6E3E9AE-A2D1-46ED-A1D3-0A30869A856F}" destId="{EF8E5CC3-72C6-4166-872A-EAE07CB825C5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836DC48-FB7C-40F8-A69D-8689431D5263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9F687458-9F92-444F-907A-3F4E3B827415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Чёткая структура и понятность - каждый участник проекта точно знает, на каком этапе находится разработка и что ожидается далее.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9490CB2C-348A-4971-B7B8-BC470AF1FB32}" type="parTrans" cxnId="{FB878315-DE94-44F1-805A-8B0562761005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ECCBF905-C180-4D18-8208-C95470D14D55}" type="sibTrans" cxnId="{FB878315-DE94-44F1-805A-8B0562761005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A2E13AF3-CE56-4945-80A4-E4B1B65B5D1D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Прогнозируемость сроков и бюджета - при корректном планировании руководство получает чёткое представление о затратах и времени.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6817CBD9-D81C-4558-A554-4D2152EB163F}" type="parTrans" cxnId="{1B09A718-2A32-4D81-9475-5277F052E9D9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93F2B948-F638-4DFD-BEB1-F8A169237DDC}" type="sibTrans" cxnId="{1B09A718-2A32-4D81-9475-5277F052E9D9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78F18371-6D63-48F8-8A9B-21E71F68E9AB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Контроль качества - каждый этап проходит процедуру верификации, обеспечивая соответствие требованиям.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9B8368B2-AD8B-4309-8FAC-CDA21DCA06B0}" type="parTrans" cxnId="{498B32AB-828F-428D-B8FD-11C54B97AF27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F0D397D4-244C-4DD4-ABED-B5124522DFDD}" type="sibTrans" cxnId="{498B32AB-828F-428D-B8FD-11C54B97AF27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88B83A29-ADF6-4605-B49D-7482C9441ED3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Минимальное вовлечение заказчика - после согласования требований заказчику не нужно постоянно участвовать в процессе разработки.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BAB638CD-4681-4100-B831-BCB892760330}" type="parTrans" cxnId="{AC2BC15F-7A4F-4DD8-8074-81C7C4C57A3E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541C44D0-C2A3-44A8-87C9-F70399803308}" type="sibTrans" cxnId="{AC2BC15F-7A4F-4DD8-8074-81C7C4C57A3E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4D317C3E-DBF1-4BC8-A44E-DD9EC4AFEF34}" type="pres">
      <dgm:prSet presAssocID="{1836DC48-FB7C-40F8-A69D-8689431D526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2147141F-F662-4EC1-9C36-5D55D4A975FA}" type="pres">
      <dgm:prSet presAssocID="{9F687458-9F92-444F-907A-3F4E3B827415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C352A45-12DE-450C-96AE-3A02C8968138}" type="pres">
      <dgm:prSet presAssocID="{ECCBF905-C180-4D18-8208-C95470D14D55}" presName="sibTrans" presStyleCnt="0"/>
      <dgm:spPr/>
    </dgm:pt>
    <dgm:pt modelId="{0412ECE6-7B2A-4040-85A8-9A14FF4D7052}" type="pres">
      <dgm:prSet presAssocID="{A2E13AF3-CE56-4945-80A4-E4B1B65B5D1D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3A3836B-9CAC-4286-9485-0D5A9B61E3CC}" type="pres">
      <dgm:prSet presAssocID="{93F2B948-F638-4DFD-BEB1-F8A169237DDC}" presName="sibTrans" presStyleCnt="0"/>
      <dgm:spPr/>
    </dgm:pt>
    <dgm:pt modelId="{10375BE7-1764-4361-91D5-63A84CF3D47C}" type="pres">
      <dgm:prSet presAssocID="{78F18371-6D63-48F8-8A9B-21E71F68E9AB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4F66BB1-38B9-4CAD-864C-B78DF649AEC5}" type="pres">
      <dgm:prSet presAssocID="{F0D397D4-244C-4DD4-ABED-B5124522DFDD}" presName="sibTrans" presStyleCnt="0"/>
      <dgm:spPr/>
    </dgm:pt>
    <dgm:pt modelId="{28D0B9AB-470D-4299-9F4D-022A792E3B6F}" type="pres">
      <dgm:prSet presAssocID="{88B83A29-ADF6-4605-B49D-7482C9441ED3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1B09A718-2A32-4D81-9475-5277F052E9D9}" srcId="{1836DC48-FB7C-40F8-A69D-8689431D5263}" destId="{A2E13AF3-CE56-4945-80A4-E4B1B65B5D1D}" srcOrd="1" destOrd="0" parTransId="{6817CBD9-D81C-4558-A554-4D2152EB163F}" sibTransId="{93F2B948-F638-4DFD-BEB1-F8A169237DDC}"/>
    <dgm:cxn modelId="{73B62A81-EEE2-4FA3-884A-A175C1F98AAC}" type="presOf" srcId="{A2E13AF3-CE56-4945-80A4-E4B1B65B5D1D}" destId="{0412ECE6-7B2A-4040-85A8-9A14FF4D7052}" srcOrd="0" destOrd="0" presId="urn:microsoft.com/office/officeart/2005/8/layout/default"/>
    <dgm:cxn modelId="{498B32AB-828F-428D-B8FD-11C54B97AF27}" srcId="{1836DC48-FB7C-40F8-A69D-8689431D5263}" destId="{78F18371-6D63-48F8-8A9B-21E71F68E9AB}" srcOrd="2" destOrd="0" parTransId="{9B8368B2-AD8B-4309-8FAC-CDA21DCA06B0}" sibTransId="{F0D397D4-244C-4DD4-ABED-B5124522DFDD}"/>
    <dgm:cxn modelId="{8A45811F-C906-4BAF-9B02-1BCEB1A6D011}" type="presOf" srcId="{88B83A29-ADF6-4605-B49D-7482C9441ED3}" destId="{28D0B9AB-470D-4299-9F4D-022A792E3B6F}" srcOrd="0" destOrd="0" presId="urn:microsoft.com/office/officeart/2005/8/layout/default"/>
    <dgm:cxn modelId="{C21F5484-3D5B-4A5F-92B5-85B37B11B96D}" type="presOf" srcId="{78F18371-6D63-48F8-8A9B-21E71F68E9AB}" destId="{10375BE7-1764-4361-91D5-63A84CF3D47C}" srcOrd="0" destOrd="0" presId="urn:microsoft.com/office/officeart/2005/8/layout/default"/>
    <dgm:cxn modelId="{FB878315-DE94-44F1-805A-8B0562761005}" srcId="{1836DC48-FB7C-40F8-A69D-8689431D5263}" destId="{9F687458-9F92-444F-907A-3F4E3B827415}" srcOrd="0" destOrd="0" parTransId="{9490CB2C-348A-4971-B7B8-BC470AF1FB32}" sibTransId="{ECCBF905-C180-4D18-8208-C95470D14D55}"/>
    <dgm:cxn modelId="{B956E425-9EAD-4033-BA0C-59405FED982D}" type="presOf" srcId="{1836DC48-FB7C-40F8-A69D-8689431D5263}" destId="{4D317C3E-DBF1-4BC8-A44E-DD9EC4AFEF34}" srcOrd="0" destOrd="0" presId="urn:microsoft.com/office/officeart/2005/8/layout/default"/>
    <dgm:cxn modelId="{AC2BC15F-7A4F-4DD8-8074-81C7C4C57A3E}" srcId="{1836DC48-FB7C-40F8-A69D-8689431D5263}" destId="{88B83A29-ADF6-4605-B49D-7482C9441ED3}" srcOrd="3" destOrd="0" parTransId="{BAB638CD-4681-4100-B831-BCB892760330}" sibTransId="{541C44D0-C2A3-44A8-87C9-F70399803308}"/>
    <dgm:cxn modelId="{8B8278A3-A122-40F8-B653-077B84EE8C9B}" type="presOf" srcId="{9F687458-9F92-444F-907A-3F4E3B827415}" destId="{2147141F-F662-4EC1-9C36-5D55D4A975FA}" srcOrd="0" destOrd="0" presId="urn:microsoft.com/office/officeart/2005/8/layout/default"/>
    <dgm:cxn modelId="{015B6EF1-D11F-416F-B896-61784E1D4A8B}" type="presParOf" srcId="{4D317C3E-DBF1-4BC8-A44E-DD9EC4AFEF34}" destId="{2147141F-F662-4EC1-9C36-5D55D4A975FA}" srcOrd="0" destOrd="0" presId="urn:microsoft.com/office/officeart/2005/8/layout/default"/>
    <dgm:cxn modelId="{1D39C2B0-F6D5-46FC-8C0F-782A6ABEF54E}" type="presParOf" srcId="{4D317C3E-DBF1-4BC8-A44E-DD9EC4AFEF34}" destId="{1C352A45-12DE-450C-96AE-3A02C8968138}" srcOrd="1" destOrd="0" presId="urn:microsoft.com/office/officeart/2005/8/layout/default"/>
    <dgm:cxn modelId="{E45BF08A-4CA9-4872-B851-431307635ABB}" type="presParOf" srcId="{4D317C3E-DBF1-4BC8-A44E-DD9EC4AFEF34}" destId="{0412ECE6-7B2A-4040-85A8-9A14FF4D7052}" srcOrd="2" destOrd="0" presId="urn:microsoft.com/office/officeart/2005/8/layout/default"/>
    <dgm:cxn modelId="{F6F04716-1178-4D37-85F2-F2EB7791E83F}" type="presParOf" srcId="{4D317C3E-DBF1-4BC8-A44E-DD9EC4AFEF34}" destId="{63A3836B-9CAC-4286-9485-0D5A9B61E3CC}" srcOrd="3" destOrd="0" presId="urn:microsoft.com/office/officeart/2005/8/layout/default"/>
    <dgm:cxn modelId="{36F7FCBA-7BE7-44B5-82C3-B2E13F841082}" type="presParOf" srcId="{4D317C3E-DBF1-4BC8-A44E-DD9EC4AFEF34}" destId="{10375BE7-1764-4361-91D5-63A84CF3D47C}" srcOrd="4" destOrd="0" presId="urn:microsoft.com/office/officeart/2005/8/layout/default"/>
    <dgm:cxn modelId="{9696B4BA-9748-4064-B8BE-2FDA08CF3862}" type="presParOf" srcId="{4D317C3E-DBF1-4BC8-A44E-DD9EC4AFEF34}" destId="{A4F66BB1-38B9-4CAD-864C-B78DF649AEC5}" srcOrd="5" destOrd="0" presId="urn:microsoft.com/office/officeart/2005/8/layout/default"/>
    <dgm:cxn modelId="{9BFFE42F-21E7-4FFA-B31D-938EB015E9F2}" type="presParOf" srcId="{4D317C3E-DBF1-4BC8-A44E-DD9EC4AFEF34}" destId="{28D0B9AB-470D-4299-9F4D-022A792E3B6F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99B1941-59AC-47E3-937F-8B6F111291D8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DBD88E5-C10D-45FB-9C9C-F3F9022347E5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Низкая адаптивность к изменениям - любое изменение требований после начала разработки вызывает каскадный эффект пересмотра документации и планов.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125054BE-D556-4240-A44A-011AFA31D323}" type="parTrans" cxnId="{EC20DC73-C7FE-41CC-BB68-AE9CA6C1B998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7A0CEAA1-BCF6-4D7E-827A-0E95770D53E5}" type="sibTrans" cxnId="{EC20DC73-C7FE-41CC-BB68-AE9CA6C1B998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11BB310-EE3D-462F-AE5C-813778E99007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Позднее обнаружение проблем - критические ошибки часто выявляются только на этапе тестирования, когда исправления особенно дороги.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6EC87A6B-64D6-4AA6-98E2-A95F4C97E5C2}" type="parTrans" cxnId="{89B818F9-19CD-445A-B6E3-6C18B18F38EB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5985A2C-0208-4D4B-98DC-B25DFD8E34A4}" type="sibTrans" cxnId="{89B818F9-19CD-445A-B6E3-6C18B18F38EB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D7CF3278-F3A6-4332-9C62-C8ECD07F49C8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Отложенная обратная связь от пользователей - конечные пользователи видят продукт только после полного завершения разработки.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E97B68CE-C1AC-46E4-B07A-23D410E797FF}" type="parTrans" cxnId="{06831B9B-2DD6-4E1D-9842-F02B7EEF19FA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23D8247D-F429-4B12-B6E9-C69C4472D25D}" type="sibTrans" cxnId="{06831B9B-2DD6-4E1D-9842-F02B7EEF19FA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23CAC7EE-6180-4130-99F6-BA9A0FFD1FB7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Длительный цикл до появления работающего продукта - заказчик не получает инкрементальной ценности.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5CA42F06-5E49-46BE-945E-26018A7CBEB7}" type="parTrans" cxnId="{6D441334-C2BB-407A-A79C-8EE91A3EB7FA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EAC2BBB0-1A02-4E91-B7A0-01DC6BE04BFE}" type="sibTrans" cxnId="{6D441334-C2BB-407A-A79C-8EE91A3EB7FA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261CB75C-4BAB-4F7D-89DD-569C40EAEFF7}" type="pres">
      <dgm:prSet presAssocID="{F99B1941-59AC-47E3-937F-8B6F111291D8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E43E7719-839C-4582-A245-55D6E2F9312B}" type="pres">
      <dgm:prSet presAssocID="{EDBD88E5-C10D-45FB-9C9C-F3F9022347E5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E04996B-1B36-41B4-90F1-5D9C604B55F2}" type="pres">
      <dgm:prSet presAssocID="{7A0CEAA1-BCF6-4D7E-827A-0E95770D53E5}" presName="sibTrans" presStyleCnt="0"/>
      <dgm:spPr/>
    </dgm:pt>
    <dgm:pt modelId="{1CB6C33D-295E-4AC2-9B1F-A98370FEDBAF}" type="pres">
      <dgm:prSet presAssocID="{011BB310-EE3D-462F-AE5C-813778E99007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5EFAA64-9C95-461E-B265-380D0184FDBB}" type="pres">
      <dgm:prSet presAssocID="{C5985A2C-0208-4D4B-98DC-B25DFD8E34A4}" presName="sibTrans" presStyleCnt="0"/>
      <dgm:spPr/>
    </dgm:pt>
    <dgm:pt modelId="{E4751401-0EFE-4603-BD42-BE020CE691FA}" type="pres">
      <dgm:prSet presAssocID="{D7CF3278-F3A6-4332-9C62-C8ECD07F49C8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DADB052-7CB3-4992-A696-E6BBE4842282}" type="pres">
      <dgm:prSet presAssocID="{23D8247D-F429-4B12-B6E9-C69C4472D25D}" presName="sibTrans" presStyleCnt="0"/>
      <dgm:spPr/>
    </dgm:pt>
    <dgm:pt modelId="{C081C7FF-883A-4E1B-9327-FE5FE185AC08}" type="pres">
      <dgm:prSet presAssocID="{23CAC7EE-6180-4130-99F6-BA9A0FFD1FB7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89B818F9-19CD-445A-B6E3-6C18B18F38EB}" srcId="{F99B1941-59AC-47E3-937F-8B6F111291D8}" destId="{011BB310-EE3D-462F-AE5C-813778E99007}" srcOrd="1" destOrd="0" parTransId="{6EC87A6B-64D6-4AA6-98E2-A95F4C97E5C2}" sibTransId="{C5985A2C-0208-4D4B-98DC-B25DFD8E34A4}"/>
    <dgm:cxn modelId="{9B6038FB-59D2-4A5B-A742-DA1D7DB814F0}" type="presOf" srcId="{D7CF3278-F3A6-4332-9C62-C8ECD07F49C8}" destId="{E4751401-0EFE-4603-BD42-BE020CE691FA}" srcOrd="0" destOrd="0" presId="urn:microsoft.com/office/officeart/2005/8/layout/default"/>
    <dgm:cxn modelId="{6D441334-C2BB-407A-A79C-8EE91A3EB7FA}" srcId="{F99B1941-59AC-47E3-937F-8B6F111291D8}" destId="{23CAC7EE-6180-4130-99F6-BA9A0FFD1FB7}" srcOrd="3" destOrd="0" parTransId="{5CA42F06-5E49-46BE-945E-26018A7CBEB7}" sibTransId="{EAC2BBB0-1A02-4E91-B7A0-01DC6BE04BFE}"/>
    <dgm:cxn modelId="{86ADF067-D99C-45E6-8128-F72810DC68A3}" type="presOf" srcId="{F99B1941-59AC-47E3-937F-8B6F111291D8}" destId="{261CB75C-4BAB-4F7D-89DD-569C40EAEFF7}" srcOrd="0" destOrd="0" presId="urn:microsoft.com/office/officeart/2005/8/layout/default"/>
    <dgm:cxn modelId="{06831B9B-2DD6-4E1D-9842-F02B7EEF19FA}" srcId="{F99B1941-59AC-47E3-937F-8B6F111291D8}" destId="{D7CF3278-F3A6-4332-9C62-C8ECD07F49C8}" srcOrd="2" destOrd="0" parTransId="{E97B68CE-C1AC-46E4-B07A-23D410E797FF}" sibTransId="{23D8247D-F429-4B12-B6E9-C69C4472D25D}"/>
    <dgm:cxn modelId="{EC20DC73-C7FE-41CC-BB68-AE9CA6C1B998}" srcId="{F99B1941-59AC-47E3-937F-8B6F111291D8}" destId="{EDBD88E5-C10D-45FB-9C9C-F3F9022347E5}" srcOrd="0" destOrd="0" parTransId="{125054BE-D556-4240-A44A-011AFA31D323}" sibTransId="{7A0CEAA1-BCF6-4D7E-827A-0E95770D53E5}"/>
    <dgm:cxn modelId="{C08EE4C7-9E35-44EC-85A0-CEBFF3237D94}" type="presOf" srcId="{011BB310-EE3D-462F-AE5C-813778E99007}" destId="{1CB6C33D-295E-4AC2-9B1F-A98370FEDBAF}" srcOrd="0" destOrd="0" presId="urn:microsoft.com/office/officeart/2005/8/layout/default"/>
    <dgm:cxn modelId="{36954C9D-E5B1-412A-B047-CA3197DC7179}" type="presOf" srcId="{EDBD88E5-C10D-45FB-9C9C-F3F9022347E5}" destId="{E43E7719-839C-4582-A245-55D6E2F9312B}" srcOrd="0" destOrd="0" presId="urn:microsoft.com/office/officeart/2005/8/layout/default"/>
    <dgm:cxn modelId="{C970D881-1421-4E2F-B2A8-8B0F79864DE6}" type="presOf" srcId="{23CAC7EE-6180-4130-99F6-BA9A0FFD1FB7}" destId="{C081C7FF-883A-4E1B-9327-FE5FE185AC08}" srcOrd="0" destOrd="0" presId="urn:microsoft.com/office/officeart/2005/8/layout/default"/>
    <dgm:cxn modelId="{C0106F4C-77A2-44E2-BD52-99649F826B58}" type="presParOf" srcId="{261CB75C-4BAB-4F7D-89DD-569C40EAEFF7}" destId="{E43E7719-839C-4582-A245-55D6E2F9312B}" srcOrd="0" destOrd="0" presId="urn:microsoft.com/office/officeart/2005/8/layout/default"/>
    <dgm:cxn modelId="{8213799B-D269-4DE9-A628-CC2FED824A3E}" type="presParOf" srcId="{261CB75C-4BAB-4F7D-89DD-569C40EAEFF7}" destId="{8E04996B-1B36-41B4-90F1-5D9C604B55F2}" srcOrd="1" destOrd="0" presId="urn:microsoft.com/office/officeart/2005/8/layout/default"/>
    <dgm:cxn modelId="{68187457-E31B-4E41-A55C-42EF17E42C9C}" type="presParOf" srcId="{261CB75C-4BAB-4F7D-89DD-569C40EAEFF7}" destId="{1CB6C33D-295E-4AC2-9B1F-A98370FEDBAF}" srcOrd="2" destOrd="0" presId="urn:microsoft.com/office/officeart/2005/8/layout/default"/>
    <dgm:cxn modelId="{A1EF9D30-9060-483F-94B5-89CA148E8CA3}" type="presParOf" srcId="{261CB75C-4BAB-4F7D-89DD-569C40EAEFF7}" destId="{E5EFAA64-9C95-461E-B265-380D0184FDBB}" srcOrd="3" destOrd="0" presId="urn:microsoft.com/office/officeart/2005/8/layout/default"/>
    <dgm:cxn modelId="{8893E70C-3E20-4A3B-966E-E617F6D23500}" type="presParOf" srcId="{261CB75C-4BAB-4F7D-89DD-569C40EAEFF7}" destId="{E4751401-0EFE-4603-BD42-BE020CE691FA}" srcOrd="4" destOrd="0" presId="urn:microsoft.com/office/officeart/2005/8/layout/default"/>
    <dgm:cxn modelId="{465E4AF9-69D2-44C7-B5A5-7BDF69556E7B}" type="presParOf" srcId="{261CB75C-4BAB-4F7D-89DD-569C40EAEFF7}" destId="{DDADB052-7CB3-4992-A696-E6BBE4842282}" srcOrd="5" destOrd="0" presId="urn:microsoft.com/office/officeart/2005/8/layout/default"/>
    <dgm:cxn modelId="{29D10838-B934-4C44-BE0E-F28E869440B9}" type="presParOf" srcId="{261CB75C-4BAB-4F7D-89DD-569C40EAEFF7}" destId="{C081C7FF-883A-4E1B-9327-FE5FE185AC08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60602E-9781-4267-A58E-E23222C1729C}">
      <dsp:nvSpPr>
        <dsp:cNvPr id="0" name=""/>
        <dsp:cNvSpPr/>
      </dsp:nvSpPr>
      <dsp:spPr>
        <a:xfrm>
          <a:off x="0" y="2"/>
          <a:ext cx="2857499" cy="24383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dirty="0" smtClean="0">
              <a:latin typeface="Times New Roman" pitchFamily="18" charset="0"/>
              <a:cs typeface="Times New Roman" pitchFamily="18" charset="0"/>
            </a:rPr>
            <a:t>1. Итеративность. </a:t>
          </a:r>
        </a:p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dirty="0" smtClean="0">
              <a:latin typeface="Times New Roman" pitchFamily="18" charset="0"/>
              <a:cs typeface="Times New Roman" pitchFamily="18" charset="0"/>
            </a:rPr>
            <a:t>Работа над проектом делится на короткие циклы, или итерации (обычно 1−4 недели), в конце каждой из которых команда выпускает работоспособную часть продукта. Это позволяет получать обратную связь от заказчика и вносить изменения на ранних этапах.</a:t>
          </a:r>
          <a:endParaRPr lang="ru-RU" sz="15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0" y="2"/>
        <a:ext cx="2857499" cy="2438396"/>
      </dsp:txXfrm>
    </dsp:sp>
    <dsp:sp modelId="{D53F5F03-748D-4AD0-A62F-62B4936FBE11}">
      <dsp:nvSpPr>
        <dsp:cNvPr id="0" name=""/>
        <dsp:cNvSpPr/>
      </dsp:nvSpPr>
      <dsp:spPr>
        <a:xfrm>
          <a:off x="3143250" y="2"/>
          <a:ext cx="2857499" cy="24383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dirty="0" smtClean="0">
              <a:latin typeface="Times New Roman" pitchFamily="18" charset="0"/>
              <a:cs typeface="Times New Roman" pitchFamily="18" charset="0"/>
            </a:rPr>
            <a:t>2. Адаптивность. </a:t>
          </a:r>
        </a:p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dirty="0" err="1" smtClean="0">
              <a:latin typeface="Times New Roman" pitchFamily="18" charset="0"/>
              <a:cs typeface="Times New Roman" pitchFamily="18" charset="0"/>
            </a:rPr>
            <a:t>Agile</a:t>
          </a:r>
          <a:r>
            <a:rPr lang="ru-RU" sz="1500" kern="1200" dirty="0" smtClean="0">
              <a:latin typeface="Times New Roman" pitchFamily="18" charset="0"/>
              <a:cs typeface="Times New Roman" pitchFamily="18" charset="0"/>
            </a:rPr>
            <a:t>-подход приветствует изменения даже на поздних стадиях разработки. Вместо строгого следования первоначальному плану, команда готова адаптироваться к новым требованиям и условиям рынка.</a:t>
          </a:r>
          <a:endParaRPr lang="ru-RU" sz="15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3143250" y="2"/>
        <a:ext cx="2857499" cy="2438396"/>
      </dsp:txXfrm>
    </dsp:sp>
    <dsp:sp modelId="{EC4E8346-5738-48D7-82C8-F16710D86C20}">
      <dsp:nvSpPr>
        <dsp:cNvPr id="0" name=""/>
        <dsp:cNvSpPr/>
      </dsp:nvSpPr>
      <dsp:spPr>
        <a:xfrm>
          <a:off x="6286500" y="2"/>
          <a:ext cx="2857499" cy="24383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dirty="0" smtClean="0">
              <a:latin typeface="Times New Roman" pitchFamily="18" charset="0"/>
              <a:cs typeface="Times New Roman" pitchFamily="18" charset="0"/>
            </a:rPr>
            <a:t>3. Фокус на результате. </a:t>
          </a:r>
        </a:p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dirty="0" smtClean="0">
              <a:latin typeface="Times New Roman" pitchFamily="18" charset="0"/>
              <a:cs typeface="Times New Roman" pitchFamily="18" charset="0"/>
            </a:rPr>
            <a:t>Главный приоритет — поставка ценного, рабочего продукта, а не исчерпывающей документации. Качество продукта и удовлетворенность заказчика стоят на первом месте.</a:t>
          </a:r>
          <a:endParaRPr lang="ru-RU" sz="15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6286500" y="2"/>
        <a:ext cx="2857499" cy="24383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7A78A1-B1B7-4A0C-B273-02C185778FF9}">
      <dsp:nvSpPr>
        <dsp:cNvPr id="0" name=""/>
        <dsp:cNvSpPr/>
      </dsp:nvSpPr>
      <dsp:spPr>
        <a:xfrm>
          <a:off x="1058" y="54053"/>
          <a:ext cx="4126491" cy="24758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1. Люди и взаимодействие важнее процессов и инструментов. 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Эта ценность подчеркивает, что успешность проекта в первую очередь зависит от эффективного общения и сотрудничества между людьми, а не от строгого следования заранее определенным процессам или использования сложных инструментов.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1058" y="54053"/>
        <a:ext cx="4126491" cy="2475894"/>
      </dsp:txXfrm>
    </dsp:sp>
    <dsp:sp modelId="{DD0BFF1F-B23C-478A-B11C-59D0312A555F}">
      <dsp:nvSpPr>
        <dsp:cNvPr id="0" name=""/>
        <dsp:cNvSpPr/>
      </dsp:nvSpPr>
      <dsp:spPr>
        <a:xfrm>
          <a:off x="4540198" y="54053"/>
          <a:ext cx="4126491" cy="24758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2. Работающий продукт важнее исчерпывающей документации. 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Вместо того чтобы тратить много времени на создание подробной документации, </a:t>
          </a:r>
          <a:r>
            <a:rPr lang="ru-RU" sz="1800" kern="1200" dirty="0" err="1" smtClean="0">
              <a:latin typeface="Times New Roman" pitchFamily="18" charset="0"/>
              <a:cs typeface="Times New Roman" pitchFamily="18" charset="0"/>
            </a:rPr>
            <a:t>Agile</a:t>
          </a: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-подход фокусируется на регулярной поставке рабочего продукта. Это позволяет заказчику быстрее увидеть результаты и дать обратную связь.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540198" y="54053"/>
        <a:ext cx="4126491" cy="2475894"/>
      </dsp:txXfrm>
    </dsp:sp>
    <dsp:sp modelId="{D0715B35-D515-407A-8FC4-9B62571452E7}">
      <dsp:nvSpPr>
        <dsp:cNvPr id="0" name=""/>
        <dsp:cNvSpPr/>
      </dsp:nvSpPr>
      <dsp:spPr>
        <a:xfrm>
          <a:off x="1058" y="2942597"/>
          <a:ext cx="4126491" cy="24758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3. Сотрудничество с заказчиком важнее согласования условий контракта. 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err="1" smtClean="0">
              <a:latin typeface="Times New Roman" pitchFamily="18" charset="0"/>
              <a:cs typeface="Times New Roman" pitchFamily="18" charset="0"/>
            </a:rPr>
            <a:t>Agile</a:t>
          </a: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 предполагает постоянное и тесное взаимодействие с заказчиком на протяжении всего проекта. Это помогает команде лучше понять его потребности и ожидания.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1058" y="2942597"/>
        <a:ext cx="4126491" cy="2475894"/>
      </dsp:txXfrm>
    </dsp:sp>
    <dsp:sp modelId="{05C53690-AF97-4DD2-A710-45A9708B4462}">
      <dsp:nvSpPr>
        <dsp:cNvPr id="0" name=""/>
        <dsp:cNvSpPr/>
      </dsp:nvSpPr>
      <dsp:spPr>
        <a:xfrm>
          <a:off x="4540198" y="2942597"/>
          <a:ext cx="4126491" cy="24758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4. Готовность к изменениям важнее следования первоначальному плану. 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В быстро меняющемся мире невозможно предсказать все заранее. </a:t>
          </a:r>
          <a:r>
            <a:rPr lang="ru-RU" sz="1800" kern="1200" dirty="0" err="1" smtClean="0">
              <a:latin typeface="Times New Roman" pitchFamily="18" charset="0"/>
              <a:cs typeface="Times New Roman" pitchFamily="18" charset="0"/>
            </a:rPr>
            <a:t>Agile</a:t>
          </a: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-подход признает неизбежность изменений и учит команды принимать их как возможность для улучшения продукта.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540198" y="2942597"/>
        <a:ext cx="4126491" cy="247589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891AB9-A5A1-4108-90DC-1EFB294645FD}">
      <dsp:nvSpPr>
        <dsp:cNvPr id="0" name=""/>
        <dsp:cNvSpPr/>
      </dsp:nvSpPr>
      <dsp:spPr>
        <a:xfrm>
          <a:off x="843" y="137317"/>
          <a:ext cx="3288826" cy="19732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 dirty="0" smtClean="0">
              <a:latin typeface="Times New Roman" pitchFamily="18" charset="0"/>
              <a:cs typeface="Times New Roman" pitchFamily="18" charset="0"/>
            </a:rPr>
            <a:t>1. Роли. </a:t>
          </a:r>
        </a:p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 dirty="0" smtClean="0">
              <a:latin typeface="Times New Roman" pitchFamily="18" charset="0"/>
              <a:cs typeface="Times New Roman" pitchFamily="18" charset="0"/>
            </a:rPr>
            <a:t>Владелец продукта (</a:t>
          </a:r>
          <a:r>
            <a:rPr lang="en-US" sz="1900" kern="1200" dirty="0" smtClean="0">
              <a:latin typeface="Times New Roman" pitchFamily="18" charset="0"/>
              <a:cs typeface="Times New Roman" pitchFamily="18" charset="0"/>
            </a:rPr>
            <a:t>Product Owner), Scrum-</a:t>
          </a:r>
          <a:r>
            <a:rPr lang="ru-RU" sz="1900" kern="1200" dirty="0" smtClean="0">
              <a:latin typeface="Times New Roman" pitchFamily="18" charset="0"/>
              <a:cs typeface="Times New Roman" pitchFamily="18" charset="0"/>
            </a:rPr>
            <a:t>мастер (</a:t>
          </a:r>
          <a:r>
            <a:rPr lang="en-US" sz="1900" kern="1200" dirty="0" smtClean="0">
              <a:latin typeface="Times New Roman" pitchFamily="18" charset="0"/>
              <a:cs typeface="Times New Roman" pitchFamily="18" charset="0"/>
            </a:rPr>
            <a:t>Scrum Master) </a:t>
          </a:r>
          <a:r>
            <a:rPr lang="ru-RU" sz="1900" kern="1200" dirty="0" smtClean="0">
              <a:latin typeface="Times New Roman" pitchFamily="18" charset="0"/>
              <a:cs typeface="Times New Roman" pitchFamily="18" charset="0"/>
            </a:rPr>
            <a:t>и Команда разработки (</a:t>
          </a:r>
          <a:r>
            <a:rPr lang="en-US" sz="1900" kern="1200" dirty="0" smtClean="0">
              <a:latin typeface="Times New Roman" pitchFamily="18" charset="0"/>
              <a:cs typeface="Times New Roman" pitchFamily="18" charset="0"/>
            </a:rPr>
            <a:t>Development Team).</a:t>
          </a:r>
          <a:endParaRPr lang="ru-RU" sz="19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843" y="137317"/>
        <a:ext cx="3288826" cy="1973296"/>
      </dsp:txXfrm>
    </dsp:sp>
    <dsp:sp modelId="{1E29B35A-C8A8-4F0D-89BA-61A1E772DEA3}">
      <dsp:nvSpPr>
        <dsp:cNvPr id="0" name=""/>
        <dsp:cNvSpPr/>
      </dsp:nvSpPr>
      <dsp:spPr>
        <a:xfrm>
          <a:off x="3618552" y="137317"/>
          <a:ext cx="3288826" cy="19732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 dirty="0" smtClean="0">
              <a:latin typeface="Times New Roman" pitchFamily="18" charset="0"/>
              <a:cs typeface="Times New Roman" pitchFamily="18" charset="0"/>
            </a:rPr>
            <a:t>2. Спринты. </a:t>
          </a:r>
        </a:p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 dirty="0" smtClean="0">
              <a:latin typeface="Times New Roman" pitchFamily="18" charset="0"/>
              <a:cs typeface="Times New Roman" pitchFamily="18" charset="0"/>
            </a:rPr>
            <a:t>Короткие, фиксированные по времени итерации, в течение которых команда создает инкремент продукта.</a:t>
          </a:r>
          <a:endParaRPr lang="ru-RU" sz="19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3618552" y="137317"/>
        <a:ext cx="3288826" cy="1973296"/>
      </dsp:txXfrm>
    </dsp:sp>
    <dsp:sp modelId="{A61FA691-F720-4458-BA52-23CB5D340AAC}">
      <dsp:nvSpPr>
        <dsp:cNvPr id="0" name=""/>
        <dsp:cNvSpPr/>
      </dsp:nvSpPr>
      <dsp:spPr>
        <a:xfrm>
          <a:off x="843" y="2439495"/>
          <a:ext cx="3288826" cy="19732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 dirty="0" smtClean="0">
              <a:latin typeface="Times New Roman" pitchFamily="18" charset="0"/>
              <a:cs typeface="Times New Roman" pitchFamily="18" charset="0"/>
            </a:rPr>
            <a:t>3. </a:t>
          </a:r>
          <a:r>
            <a:rPr lang="ru-RU" sz="1900" kern="1200" dirty="0" err="1" smtClean="0">
              <a:latin typeface="Times New Roman" pitchFamily="18" charset="0"/>
              <a:cs typeface="Times New Roman" pitchFamily="18" charset="0"/>
            </a:rPr>
            <a:t>Бэклог</a:t>
          </a:r>
          <a:r>
            <a:rPr lang="ru-RU" sz="1900" kern="1200" dirty="0" smtClean="0">
              <a:latin typeface="Times New Roman" pitchFamily="18" charset="0"/>
              <a:cs typeface="Times New Roman" pitchFamily="18" charset="0"/>
            </a:rPr>
            <a:t> продукта (</a:t>
          </a:r>
          <a:r>
            <a:rPr lang="ru-RU" sz="1900" kern="1200" dirty="0" err="1" smtClean="0">
              <a:latin typeface="Times New Roman" pitchFamily="18" charset="0"/>
              <a:cs typeface="Times New Roman" pitchFamily="18" charset="0"/>
            </a:rPr>
            <a:t>Product</a:t>
          </a:r>
          <a:r>
            <a:rPr lang="ru-RU" sz="1900" kern="12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1900" kern="1200" dirty="0" err="1" smtClean="0">
              <a:latin typeface="Times New Roman" pitchFamily="18" charset="0"/>
              <a:cs typeface="Times New Roman" pitchFamily="18" charset="0"/>
            </a:rPr>
            <a:t>Backlog</a:t>
          </a:r>
          <a:r>
            <a:rPr lang="ru-RU" sz="1900" kern="1200" dirty="0" smtClean="0">
              <a:latin typeface="Times New Roman" pitchFamily="18" charset="0"/>
              <a:cs typeface="Times New Roman" pitchFamily="18" charset="0"/>
            </a:rPr>
            <a:t>). </a:t>
          </a:r>
        </a:p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 dirty="0" err="1" smtClean="0">
              <a:latin typeface="Times New Roman" pitchFamily="18" charset="0"/>
              <a:cs typeface="Times New Roman" pitchFamily="18" charset="0"/>
            </a:rPr>
            <a:t>Приоритизированный</a:t>
          </a:r>
          <a:r>
            <a:rPr lang="ru-RU" sz="1900" kern="1200" dirty="0" smtClean="0">
              <a:latin typeface="Times New Roman" pitchFamily="18" charset="0"/>
              <a:cs typeface="Times New Roman" pitchFamily="18" charset="0"/>
            </a:rPr>
            <a:t> список всех требований к продукту.</a:t>
          </a:r>
          <a:endParaRPr lang="ru-RU" sz="19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843" y="2439495"/>
        <a:ext cx="3288826" cy="1973296"/>
      </dsp:txXfrm>
    </dsp:sp>
    <dsp:sp modelId="{B6261992-A8F0-45B2-96DD-EC390D43A5DA}">
      <dsp:nvSpPr>
        <dsp:cNvPr id="0" name=""/>
        <dsp:cNvSpPr/>
      </dsp:nvSpPr>
      <dsp:spPr>
        <a:xfrm>
          <a:off x="3618552" y="2439495"/>
          <a:ext cx="3288826" cy="19732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 dirty="0" smtClean="0">
              <a:latin typeface="Times New Roman" pitchFamily="18" charset="0"/>
              <a:cs typeface="Times New Roman" pitchFamily="18" charset="0"/>
            </a:rPr>
            <a:t>4. Ежедневные </a:t>
          </a:r>
          <a:r>
            <a:rPr lang="ru-RU" sz="1900" kern="1200" dirty="0" err="1" smtClean="0">
              <a:latin typeface="Times New Roman" pitchFamily="18" charset="0"/>
              <a:cs typeface="Times New Roman" pitchFamily="18" charset="0"/>
            </a:rPr>
            <a:t>стендапы</a:t>
          </a:r>
          <a:r>
            <a:rPr lang="ru-RU" sz="1900" kern="1200" dirty="0" smtClean="0">
              <a:latin typeface="Times New Roman" pitchFamily="18" charset="0"/>
              <a:cs typeface="Times New Roman" pitchFamily="18" charset="0"/>
            </a:rPr>
            <a:t> (</a:t>
          </a:r>
          <a:r>
            <a:rPr lang="ru-RU" sz="1900" kern="1200" dirty="0" err="1" smtClean="0">
              <a:latin typeface="Times New Roman" pitchFamily="18" charset="0"/>
              <a:cs typeface="Times New Roman" pitchFamily="18" charset="0"/>
            </a:rPr>
            <a:t>Daily</a:t>
          </a:r>
          <a:r>
            <a:rPr lang="ru-RU" sz="1900" kern="12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1900" kern="1200" dirty="0" err="1" smtClean="0">
              <a:latin typeface="Times New Roman" pitchFamily="18" charset="0"/>
              <a:cs typeface="Times New Roman" pitchFamily="18" charset="0"/>
            </a:rPr>
            <a:t>Scrum</a:t>
          </a:r>
          <a:r>
            <a:rPr lang="ru-RU" sz="1900" kern="1200" dirty="0" smtClean="0">
              <a:latin typeface="Times New Roman" pitchFamily="18" charset="0"/>
              <a:cs typeface="Times New Roman" pitchFamily="18" charset="0"/>
            </a:rPr>
            <a:t>). </a:t>
          </a:r>
        </a:p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 dirty="0" smtClean="0">
              <a:latin typeface="Times New Roman" pitchFamily="18" charset="0"/>
              <a:cs typeface="Times New Roman" pitchFamily="18" charset="0"/>
            </a:rPr>
            <a:t>Короткие ежедневные встречи, на которых команда синхронизирует свою работу и планирует следующий день.</a:t>
          </a:r>
          <a:endParaRPr lang="ru-RU" sz="19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3618552" y="2439495"/>
        <a:ext cx="3288826" cy="197329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7DEDC5-BC82-43FF-B5FF-C0024E472406}">
      <dsp:nvSpPr>
        <dsp:cNvPr id="0" name=""/>
        <dsp:cNvSpPr/>
      </dsp:nvSpPr>
      <dsp:spPr>
        <a:xfrm>
          <a:off x="4" y="1735"/>
          <a:ext cx="4302830" cy="18896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1. Визуализация задач. 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Работа отображается на </a:t>
          </a:r>
          <a:r>
            <a:rPr lang="ru-RU" sz="1800" kern="1200" dirty="0" err="1" smtClean="0">
              <a:latin typeface="Times New Roman" pitchFamily="18" charset="0"/>
              <a:cs typeface="Times New Roman" pitchFamily="18" charset="0"/>
            </a:rPr>
            <a:t>Kanban</a:t>
          </a: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-доске с колонками, представляющими этапы процесса (например, «К выполнению», «В работе», «Готово»). Это обеспечивает прозрачность и помогает выявлять узкие места.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" y="1735"/>
        <a:ext cx="4302830" cy="1889651"/>
      </dsp:txXfrm>
    </dsp:sp>
    <dsp:sp modelId="{CF08A5E4-D77A-4A73-BECE-16E9DA902D95}">
      <dsp:nvSpPr>
        <dsp:cNvPr id="0" name=""/>
        <dsp:cNvSpPr/>
      </dsp:nvSpPr>
      <dsp:spPr>
        <a:xfrm>
          <a:off x="4617777" y="1735"/>
          <a:ext cx="3925278" cy="18896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2. Ограничение работы в процессе. 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Устанавливаются лимиты на количество задач, которые могут находиться в каждой колонке одновременно.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617777" y="1735"/>
        <a:ext cx="3925278" cy="1889651"/>
      </dsp:txXfrm>
    </dsp:sp>
    <dsp:sp modelId="{4DD380C2-6B20-4159-830B-7DD1D0D1DDD0}">
      <dsp:nvSpPr>
        <dsp:cNvPr id="0" name=""/>
        <dsp:cNvSpPr/>
      </dsp:nvSpPr>
      <dsp:spPr>
        <a:xfrm>
          <a:off x="2308512" y="2206328"/>
          <a:ext cx="3926034" cy="18896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3. Непрерывный поток. 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Цель </a:t>
          </a:r>
          <a:r>
            <a:rPr lang="ru-RU" sz="1800" kern="1200" dirty="0" err="1" smtClean="0">
              <a:latin typeface="Times New Roman" pitchFamily="18" charset="0"/>
              <a:cs typeface="Times New Roman" pitchFamily="18" charset="0"/>
            </a:rPr>
            <a:t>Kanban</a:t>
          </a: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 — обеспечить плавный и непрерывный поток работы от начала до конца, </a:t>
          </a:r>
          <a:r>
            <a:rPr lang="ru-RU" sz="1800" kern="1200" dirty="0" err="1" smtClean="0">
              <a:latin typeface="Times New Roman" pitchFamily="18" charset="0"/>
              <a:cs typeface="Times New Roman" pitchFamily="18" charset="0"/>
            </a:rPr>
            <a:t>минимизируя</a:t>
          </a: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 задержки и простои.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2308512" y="2206328"/>
        <a:ext cx="3926034" cy="188965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7DEDC5-BC82-43FF-B5FF-C0024E472406}">
      <dsp:nvSpPr>
        <dsp:cNvPr id="0" name=""/>
        <dsp:cNvSpPr/>
      </dsp:nvSpPr>
      <dsp:spPr>
        <a:xfrm>
          <a:off x="0" y="166743"/>
          <a:ext cx="3237774" cy="2074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1. Визуализация рабочего процесса - все задачи должны быть видны на доске, что позволяет команде быстро оценить статус каждого проекта. 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0" y="166743"/>
        <a:ext cx="3237774" cy="2074271"/>
      </dsp:txXfrm>
    </dsp:sp>
    <dsp:sp modelId="{4A0B1D03-F804-4435-B00E-BDE746FDDD2B}">
      <dsp:nvSpPr>
        <dsp:cNvPr id="0" name=""/>
        <dsp:cNvSpPr/>
      </dsp:nvSpPr>
      <dsp:spPr>
        <a:xfrm>
          <a:off x="3519682" y="180600"/>
          <a:ext cx="5305581" cy="20489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2. Ограничение незавершённой работы (WIP-лимиты) - для каждого этапа работы устанавливается лимит задач, которые могут находиться в работе одновременно. Это предотвращает перегрузку команды и помогает сосредоточиться на том, чтобы завершить начатые задачи, прежде чем браться за новые. </a:t>
          </a:r>
        </a:p>
      </dsp:txBody>
      <dsp:txXfrm>
        <a:off x="3519682" y="180600"/>
        <a:ext cx="5305581" cy="2048924"/>
      </dsp:txXfrm>
    </dsp:sp>
    <dsp:sp modelId="{412A222A-F130-42B8-9DF4-C878CB075310}">
      <dsp:nvSpPr>
        <dsp:cNvPr id="0" name=""/>
        <dsp:cNvSpPr/>
      </dsp:nvSpPr>
      <dsp:spPr>
        <a:xfrm>
          <a:off x="421410" y="2524023"/>
          <a:ext cx="4339823" cy="22397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3. Управление потоком - команда отслеживает, как задачи перемещаются по доске, и устраняет препятствия. Это позволяет добиться равномерного темпа работы и избежать ситуаций, когда задачи подолгу застревают на одном этапе. </a:t>
          </a:r>
        </a:p>
      </dsp:txBody>
      <dsp:txXfrm>
        <a:off x="421410" y="2524023"/>
        <a:ext cx="4339823" cy="2239731"/>
      </dsp:txXfrm>
    </dsp:sp>
    <dsp:sp modelId="{3949F750-6578-4FA6-85ED-AC2038AD20F3}">
      <dsp:nvSpPr>
        <dsp:cNvPr id="0" name=""/>
        <dsp:cNvSpPr/>
      </dsp:nvSpPr>
      <dsp:spPr>
        <a:xfrm>
          <a:off x="5043059" y="2524023"/>
          <a:ext cx="3360876" cy="22397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4. Повышение прозрачности - правила работы с доской должны быть ясными и понятными для всех участников процесса.</a:t>
          </a:r>
        </a:p>
      </dsp:txBody>
      <dsp:txXfrm>
        <a:off x="5043059" y="2524023"/>
        <a:ext cx="3360876" cy="223973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D85F66-600F-4E2C-B074-A25611C2CD13}">
      <dsp:nvSpPr>
        <dsp:cNvPr id="0" name=""/>
        <dsp:cNvSpPr/>
      </dsp:nvSpPr>
      <dsp:spPr>
        <a:xfrm>
          <a:off x="188759" y="717"/>
          <a:ext cx="3448394" cy="20690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Создание карточек — на них записывают задачи, ответственных, сроки и приоритеты.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188759" y="717"/>
        <a:ext cx="3448394" cy="2069036"/>
      </dsp:txXfrm>
    </dsp:sp>
    <dsp:sp modelId="{064C9A88-7778-47C1-A308-D146E2E511F5}">
      <dsp:nvSpPr>
        <dsp:cNvPr id="0" name=""/>
        <dsp:cNvSpPr/>
      </dsp:nvSpPr>
      <dsp:spPr>
        <a:xfrm>
          <a:off x="3981994" y="717"/>
          <a:ext cx="4400014" cy="20690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Перемещение карточек — когда наступает новый этап выполнения задачи, карточку перемещают в следующую колонку. Например, когда появляется новая задача, она попадает в колонку «Запланировано», как только кто-то начинает работать над ней, карточку переносят в «В работе», а по завершении — в «Готово».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3981994" y="717"/>
        <a:ext cx="4400014" cy="2069036"/>
      </dsp:txXfrm>
    </dsp:sp>
    <dsp:sp modelId="{EBFD4553-9F4C-40E4-8A12-83EDF11C5DE1}">
      <dsp:nvSpPr>
        <dsp:cNvPr id="0" name=""/>
        <dsp:cNvSpPr/>
      </dsp:nvSpPr>
      <dsp:spPr>
        <a:xfrm>
          <a:off x="2561186" y="2414594"/>
          <a:ext cx="3448394" cy="20690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smtClean="0">
              <a:latin typeface="Times New Roman" pitchFamily="18" charset="0"/>
              <a:cs typeface="Times New Roman" pitchFamily="18" charset="0"/>
            </a:rPr>
            <a:t>Регулярные встречи для обсуждения прогресса — они позволяют команде синхронизироваться, обсудить возникшие проблемы и скорректировать планы при необходимости.</a:t>
          </a:r>
          <a:endParaRPr lang="ru-RU" sz="1800" kern="1200">
            <a:latin typeface="Times New Roman" pitchFamily="18" charset="0"/>
            <a:cs typeface="Times New Roman" pitchFamily="18" charset="0"/>
          </a:endParaRPr>
        </a:p>
      </dsp:txBody>
      <dsp:txXfrm>
        <a:off x="2561186" y="2414594"/>
        <a:ext cx="3448394" cy="206903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52768D-4D44-44E1-A216-B803EB38C5FA}">
      <dsp:nvSpPr>
        <dsp:cNvPr id="0" name=""/>
        <dsp:cNvSpPr/>
      </dsp:nvSpPr>
      <dsp:spPr>
        <a:xfrm>
          <a:off x="552291" y="558"/>
          <a:ext cx="3443170" cy="33539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Физические доски. 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Белые доски, </a:t>
          </a:r>
          <a:r>
            <a:rPr lang="ru-RU" sz="2000" kern="1200" dirty="0" err="1" smtClean="0">
              <a:latin typeface="Times New Roman" pitchFamily="18" charset="0"/>
              <a:cs typeface="Times New Roman" pitchFamily="18" charset="0"/>
            </a:rPr>
            <a:t>стикеры</a:t>
          </a: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, маркеры - простые и наглядные инструменты для небольших команд;</a:t>
          </a:r>
          <a:endParaRPr lang="ru-RU" sz="20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552291" y="558"/>
        <a:ext cx="3443170" cy="3353992"/>
      </dsp:txXfrm>
    </dsp:sp>
    <dsp:sp modelId="{A92A40ED-E64F-4D04-BFAB-64FE967947DA}">
      <dsp:nvSpPr>
        <dsp:cNvPr id="0" name=""/>
        <dsp:cNvSpPr/>
      </dsp:nvSpPr>
      <dsp:spPr>
        <a:xfrm>
          <a:off x="4339779" y="558"/>
          <a:ext cx="3443170" cy="33539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Цифровые доски. 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Онлайн-платформы, такие как WEEEK, </a:t>
          </a:r>
          <a:r>
            <a:rPr lang="ru-RU" sz="2000" kern="1200" dirty="0" err="1" smtClean="0">
              <a:latin typeface="Times New Roman" pitchFamily="18" charset="0"/>
              <a:cs typeface="Times New Roman" pitchFamily="18" charset="0"/>
            </a:rPr>
            <a:t>Kaiten</a:t>
          </a: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, </a:t>
          </a:r>
          <a:r>
            <a:rPr lang="ru-RU" sz="2000" kern="1200" dirty="0" err="1" smtClean="0">
              <a:latin typeface="Times New Roman" pitchFamily="18" charset="0"/>
              <a:cs typeface="Times New Roman" pitchFamily="18" charset="0"/>
            </a:rPr>
            <a:t>Monday</a:t>
          </a: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. 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Они предлагают широкие возможности для удаленной работы, интеграции с другими сервисами и автоматизации.</a:t>
          </a:r>
          <a:endParaRPr lang="ru-RU" sz="20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339779" y="558"/>
        <a:ext cx="3443170" cy="335399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2DDE88-887E-4DC7-9BA6-59980D39670B}">
      <dsp:nvSpPr>
        <dsp:cNvPr id="0" name=""/>
        <dsp:cNvSpPr/>
      </dsp:nvSpPr>
      <dsp:spPr>
        <a:xfrm>
          <a:off x="40725" y="1769"/>
          <a:ext cx="4055726" cy="24334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IT и разработка ПО. 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Это естественная среда для </a:t>
          </a:r>
          <a:r>
            <a:rPr lang="ru-RU" sz="1800" kern="1200" dirty="0" err="1" smtClean="0">
              <a:latin typeface="Times New Roman" pitchFamily="18" charset="0"/>
              <a:cs typeface="Times New Roman" pitchFamily="18" charset="0"/>
            </a:rPr>
            <a:t>Agile</a:t>
          </a: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. Здесь он используется для разработки новых продуктов, обновления существующих систем, создания мобильных приложений и веб-сервисов.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0725" y="1769"/>
        <a:ext cx="4055726" cy="2433436"/>
      </dsp:txXfrm>
    </dsp:sp>
    <dsp:sp modelId="{6BA4252D-04DA-4782-A374-EDAF1CA63BDA}">
      <dsp:nvSpPr>
        <dsp:cNvPr id="0" name=""/>
        <dsp:cNvSpPr/>
      </dsp:nvSpPr>
      <dsp:spPr>
        <a:xfrm>
          <a:off x="4502024" y="1769"/>
          <a:ext cx="4055726" cy="24334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Маркетинг. 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err="1" smtClean="0">
              <a:latin typeface="Times New Roman" pitchFamily="18" charset="0"/>
              <a:cs typeface="Times New Roman" pitchFamily="18" charset="0"/>
            </a:rPr>
            <a:t>Agile</a:t>
          </a: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-маркетинг помогает командам быстро запускать кампании, тестировать гипотезы, анализировать результаты и оперативно вносить изменения.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502024" y="1769"/>
        <a:ext cx="4055726" cy="2433436"/>
      </dsp:txXfrm>
    </dsp:sp>
    <dsp:sp modelId="{83E8EE12-8F60-4F1B-91E2-348E01339C5C}">
      <dsp:nvSpPr>
        <dsp:cNvPr id="0" name=""/>
        <dsp:cNvSpPr/>
      </dsp:nvSpPr>
      <dsp:spPr>
        <a:xfrm>
          <a:off x="40725" y="2840778"/>
          <a:ext cx="4055726" cy="24334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err="1" smtClean="0">
              <a:latin typeface="Times New Roman" pitchFamily="18" charset="0"/>
              <a:cs typeface="Times New Roman" pitchFamily="18" charset="0"/>
            </a:rPr>
            <a:t>Стартапы</a:t>
          </a: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. 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Для </a:t>
          </a:r>
          <a:r>
            <a:rPr lang="ru-RU" sz="1800" kern="1200" dirty="0" err="1" smtClean="0">
              <a:latin typeface="Times New Roman" pitchFamily="18" charset="0"/>
              <a:cs typeface="Times New Roman" pitchFamily="18" charset="0"/>
            </a:rPr>
            <a:t>стартапов</a:t>
          </a: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, работающих в условиях высокой неопределенности и ограниченных ресурсов, </a:t>
          </a:r>
          <a:r>
            <a:rPr lang="ru-RU" sz="1800" kern="1200" dirty="0" err="1" smtClean="0">
              <a:latin typeface="Times New Roman" pitchFamily="18" charset="0"/>
              <a:cs typeface="Times New Roman" pitchFamily="18" charset="0"/>
            </a:rPr>
            <a:t>Agile</a:t>
          </a: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 является идеальным подходом. Он позволяет быстро проверять идеи, создавать минимально жизнеспособные продукты (MVP) и адаптироваться к потребностям рынка.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0725" y="2840778"/>
        <a:ext cx="4055726" cy="2433436"/>
      </dsp:txXfrm>
    </dsp:sp>
    <dsp:sp modelId="{EE881ABC-AB68-4D4D-B856-0704A7F792C0}">
      <dsp:nvSpPr>
        <dsp:cNvPr id="0" name=""/>
        <dsp:cNvSpPr/>
      </dsp:nvSpPr>
      <dsp:spPr>
        <a:xfrm>
          <a:off x="4502024" y="2840778"/>
          <a:ext cx="4055726" cy="24334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Производство. 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Принципы </a:t>
          </a:r>
          <a:r>
            <a:rPr lang="ru-RU" sz="1800" kern="1200" dirty="0" err="1" smtClean="0">
              <a:latin typeface="Times New Roman" pitchFamily="18" charset="0"/>
              <a:cs typeface="Times New Roman" pitchFamily="18" charset="0"/>
            </a:rPr>
            <a:t>Lean</a:t>
          </a: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 (бережливого производства), которые являются частью </a:t>
          </a:r>
          <a:r>
            <a:rPr lang="ru-RU" sz="1800" kern="1200" dirty="0" err="1" smtClean="0">
              <a:latin typeface="Times New Roman" pitchFamily="18" charset="0"/>
              <a:cs typeface="Times New Roman" pitchFamily="18" charset="0"/>
            </a:rPr>
            <a:t>Agile</a:t>
          </a: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, давно применяются в производственной сфере для оптимизации процессов, сокращения потерь и повышения эффективности.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502024" y="2840778"/>
        <a:ext cx="4055726" cy="243343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493831-7B3C-43BD-9DA1-1526BCC03692}">
      <dsp:nvSpPr>
        <dsp:cNvPr id="0" name=""/>
        <dsp:cNvSpPr/>
      </dsp:nvSpPr>
      <dsp:spPr>
        <a:xfrm>
          <a:off x="0" y="100207"/>
          <a:ext cx="2713001" cy="24538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dirty="0" smtClean="0">
              <a:latin typeface="Times New Roman" pitchFamily="18" charset="0"/>
              <a:cs typeface="Times New Roman" pitchFamily="18" charset="0"/>
            </a:rPr>
            <a:t>Сбор требований и формирование ТЗ - детально описывается план будущих работ, определяются функциональные и нефункциональные требования, роли для каждого сотрудника, планируется время на выполнение и оцениваются возможные риски.</a:t>
          </a:r>
          <a:endParaRPr lang="ru-RU" sz="15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0" y="100207"/>
        <a:ext cx="2713001" cy="2453828"/>
      </dsp:txXfrm>
    </dsp:sp>
    <dsp:sp modelId="{62920585-128E-4360-AB05-7E261A9D4221}">
      <dsp:nvSpPr>
        <dsp:cNvPr id="0" name=""/>
        <dsp:cNvSpPr/>
      </dsp:nvSpPr>
      <dsp:spPr>
        <a:xfrm>
          <a:off x="2984301" y="127920"/>
          <a:ext cx="2713001" cy="23984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dirty="0" smtClean="0">
              <a:latin typeface="Times New Roman" pitchFamily="18" charset="0"/>
              <a:cs typeface="Times New Roman" pitchFamily="18" charset="0"/>
            </a:rPr>
            <a:t>Проектирование - разрабатывается архитектура и логика будущего решения, определяются необходимые технологии, языки программирования и другие инструменты для реализации проекта согласно требованиям.</a:t>
          </a:r>
          <a:endParaRPr lang="ru-RU" sz="15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2984301" y="127920"/>
        <a:ext cx="2713001" cy="2398401"/>
      </dsp:txXfrm>
    </dsp:sp>
    <dsp:sp modelId="{1C7A899A-255A-45D7-B281-BA181868FD14}">
      <dsp:nvSpPr>
        <dsp:cNvPr id="0" name=""/>
        <dsp:cNvSpPr/>
      </dsp:nvSpPr>
      <dsp:spPr>
        <a:xfrm>
          <a:off x="5968603" y="114068"/>
          <a:ext cx="2713001" cy="24261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dirty="0" smtClean="0">
              <a:latin typeface="Times New Roman" pitchFamily="18" charset="0"/>
              <a:cs typeface="Times New Roman" pitchFamily="18" charset="0"/>
            </a:rPr>
            <a:t>Разработка (реализация) - происходит создание продукта строго в соответствии с утверждённым ТЗ и проектной документацией. Любое отступление от плана требует формального согласования или не допускается.</a:t>
          </a:r>
          <a:endParaRPr lang="ru-RU" sz="15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5968603" y="114068"/>
        <a:ext cx="2713001" cy="2426107"/>
      </dsp:txXfrm>
    </dsp:sp>
    <dsp:sp modelId="{24CE3E66-D389-4B21-9B63-62D89628F8EF}">
      <dsp:nvSpPr>
        <dsp:cNvPr id="0" name=""/>
        <dsp:cNvSpPr/>
      </dsp:nvSpPr>
      <dsp:spPr>
        <a:xfrm>
          <a:off x="1492150" y="2825336"/>
          <a:ext cx="2713001" cy="23920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dirty="0" smtClean="0">
              <a:latin typeface="Times New Roman" pitchFamily="18" charset="0"/>
              <a:cs typeface="Times New Roman" pitchFamily="18" charset="0"/>
            </a:rPr>
            <a:t>Тестирование - готовый продукт тщательно проверяется на работоспособность, соответствие требованиям ТЗ и наличие багов перед его выпуском.</a:t>
          </a:r>
          <a:endParaRPr lang="ru-RU" sz="15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1492150" y="2825336"/>
        <a:ext cx="2713001" cy="2392004"/>
      </dsp:txXfrm>
    </dsp:sp>
    <dsp:sp modelId="{EF8E5CC3-72C6-4166-872A-EAE07CB825C5}">
      <dsp:nvSpPr>
        <dsp:cNvPr id="0" name=""/>
        <dsp:cNvSpPr/>
      </dsp:nvSpPr>
      <dsp:spPr>
        <a:xfrm>
          <a:off x="4476452" y="2825336"/>
          <a:ext cx="2713001" cy="23920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dirty="0" smtClean="0">
              <a:latin typeface="Times New Roman" pitchFamily="18" charset="0"/>
              <a:cs typeface="Times New Roman" pitchFamily="18" charset="0"/>
            </a:rPr>
            <a:t>Внедрение и поддержка -готовое решение развёртывается (публикуется), и начинается его эксплуатация и поддержка. Затем собирается обратная связь от пользователей, и на её основе планируется оптимизация продукта — внедрение новых функций или улучшение старых.</a:t>
          </a:r>
          <a:endParaRPr lang="ru-RU" sz="15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476452" y="2825336"/>
        <a:ext cx="2713001" cy="239200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47141F-F662-4EC1-9C36-5D55D4A975FA}">
      <dsp:nvSpPr>
        <dsp:cNvPr id="0" name=""/>
        <dsp:cNvSpPr/>
      </dsp:nvSpPr>
      <dsp:spPr>
        <a:xfrm>
          <a:off x="987" y="108127"/>
          <a:ext cx="3849469" cy="23096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 dirty="0" smtClean="0">
              <a:latin typeface="Times New Roman" pitchFamily="18" charset="0"/>
              <a:cs typeface="Times New Roman" pitchFamily="18" charset="0"/>
            </a:rPr>
            <a:t>Чёткая структура и понятность - каждый участник проекта точно знает, на каком этапе находится разработка и что ожидается далее.</a:t>
          </a:r>
          <a:endParaRPr lang="ru-RU" sz="25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987" y="108127"/>
        <a:ext cx="3849469" cy="2309681"/>
      </dsp:txXfrm>
    </dsp:sp>
    <dsp:sp modelId="{0412ECE6-7B2A-4040-85A8-9A14FF4D7052}">
      <dsp:nvSpPr>
        <dsp:cNvPr id="0" name=""/>
        <dsp:cNvSpPr/>
      </dsp:nvSpPr>
      <dsp:spPr>
        <a:xfrm>
          <a:off x="4235402" y="108127"/>
          <a:ext cx="3849469" cy="23096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 dirty="0" smtClean="0">
              <a:latin typeface="Times New Roman" pitchFamily="18" charset="0"/>
              <a:cs typeface="Times New Roman" pitchFamily="18" charset="0"/>
            </a:rPr>
            <a:t>Прогнозируемость сроков и бюджета - при корректном планировании руководство получает чёткое представление о затратах и времени.</a:t>
          </a:r>
          <a:endParaRPr lang="ru-RU" sz="25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235402" y="108127"/>
        <a:ext cx="3849469" cy="2309681"/>
      </dsp:txXfrm>
    </dsp:sp>
    <dsp:sp modelId="{10375BE7-1764-4361-91D5-63A84CF3D47C}">
      <dsp:nvSpPr>
        <dsp:cNvPr id="0" name=""/>
        <dsp:cNvSpPr/>
      </dsp:nvSpPr>
      <dsp:spPr>
        <a:xfrm>
          <a:off x="987" y="2802755"/>
          <a:ext cx="3849469" cy="23096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 dirty="0" smtClean="0">
              <a:latin typeface="Times New Roman" pitchFamily="18" charset="0"/>
              <a:cs typeface="Times New Roman" pitchFamily="18" charset="0"/>
            </a:rPr>
            <a:t>Контроль качества - каждый этап проходит процедуру верификации, обеспечивая соответствие требованиям.</a:t>
          </a:r>
          <a:endParaRPr lang="ru-RU" sz="25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987" y="2802755"/>
        <a:ext cx="3849469" cy="2309681"/>
      </dsp:txXfrm>
    </dsp:sp>
    <dsp:sp modelId="{28D0B9AB-470D-4299-9F4D-022A792E3B6F}">
      <dsp:nvSpPr>
        <dsp:cNvPr id="0" name=""/>
        <dsp:cNvSpPr/>
      </dsp:nvSpPr>
      <dsp:spPr>
        <a:xfrm>
          <a:off x="4235402" y="2802755"/>
          <a:ext cx="3849469" cy="23096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 dirty="0" smtClean="0">
              <a:latin typeface="Times New Roman" pitchFamily="18" charset="0"/>
              <a:cs typeface="Times New Roman" pitchFamily="18" charset="0"/>
            </a:rPr>
            <a:t>Минимальное вовлечение заказчика - после согласования требований заказчику не нужно постоянно участвовать в процессе разработки.</a:t>
          </a:r>
          <a:endParaRPr lang="ru-RU" sz="25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235402" y="2802755"/>
        <a:ext cx="3849469" cy="2309681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3E7719-839C-4582-A245-55D6E2F9312B}">
      <dsp:nvSpPr>
        <dsp:cNvPr id="0" name=""/>
        <dsp:cNvSpPr/>
      </dsp:nvSpPr>
      <dsp:spPr>
        <a:xfrm>
          <a:off x="162044" y="342"/>
          <a:ext cx="3887405" cy="23324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kern="1200" dirty="0" smtClean="0">
              <a:latin typeface="Times New Roman" pitchFamily="18" charset="0"/>
              <a:cs typeface="Times New Roman" pitchFamily="18" charset="0"/>
            </a:rPr>
            <a:t>Низкая адаптивность к изменениям - любое изменение требований после начала разработки вызывает каскадный эффект пересмотра документации и планов.</a:t>
          </a:r>
          <a:endParaRPr lang="ru-RU" sz="23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162044" y="342"/>
        <a:ext cx="3887405" cy="2332443"/>
      </dsp:txXfrm>
    </dsp:sp>
    <dsp:sp modelId="{1CB6C33D-295E-4AC2-9B1F-A98370FEDBAF}">
      <dsp:nvSpPr>
        <dsp:cNvPr id="0" name=""/>
        <dsp:cNvSpPr/>
      </dsp:nvSpPr>
      <dsp:spPr>
        <a:xfrm>
          <a:off x="4438190" y="342"/>
          <a:ext cx="3887405" cy="23324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kern="1200" dirty="0" smtClean="0">
              <a:latin typeface="Times New Roman" pitchFamily="18" charset="0"/>
              <a:cs typeface="Times New Roman" pitchFamily="18" charset="0"/>
            </a:rPr>
            <a:t>Позднее обнаружение проблем - критические ошибки часто выявляются только на этапе тестирования, когда исправления особенно дороги.</a:t>
          </a:r>
          <a:endParaRPr lang="ru-RU" sz="23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438190" y="342"/>
        <a:ext cx="3887405" cy="2332443"/>
      </dsp:txXfrm>
    </dsp:sp>
    <dsp:sp modelId="{E4751401-0EFE-4603-BD42-BE020CE691FA}">
      <dsp:nvSpPr>
        <dsp:cNvPr id="0" name=""/>
        <dsp:cNvSpPr/>
      </dsp:nvSpPr>
      <dsp:spPr>
        <a:xfrm>
          <a:off x="162044" y="2721526"/>
          <a:ext cx="3887405" cy="23324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kern="1200" dirty="0" smtClean="0">
              <a:latin typeface="Times New Roman" pitchFamily="18" charset="0"/>
              <a:cs typeface="Times New Roman" pitchFamily="18" charset="0"/>
            </a:rPr>
            <a:t>Отложенная обратная связь от пользователей - конечные пользователи видят продукт только после полного завершения разработки.</a:t>
          </a:r>
          <a:endParaRPr lang="ru-RU" sz="23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162044" y="2721526"/>
        <a:ext cx="3887405" cy="2332443"/>
      </dsp:txXfrm>
    </dsp:sp>
    <dsp:sp modelId="{C081C7FF-883A-4E1B-9327-FE5FE185AC08}">
      <dsp:nvSpPr>
        <dsp:cNvPr id="0" name=""/>
        <dsp:cNvSpPr/>
      </dsp:nvSpPr>
      <dsp:spPr>
        <a:xfrm>
          <a:off x="4438190" y="2721526"/>
          <a:ext cx="3887405" cy="23324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kern="1200" dirty="0" smtClean="0">
              <a:latin typeface="Times New Roman" pitchFamily="18" charset="0"/>
              <a:cs typeface="Times New Roman" pitchFamily="18" charset="0"/>
            </a:rPr>
            <a:t>Длительный цикл до появления работающего продукта - заказчик не получает инкрементальной ценности.</a:t>
          </a:r>
          <a:endParaRPr lang="ru-RU" sz="23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438190" y="2721526"/>
        <a:ext cx="3887405" cy="23324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C9240-0B00-47F5-8315-EA25A5DD21D4}" type="datetimeFigureOut">
              <a:rPr lang="ru-RU" smtClean="0"/>
              <a:t>27.06.2026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E969A-3B85-41F0-B329-9B9FD4728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821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5012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5662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936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/>
              <a:t>6/27/2026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8025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/>
              <a:t>6/27/2026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="" xmlns:a16="http://schemas.microsoft.com/office/drawing/2014/main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055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/>
              <a:t>6/27/2026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144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/>
              <a:t>6/27/2026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="" xmlns:a16="http://schemas.microsoft.com/office/drawing/2014/main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002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/>
              <a:t>6/27/2026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5043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/>
              <a:t>6/27/2026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1901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167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5332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145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056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986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746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10" name="Номер слайда 5">
            <a:extLst>
              <a:ext uri="{FF2B5EF4-FFF2-40B4-BE49-F238E27FC236}">
                <a16:creationId xmlns="" xmlns:a16="http://schemas.microsoft.com/office/drawing/2014/main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417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5831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омер слайда 5">
            <a:extLst>
              <a:ext uri="{FF2B5EF4-FFF2-40B4-BE49-F238E27FC236}">
                <a16:creationId xmlns="" xmlns:a16="http://schemas.microsoft.com/office/drawing/2014/main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0310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5698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8815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1906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868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4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884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1563117"/>
            <a:ext cx="6858000" cy="3202847"/>
          </a:xfrm>
        </p:spPr>
        <p:txBody>
          <a:bodyPr/>
          <a:lstStyle/>
          <a:p>
            <a:pPr algn="l"/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ДИСЦИЛИНА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Трансформация производственных процессов на основе беспилотных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технологий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ИНСТИТУТ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ИПТИП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КАФЕДРА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индустриального программирования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ВИД УЧЕБНОГО МАТЕРИАЛА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Лекция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ПРЕПОДАВАТЕЛЬ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Ризаева Юлия Николаевна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СЕМЕСТР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3, 2026-2027 уч. </a:t>
            </a:r>
            <a:r>
              <a:rPr lang="ru-RU" sz="1800">
                <a:latin typeface="Times New Roman" pitchFamily="18" charset="0"/>
                <a:cs typeface="Times New Roman" pitchFamily="18" charset="0"/>
              </a:rPr>
              <a:t>г.</a:t>
            </a:r>
            <a:br>
              <a:rPr lang="ru-RU" sz="1800">
                <a:latin typeface="Times New Roman" pitchFamily="18" charset="0"/>
                <a:cs typeface="Times New Roman" pitchFamily="18" charset="0"/>
              </a:rPr>
            </a:b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041237" y="855231"/>
            <a:ext cx="5562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Титульный лист материалов по дисциплине</a:t>
            </a:r>
            <a:b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</a:b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2263996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="" xmlns:a16="http://schemas.microsoft.com/office/drawing/2014/main" id="{4C6D146A-8A1D-466F-95B0-D4B5B952F6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2164" y="1645920"/>
            <a:ext cx="7372350" cy="1720735"/>
          </a:xfrm>
        </p:spPr>
        <p:txBody>
          <a:bodyPr/>
          <a:lstStyle/>
          <a:p>
            <a:r>
              <a:rPr lang="en-US" sz="4400" b="0" dirty="0">
                <a:latin typeface="Times New Roman" pitchFamily="18" charset="0"/>
                <a:cs typeface="Times New Roman" pitchFamily="18" charset="0"/>
              </a:rPr>
              <a:t>Agile </a:t>
            </a:r>
            <a:r>
              <a:rPr lang="ru-RU" sz="4400" b="0" dirty="0"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en-US" sz="4400" b="0" dirty="0">
                <a:latin typeface="Times New Roman" pitchFamily="18" charset="0"/>
                <a:cs typeface="Times New Roman" pitchFamily="18" charset="0"/>
              </a:rPr>
              <a:t>Waterfall </a:t>
            </a:r>
            <a:endParaRPr lang="ru-RU" sz="4400" b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Подзаголовок 10">
            <a:extLst>
              <a:ext uri="{FF2B5EF4-FFF2-40B4-BE49-F238E27FC236}">
                <a16:creationId xmlns="" xmlns:a16="http://schemas.microsoft.com/office/drawing/2014/main" id="{C1B65F80-40E4-4163-81DA-43F424C0AE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Лекция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14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A172C6BE-6279-1472-C916-7648D9F11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0878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План лекции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152143"/>
            <a:ext cx="7886700" cy="5204207"/>
          </a:xfrm>
        </p:spPr>
        <p:txBody>
          <a:bodyPr/>
          <a:lstStyle/>
          <a:p>
            <a:pPr marL="457200" indent="-457200" algn="just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Agile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Waterfall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ru-RU" sz="2000" dirty="0" err="1">
                <a:latin typeface="Times New Roman" pitchFamily="18" charset="0"/>
                <a:ea typeface="Times New Roman"/>
                <a:cs typeface="Times New Roman" pitchFamily="18" charset="0"/>
              </a:rPr>
              <a:t>Agile</a:t>
            </a: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ea typeface="Times New Roman"/>
                <a:cs typeface="Times New Roman" pitchFamily="18" charset="0"/>
              </a:rPr>
              <a:t>vs</a:t>
            </a: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. </a:t>
            </a:r>
            <a:r>
              <a:rPr lang="ru-RU" sz="2000" dirty="0" err="1">
                <a:latin typeface="Times New Roman" pitchFamily="18" charset="0"/>
                <a:ea typeface="Times New Roman"/>
                <a:cs typeface="Times New Roman" pitchFamily="18" charset="0"/>
              </a:rPr>
              <a:t>Waterfall</a:t>
            </a: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 – чем отличаются модели управления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0065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88868" y="248656"/>
            <a:ext cx="7886700" cy="638036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Agile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0218" y="1096724"/>
            <a:ext cx="8515350" cy="4639058"/>
          </a:xfrm>
        </p:spPr>
        <p:txBody>
          <a:bodyPr/>
          <a:lstStyle/>
          <a:p>
            <a:pPr marL="0" indent="0" algn="just">
              <a:buNone/>
            </a:pPr>
            <a:r>
              <a:rPr lang="ru-RU" sz="22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Agile</a:t>
            </a:r>
            <a:r>
              <a:rPr lang="ru-RU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(от англ. «гибкий», «подвижный»)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это гибкий подход к управлению проектами, который фокусируется на итеративной разработке, постоянном взаимодействии с заказчиком и быстрой адаптации к изменениям. </a:t>
            </a:r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отличие от традиционных, линейных моделей, таких как Waterfall1, </a:t>
            </a:r>
            <a:r>
              <a:rPr lang="ru-RU" sz="2200" dirty="0" err="1">
                <a:latin typeface="Times New Roman" pitchFamily="18" charset="0"/>
                <a:cs typeface="Times New Roman" pitchFamily="18" charset="0"/>
              </a:rPr>
              <a:t>Agile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 предполагает, что требования к продукту могут меняться в процессе работы, и команда должна быть готова к этим изменениям.</a:t>
            </a:r>
          </a:p>
          <a:p>
            <a:pPr marL="0" indent="0" algn="just">
              <a:buNone/>
            </a:pPr>
            <a:r>
              <a:rPr lang="ru-RU" sz="22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Agile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это не набор жестких правил, а скорее набор ценностей и принципов, изложенных </a:t>
            </a:r>
            <a:r>
              <a:rPr lang="ru-RU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sz="22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Agile</a:t>
            </a:r>
            <a:r>
              <a:rPr lang="ru-RU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-манифесте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Он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объединяет различные методологии </a:t>
            </a:r>
            <a:r>
              <a:rPr lang="ru-RU" sz="2200" dirty="0" err="1">
                <a:latin typeface="Times New Roman" pitchFamily="18" charset="0"/>
                <a:cs typeface="Times New Roman" pitchFamily="18" charset="0"/>
              </a:rPr>
              <a:t>Agile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, такие как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Scrum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Kanban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Lean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и экстремальное программирование (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XP),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которые разделяют общую философию гибкого управления проектами. </a:t>
            </a:r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Главная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цель </a:t>
            </a:r>
            <a:r>
              <a:rPr lang="ru-RU" sz="2200" dirty="0" err="1">
                <a:latin typeface="Times New Roman" pitchFamily="18" charset="0"/>
                <a:cs typeface="Times New Roman" pitchFamily="18" charset="0"/>
              </a:rPr>
              <a:t>Agile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создание максимально ценного продукта в условиях неопределенности, с минимальными затратами времени и ресурсов.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88252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88868" y="248656"/>
            <a:ext cx="7886700" cy="638036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1. Основные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принципы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Agile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</a:t>
            </a:fld>
            <a:endParaRPr lang="ru-RU" dirty="0"/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3894422100"/>
              </p:ext>
            </p:extLst>
          </p:nvPr>
        </p:nvGraphicFramePr>
        <p:xfrm>
          <a:off x="0" y="1149926"/>
          <a:ext cx="9144000" cy="24384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 descr="https://static.tildacdn.com/tild3764-3338-4330-a435-383130643732/12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836" y="3611034"/>
            <a:ext cx="7289222" cy="3215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2514600" y="6612713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50" dirty="0"/>
              <a:t>https://static.tildacdn.com/tild3764-3338-4330-a435-383130643732/12.png</a:t>
            </a:r>
            <a:endParaRPr lang="ru-RU" sz="1050" dirty="0"/>
          </a:p>
        </p:txBody>
      </p:sp>
    </p:spTree>
    <p:extLst>
      <p:ext uri="{BB962C8B-B14F-4D97-AF65-F5344CB8AC3E}">
        <p14:creationId xmlns:p14="http://schemas.microsoft.com/office/powerpoint/2010/main" val="1358149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6578" y="373346"/>
            <a:ext cx="7886700" cy="1325563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Agile-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манифест: основа гибкого управления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1782" y="1714979"/>
            <a:ext cx="8501496" cy="3653219"/>
          </a:xfrm>
        </p:spPr>
        <p:txBody>
          <a:bodyPr/>
          <a:lstStyle/>
          <a:p>
            <a:pPr marL="0" indent="457200" algn="just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В 2001 году семнадцать независимых экспертов в области разработки программного обеспечения собрались вместе, чтобы найти более эффективные методы работы.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45720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Результатом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их встречи стал </a:t>
            </a:r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«Манифест гибкой разработки программного обеспечения»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, более известный как </a:t>
            </a:r>
            <a:r>
              <a:rPr lang="ru-RU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Agile</a:t>
            </a:r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-манифест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.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45720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Этот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документ стал основой для всех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Agile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-методологий и определил основные ценности и принципы гибкого подхода к управлению проектами.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82965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30431" y="262511"/>
            <a:ext cx="7886700" cy="638036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Четыре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ценности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Agile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5577418"/>
              </p:ext>
            </p:extLst>
          </p:nvPr>
        </p:nvGraphicFramePr>
        <p:xfrm>
          <a:off x="249383" y="1219199"/>
          <a:ext cx="8667748" cy="54725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5214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6577" y="274128"/>
            <a:ext cx="7886700" cy="1319145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Методологии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Agile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</a:t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Scrum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33845" y="1858725"/>
            <a:ext cx="8085860" cy="3653219"/>
          </a:xfrm>
        </p:spPr>
        <p:txBody>
          <a:bodyPr/>
          <a:lstStyle/>
          <a:p>
            <a:pPr marL="0" indent="457200" algn="just">
              <a:buNone/>
            </a:pPr>
            <a:r>
              <a:rPr lang="ru-RU" sz="32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Scrum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одна из самых распространенных </a:t>
            </a:r>
            <a:r>
              <a:rPr lang="ru-RU" sz="3200" dirty="0" err="1">
                <a:latin typeface="Times New Roman" pitchFamily="18" charset="0"/>
                <a:cs typeface="Times New Roman" pitchFamily="18" charset="0"/>
              </a:rPr>
              <a:t>Agile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-методологий, особенно в ИТ и разработке программного обеспечения. </a:t>
            </a:r>
            <a:endParaRPr lang="ru-RU" sz="32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457200" algn="just">
              <a:buNone/>
            </a:pP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Она 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основана на итеративном 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подходе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, где работа делится на короткие фиксированные отрезки времени, называемые спринтами (обычно 1−4 недели).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1698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6577" y="274128"/>
            <a:ext cx="7886700" cy="1319145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Методологии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Agile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</a:t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Scrum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561961"/>
            <a:ext cx="8085860" cy="593530"/>
          </a:xfrm>
        </p:spPr>
        <p:txBody>
          <a:bodyPr/>
          <a:lstStyle/>
          <a:p>
            <a:pPr marL="0" indent="0" algn="just">
              <a:buNone/>
            </a:pP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Ключевые элементы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Scrum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9</a:t>
            </a:fld>
            <a:endParaRPr lang="ru-RU" dirty="0"/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561444302"/>
              </p:ext>
            </p:extLst>
          </p:nvPr>
        </p:nvGraphicFramePr>
        <p:xfrm>
          <a:off x="1016577" y="2155491"/>
          <a:ext cx="6908223" cy="45501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36149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62635" y="290216"/>
            <a:ext cx="7886700" cy="1325563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Этапы управления проектами по методологии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Scrum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10</a:t>
            </a:fld>
            <a:endParaRPr lang="ru-RU" dirty="0"/>
          </a:p>
        </p:txBody>
      </p:sp>
      <p:pic>
        <p:nvPicPr>
          <p:cNvPr id="2050" name="Picture 2" descr="https://skillbox.ru/upload/setka_images/02592302082024_6896a8696b8038f4fc8989ab005e4fccc3b90047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632" y="1809703"/>
            <a:ext cx="8306389" cy="4670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924090" y="6492359"/>
            <a:ext cx="7452715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/>
              <a:t>https://skillbox.ru/upload/setka_images/02592302082024_6896a8696b8038f4fc8989ab005e4fccc3b90047.jpg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2688133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4287" y="276362"/>
            <a:ext cx="7886700" cy="693454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События в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Scrum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346106"/>
            <a:ext cx="7886700" cy="3653219"/>
          </a:xfrm>
        </p:spPr>
        <p:txBody>
          <a:bodyPr/>
          <a:lstStyle/>
          <a:p>
            <a:pPr marL="0" indent="0" algn="just">
              <a:buNone/>
            </a:pPr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Спринт.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Основной этап работы по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Scrum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его ещё называют итерацией.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Это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короткий промежуток времени, обычно от 1 до 4 недель, во время которого команда достигает заранее определённых целей.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Во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время него нельзя вносить изменения, так как они могут поставить под угрозу результаты и снизить качество.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Н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овый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спринт начинается сразу после завершения предыдущего.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377588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4287" y="276362"/>
            <a:ext cx="7886700" cy="693454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События в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Scrum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346106"/>
            <a:ext cx="7886700" cy="3653219"/>
          </a:xfrm>
        </p:spPr>
        <p:txBody>
          <a:bodyPr/>
          <a:lstStyle/>
          <a:p>
            <a:pPr marL="0" indent="0" algn="just">
              <a:buNone/>
            </a:pPr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Планирование спринта.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Команда разработчиков договаривается вместе с владельцем продукта, над чем будет работать и как: определяет задачи на спринт и устанавливает цели.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45509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4287" y="276362"/>
            <a:ext cx="7886700" cy="693454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События в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Scrum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346106"/>
            <a:ext cx="7886700" cy="3653219"/>
          </a:xfrm>
        </p:spPr>
        <p:txBody>
          <a:bodyPr/>
          <a:lstStyle/>
          <a:p>
            <a:pPr marL="0" indent="0" algn="just">
              <a:buNone/>
            </a:pPr>
            <a:r>
              <a:rPr lang="ru-RU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Scrum</a:t>
            </a:r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-митинг, или </a:t>
            </a:r>
            <a:r>
              <a:rPr lang="ru-RU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стендап</a:t>
            </a:r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Ежедневные короткие встречи не более чем на 15 минут, на которых вся команда обсуждает проделанную работу, задачи и проблемы.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04161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4287" y="276362"/>
            <a:ext cx="7886700" cy="693454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События в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Scrum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346106"/>
            <a:ext cx="7886700" cy="3653219"/>
          </a:xfrm>
        </p:spPr>
        <p:txBody>
          <a:bodyPr/>
          <a:lstStyle/>
          <a:p>
            <a:pPr marL="0" indent="0" algn="just">
              <a:buNone/>
            </a:pPr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Обзор спринта.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Встреча по результатам спринта: демонстрация того, что получилось сделать, чтобы получить обратную связь и спланировать следующий спринт.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289281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4287" y="276362"/>
            <a:ext cx="7886700" cy="693454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События в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Scrum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346106"/>
            <a:ext cx="7886700" cy="3653219"/>
          </a:xfrm>
        </p:spPr>
        <p:txBody>
          <a:bodyPr/>
          <a:lstStyle/>
          <a:p>
            <a:pPr marL="0" indent="0" algn="just">
              <a:buNone/>
            </a:pPr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Ретроспектива спринта.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Команда разработчиков рассказывает, как прошёл этот спринт, и обсуждает, какие конкретные действия помогут улучшить результаты в будущем.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551881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4287" y="276362"/>
            <a:ext cx="7886700" cy="693454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Артефакты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Scrum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1" y="858976"/>
            <a:ext cx="8312728" cy="3653219"/>
          </a:xfrm>
        </p:spPr>
        <p:txBody>
          <a:bodyPr/>
          <a:lstStyle/>
          <a:p>
            <a:pPr marL="0" indent="0" algn="just">
              <a:buNone/>
            </a:pPr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Артефакты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это инструменты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Scrum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, которые помогают командам управлять рабочей нагрузкой и прогрессом проекта.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Всего </a:t>
            </a: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sz="24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Scrum</a:t>
            </a: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три артефакта: </a:t>
            </a:r>
          </a:p>
          <a:p>
            <a:pPr marL="0" indent="0" algn="just">
              <a:buNone/>
            </a:pPr>
            <a:r>
              <a:rPr lang="ru-RU" sz="24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Бэклог</a:t>
            </a:r>
            <a:r>
              <a:rPr lang="ru-RU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продукта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общий список задач. За него отвечает владелец продукта, который оценивает результаты спринтов, постоянно актуализирует требования и цели. В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бэклоге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задачи выставлены по приоритету: чем важнее, тем выше. А команда берёт их оттуда в работу на спринт. </a:t>
            </a:r>
          </a:p>
          <a:p>
            <a:pPr marL="0" indent="0" algn="just">
              <a:buNone/>
            </a:pPr>
            <a:r>
              <a:rPr lang="ru-RU" sz="24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Бэклог</a:t>
            </a:r>
            <a:r>
              <a:rPr lang="ru-RU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спринта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список задач на текущий спринт, который составляет команда разработчиков на этапе планирования. Его нельзя менять. </a:t>
            </a:r>
          </a:p>
          <a:p>
            <a:pPr marL="0" indent="0" algn="just">
              <a:buNone/>
            </a:pPr>
            <a:r>
              <a:rPr lang="ru-RU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Инкремент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— результат работы или цель, которую ставит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scrum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-команда на спринт. Её нельзя изменить, пока спринт не завершится. По сути, это продукт, который уже готов к выпуску.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14683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6578" y="373346"/>
            <a:ext cx="7886700" cy="1325563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Методологии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Agile: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Kanban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914143"/>
            <a:ext cx="7886700" cy="4566555"/>
          </a:xfrm>
        </p:spPr>
        <p:txBody>
          <a:bodyPr/>
          <a:lstStyle/>
          <a:p>
            <a:pPr marL="0" indent="0" algn="just">
              <a:buNone/>
            </a:pPr>
            <a:r>
              <a:rPr lang="ru-RU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Kanban</a:t>
            </a:r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еще одна популярная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Agile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-методология, которая фокусируется на визуализации рабочего процесса, ограничении незавершенной работы (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Work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In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Progress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, WIP) и непрерывном потоке.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Канбан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это система визуализации рабочих процессов, которая помогает наглядно представить все задачи и их текущий статус.</a:t>
            </a:r>
          </a:p>
          <a:p>
            <a:pPr marL="0" indent="0" algn="just">
              <a:buNone/>
            </a:pP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43217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6578" y="373346"/>
            <a:ext cx="7886700" cy="1325563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Методологии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Agile: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Kanban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679723"/>
            <a:ext cx="7886700" cy="468839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Основные принципы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Kanban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18</a:t>
            </a:fld>
            <a:endParaRPr lang="ru-RU" dirty="0"/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4053016368"/>
              </p:ext>
            </p:extLst>
          </p:nvPr>
        </p:nvGraphicFramePr>
        <p:xfrm>
          <a:off x="360218" y="2382982"/>
          <a:ext cx="8543060" cy="40977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02410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6578" y="193236"/>
            <a:ext cx="7886700" cy="1325563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Методологии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Agile: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Kanban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445303"/>
            <a:ext cx="7886700" cy="468839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Основные принципы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Kanban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19</a:t>
            </a:fld>
            <a:endParaRPr lang="ru-RU" dirty="0"/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2339360942"/>
              </p:ext>
            </p:extLst>
          </p:nvPr>
        </p:nvGraphicFramePr>
        <p:xfrm>
          <a:off x="180109" y="1914141"/>
          <a:ext cx="8825346" cy="49316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905614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6578" y="193236"/>
            <a:ext cx="7886700" cy="1325563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Методологии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Agile: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Kanban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445303"/>
            <a:ext cx="7886700" cy="468839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Процесс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Kanban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20</a:t>
            </a:fld>
            <a:endParaRPr lang="ru-RU" dirty="0"/>
          </a:p>
        </p:txBody>
      </p:sp>
      <p:graphicFrame>
        <p:nvGraphicFramePr>
          <p:cNvPr id="6" name="Схема 5"/>
          <p:cNvGraphicFramePr/>
          <p:nvPr>
            <p:extLst>
              <p:ext uri="{D42A27DB-BD31-4B8C-83A1-F6EECF244321}">
                <p14:modId xmlns:p14="http://schemas.microsoft.com/office/powerpoint/2010/main" val="3587691004"/>
              </p:ext>
            </p:extLst>
          </p:nvPr>
        </p:nvGraphicFramePr>
        <p:xfrm>
          <a:off x="332510" y="2165832"/>
          <a:ext cx="8570768" cy="44843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251963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141" y="373346"/>
            <a:ext cx="7886700" cy="1325563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Методологии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Agile: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Kanban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900288"/>
            <a:ext cx="7886700" cy="3653219"/>
          </a:xfrm>
        </p:spPr>
        <p:txBody>
          <a:bodyPr/>
          <a:lstStyle/>
          <a:p>
            <a:pPr marL="0" indent="0" algn="just">
              <a:buNone/>
            </a:pPr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Главный инструмент 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канбан</a:t>
            </a:r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-доска,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разделённая на колонки, отражающие этапы выполнения задач.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Каждая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задача представлена карточкой, которая перемещается из одной колонки в другую по мере выполнения.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694678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141" y="193237"/>
            <a:ext cx="7886700" cy="1325563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Методологии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Agile: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Kanban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532654"/>
            <a:ext cx="7886700" cy="565821"/>
          </a:xfrm>
        </p:spPr>
        <p:txBody>
          <a:bodyPr/>
          <a:lstStyle/>
          <a:p>
            <a:pPr marL="0" indent="0" algn="just">
              <a:buNone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Инструменты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anban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22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789708" y="2205520"/>
            <a:ext cx="7841673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Kanban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-доска</a:t>
            </a:r>
          </a:p>
          <a:p>
            <a:pPr algn="just"/>
            <a:endParaRPr lang="ru-RU" sz="2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Доска может быть либо физической, на которую крепят бумажные или магнитные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стикеры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, либо виртуальной, в интерфейсе приложений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таск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-менеджеров (например,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Kaiten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7015451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141" y="193237"/>
            <a:ext cx="7886700" cy="1325563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Методологии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Agile: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Kanban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532654"/>
            <a:ext cx="7886700" cy="565821"/>
          </a:xfrm>
        </p:spPr>
        <p:txBody>
          <a:bodyPr/>
          <a:lstStyle/>
          <a:p>
            <a:pPr marL="0" indent="0" algn="just">
              <a:buNone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Инструменты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anban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23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789708" y="2205520"/>
            <a:ext cx="7841673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Буферы и дорожки</a:t>
            </a:r>
          </a:p>
          <a:p>
            <a:pPr algn="just"/>
            <a:endParaRPr lang="ru-RU" sz="2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Для расширения возможностей досок можно использовать дополнительные элементы. Колонки-буферы, показывающие, когда над задачей не работают, и дорожки, разделяющие разные типы работ или приоритеты. Это помогает смотреть на поток работ с нужным фокусом, фильтруя лишнее.</a:t>
            </a:r>
          </a:p>
        </p:txBody>
      </p:sp>
    </p:spTree>
    <p:extLst>
      <p:ext uri="{BB962C8B-B14F-4D97-AF65-F5344CB8AC3E}">
        <p14:creationId xmlns:p14="http://schemas.microsoft.com/office/powerpoint/2010/main" val="42445313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141" y="193237"/>
            <a:ext cx="7886700" cy="1325563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Методологии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Agile: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Kanban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532654"/>
            <a:ext cx="7886700" cy="565821"/>
          </a:xfrm>
        </p:spPr>
        <p:txBody>
          <a:bodyPr/>
          <a:lstStyle/>
          <a:p>
            <a:pPr marL="0" indent="0" algn="just">
              <a:buNone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Инструменты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anban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24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789708" y="2205520"/>
            <a:ext cx="784167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Карточки с описанием задач</a:t>
            </a:r>
          </a:p>
          <a:p>
            <a:pPr algn="just"/>
            <a:endParaRPr lang="ru-RU" sz="2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Карточки могут быть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стикерами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на реальной доске или блоками, которые перемещают по экрану из графы в графу. </a:t>
            </a:r>
          </a:p>
        </p:txBody>
      </p:sp>
    </p:spTree>
    <p:extLst>
      <p:ext uri="{BB962C8B-B14F-4D97-AF65-F5344CB8AC3E}">
        <p14:creationId xmlns:p14="http://schemas.microsoft.com/office/powerpoint/2010/main" val="21110796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141" y="193237"/>
            <a:ext cx="7886700" cy="1325563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Методологии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Agile: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Kanban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532654"/>
            <a:ext cx="7886700" cy="565821"/>
          </a:xfrm>
        </p:spPr>
        <p:txBody>
          <a:bodyPr/>
          <a:lstStyle/>
          <a:p>
            <a:pPr marL="0" indent="0" algn="just">
              <a:buNone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Инструменты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anban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25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789708" y="2205520"/>
            <a:ext cx="7841673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WIP-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limit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(ограничение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work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in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progress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just"/>
            <a:endParaRPr lang="ru-RU" sz="2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Есть старое менеджерское правило: не держать в голове больше трех дел одновременно. В противном случае качество работы снижается, а риск неудачи растет. WIP-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limit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помогает сфокусироваться на том, что мы можем держать под контролем, ограничивая возможность взять новую задачку, если не закончена хотя бы одна из текущих.</a:t>
            </a:r>
          </a:p>
        </p:txBody>
      </p:sp>
    </p:spTree>
    <p:extLst>
      <p:ext uri="{BB962C8B-B14F-4D97-AF65-F5344CB8AC3E}">
        <p14:creationId xmlns:p14="http://schemas.microsoft.com/office/powerpoint/2010/main" val="2345808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141" y="193237"/>
            <a:ext cx="7886700" cy="1325563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Методологии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Agile: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Kanban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532654"/>
            <a:ext cx="7886700" cy="565821"/>
          </a:xfrm>
        </p:spPr>
        <p:txBody>
          <a:bodyPr/>
          <a:lstStyle/>
          <a:p>
            <a:pPr marL="0" indent="0" algn="just">
              <a:buNone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Инструменты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anban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26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789708" y="2205520"/>
            <a:ext cx="7841673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Каденции</a:t>
            </a: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Каденции (от англ.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cadence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— ритм) — это регулярные встречи, которые могут проводиться ежедневно, еженедельно, ежемесячно и ежеквартально. На них обсуждают текущие задачи и планируют будущие, решают проблемы, ищут возможности для улучшения рабочих процессов и оценивают прогресс. Каденции также называют петлями обратной связи, так как встречи связаны друг с другом и результаты одного собрания используют на следующем.</a:t>
            </a:r>
          </a:p>
        </p:txBody>
      </p:sp>
    </p:spTree>
    <p:extLst>
      <p:ext uri="{BB962C8B-B14F-4D97-AF65-F5344CB8AC3E}">
        <p14:creationId xmlns:p14="http://schemas.microsoft.com/office/powerpoint/2010/main" val="957970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30432" y="220946"/>
            <a:ext cx="7886700" cy="1325563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Методологии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Agile: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Kanban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728834"/>
            <a:ext cx="7886700" cy="3653219"/>
          </a:xfrm>
        </p:spPr>
        <p:txBody>
          <a:bodyPr/>
          <a:lstStyle/>
          <a:p>
            <a:pPr marL="0" indent="0" algn="just">
              <a:buNone/>
            </a:pPr>
            <a:r>
              <a:rPr lang="ru-RU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Метрики для оценки работы в </a:t>
            </a:r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sz="32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anban</a:t>
            </a:r>
            <a:endParaRPr lang="en-US" sz="32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dirty="0" err="1">
                <a:latin typeface="Times New Roman" pitchFamily="18" charset="0"/>
                <a:cs typeface="Times New Roman" pitchFamily="18" charset="0"/>
              </a:rPr>
              <a:t>Lead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time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время производства. Включили секундомер на старте, выключили на финише.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Собрать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статистику, и уже через небольшое время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можно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давать прогноз о том, когда будет выполнена новая задача.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479737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30432" y="220946"/>
            <a:ext cx="7886700" cy="1325563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Методологии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Agile: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Kanban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728834"/>
            <a:ext cx="7886700" cy="3653219"/>
          </a:xfrm>
        </p:spPr>
        <p:txBody>
          <a:bodyPr/>
          <a:lstStyle/>
          <a:p>
            <a:pPr marL="0" indent="0" algn="just">
              <a:buNone/>
            </a:pPr>
            <a:r>
              <a:rPr lang="ru-RU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Метрики для оценки работы в </a:t>
            </a:r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sz="32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anban</a:t>
            </a:r>
            <a:endParaRPr lang="en-US" sz="32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dirty="0" err="1">
                <a:latin typeface="Times New Roman" pitchFamily="18" charset="0"/>
                <a:cs typeface="Times New Roman" pitchFamily="18" charset="0"/>
              </a:rPr>
              <a:t>Cycle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time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тоже время, но уже между двумя любыми точками в процессе.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Смысл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тот же, но для кусочка процесса.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60074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30432" y="220946"/>
            <a:ext cx="7886700" cy="1325563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Методологии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Agile: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Kanban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728834"/>
            <a:ext cx="7886700" cy="3653219"/>
          </a:xfrm>
        </p:spPr>
        <p:txBody>
          <a:bodyPr/>
          <a:lstStyle/>
          <a:p>
            <a:pPr marL="0" indent="0" algn="just">
              <a:buNone/>
            </a:pPr>
            <a:r>
              <a:rPr lang="ru-RU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Метрики для оценки работы в </a:t>
            </a:r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sz="32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anban</a:t>
            </a:r>
            <a:endParaRPr lang="en-US" sz="32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WIP (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work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in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progress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количество задач, которые одновременно находятся в работе.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898826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30432" y="220946"/>
            <a:ext cx="7886700" cy="1325563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Методологии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Agile: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Kanban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728834"/>
            <a:ext cx="7886700" cy="3653219"/>
          </a:xfrm>
        </p:spPr>
        <p:txBody>
          <a:bodyPr/>
          <a:lstStyle/>
          <a:p>
            <a:pPr marL="0" indent="0" algn="just">
              <a:buNone/>
            </a:pPr>
            <a:r>
              <a:rPr lang="ru-RU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Метрики для оценки работы в </a:t>
            </a:r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sz="32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anban</a:t>
            </a:r>
            <a:endParaRPr lang="en-US" sz="32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dirty="0" err="1">
                <a:latin typeface="Times New Roman" pitchFamily="18" charset="0"/>
                <a:cs typeface="Times New Roman" pitchFamily="18" charset="0"/>
              </a:rPr>
              <a:t>Throughput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число задач, выполненных за период. Скорость потока в системе.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30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568122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85850" y="373346"/>
            <a:ext cx="7886700" cy="707309"/>
          </a:xfrm>
        </p:spPr>
        <p:txBody>
          <a:bodyPr/>
          <a:lstStyle/>
          <a:p>
            <a:r>
              <a:rPr lang="ru-RU" dirty="0" err="1">
                <a:latin typeface="Times New Roman" pitchFamily="18" charset="0"/>
                <a:cs typeface="Times New Roman" pitchFamily="18" charset="0"/>
              </a:rPr>
              <a:t>Kanban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scrum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различия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6934299"/>
              </p:ext>
            </p:extLst>
          </p:nvPr>
        </p:nvGraphicFramePr>
        <p:xfrm>
          <a:off x="166254" y="1097107"/>
          <a:ext cx="8806296" cy="551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3148"/>
                <a:gridCol w="4403148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Kanban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Scrum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Метод (конструктор для создания своей системы управления)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Фреймворк (готовый каркас для процесса)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Для управления любой деятельностью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Для создания продуктов (в первую очередь в IT)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Помогает построить эффективную систему в текущих условиях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Требует </a:t>
                      </a:r>
                      <a:r>
                        <a:rPr lang="ru-RU" sz="20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подстраивания</a:t>
                      </a:r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 условий под </a:t>
                      </a:r>
                      <a:r>
                        <a:rPr lang="ru-RU" sz="20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фреймворк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Помогает эффективно работать и использовать при этом привычные инструменты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Навязывает команде определенные инструменты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Приветствует и адаптирует изменения процесса для повышения эффективности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Изменения процесса допустимы только в рамках модели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Масштабируется в любую сторону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Масштабируется только в рамках другого </a:t>
                      </a:r>
                      <a:r>
                        <a:rPr lang="ru-RU" sz="20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фреймворка</a:t>
                      </a:r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 (</a:t>
                      </a:r>
                      <a:r>
                        <a:rPr lang="ru-RU" sz="20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LeSS</a:t>
                      </a:r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lang="ru-RU" sz="20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LeSS</a:t>
                      </a:r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20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Huge</a:t>
                      </a:r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31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053306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30432" y="398820"/>
            <a:ext cx="7886700" cy="695690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Фреймворк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470798"/>
            <a:ext cx="7886700" cy="3653219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Фреймворк (англ. </a:t>
            </a:r>
            <a:r>
              <a:rPr lang="ru-RU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framework</a:t>
            </a:r>
            <a:r>
              <a:rPr lang="ru-RU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«каркас», «структура»)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набор инструментов, компонентов и методов, которые облегчают разработку программного обеспечения.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Фреймворк -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готовый шаблон для написания программы.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Он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задаёт структуру, определяет правила и предоставляет необходимый набор инструментов для создания проекта.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32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018973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141" y="220941"/>
            <a:ext cx="5245677" cy="1325563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Методологии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Agile: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Lean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XP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43345" y="1415380"/>
            <a:ext cx="8492837" cy="5262511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Помимо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Scrum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Kanban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, существуют и другие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Agile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-методологии:</a:t>
            </a:r>
          </a:p>
          <a:p>
            <a:pPr marL="0" indent="0" algn="just">
              <a:buNone/>
            </a:pPr>
            <a:r>
              <a:rPr lang="ru-RU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Lean</a:t>
            </a:r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(Бережливое производство).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Изначально разработанная в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Toyota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Lean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фокусируется на устранении потерь и максимизации ценности для клиента. В IT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Lean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помогает оптимизировать процессы разработки и доставки продукта;</a:t>
            </a:r>
          </a:p>
          <a:p>
            <a:pPr marL="0" indent="0" algn="just">
              <a:buNone/>
            </a:pPr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Экстремальное программирование (XP).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Это методология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Agile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, которая уделяет особое внимание техническим практикам, таким как парное программирование, разработка через тестирование (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TDD),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непрерывная интеграция и частые релизы.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33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461994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5013" y="373347"/>
            <a:ext cx="7886700" cy="693454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Этапы внедрения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Agile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в работу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5315946"/>
              </p:ext>
            </p:extLst>
          </p:nvPr>
        </p:nvGraphicFramePr>
        <p:xfrm>
          <a:off x="318655" y="1110962"/>
          <a:ext cx="8543058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576"/>
                <a:gridCol w="8143482"/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№</a:t>
                      </a:r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Этап</a:t>
                      </a:r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Пилотный проект. Выбрать небольшой, но значимый проект для пилотного внедрения </a:t>
                      </a:r>
                      <a:r>
                        <a:rPr lang="ru-RU" sz="24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Agile</a:t>
                      </a: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. Это позволит команде освоить новые методы без риска для критически важных проектов.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Обучение команды. Обеспечить обучение команды основам </a:t>
                      </a:r>
                      <a:r>
                        <a:rPr lang="ru-RU" sz="24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Agile</a:t>
                      </a: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, его принципам и выбранной методологии (например, </a:t>
                      </a:r>
                      <a:r>
                        <a:rPr lang="ru-RU" sz="24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Scrum</a:t>
                      </a: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 или </a:t>
                      </a:r>
                      <a:r>
                        <a:rPr lang="ru-RU" sz="24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Kanban</a:t>
                      </a: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). Важно, чтобы все понимали, почему происходят изменения и как они повлияют на их работу.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Выбор методологии. Определить, какая методология </a:t>
                      </a:r>
                      <a:r>
                        <a:rPr lang="ru-RU" sz="24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Agile</a:t>
                      </a: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 (или их комбинация) лучше всего подходит для проекта и команды. Учитывать специфику работы, размер команды и цели проекта.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34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777386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02723" y="373347"/>
            <a:ext cx="7886700" cy="651890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Инструменты для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Agile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49383" y="1055162"/>
            <a:ext cx="8640040" cy="787493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Для эффективного управления проектами по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Agile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-методологиям основной инструмент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доски: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35</a:t>
            </a:fld>
            <a:endParaRPr lang="ru-RU" dirty="0"/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2863603534"/>
              </p:ext>
            </p:extLst>
          </p:nvPr>
        </p:nvGraphicFramePr>
        <p:xfrm>
          <a:off x="554181" y="2034309"/>
          <a:ext cx="8335241" cy="33551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554181" y="5700378"/>
            <a:ext cx="814647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CRM-система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 может стать крайне полезным инструментом при внедрении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Agile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-подхода.</a:t>
            </a:r>
          </a:p>
        </p:txBody>
      </p:sp>
    </p:spTree>
    <p:extLst>
      <p:ext uri="{BB962C8B-B14F-4D97-AF65-F5344CB8AC3E}">
        <p14:creationId xmlns:p14="http://schemas.microsoft.com/office/powerpoint/2010/main" val="3201355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47305" y="373346"/>
            <a:ext cx="7886700" cy="1325563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Проблемы и решения при внедрении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071296"/>
              </p:ext>
            </p:extLst>
          </p:nvPr>
        </p:nvGraphicFramePr>
        <p:xfrm>
          <a:off x="628650" y="2524125"/>
          <a:ext cx="7886700" cy="283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7277"/>
                <a:gridCol w="5079423"/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Проблема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Решение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Сопротивление изменениям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Провести обучение, объяснить преимущества </a:t>
                      </a:r>
                      <a:r>
                        <a:rPr lang="ru-RU" dirty="0" err="1" smtClean="0"/>
                        <a:t>Agile</a:t>
                      </a:r>
                      <a:r>
                        <a:rPr lang="ru-RU" dirty="0" smtClean="0"/>
                        <a:t>, вовлечь команду в процесс принятия решений.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Недостаток опыта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Пригласить </a:t>
                      </a:r>
                      <a:r>
                        <a:rPr lang="ru-RU" dirty="0" err="1" smtClean="0"/>
                        <a:t>Agile-коуча</a:t>
                      </a:r>
                      <a:r>
                        <a:rPr lang="ru-RU" dirty="0" smtClean="0"/>
                        <a:t>, использовать внешние ресурсы для обучения, начать с пилотного проекта.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Неправильное понимание </a:t>
                      </a:r>
                      <a:r>
                        <a:rPr lang="en-US" dirty="0" smtClean="0"/>
                        <a:t>Agile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Фокусироваться на принципах и ценностях </a:t>
                      </a:r>
                      <a:r>
                        <a:rPr lang="ru-RU" dirty="0" err="1" smtClean="0"/>
                        <a:t>Agile</a:t>
                      </a:r>
                      <a:r>
                        <a:rPr lang="ru-RU" dirty="0" smtClean="0"/>
                        <a:t>, а не только на инструментах.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36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47897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02723" y="271165"/>
            <a:ext cx="7886700" cy="709545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Область применения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Agile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234693"/>
              </p:ext>
            </p:extLst>
          </p:nvPr>
        </p:nvGraphicFramePr>
        <p:xfrm>
          <a:off x="290945" y="1346487"/>
          <a:ext cx="8598477" cy="52759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37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45405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13559" y="395857"/>
            <a:ext cx="7886700" cy="640272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Waterfall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179852"/>
            <a:ext cx="8058150" cy="3653219"/>
          </a:xfrm>
        </p:spPr>
        <p:txBody>
          <a:bodyPr/>
          <a:lstStyle/>
          <a:p>
            <a:pPr marL="0" indent="457200" algn="just">
              <a:buNone/>
            </a:pPr>
            <a:r>
              <a:rPr lang="ru-RU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Waterfall</a:t>
            </a:r>
            <a:r>
              <a:rPr lang="ru-RU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(дословно </a:t>
            </a:r>
            <a:r>
              <a:rPr lang="ru-RU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«водопад», каскадная модель управления проектами)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линейная, последовательная методология управления проектами.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45720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Подходит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для предсказуемых проектов с повторяющейся структурой, где требования чётко определены и зафиксированы на старте.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38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62307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85850" y="373347"/>
            <a:ext cx="7886700" cy="693454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Принцип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работы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Waterfall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29491" y="1110580"/>
            <a:ext cx="8312727" cy="3653219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Каждый этап работы начинается только после полного завершения предыдущего. Разработка движется строго «сверху вниз», подобно водопаду, без возможности вернуться назад к предыдущим фазам без существенных затрат времени и ресурсов. 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Особенности</a:t>
            </a: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Детальное документирование требований до начала разработки.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Фиксированный бюджет, сроки и содержание работ на старте проекта.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Тестирование продукта после завершения разработки.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Формальные процедуры одобрения перехода между этапами.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39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981272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1996" y="395857"/>
            <a:ext cx="7886700" cy="640272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Этапы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Waterfall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9791780"/>
              </p:ext>
            </p:extLst>
          </p:nvPr>
        </p:nvGraphicFramePr>
        <p:xfrm>
          <a:off x="277091" y="1263361"/>
          <a:ext cx="8681605" cy="53175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40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8056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13559" y="373347"/>
            <a:ext cx="7886700" cy="748872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Плюсы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Waterfall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2754214"/>
              </p:ext>
            </p:extLst>
          </p:nvPr>
        </p:nvGraphicFramePr>
        <p:xfrm>
          <a:off x="628649" y="1152525"/>
          <a:ext cx="8085859" cy="52205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41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653122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02722" y="257311"/>
            <a:ext cx="7886700" cy="626417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Минусы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Waterfall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475271"/>
              </p:ext>
            </p:extLst>
          </p:nvPr>
        </p:nvGraphicFramePr>
        <p:xfrm>
          <a:off x="401782" y="1249506"/>
          <a:ext cx="8487640" cy="50543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42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27070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88869" y="166254"/>
            <a:ext cx="7886700" cy="1325563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Инструменты для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реализации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Waterfall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526823"/>
              </p:ext>
            </p:extLst>
          </p:nvPr>
        </p:nvGraphicFramePr>
        <p:xfrm>
          <a:off x="138546" y="1480559"/>
          <a:ext cx="8866909" cy="503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289"/>
                <a:gridCol w="8392620"/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№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Инструменты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Диаграмма </a:t>
                      </a:r>
                      <a:r>
                        <a:rPr lang="ru-RU" dirty="0" err="1" smtClean="0">
                          <a:latin typeface="Times New Roman" pitchFamily="18" charset="0"/>
                          <a:cs typeface="Times New Roman" pitchFamily="18" charset="0"/>
                        </a:rPr>
                        <a:t>Ганта</a:t>
                      </a:r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. Инструмент визуализации проектного плана, который позволяет представить последовательность задач и их продолжительность в виде горизонтальных полос на временной шкале. 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WBS (структура декомпозиции работ). Это иерархическое разбиение проекта на мелкие и управляемые компоненты. 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err="1" smtClean="0">
                          <a:latin typeface="Times New Roman" pitchFamily="18" charset="0"/>
                          <a:cs typeface="Times New Roman" pitchFamily="18" charset="0"/>
                        </a:rPr>
                        <a:t>Change</a:t>
                      </a:r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dirty="0" err="1" smtClean="0">
                          <a:latin typeface="Times New Roman" pitchFamily="18" charset="0"/>
                          <a:cs typeface="Times New Roman" pitchFamily="18" charset="0"/>
                        </a:rPr>
                        <a:t>Budget</a:t>
                      </a:r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 (бюджет на изменения). Позволяет покрыть расходы, которые появились из-за изменений в объёме работ, требований или приоритетов. 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err="1" smtClean="0">
                          <a:latin typeface="Times New Roman" pitchFamily="18" charset="0"/>
                          <a:cs typeface="Times New Roman" pitchFamily="18" charset="0"/>
                        </a:rPr>
                        <a:t>Rolling</a:t>
                      </a:r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dirty="0" err="1" smtClean="0">
                          <a:latin typeface="Times New Roman" pitchFamily="18" charset="0"/>
                          <a:cs typeface="Times New Roman" pitchFamily="18" charset="0"/>
                        </a:rPr>
                        <a:t>Wave</a:t>
                      </a:r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dirty="0" err="1" smtClean="0">
                          <a:latin typeface="Times New Roman" pitchFamily="18" charset="0"/>
                          <a:cs typeface="Times New Roman" pitchFamily="18" charset="0"/>
                        </a:rPr>
                        <a:t>Planning</a:t>
                      </a:r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 (планирование «набегающей волной»). Инструмент позволяет детально планировать ближайшую фазу или этап работ, а последующие — на более высоком уровне. 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«Живые» документы (</a:t>
                      </a:r>
                      <a:r>
                        <a:rPr lang="ru-RU" dirty="0" err="1" smtClean="0">
                          <a:latin typeface="Times New Roman" pitchFamily="18" charset="0"/>
                          <a:cs typeface="Times New Roman" pitchFamily="18" charset="0"/>
                        </a:rPr>
                        <a:t>Living</a:t>
                      </a:r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dirty="0" err="1" smtClean="0">
                          <a:latin typeface="Times New Roman" pitchFamily="18" charset="0"/>
                          <a:cs typeface="Times New Roman" pitchFamily="18" charset="0"/>
                        </a:rPr>
                        <a:t>Documents</a:t>
                      </a:r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). Инструмент позволяет не «замораживать» документацию после её составления. Требования, спецификации, реестры рисков — всё это можно итеративно обновлять на протяжении любой фазы. 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Современные системы управления проектами. Например, </a:t>
                      </a:r>
                      <a:r>
                        <a:rPr lang="ru-RU" dirty="0" err="1" smtClean="0">
                          <a:latin typeface="Times New Roman" pitchFamily="18" charset="0"/>
                          <a:cs typeface="Times New Roman" pitchFamily="18" charset="0"/>
                        </a:rPr>
                        <a:t>Microsoft</a:t>
                      </a:r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dirty="0" err="1" smtClean="0">
                          <a:latin typeface="Times New Roman" pitchFamily="18" charset="0"/>
                          <a:cs typeface="Times New Roman" pitchFamily="18" charset="0"/>
                        </a:rPr>
                        <a:t>Project</a:t>
                      </a:r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lang="ru-RU" dirty="0" err="1" smtClean="0">
                          <a:latin typeface="Times New Roman" pitchFamily="18" charset="0"/>
                          <a:cs typeface="Times New Roman" pitchFamily="18" charset="0"/>
                        </a:rPr>
                        <a:t>Primavera</a:t>
                      </a:r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lang="ru-RU" dirty="0" err="1" smtClean="0">
                          <a:latin typeface="Times New Roman" pitchFamily="18" charset="0"/>
                          <a:cs typeface="Times New Roman" pitchFamily="18" charset="0"/>
                        </a:rPr>
                        <a:t>Asana</a:t>
                      </a:r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 с расширенной функциональностью. 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43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480223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E5BE26A0-0BD0-4F5C-8BB0-203795747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832284"/>
            <a:ext cx="7886700" cy="2852737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159761912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6135</TotalTime>
  <Words>2862</Words>
  <Application>Microsoft Office PowerPoint</Application>
  <PresentationFormat>Экран (4:3)</PresentationFormat>
  <Paragraphs>279</Paragraphs>
  <Slides>44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44</vt:i4>
      </vt:variant>
    </vt:vector>
  </HeadingPairs>
  <TitlesOfParts>
    <vt:vector size="46" baseType="lpstr">
      <vt:lpstr>Специальное оформление</vt:lpstr>
      <vt:lpstr>1_Специальное оформление</vt:lpstr>
      <vt:lpstr>ДИСЦИЛИНА Трансформация производственных процессов на основе беспилотных технологий  ИНСТИТУТ ИПТИП  КАФЕДРА индустриального программирования  ВИД УЧЕБНОГО МАТЕРИАЛА Лекция  ПРЕПОДАВАТЕЛЬ Ризаева Юлия Николаевна  СЕМЕСТР 3, 2026-2027 уч. г. </vt:lpstr>
      <vt:lpstr>Agile и Waterfall </vt:lpstr>
      <vt:lpstr>План лекции</vt:lpstr>
      <vt:lpstr>1. Agile</vt:lpstr>
      <vt:lpstr>1. Основные принципы Agile</vt:lpstr>
      <vt:lpstr>Agile-манифест: основа гибкого управления</vt:lpstr>
      <vt:lpstr>Четыре ценности Agile</vt:lpstr>
      <vt:lpstr>Методологии Agile: Scrum</vt:lpstr>
      <vt:lpstr>Методологии Agile: Scrum</vt:lpstr>
      <vt:lpstr>Этапы управления проектами по методологии Scrum</vt:lpstr>
      <vt:lpstr>События в Scrum</vt:lpstr>
      <vt:lpstr>События в Scrum</vt:lpstr>
      <vt:lpstr>События в Scrum</vt:lpstr>
      <vt:lpstr>События в Scrum</vt:lpstr>
      <vt:lpstr>События в Scrum</vt:lpstr>
      <vt:lpstr>Артефакты Scrum</vt:lpstr>
      <vt:lpstr>Методологии Agile: Kanban</vt:lpstr>
      <vt:lpstr>Методологии Agile: Kanban</vt:lpstr>
      <vt:lpstr>Методологии Agile: Kanban</vt:lpstr>
      <vt:lpstr>Методологии Agile: Kanban</vt:lpstr>
      <vt:lpstr>Методологии Agile: Kanban</vt:lpstr>
      <vt:lpstr>Методологии Agile: Kanban</vt:lpstr>
      <vt:lpstr>Методологии Agile: Kanban</vt:lpstr>
      <vt:lpstr>Методологии Agile: Kanban</vt:lpstr>
      <vt:lpstr>Методологии Agile: Kanban</vt:lpstr>
      <vt:lpstr>Методологии Agile: Kanban</vt:lpstr>
      <vt:lpstr>Методологии Agile: Kanban</vt:lpstr>
      <vt:lpstr>Методологии Agile: Kanban</vt:lpstr>
      <vt:lpstr>Методологии Agile: Kanban</vt:lpstr>
      <vt:lpstr>Методологии Agile: Kanban</vt:lpstr>
      <vt:lpstr>Kanban и scrum: различия</vt:lpstr>
      <vt:lpstr>Фреймворк</vt:lpstr>
      <vt:lpstr>Методологии Agile: Lean и XP</vt:lpstr>
      <vt:lpstr>Этапы внедрения Agile в работу</vt:lpstr>
      <vt:lpstr>Инструменты для Agile</vt:lpstr>
      <vt:lpstr>Проблемы и решения при внедрении</vt:lpstr>
      <vt:lpstr>Область применения Agile</vt:lpstr>
      <vt:lpstr>2. Waterfall</vt:lpstr>
      <vt:lpstr>Принцип работы Waterfall</vt:lpstr>
      <vt:lpstr>Этапы Waterfall</vt:lpstr>
      <vt:lpstr>Плюсы Waterfall</vt:lpstr>
      <vt:lpstr>Минусы Waterfall</vt:lpstr>
      <vt:lpstr> Инструменты для реализации Waterfall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Я</dc:creator>
  <cp:lastModifiedBy>Аня</cp:lastModifiedBy>
  <cp:revision>369</cp:revision>
  <dcterms:created xsi:type="dcterms:W3CDTF">2015-07-29T11:14:37Z</dcterms:created>
  <dcterms:modified xsi:type="dcterms:W3CDTF">2026-06-26T21:12:30Z</dcterms:modified>
</cp:coreProperties>
</file>